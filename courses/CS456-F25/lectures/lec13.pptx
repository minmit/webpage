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microsoft.com/office/2020/02/relationships/classificationlabels" Target="docMetadata/LabelInfo.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64"/>
  </p:notesMasterIdLst>
  <p:sldIdLst>
    <p:sldId id="1254" r:id="rId2"/>
    <p:sldId id="1253" r:id="rId3"/>
    <p:sldId id="1408" r:id="rId4"/>
    <p:sldId id="1409" r:id="rId5"/>
    <p:sldId id="1387" r:id="rId6"/>
    <p:sldId id="1388" r:id="rId7"/>
    <p:sldId id="1393" r:id="rId8"/>
    <p:sldId id="1394" r:id="rId9"/>
    <p:sldId id="1395" r:id="rId10"/>
    <p:sldId id="1399" r:id="rId11"/>
    <p:sldId id="1436" r:id="rId12"/>
    <p:sldId id="325" r:id="rId13"/>
    <p:sldId id="1327" r:id="rId14"/>
    <p:sldId id="1009" r:id="rId15"/>
    <p:sldId id="1328" r:id="rId16"/>
    <p:sldId id="1432" r:id="rId17"/>
    <p:sldId id="1433" r:id="rId18"/>
    <p:sldId id="1413" r:id="rId19"/>
    <p:sldId id="1414" r:id="rId20"/>
    <p:sldId id="1426" r:id="rId21"/>
    <p:sldId id="1427" r:id="rId22"/>
    <p:sldId id="1415" r:id="rId23"/>
    <p:sldId id="1224" r:id="rId24"/>
    <p:sldId id="1406" r:id="rId25"/>
    <p:sldId id="1122" r:id="rId26"/>
    <p:sldId id="1416" r:id="rId27"/>
    <p:sldId id="1418" r:id="rId28"/>
    <p:sldId id="1435" r:id="rId29"/>
    <p:sldId id="1420" r:id="rId30"/>
    <p:sldId id="1120" r:id="rId31"/>
    <p:sldId id="1121" r:id="rId32"/>
    <p:sldId id="1221" r:id="rId33"/>
    <p:sldId id="1123" r:id="rId34"/>
    <p:sldId id="1421" r:id="rId35"/>
    <p:sldId id="1422" r:id="rId36"/>
    <p:sldId id="1434" r:id="rId37"/>
    <p:sldId id="1430" r:id="rId38"/>
    <p:sldId id="1112" r:id="rId39"/>
    <p:sldId id="1113" r:id="rId40"/>
    <p:sldId id="1114" r:id="rId41"/>
    <p:sldId id="1115" r:id="rId42"/>
    <p:sldId id="1116" r:id="rId43"/>
    <p:sldId id="1117" r:id="rId44"/>
    <p:sldId id="1118" r:id="rId45"/>
    <p:sldId id="1403" r:id="rId46"/>
    <p:sldId id="1431" r:id="rId47"/>
    <p:sldId id="287" r:id="rId48"/>
    <p:sldId id="288" r:id="rId49"/>
    <p:sldId id="289" r:id="rId50"/>
    <p:sldId id="290" r:id="rId51"/>
    <p:sldId id="291" r:id="rId52"/>
    <p:sldId id="292" r:id="rId53"/>
    <p:sldId id="1400" r:id="rId54"/>
    <p:sldId id="1194" r:id="rId55"/>
    <p:sldId id="1119" r:id="rId56"/>
    <p:sldId id="1192" r:id="rId57"/>
    <p:sldId id="293" r:id="rId58"/>
    <p:sldId id="1405" r:id="rId59"/>
    <p:sldId id="1407" r:id="rId60"/>
    <p:sldId id="1438" r:id="rId61"/>
    <p:sldId id="1440" r:id="rId62"/>
    <p:sldId id="1437" r:id="rId6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8"/>
    <a:srgbClr val="FFFFFF"/>
    <a:srgbClr val="010F90"/>
    <a:srgbClr val="B5E7FF"/>
    <a:srgbClr val="A2C1FF"/>
    <a:srgbClr val="8FAADC"/>
    <a:srgbClr val="E40000"/>
    <a:srgbClr val="FFB3D3"/>
    <a:srgbClr val="0000A3"/>
    <a:srgbClr val="9CE0F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F6917E8-CA79-5347-8271-E669A2EECE9A}" v="1" dt="2025-11-10T00:52:30.611"/>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522" autoAdjust="0"/>
    <p:restoredTop sz="94799"/>
  </p:normalViewPr>
  <p:slideViewPr>
    <p:cSldViewPr snapToGrid="0">
      <p:cViewPr varScale="1">
        <p:scale>
          <a:sx n="110" d="100"/>
          <a:sy n="110" d="100"/>
        </p:scale>
        <p:origin x="504" y="184"/>
      </p:cViewPr>
      <p:guideLst>
        <p:guide pos="1440"/>
        <p:guide orient="horz" pos="3528"/>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viewProps" Target="viewProps.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notesMaster" Target="notesMasters/notesMaster1.xml"/><Relationship Id="rId69" Type="http://schemas.microsoft.com/office/2015/10/relationships/revisionInfo" Target="revisionInfo.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theme" Target="theme/theme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12/17/25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C2FD7-8AE8-A3E9-A67C-0C44090C5A8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54DB5D8-BF1D-A04F-AC84-495F17CBB47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D09C3D8-056B-DDA9-6190-89339B6ECE9A}"/>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1506B5A-6B74-0D25-9E62-8A501939BA04}"/>
              </a:ext>
            </a:extLst>
          </p:cNvPr>
          <p:cNvSpPr>
            <a:spLocks noGrp="1"/>
          </p:cNvSpPr>
          <p:nvPr>
            <p:ph type="sldNum" sz="quarter" idx="5"/>
          </p:nvPr>
        </p:nvSpPr>
        <p:spPr/>
        <p:txBody>
          <a:bodyPr/>
          <a:lstStyle/>
          <a:p>
            <a:fld id="{D16EA1AD-6EA3-1049-AB4E-FC15F4DC35F9}" type="slidenum">
              <a:rPr lang="en-US" smtClean="0"/>
              <a:t>3</a:t>
            </a:fld>
            <a:endParaRPr lang="en-US"/>
          </a:p>
        </p:txBody>
      </p:sp>
    </p:spTree>
    <p:extLst>
      <p:ext uri="{BB962C8B-B14F-4D97-AF65-F5344CB8AC3E}">
        <p14:creationId xmlns:p14="http://schemas.microsoft.com/office/powerpoint/2010/main" val="334484919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76D99D-8195-0E1A-DE96-61766D64A9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070F76-BCCB-0A26-86C2-EB80CA2A153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24D1C0A-3D00-E839-E8AA-68140F482E2E}"/>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FE162C6-7C76-9FBC-1F3B-CAF50B7A3040}"/>
              </a:ext>
            </a:extLst>
          </p:cNvPr>
          <p:cNvSpPr>
            <a:spLocks noGrp="1"/>
          </p:cNvSpPr>
          <p:nvPr>
            <p:ph type="sldNum" sz="quarter" idx="5"/>
          </p:nvPr>
        </p:nvSpPr>
        <p:spPr/>
        <p:txBody>
          <a:bodyPr/>
          <a:lstStyle/>
          <a:p>
            <a:fld id="{D16EA1AD-6EA3-1049-AB4E-FC15F4DC35F9}" type="slidenum">
              <a:rPr lang="en-US" smtClean="0"/>
              <a:t>4</a:t>
            </a:fld>
            <a:endParaRPr lang="en-US"/>
          </a:p>
        </p:txBody>
      </p:sp>
    </p:spTree>
    <p:extLst>
      <p:ext uri="{BB962C8B-B14F-4D97-AF65-F5344CB8AC3E}">
        <p14:creationId xmlns:p14="http://schemas.microsoft.com/office/powerpoint/2010/main" val="20147487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B6123B-6F67-E1A0-B0C1-FCF3675F562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8238CE6-8F85-A38A-2F4F-9E91887CA5E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3896B8B-7C5B-A000-AFC9-5962E9275E3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4D06C89-8380-C5C2-FE5F-A009977A8DFF}"/>
              </a:ext>
            </a:extLst>
          </p:cNvPr>
          <p:cNvSpPr>
            <a:spLocks noGrp="1"/>
          </p:cNvSpPr>
          <p:nvPr>
            <p:ph type="sldNum" sz="quarter" idx="5"/>
          </p:nvPr>
        </p:nvSpPr>
        <p:spPr/>
        <p:txBody>
          <a:bodyPr/>
          <a:lstStyle/>
          <a:p>
            <a:fld id="{D16EA1AD-6EA3-1049-AB4E-FC15F4DC35F9}" type="slidenum">
              <a:rPr lang="en-US" smtClean="0"/>
              <a:t>11</a:t>
            </a:fld>
            <a:endParaRPr lang="en-US"/>
          </a:p>
        </p:txBody>
      </p:sp>
    </p:spTree>
    <p:extLst>
      <p:ext uri="{BB962C8B-B14F-4D97-AF65-F5344CB8AC3E}">
        <p14:creationId xmlns:p14="http://schemas.microsoft.com/office/powerpoint/2010/main" val="352980572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140163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F521DC-13C9-B968-0882-34D8D330FD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1EE910A-6FAE-D6E9-B75E-6A2C08D79BA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CE94522-F94A-CA91-810F-4D7D5A0150E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302E5D0-CE72-7CCE-9972-BC16BE3C7555}"/>
              </a:ext>
            </a:extLst>
          </p:cNvPr>
          <p:cNvSpPr>
            <a:spLocks noGrp="1"/>
          </p:cNvSpPr>
          <p:nvPr>
            <p:ph type="sldNum" sz="quarter" idx="5"/>
          </p:nvPr>
        </p:nvSpPr>
        <p:spPr/>
        <p:txBody>
          <a:bodyPr/>
          <a:lstStyle/>
          <a:p>
            <a:fld id="{D16EA1AD-6EA3-1049-AB4E-FC15F4DC35F9}" type="slidenum">
              <a:rPr lang="en-US" smtClean="0"/>
              <a:t>16</a:t>
            </a:fld>
            <a:endParaRPr lang="en-US"/>
          </a:p>
        </p:txBody>
      </p:sp>
    </p:spTree>
    <p:extLst>
      <p:ext uri="{BB962C8B-B14F-4D97-AF65-F5344CB8AC3E}">
        <p14:creationId xmlns:p14="http://schemas.microsoft.com/office/powerpoint/2010/main" val="310860613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98B948-D16B-8977-5B04-A588B13766F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4F35A33-836B-B873-498C-43532B425D0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A8C287-F492-C399-7A9B-FED0DE6146BA}"/>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18FE4F5-845C-A0F9-C326-87C8A33A436D}"/>
              </a:ext>
            </a:extLst>
          </p:cNvPr>
          <p:cNvSpPr>
            <a:spLocks noGrp="1"/>
          </p:cNvSpPr>
          <p:nvPr>
            <p:ph type="sldNum" sz="quarter" idx="5"/>
          </p:nvPr>
        </p:nvSpPr>
        <p:spPr/>
        <p:txBody>
          <a:bodyPr/>
          <a:lstStyle/>
          <a:p>
            <a:fld id="{D16EA1AD-6EA3-1049-AB4E-FC15F4DC35F9}" type="slidenum">
              <a:rPr lang="en-US" smtClean="0"/>
              <a:t>17</a:t>
            </a:fld>
            <a:endParaRPr lang="en-US"/>
          </a:p>
        </p:txBody>
      </p:sp>
    </p:spTree>
    <p:extLst>
      <p:ext uri="{BB962C8B-B14F-4D97-AF65-F5344CB8AC3E}">
        <p14:creationId xmlns:p14="http://schemas.microsoft.com/office/powerpoint/2010/main" val="331312952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741920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640327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81BF81-0EB1-50EE-49B7-DC3D83AA281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8447318-A00B-FF04-714D-5B262FA7106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B46B9C3-E683-528F-7360-2F222FDADB8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4D8A50D-D6EB-2D72-CC99-59B4D560F91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7495292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146DBD-7D9E-08AF-31DB-5FEC8CBC53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24D7F84-DAEB-5515-B447-D926EF0807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124BCA6-F638-76AD-F97A-D10FA752513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B58F27C-CEB4-9DB4-ACA0-39BC455740F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446502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611452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File corruption at the host (the other end has to check anyway)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100476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681936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500430-ADA6-CE46-E3E7-431E7D46BDE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D24BA44-CEA8-03BC-FFC3-78CF8880419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3006E19-B9BC-F117-E1D1-4EABAA6E47C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824E6946-7B6F-EF44-A4B7-A88BDB55FA62}"/>
              </a:ext>
            </a:extLst>
          </p:cNvPr>
          <p:cNvSpPr>
            <a:spLocks noGrp="1"/>
          </p:cNvSpPr>
          <p:nvPr>
            <p:ph type="sldNum" sz="quarter" idx="5"/>
          </p:nvPr>
        </p:nvSpPr>
        <p:spPr/>
        <p:txBody>
          <a:bodyPr/>
          <a:lstStyle/>
          <a:p>
            <a:fld id="{D16EA1AD-6EA3-1049-AB4E-FC15F4DC35F9}" type="slidenum">
              <a:rPr lang="en-US" smtClean="0"/>
              <a:t>28</a:t>
            </a:fld>
            <a:endParaRPr lang="en-US"/>
          </a:p>
        </p:txBody>
      </p:sp>
    </p:spTree>
    <p:extLst>
      <p:ext uri="{BB962C8B-B14F-4D97-AF65-F5344CB8AC3E}">
        <p14:creationId xmlns:p14="http://schemas.microsoft.com/office/powerpoint/2010/main" val="1024901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whiteboxes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566215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675109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72CC4F-06F7-AD8D-383E-DB45F262F0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A18C9DB-16DA-9F1B-FC10-E11D3DBD150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AD8DD1-D081-6555-B697-0BD7D308559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65EA9B0-20C5-B378-C72B-E946AC2C4427}"/>
              </a:ext>
            </a:extLst>
          </p:cNvPr>
          <p:cNvSpPr>
            <a:spLocks noGrp="1"/>
          </p:cNvSpPr>
          <p:nvPr>
            <p:ph type="sldNum" sz="quarter" idx="5"/>
          </p:nvPr>
        </p:nvSpPr>
        <p:spPr/>
        <p:txBody>
          <a:bodyPr/>
          <a:lstStyle/>
          <a:p>
            <a:fld id="{D16EA1AD-6EA3-1049-AB4E-FC15F4DC35F9}" type="slidenum">
              <a:rPr lang="en-US" smtClean="0"/>
              <a:t>36</a:t>
            </a:fld>
            <a:endParaRPr lang="en-US"/>
          </a:p>
        </p:txBody>
      </p:sp>
    </p:spTree>
    <p:extLst>
      <p:ext uri="{BB962C8B-B14F-4D97-AF65-F5344CB8AC3E}">
        <p14:creationId xmlns:p14="http://schemas.microsoft.com/office/powerpoint/2010/main" val="211335470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842270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1"/>
        <p:cNvGrpSpPr/>
        <p:nvPr/>
      </p:nvGrpSpPr>
      <p:grpSpPr>
        <a:xfrm>
          <a:off x="0" y="0"/>
          <a:ext cx="0" cy="0"/>
          <a:chOff x="0" y="0"/>
          <a:chExt cx="0" cy="0"/>
        </a:xfrm>
      </p:grpSpPr>
      <p:sp>
        <p:nvSpPr>
          <p:cNvPr id="1532" name="Google Shape;1532;g1d2ef21324e_0_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3" name="Google Shape;1533;g1d2ef21324e_0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6"/>
        <p:cNvGrpSpPr/>
        <p:nvPr/>
      </p:nvGrpSpPr>
      <p:grpSpPr>
        <a:xfrm>
          <a:off x="0" y="0"/>
          <a:ext cx="0" cy="0"/>
          <a:chOff x="0" y="0"/>
          <a:chExt cx="0" cy="0"/>
        </a:xfrm>
      </p:grpSpPr>
      <p:sp>
        <p:nvSpPr>
          <p:cNvPr id="1587" name="Google Shape;1587;g1d2ef21324e_0_17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8" name="Google Shape;1588;g1d2ef21324e_0_17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9"/>
        <p:cNvGrpSpPr/>
        <p:nvPr/>
      </p:nvGrpSpPr>
      <p:grpSpPr>
        <a:xfrm>
          <a:off x="0" y="0"/>
          <a:ext cx="0" cy="0"/>
          <a:chOff x="0" y="0"/>
          <a:chExt cx="0" cy="0"/>
        </a:xfrm>
      </p:grpSpPr>
      <p:sp>
        <p:nvSpPr>
          <p:cNvPr id="1630" name="Google Shape;1630;g1d2ef21324e_0_18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1" name="Google Shape;1631;g1d2ef21324e_0_18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78"/>
        <p:cNvGrpSpPr/>
        <p:nvPr/>
      </p:nvGrpSpPr>
      <p:grpSpPr>
        <a:xfrm>
          <a:off x="0" y="0"/>
          <a:ext cx="0" cy="0"/>
          <a:chOff x="0" y="0"/>
          <a:chExt cx="0" cy="0"/>
        </a:xfrm>
      </p:grpSpPr>
      <p:sp>
        <p:nvSpPr>
          <p:cNvPr id="1679" name="Google Shape;1679;g1d2ef21324e_0_19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0" name="Google Shape;1680;g1d2ef21324e_0_19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9"/>
        <p:cNvGrpSpPr/>
        <p:nvPr/>
      </p:nvGrpSpPr>
      <p:grpSpPr>
        <a:xfrm>
          <a:off x="0" y="0"/>
          <a:ext cx="0" cy="0"/>
          <a:chOff x="0" y="0"/>
          <a:chExt cx="0" cy="0"/>
        </a:xfrm>
      </p:grpSpPr>
      <p:sp>
        <p:nvSpPr>
          <p:cNvPr id="1720" name="Google Shape;1720;g1d2ef21324e_0_19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1" name="Google Shape;1721;g1d2ef21324e_0_1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4"/>
        <p:cNvGrpSpPr/>
        <p:nvPr/>
      </p:nvGrpSpPr>
      <p:grpSpPr>
        <a:xfrm>
          <a:off x="0" y="0"/>
          <a:ext cx="0" cy="0"/>
          <a:chOff x="0" y="0"/>
          <a:chExt cx="0" cy="0"/>
        </a:xfrm>
      </p:grpSpPr>
      <p:sp>
        <p:nvSpPr>
          <p:cNvPr id="1765" name="Google Shape;1765;g1d2ef21324e_0_20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6" name="Google Shape;1766;g1d2ef21324e_0_20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4"/>
        <p:cNvGrpSpPr/>
        <p:nvPr/>
      </p:nvGrpSpPr>
      <p:grpSpPr>
        <a:xfrm>
          <a:off x="0" y="0"/>
          <a:ext cx="0" cy="0"/>
          <a:chOff x="0" y="0"/>
          <a:chExt cx="0" cy="0"/>
        </a:xfrm>
      </p:grpSpPr>
      <p:sp>
        <p:nvSpPr>
          <p:cNvPr id="1765" name="Google Shape;1765;g1d2ef21324e_0_20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6" name="Google Shape;1766;g1d2ef21324e_0_20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811540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894409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10"/>
        <p:cNvGrpSpPr/>
        <p:nvPr/>
      </p:nvGrpSpPr>
      <p:grpSpPr>
        <a:xfrm>
          <a:off x="0" y="0"/>
          <a:ext cx="0" cy="0"/>
          <a:chOff x="0" y="0"/>
          <a:chExt cx="0" cy="0"/>
        </a:xfrm>
      </p:grpSpPr>
      <p:sp>
        <p:nvSpPr>
          <p:cNvPr id="1811" name="Google Shape;1811;g1d2ef21324e_0_20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12" name="Google Shape;1812;g1d2ef21324e_0_20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9A04E7-B853-F0C5-3F0B-410715C24AA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AA5B8F2-F928-D543-0528-F130D3EEF30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D8F8EAA-F1A0-EB87-7621-6D00C6AAE06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B97B8AB0-90D8-96D0-9BC4-AB721D65DFDF}"/>
              </a:ext>
            </a:extLst>
          </p:cNvPr>
          <p:cNvSpPr>
            <a:spLocks noGrp="1"/>
          </p:cNvSpPr>
          <p:nvPr>
            <p:ph type="sldNum" sz="quarter" idx="5"/>
          </p:nvPr>
        </p:nvSpPr>
        <p:spPr/>
        <p:txBody>
          <a:bodyPr/>
          <a:lstStyle/>
          <a:p>
            <a:fld id="{D16EA1AD-6EA3-1049-AB4E-FC15F4DC35F9}" type="slidenum">
              <a:rPr lang="en-US" smtClean="0"/>
              <a:t>62</a:t>
            </a:fld>
            <a:endParaRPr lang="en-US"/>
          </a:p>
        </p:txBody>
      </p:sp>
    </p:spTree>
    <p:extLst>
      <p:ext uri="{BB962C8B-B14F-4D97-AF65-F5344CB8AC3E}">
        <p14:creationId xmlns:p14="http://schemas.microsoft.com/office/powerpoint/2010/main" val="224757849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a:t>Click to edit Master title style</a:t>
            </a:r>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415600" y="377067"/>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415600" y="1536633"/>
            <a:ext cx="11360800" cy="4555200"/>
          </a:xfrm>
          <a:prstGeom prst="rect">
            <a:avLst/>
          </a:prstGeom>
        </p:spPr>
        <p:txBody>
          <a:bodyPr spcFirstLastPara="1" wrap="square" lIns="91425" tIns="91425" rIns="91425" bIns="91425" anchor="t" anchorCtr="0">
            <a:normAutofit/>
          </a:bodyPr>
          <a:lstStyle>
            <a:lvl1pPr marL="609585" lvl="0" indent="-465655">
              <a:spcBef>
                <a:spcPts val="0"/>
              </a:spcBef>
              <a:spcAft>
                <a:spcPts val="0"/>
              </a:spcAft>
              <a:buSzPts val="1900"/>
              <a:buChar char="●"/>
              <a:defRPr sz="2533"/>
            </a:lvl1pPr>
            <a:lvl2pPr marL="1219170" lvl="1" indent="-448722">
              <a:spcBef>
                <a:spcPts val="0"/>
              </a:spcBef>
              <a:spcAft>
                <a:spcPts val="0"/>
              </a:spcAft>
              <a:buSzPts val="1700"/>
              <a:buChar char="○"/>
              <a:defRPr sz="2267"/>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9" name="Google Shape;19;p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044224779"/>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sldNum="0"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11.png"/></Relationships>
</file>

<file path=ppt/slides/_rels/slide22.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11.pn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11.pn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notesSlide" Target="../notesSlides/notesSlide17.xml"/><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8" Type="http://schemas.openxmlformats.org/officeDocument/2006/relationships/image" Target="../media/image22.png"/><Relationship Id="rId13" Type="http://schemas.openxmlformats.org/officeDocument/2006/relationships/image" Target="../media/image7.png"/><Relationship Id="rId18" Type="http://schemas.openxmlformats.org/officeDocument/2006/relationships/image" Target="../media/image14.png"/><Relationship Id="rId3" Type="http://schemas.openxmlformats.org/officeDocument/2006/relationships/image" Target="../media/image18.png"/><Relationship Id="rId21" Type="http://schemas.openxmlformats.org/officeDocument/2006/relationships/image" Target="../media/image26.png"/><Relationship Id="rId7" Type="http://schemas.openxmlformats.org/officeDocument/2006/relationships/image" Target="../media/image21.png"/><Relationship Id="rId12" Type="http://schemas.openxmlformats.org/officeDocument/2006/relationships/image" Target="../media/image6.png"/><Relationship Id="rId17" Type="http://schemas.openxmlformats.org/officeDocument/2006/relationships/image" Target="../media/image13.png"/><Relationship Id="rId2" Type="http://schemas.openxmlformats.org/officeDocument/2006/relationships/image" Target="../media/image5.png"/><Relationship Id="rId16" Type="http://schemas.openxmlformats.org/officeDocument/2006/relationships/image" Target="../media/image12.png"/><Relationship Id="rId20" Type="http://schemas.openxmlformats.org/officeDocument/2006/relationships/image" Target="../media/image25.png"/><Relationship Id="rId1" Type="http://schemas.openxmlformats.org/officeDocument/2006/relationships/slideLayout" Target="../slideLayouts/slideLayout4.xml"/><Relationship Id="rId6" Type="http://schemas.openxmlformats.org/officeDocument/2006/relationships/image" Target="../media/image20.png"/><Relationship Id="rId11" Type="http://schemas.openxmlformats.org/officeDocument/2006/relationships/image" Target="../media/image11.png"/><Relationship Id="rId5" Type="http://schemas.openxmlformats.org/officeDocument/2006/relationships/image" Target="../media/image19.png"/><Relationship Id="rId15" Type="http://schemas.openxmlformats.org/officeDocument/2006/relationships/image" Target="../media/image15.png"/><Relationship Id="rId10" Type="http://schemas.openxmlformats.org/officeDocument/2006/relationships/image" Target="../media/image10.png"/><Relationship Id="rId19" Type="http://schemas.openxmlformats.org/officeDocument/2006/relationships/image" Target="../media/image24.png"/><Relationship Id="rId4" Type="http://schemas.openxmlformats.org/officeDocument/2006/relationships/image" Target="../media/image9.png"/><Relationship Id="rId9" Type="http://schemas.openxmlformats.org/officeDocument/2006/relationships/image" Target="../media/image8.png"/><Relationship Id="rId14" Type="http://schemas.openxmlformats.org/officeDocument/2006/relationships/image" Target="../media/image23.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notesSlide" Target="../notesSlides/notesSlide21.xml"/><Relationship Id="rId1" Type="http://schemas.openxmlformats.org/officeDocument/2006/relationships/slideLayout" Target="../slideLayouts/slideLayout2.xml"/><Relationship Id="rId6" Type="http://schemas.openxmlformats.org/officeDocument/2006/relationships/image" Target="../media/image15.png"/><Relationship Id="rId11" Type="http://schemas.openxmlformats.org/officeDocument/2006/relationships/image" Target="../media/image23.png"/><Relationship Id="rId5" Type="http://schemas.openxmlformats.org/officeDocument/2006/relationships/image" Target="../media/image14.png"/><Relationship Id="rId10" Type="http://schemas.openxmlformats.org/officeDocument/2006/relationships/image" Target="../media/image25.png"/><Relationship Id="rId4" Type="http://schemas.openxmlformats.org/officeDocument/2006/relationships/image" Target="../media/image13.png"/><Relationship Id="rId9" Type="http://schemas.openxmlformats.org/officeDocument/2006/relationships/image" Target="../media/image24.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8.xml"/><Relationship Id="rId1" Type="http://schemas.openxmlformats.org/officeDocument/2006/relationships/slideLayout" Target="../slideLayouts/slideLayout2.xml"/><Relationship Id="rId4" Type="http://schemas.openxmlformats.org/officeDocument/2006/relationships/image" Target="../media/image28.png"/></Relationships>
</file>

<file path=ppt/slides/_rels/slide55.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9.xml"/><Relationship Id="rId1" Type="http://schemas.openxmlformats.org/officeDocument/2006/relationships/slideLayout" Target="../slideLayouts/slideLayout2.xml"/><Relationship Id="rId4" Type="http://schemas.openxmlformats.org/officeDocument/2006/relationships/image" Target="../media/image28.png"/></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5.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image" Target="../media/image30.png"/><Relationship Id="rId7" Type="http://schemas.openxmlformats.org/officeDocument/2006/relationships/image" Target="../media/image34.png"/><Relationship Id="rId2" Type="http://schemas.openxmlformats.org/officeDocument/2006/relationships/image" Target="../media/image29.png"/><Relationship Id="rId1" Type="http://schemas.openxmlformats.org/officeDocument/2006/relationships/slideLayout" Target="../slideLayouts/slideLayout3.xml"/><Relationship Id="rId6" Type="http://schemas.openxmlformats.org/officeDocument/2006/relationships/image" Target="../media/image33.png"/><Relationship Id="rId5" Type="http://schemas.openxmlformats.org/officeDocument/2006/relationships/image" Target="../media/image32.png"/><Relationship Id="rId4" Type="http://schemas.openxmlformats.org/officeDocument/2006/relationships/image" Target="../media/image31.png"/></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BD1F7D9F-C31A-65D4-98BD-7BE60E6382FB}"/>
              </a:ext>
            </a:extLst>
          </p:cNvPr>
          <p:cNvSpPr>
            <a:spLocks noGrp="1"/>
          </p:cNvSpPr>
          <p:nvPr>
            <p:ph type="ctrTitle"/>
          </p:nvPr>
        </p:nvSpPr>
        <p:spPr>
          <a:xfrm>
            <a:off x="1524000" y="1384770"/>
            <a:ext cx="9144000" cy="1909763"/>
          </a:xfrm>
        </p:spPr>
        <p:txBody>
          <a:bodyPr/>
          <a:lstStyle/>
          <a:p>
            <a:r>
              <a:rPr lang="en-US" dirty="0"/>
              <a:t>CS 456/656</a:t>
            </a:r>
            <a:br>
              <a:rPr lang="en-US" dirty="0"/>
            </a:br>
            <a:r>
              <a:rPr lang="en-US" dirty="0"/>
              <a:t>Computer Networks</a:t>
            </a:r>
          </a:p>
        </p:txBody>
      </p:sp>
      <p:sp>
        <p:nvSpPr>
          <p:cNvPr id="5" name="Subtitle 4">
            <a:extLst>
              <a:ext uri="{FF2B5EF4-FFF2-40B4-BE49-F238E27FC236}">
                <a16:creationId xmlns:a16="http://schemas.microsoft.com/office/drawing/2014/main" id="{9B9C67F7-7D16-FD6B-3FB1-428609D14533}"/>
              </a:ext>
            </a:extLst>
          </p:cNvPr>
          <p:cNvSpPr>
            <a:spLocks noGrp="1"/>
          </p:cNvSpPr>
          <p:nvPr>
            <p:ph type="subTitle" idx="1"/>
          </p:nvPr>
        </p:nvSpPr>
        <p:spPr>
          <a:xfrm>
            <a:off x="1524000" y="4787327"/>
            <a:ext cx="9144000" cy="1655762"/>
          </a:xfrm>
        </p:spPr>
        <p:txBody>
          <a:bodyPr>
            <a:normAutofit/>
          </a:bodyPr>
          <a:lstStyle/>
          <a:p>
            <a:r>
              <a:rPr lang="en-US" sz="3600" dirty="0"/>
              <a:t>Mina Tahmasbi Arashloo and Uzma Maroof</a:t>
            </a:r>
          </a:p>
          <a:p>
            <a:r>
              <a:rPr lang="en-US" sz="3600" dirty="0"/>
              <a:t>Fall 2025</a:t>
            </a:r>
          </a:p>
        </p:txBody>
      </p:sp>
      <p:sp>
        <p:nvSpPr>
          <p:cNvPr id="6" name="Title 3">
            <a:extLst>
              <a:ext uri="{FF2B5EF4-FFF2-40B4-BE49-F238E27FC236}">
                <a16:creationId xmlns:a16="http://schemas.microsoft.com/office/drawing/2014/main" id="{4393E2DC-BA4A-041C-1F92-F22DF46B02AE}"/>
              </a:ext>
            </a:extLst>
          </p:cNvPr>
          <p:cNvSpPr txBox="1">
            <a:spLocks/>
          </p:cNvSpPr>
          <p:nvPr/>
        </p:nvSpPr>
        <p:spPr>
          <a:xfrm>
            <a:off x="1524000" y="3323000"/>
            <a:ext cx="9144000" cy="950408"/>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b="1" kern="1200">
                <a:solidFill>
                  <a:srgbClr val="0000A3"/>
                </a:solidFill>
                <a:latin typeface="+mj-lt"/>
                <a:ea typeface="+mj-ea"/>
                <a:cs typeface="+mj-cs"/>
              </a:defRPr>
            </a:lvl1pPr>
          </a:lstStyle>
          <a:p>
            <a:r>
              <a:rPr lang="en-US" sz="4800" dirty="0"/>
              <a:t>Lecture 13: Network Layer – Part 5</a:t>
            </a:r>
          </a:p>
        </p:txBody>
      </p:sp>
      <p:pic>
        <p:nvPicPr>
          <p:cNvPr id="8" name="Picture 7" descr="A black background with a black square&#10;&#10;Description automatically generated with medium confidence">
            <a:extLst>
              <a:ext uri="{FF2B5EF4-FFF2-40B4-BE49-F238E27FC236}">
                <a16:creationId xmlns:a16="http://schemas.microsoft.com/office/drawing/2014/main" id="{0CD55C61-978D-BBD0-7498-E74B3BEAE4AD}"/>
              </a:ext>
            </a:extLst>
          </p:cNvPr>
          <p:cNvPicPr>
            <a:picLocks noChangeAspect="1"/>
          </p:cNvPicPr>
          <p:nvPr/>
        </p:nvPicPr>
        <p:blipFill>
          <a:blip r:embed="rId2"/>
          <a:stretch>
            <a:fillRect/>
          </a:stretch>
        </p:blipFill>
        <p:spPr>
          <a:xfrm>
            <a:off x="-374073" y="-184913"/>
            <a:ext cx="4558145" cy="1826876"/>
          </a:xfrm>
          <a:prstGeom prst="rect">
            <a:avLst/>
          </a:prstGeom>
        </p:spPr>
      </p:pic>
    </p:spTree>
    <p:extLst>
      <p:ext uri="{BB962C8B-B14F-4D97-AF65-F5344CB8AC3E}">
        <p14:creationId xmlns:p14="http://schemas.microsoft.com/office/powerpoint/2010/main" val="8953584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94CEA7-37C1-F427-084F-640DE3532975}"/>
              </a:ext>
            </a:extLst>
          </p:cNvPr>
          <p:cNvSpPr>
            <a:spLocks noGrp="1"/>
          </p:cNvSpPr>
          <p:nvPr>
            <p:ph type="title"/>
          </p:nvPr>
        </p:nvSpPr>
        <p:spPr/>
        <p:txBody>
          <a:bodyPr/>
          <a:lstStyle/>
          <a:p>
            <a:r>
              <a:rPr lang="en-US"/>
              <a:t>A note on the slides</a:t>
            </a:r>
          </a:p>
        </p:txBody>
      </p:sp>
      <p:sp>
        <p:nvSpPr>
          <p:cNvPr id="3" name="Content Placeholder 2">
            <a:extLst>
              <a:ext uri="{FF2B5EF4-FFF2-40B4-BE49-F238E27FC236}">
                <a16:creationId xmlns:a16="http://schemas.microsoft.com/office/drawing/2014/main" id="{65F98C03-0047-C923-1960-8CF20F761E5C}"/>
              </a:ext>
            </a:extLst>
          </p:cNvPr>
          <p:cNvSpPr>
            <a:spLocks noGrp="1"/>
          </p:cNvSpPr>
          <p:nvPr>
            <p:ph sz="half" idx="1"/>
          </p:nvPr>
        </p:nvSpPr>
        <p:spPr>
          <a:xfrm>
            <a:off x="838200" y="2370864"/>
            <a:ext cx="5181600" cy="894622"/>
          </a:xfrm>
        </p:spPr>
        <p:txBody>
          <a:bodyPr/>
          <a:lstStyle/>
          <a:p>
            <a:pPr marL="130175" indent="0">
              <a:buNone/>
            </a:pPr>
            <a:r>
              <a:rPr lang="en-US"/>
              <a:t>Adapted from the slides that accompany this book.</a:t>
            </a:r>
          </a:p>
          <a:p>
            <a:pPr lvl="1"/>
            <a:endParaRPr lang="en-US"/>
          </a:p>
          <a:p>
            <a:endParaRPr lang="en-US"/>
          </a:p>
        </p:txBody>
      </p:sp>
      <p:sp>
        <p:nvSpPr>
          <p:cNvPr id="6" name="Rectangle 5">
            <a:extLst>
              <a:ext uri="{FF2B5EF4-FFF2-40B4-BE49-F238E27FC236}">
                <a16:creationId xmlns:a16="http://schemas.microsoft.com/office/drawing/2014/main" id="{86238DD7-7231-CD30-6036-3E76182B3EE9}"/>
              </a:ext>
            </a:extLst>
          </p:cNvPr>
          <p:cNvSpPr>
            <a:spLocks noChangeArrowheads="1"/>
          </p:cNvSpPr>
          <p:nvPr/>
        </p:nvSpPr>
        <p:spPr bwMode="auto">
          <a:xfrm>
            <a:off x="7242719" y="4239526"/>
            <a:ext cx="3981504" cy="19238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a:solidFill>
                  <a:srgbClr val="0000A3"/>
                </a:solidFill>
                <a:latin typeface="+mn-lt"/>
              </a:rPr>
              <a:t>Computer Networking: A Top-Down Approach </a:t>
            </a:r>
            <a:br>
              <a:rPr lang="en-US" altLang="en-US" sz="2800">
                <a:solidFill>
                  <a:srgbClr val="008000"/>
                </a:solidFill>
                <a:latin typeface="+mn-lt"/>
              </a:rPr>
            </a:br>
            <a:r>
              <a:rPr lang="en-US" altLang="en-US" sz="1800">
                <a:latin typeface="+mn-lt"/>
              </a:rPr>
              <a:t>8</a:t>
            </a:r>
            <a:r>
              <a:rPr lang="en-US" altLang="en-US" sz="1800" baseline="30000">
                <a:latin typeface="+mn-lt"/>
              </a:rPr>
              <a:t>th</a:t>
            </a:r>
            <a:r>
              <a:rPr lang="en-US" altLang="en-US" sz="1800">
                <a:latin typeface="+mn-lt"/>
              </a:rPr>
              <a:t> edition </a:t>
            </a:r>
            <a:br>
              <a:rPr lang="en-US" altLang="en-US" sz="1800">
                <a:latin typeface="+mn-lt"/>
              </a:rPr>
            </a:br>
            <a:r>
              <a:rPr lang="en-US" altLang="en-US" sz="1800">
                <a:latin typeface="+mn-lt"/>
              </a:rPr>
              <a:t>Jim Kurose, Keith Ross</a:t>
            </a:r>
            <a:br>
              <a:rPr lang="en-US" altLang="en-US" sz="1800">
                <a:latin typeface="+mn-lt"/>
              </a:rPr>
            </a:br>
            <a:r>
              <a:rPr lang="en-US" altLang="en-US" sz="1800">
                <a:latin typeface="+mn-lt"/>
              </a:rPr>
              <a:t>Pearson, 2020</a:t>
            </a:r>
            <a:endParaRPr lang="en-US" altLang="en-US" sz="2000">
              <a:latin typeface="+mn-lt"/>
            </a:endParaRPr>
          </a:p>
        </p:txBody>
      </p:sp>
      <p:pic>
        <p:nvPicPr>
          <p:cNvPr id="7" name="Picture 6" descr="A picture containing outdoor, water, bridge, building&#10;&#10;Description automatically generated">
            <a:extLst>
              <a:ext uri="{FF2B5EF4-FFF2-40B4-BE49-F238E27FC236}">
                <a16:creationId xmlns:a16="http://schemas.microsoft.com/office/drawing/2014/main" id="{99FDFA5F-7FE6-BDE0-9734-5047AE07AD65}"/>
              </a:ext>
            </a:extLst>
          </p:cNvPr>
          <p:cNvPicPr>
            <a:picLocks noChangeAspect="1"/>
          </p:cNvPicPr>
          <p:nvPr/>
        </p:nvPicPr>
        <p:blipFill>
          <a:blip r:embed="rId2"/>
          <a:stretch>
            <a:fillRect/>
          </a:stretch>
        </p:blipFill>
        <p:spPr>
          <a:xfrm>
            <a:off x="7406348" y="899132"/>
            <a:ext cx="2722178" cy="3402723"/>
          </a:xfrm>
          <a:prstGeom prst="rect">
            <a:avLst/>
          </a:prstGeom>
        </p:spPr>
      </p:pic>
      <p:sp>
        <p:nvSpPr>
          <p:cNvPr id="9" name="TextBox 8">
            <a:extLst>
              <a:ext uri="{FF2B5EF4-FFF2-40B4-BE49-F238E27FC236}">
                <a16:creationId xmlns:a16="http://schemas.microsoft.com/office/drawing/2014/main" id="{17207271-C5F3-4986-FF3F-2038913E037D}"/>
              </a:ext>
            </a:extLst>
          </p:cNvPr>
          <p:cNvSpPr txBox="1"/>
          <p:nvPr/>
        </p:nvSpPr>
        <p:spPr>
          <a:xfrm>
            <a:off x="958580" y="3429000"/>
            <a:ext cx="5754494" cy="670376"/>
          </a:xfrm>
          <a:prstGeom prst="rect">
            <a:avLst/>
          </a:prstGeom>
          <a:noFill/>
        </p:spPr>
        <p:txBody>
          <a:bodyPr wrap="square">
            <a:spAutoFit/>
          </a:bodyPr>
          <a:lstStyle/>
          <a:p>
            <a:pPr>
              <a:lnSpc>
                <a:spcPct val="85000"/>
              </a:lnSpc>
            </a:pPr>
            <a:r>
              <a:rPr lang="en-US" altLang="en-US" sz="2200">
                <a:latin typeface="+mn-lt"/>
              </a:rPr>
              <a:t>All material copyright 1996-2023</a:t>
            </a:r>
          </a:p>
          <a:p>
            <a:pPr>
              <a:lnSpc>
                <a:spcPct val="85000"/>
              </a:lnSpc>
            </a:pPr>
            <a:r>
              <a:rPr lang="en-US" altLang="en-US" sz="2200">
                <a:latin typeface="+mn-lt"/>
              </a:rPr>
              <a:t>J.F Kurose and K.W. Ross, All Rights Reserved</a:t>
            </a:r>
            <a:endParaRPr lang="en-US" sz="2200"/>
          </a:p>
        </p:txBody>
      </p:sp>
      <p:cxnSp>
        <p:nvCxnSpPr>
          <p:cNvPr id="19" name="Elbow Connector 18">
            <a:extLst>
              <a:ext uri="{FF2B5EF4-FFF2-40B4-BE49-F238E27FC236}">
                <a16:creationId xmlns:a16="http://schemas.microsoft.com/office/drawing/2014/main" id="{FB51EAF9-AC71-AF3F-2442-6ABD5D772DDC}"/>
              </a:ext>
            </a:extLst>
          </p:cNvPr>
          <p:cNvCxnSpPr>
            <a:cxnSpLocks/>
          </p:cNvCxnSpPr>
          <p:nvPr/>
        </p:nvCxnSpPr>
        <p:spPr>
          <a:xfrm flipV="1">
            <a:off x="4488873" y="2050473"/>
            <a:ext cx="2753846" cy="969818"/>
          </a:xfrm>
          <a:prstGeom prst="bentConnector3">
            <a:avLst/>
          </a:prstGeom>
          <a:ln w="28575">
            <a:solidFill>
              <a:srgbClr val="C00000"/>
            </a:solidFill>
            <a:tailEnd type="triangle"/>
          </a:ln>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130856953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38F4F0-27B6-3E08-2CF9-73E0B198199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5801C40-744B-3A7E-2F4D-C9A22D347925}"/>
              </a:ext>
            </a:extLst>
          </p:cNvPr>
          <p:cNvSpPr>
            <a:spLocks noGrp="1"/>
          </p:cNvSpPr>
          <p:nvPr>
            <p:ph type="title"/>
          </p:nvPr>
        </p:nvSpPr>
        <p:spPr/>
        <p:txBody>
          <a:bodyPr/>
          <a:lstStyle/>
          <a:p>
            <a:r>
              <a:rPr lang="en-US">
                <a:cs typeface="Calibri" panose="020F0502020204030204" pitchFamily="34" charset="0"/>
              </a:rPr>
              <a:t>Network Layer in the Internet</a:t>
            </a:r>
            <a:endParaRPr lang="en-US"/>
          </a:p>
        </p:txBody>
      </p:sp>
      <p:sp>
        <p:nvSpPr>
          <p:cNvPr id="3" name="Content Placeholder 2">
            <a:extLst>
              <a:ext uri="{FF2B5EF4-FFF2-40B4-BE49-F238E27FC236}">
                <a16:creationId xmlns:a16="http://schemas.microsoft.com/office/drawing/2014/main" id="{C2C9DA4F-F05D-4683-1C18-51B4705FA860}"/>
              </a:ext>
            </a:extLst>
          </p:cNvPr>
          <p:cNvSpPr>
            <a:spLocks noGrp="1"/>
          </p:cNvSpPr>
          <p:nvPr>
            <p:ph sz="half" idx="1"/>
          </p:nvPr>
        </p:nvSpPr>
        <p:spPr>
          <a:xfrm>
            <a:off x="838200" y="1572572"/>
            <a:ext cx="8724089" cy="4482787"/>
          </a:xfrm>
        </p:spPr>
        <p:txBody>
          <a:bodyPr>
            <a:normAutofit/>
          </a:bodyPr>
          <a:lstStyle/>
          <a:p>
            <a:pPr marL="342900" indent="-212725">
              <a:buFont typeface="Wingdings" charset="2"/>
              <a:buChar char="§"/>
              <a:defRPr/>
            </a:pPr>
            <a:r>
              <a:rPr lang="en-US" sz="3200" dirty="0">
                <a:solidFill>
                  <a:schemeClr val="bg1">
                    <a:lumMod val="50000"/>
                  </a:schemeClr>
                </a:solidFill>
              </a:rPr>
              <a:t>The Internet Protocol (IP)</a:t>
            </a:r>
          </a:p>
          <a:p>
            <a:pPr>
              <a:defRPr/>
            </a:pPr>
            <a:r>
              <a:rPr lang="en-US" sz="3200" dirty="0">
                <a:solidFill>
                  <a:schemeClr val="bg2">
                    <a:lumMod val="50000"/>
                  </a:schemeClr>
                </a:solidFill>
              </a:rPr>
              <a:t>Internet Routing</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Hierarchical routing </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Intra-ISP routing: </a:t>
            </a:r>
            <a:r>
              <a:rPr lang="en-US" sz="2800" dirty="0">
                <a:solidFill>
                  <a:schemeClr val="bg2">
                    <a:lumMod val="50000"/>
                  </a:schemeClr>
                </a:solidFill>
              </a:rPr>
              <a:t>OSPF</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Inter-ISP routing: </a:t>
            </a:r>
            <a:r>
              <a:rPr lang="en-US" sz="2800" dirty="0">
                <a:solidFill>
                  <a:schemeClr val="bg2">
                    <a:lumMod val="50000"/>
                  </a:schemeClr>
                </a:solidFill>
              </a:rPr>
              <a:t>BGP</a:t>
            </a:r>
          </a:p>
          <a:p>
            <a:pPr>
              <a:defRPr/>
            </a:pPr>
            <a:r>
              <a:rPr lang="en-US" sz="3200" dirty="0"/>
              <a:t>Internet Forwarding</a:t>
            </a:r>
          </a:p>
          <a:p>
            <a:pPr marL="130175" indent="0">
              <a:buNone/>
            </a:pPr>
            <a:endParaRPr lang="en-US" dirty="0"/>
          </a:p>
        </p:txBody>
      </p:sp>
    </p:spTree>
    <p:extLst>
      <p:ext uri="{BB962C8B-B14F-4D97-AF65-F5344CB8AC3E}">
        <p14:creationId xmlns:p14="http://schemas.microsoft.com/office/powerpoint/2010/main" val="256313500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12A063-00DF-A550-EE34-EF3E0BBD7AF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64A8EBB-0E55-A1EF-33C3-BEEF45F15FC3}"/>
              </a:ext>
            </a:extLst>
          </p:cNvPr>
          <p:cNvSpPr>
            <a:spLocks noGrp="1"/>
          </p:cNvSpPr>
          <p:nvPr>
            <p:ph type="title"/>
          </p:nvPr>
        </p:nvSpPr>
        <p:spPr/>
        <p:txBody>
          <a:bodyPr/>
          <a:lstStyle/>
          <a:p>
            <a:r>
              <a:rPr lang="en-US">
                <a:cs typeface="Calibri" panose="020F0502020204030204" pitchFamily="34" charset="0"/>
              </a:rPr>
              <a:t>Network Layer in the Internet</a:t>
            </a:r>
            <a:endParaRPr lang="en-US"/>
          </a:p>
        </p:txBody>
      </p:sp>
      <p:sp>
        <p:nvSpPr>
          <p:cNvPr id="3" name="Content Placeholder 2">
            <a:extLst>
              <a:ext uri="{FF2B5EF4-FFF2-40B4-BE49-F238E27FC236}">
                <a16:creationId xmlns:a16="http://schemas.microsoft.com/office/drawing/2014/main" id="{306848A5-86DF-69B3-790A-1F48F79DC137}"/>
              </a:ext>
            </a:extLst>
          </p:cNvPr>
          <p:cNvSpPr>
            <a:spLocks noGrp="1"/>
          </p:cNvSpPr>
          <p:nvPr>
            <p:ph sz="half" idx="1"/>
          </p:nvPr>
        </p:nvSpPr>
        <p:spPr>
          <a:xfrm>
            <a:off x="838200" y="1572572"/>
            <a:ext cx="8724089" cy="4482787"/>
          </a:xfrm>
        </p:spPr>
        <p:txBody>
          <a:bodyPr>
            <a:normAutofit/>
          </a:bodyPr>
          <a:lstStyle/>
          <a:p>
            <a:pPr marL="342900" indent="-212725">
              <a:buFont typeface="Wingdings" charset="2"/>
              <a:buChar char="§"/>
              <a:defRPr/>
            </a:pPr>
            <a:r>
              <a:rPr lang="en-US" sz="3200" dirty="0">
                <a:solidFill>
                  <a:schemeClr val="bg1">
                    <a:lumMod val="50000"/>
                  </a:schemeClr>
                </a:solidFill>
              </a:rPr>
              <a:t>The Internet Protocol (IP)</a:t>
            </a:r>
          </a:p>
          <a:p>
            <a:pPr>
              <a:defRPr/>
            </a:pPr>
            <a:r>
              <a:rPr lang="en-US" sz="3200" dirty="0">
                <a:solidFill>
                  <a:schemeClr val="bg2">
                    <a:lumMod val="50000"/>
                  </a:schemeClr>
                </a:solidFill>
              </a:rPr>
              <a:t>Internet Routing</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Hierarchical routing </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Intra-ISP routing: </a:t>
            </a:r>
            <a:r>
              <a:rPr lang="en-US" sz="2800" dirty="0">
                <a:solidFill>
                  <a:schemeClr val="bg2">
                    <a:lumMod val="50000"/>
                  </a:schemeClr>
                </a:solidFill>
              </a:rPr>
              <a:t>OSPF</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Inter-ISP routing: </a:t>
            </a:r>
            <a:r>
              <a:rPr lang="en-US" sz="2800" dirty="0">
                <a:solidFill>
                  <a:schemeClr val="bg2">
                    <a:lumMod val="50000"/>
                  </a:schemeClr>
                </a:solidFill>
              </a:rPr>
              <a:t>BGP</a:t>
            </a:r>
          </a:p>
          <a:p>
            <a:pPr>
              <a:defRPr/>
            </a:pPr>
            <a:r>
              <a:rPr lang="en-US" sz="3200" dirty="0"/>
              <a:t>Internet Forwarding</a:t>
            </a:r>
          </a:p>
          <a:p>
            <a:pPr lvl="1">
              <a:spcBef>
                <a:spcPts val="400"/>
              </a:spcBef>
            </a:pPr>
            <a:r>
              <a:rPr lang="en-US" altLang="en-US" sz="2800" dirty="0">
                <a:ea typeface="ＭＳ Ｐゴシック" panose="020B0600070205080204" pitchFamily="34" charset="-128"/>
                <a:cs typeface="Arial" panose="020B0604020202020204" pitchFamily="34" charset="0"/>
              </a:rPr>
              <a:t>Destination-based forwarding</a:t>
            </a:r>
          </a:p>
        </p:txBody>
      </p:sp>
    </p:spTree>
    <p:extLst>
      <p:ext uri="{BB962C8B-B14F-4D97-AF65-F5344CB8AC3E}">
        <p14:creationId xmlns:p14="http://schemas.microsoft.com/office/powerpoint/2010/main" val="285040970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4B22EC-B66C-65C7-9EBA-9B5203A0492C}"/>
              </a:ext>
            </a:extLst>
          </p:cNvPr>
          <p:cNvSpPr>
            <a:spLocks noGrp="1"/>
          </p:cNvSpPr>
          <p:nvPr>
            <p:ph type="title"/>
          </p:nvPr>
        </p:nvSpPr>
        <p:spPr/>
        <p:txBody>
          <a:bodyPr/>
          <a:lstStyle/>
          <a:p>
            <a:r>
              <a:rPr lang="en-US" sz="4400"/>
              <a:t>Destination-based forwarding</a:t>
            </a:r>
            <a:endParaRPr lang="en-US"/>
          </a:p>
        </p:txBody>
      </p:sp>
      <p:graphicFrame>
        <p:nvGraphicFramePr>
          <p:cNvPr id="6" name="Table 5">
            <a:extLst>
              <a:ext uri="{FF2B5EF4-FFF2-40B4-BE49-F238E27FC236}">
                <a16:creationId xmlns:a16="http://schemas.microsoft.com/office/drawing/2014/main" id="{E7F22035-383D-F4A1-057E-3ED0A050AA22}"/>
              </a:ext>
            </a:extLst>
          </p:cNvPr>
          <p:cNvGraphicFramePr>
            <a:graphicFrameLocks noGrp="1"/>
          </p:cNvGraphicFramePr>
          <p:nvPr>
            <p:extLst>
              <p:ext uri="{D42A27DB-BD31-4B8C-83A1-F6EECF244321}">
                <p14:modId xmlns:p14="http://schemas.microsoft.com/office/powerpoint/2010/main" val="765612289"/>
              </p:ext>
            </p:extLst>
          </p:nvPr>
        </p:nvGraphicFramePr>
        <p:xfrm>
          <a:off x="2742616" y="1749420"/>
          <a:ext cx="6477000" cy="1959867"/>
        </p:xfrm>
        <a:graphic>
          <a:graphicData uri="http://schemas.openxmlformats.org/drawingml/2006/table">
            <a:tbl>
              <a:tblPr firstRow="1" bandRow="1">
                <a:tableStyleId>{5C22544A-7EE6-4342-B048-85BDC9FD1C3A}</a:tableStyleId>
              </a:tblPr>
              <a:tblGrid>
                <a:gridCol w="4052046">
                  <a:extLst>
                    <a:ext uri="{9D8B030D-6E8A-4147-A177-3AD203B41FA5}">
                      <a16:colId xmlns:a16="http://schemas.microsoft.com/office/drawing/2014/main" val="1640348150"/>
                    </a:ext>
                  </a:extLst>
                </a:gridCol>
                <a:gridCol w="2424954">
                  <a:extLst>
                    <a:ext uri="{9D8B030D-6E8A-4147-A177-3AD203B41FA5}">
                      <a16:colId xmlns:a16="http://schemas.microsoft.com/office/drawing/2014/main" val="154867810"/>
                    </a:ext>
                  </a:extLst>
                </a:gridCol>
              </a:tblGrid>
              <a:tr h="588267">
                <a:tc>
                  <a:txBody>
                    <a:bodyPr/>
                    <a:lstStyle/>
                    <a:p>
                      <a:pPr algn="l"/>
                      <a:r>
                        <a:rPr lang="en-US" sz="2800"/>
                        <a:t>Destination </a:t>
                      </a:r>
                      <a:r>
                        <a:rPr lang="en-US" sz="2800" u="sng"/>
                        <a:t>Prefix</a:t>
                      </a:r>
                    </a:p>
                  </a:txBody>
                  <a:tcPr/>
                </a:tc>
                <a:tc>
                  <a:txBody>
                    <a:bodyPr/>
                    <a:lstStyle/>
                    <a:p>
                      <a:pPr algn="ctr"/>
                      <a:r>
                        <a:rPr lang="en-US" sz="2800"/>
                        <a:t>Link Interface</a:t>
                      </a:r>
                    </a:p>
                  </a:txBody>
                  <a:tcPr/>
                </a:tc>
                <a:extLst>
                  <a:ext uri="{0D108BD9-81ED-4DB2-BD59-A6C34878D82A}">
                    <a16:rowId xmlns:a16="http://schemas.microsoft.com/office/drawing/2014/main" val="1700371186"/>
                  </a:ext>
                </a:extLst>
              </a:tr>
              <a:tr h="321661">
                <a:tc>
                  <a:txBody>
                    <a:bodyPr/>
                    <a:lstStyle/>
                    <a:p>
                      <a:pPr algn="l"/>
                      <a:r>
                        <a:rPr lang="en-US" sz="2400"/>
                        <a:t>10.20.30.0/24</a:t>
                      </a:r>
                    </a:p>
                  </a:txBody>
                  <a:tcPr/>
                </a:tc>
                <a:tc>
                  <a:txBody>
                    <a:bodyPr/>
                    <a:lstStyle/>
                    <a:p>
                      <a:pPr algn="ctr"/>
                      <a:r>
                        <a:rPr lang="en-US" sz="2400"/>
                        <a:t>0</a:t>
                      </a:r>
                    </a:p>
                  </a:txBody>
                  <a:tcPr/>
                </a:tc>
                <a:extLst>
                  <a:ext uri="{0D108BD9-81ED-4DB2-BD59-A6C34878D82A}">
                    <a16:rowId xmlns:a16="http://schemas.microsoft.com/office/drawing/2014/main" val="1976607637"/>
                  </a:ext>
                </a:extLst>
              </a:tr>
              <a:tr h="438203">
                <a:tc>
                  <a:txBody>
                    <a:bodyPr/>
                    <a:lstStyle/>
                    <a:p>
                      <a:pPr algn="l"/>
                      <a:r>
                        <a:rPr lang="en-US" sz="2400"/>
                        <a:t>5.4.0.0/16</a:t>
                      </a:r>
                    </a:p>
                  </a:txBody>
                  <a:tcPr/>
                </a:tc>
                <a:tc>
                  <a:txBody>
                    <a:bodyPr/>
                    <a:lstStyle/>
                    <a:p>
                      <a:pPr algn="ctr"/>
                      <a:r>
                        <a:rPr lang="en-US" sz="2400"/>
                        <a:t>1</a:t>
                      </a:r>
                    </a:p>
                  </a:txBody>
                  <a:tcPr/>
                </a:tc>
                <a:extLst>
                  <a:ext uri="{0D108BD9-81ED-4DB2-BD59-A6C34878D82A}">
                    <a16:rowId xmlns:a16="http://schemas.microsoft.com/office/drawing/2014/main" val="1760057121"/>
                  </a:ext>
                </a:extLst>
              </a:tr>
              <a:tr h="0">
                <a:tc>
                  <a:txBody>
                    <a:bodyPr/>
                    <a:lstStyle/>
                    <a:p>
                      <a:pPr algn="l"/>
                      <a:r>
                        <a:rPr lang="en-US" sz="2400"/>
                        <a:t>…</a:t>
                      </a:r>
                    </a:p>
                  </a:txBody>
                  <a:tcPr/>
                </a:tc>
                <a:tc>
                  <a:txBody>
                    <a:bodyPr/>
                    <a:lstStyle/>
                    <a:p>
                      <a:pPr algn="ctr"/>
                      <a:r>
                        <a:rPr lang="en-US" sz="2400"/>
                        <a:t>…</a:t>
                      </a:r>
                    </a:p>
                  </a:txBody>
                  <a:tcPr/>
                </a:tc>
                <a:extLst>
                  <a:ext uri="{0D108BD9-81ED-4DB2-BD59-A6C34878D82A}">
                    <a16:rowId xmlns:a16="http://schemas.microsoft.com/office/drawing/2014/main" val="1559006855"/>
                  </a:ext>
                </a:extLst>
              </a:tr>
            </a:tbl>
          </a:graphicData>
        </a:graphic>
      </p:graphicFrame>
      <p:sp>
        <p:nvSpPr>
          <p:cNvPr id="9" name="Rectangle 4">
            <a:extLst>
              <a:ext uri="{FF2B5EF4-FFF2-40B4-BE49-F238E27FC236}">
                <a16:creationId xmlns:a16="http://schemas.microsoft.com/office/drawing/2014/main" id="{6465A2AB-D373-B42C-1DB8-833E1EF3FE8D}"/>
              </a:ext>
            </a:extLst>
          </p:cNvPr>
          <p:cNvSpPr txBox="1">
            <a:spLocks noChangeArrowheads="1"/>
          </p:cNvSpPr>
          <p:nvPr/>
        </p:nvSpPr>
        <p:spPr bwMode="auto">
          <a:xfrm>
            <a:off x="516055" y="4026755"/>
            <a:ext cx="10515600" cy="2416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lnSpc>
                <a:spcPct val="90000"/>
              </a:lnSpc>
              <a:defRPr/>
            </a:pPr>
            <a:r>
              <a:rPr kumimoji="0" lang="en-US" altLang="en-US"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the router use this for forwarding?</a:t>
            </a:r>
          </a:p>
          <a:p>
            <a:pPr lvl="1">
              <a:lnSpc>
                <a:spcPct val="90000"/>
              </a:lnSpc>
              <a:defRPr/>
            </a:pPr>
            <a:r>
              <a:rPr lang="en-US" altLang="en-US" kern="0">
                <a:solidFill>
                  <a:prstClr val="black"/>
                </a:solidFill>
                <a:latin typeface="Calibri" panose="020F0502020204030204"/>
                <a:ea typeface="ＭＳ Ｐゴシック" panose="020B0600070205080204" pitchFamily="34" charset="-128"/>
                <a:cs typeface="ＭＳ Ｐゴシック" panose="020B0600070205080204" pitchFamily="34" charset="-128"/>
              </a:rPr>
              <a:t>When a packet comes in with destination address X</a:t>
            </a:r>
          </a:p>
          <a:p>
            <a:pPr lvl="1">
              <a:lnSpc>
                <a:spcPct val="90000"/>
              </a:lnSpc>
              <a:defRPr/>
            </a:pPr>
            <a:r>
              <a:rPr kumimoji="0" lang="en-US" altLang="en-US"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Check whether X </a:t>
            </a:r>
            <a:r>
              <a:rPr kumimoji="0" lang="en-US" altLang="en-US" b="0" i="1" u="none" strike="noStrike" kern="0" cap="none" spc="0" normalizeH="0" baseline="0" noProof="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matches </a:t>
            </a:r>
            <a:r>
              <a:rPr kumimoji="0" lang="en-US" altLang="en-US" b="0" u="none" strike="noStrike" kern="0" cap="none" spc="0" normalizeH="0" baseline="0" noProof="0">
                <a:ln>
                  <a:noFill/>
                </a:ln>
                <a:solidFill>
                  <a:schemeClr val="tx1">
                    <a:lumMod val="85000"/>
                    <a:lumOff val="15000"/>
                  </a:schemeClr>
                </a:solidFill>
                <a:effectLst/>
                <a:uLnTx/>
                <a:uFillTx/>
                <a:latin typeface="Calibri" panose="020F0502020204030204"/>
                <a:ea typeface="ＭＳ Ｐゴシック" panose="020B0600070205080204" pitchFamily="34" charset="-128"/>
                <a:cs typeface="ＭＳ Ｐゴシック" panose="020B0600070205080204" pitchFamily="34" charset="-128"/>
              </a:rPr>
              <a:t>a prefix in the tab</a:t>
            </a:r>
            <a:r>
              <a:rPr lang="en-US" altLang="en-US" kern="0">
                <a:solidFill>
                  <a:schemeClr val="tx1">
                    <a:lumMod val="85000"/>
                    <a:lumOff val="15000"/>
                  </a:schemeClr>
                </a:solidFill>
                <a:latin typeface="Calibri" panose="020F0502020204030204"/>
                <a:ea typeface="ＭＳ Ｐゴシック" panose="020B0600070205080204" pitchFamily="34" charset="-128"/>
                <a:cs typeface="ＭＳ Ｐゴシック" panose="020B0600070205080204" pitchFamily="34" charset="-128"/>
              </a:rPr>
              <a:t>le</a:t>
            </a:r>
          </a:p>
          <a:p>
            <a:pPr lvl="1">
              <a:lnSpc>
                <a:spcPct val="90000"/>
              </a:lnSpc>
              <a:defRPr/>
            </a:pPr>
            <a:r>
              <a:rPr kumimoji="0" lang="en-US" altLang="en-US" b="0" i="0" u="none" strike="noStrike" kern="0" cap="none" spc="0" normalizeH="0" baseline="0" noProof="0">
                <a:ln>
                  <a:noFill/>
                </a:ln>
                <a:solidFill>
                  <a:schemeClr val="tx1">
                    <a:lumMod val="85000"/>
                    <a:lumOff val="15000"/>
                  </a:schemeClr>
                </a:solidFill>
                <a:effectLst/>
                <a:uLnTx/>
                <a:uFillTx/>
                <a:latin typeface="Calibri" panose="020F0502020204030204"/>
                <a:ea typeface="ＭＳ Ｐゴシック" panose="020B0600070205080204" pitchFamily="34" charset="-128"/>
                <a:cs typeface="ＭＳ Ｐゴシック" panose="020B0600070205080204" pitchFamily="34" charset="-128"/>
              </a:rPr>
              <a:t>If yes, </a:t>
            </a:r>
            <a:r>
              <a:rPr lang="en-US" altLang="en-US" kern="0">
                <a:solidFill>
                  <a:schemeClr val="tx1">
                    <a:lumMod val="85000"/>
                    <a:lumOff val="15000"/>
                  </a:schemeClr>
                </a:solidFill>
                <a:latin typeface="Calibri" panose="020F0502020204030204"/>
                <a:ea typeface="ＭＳ Ｐゴシック" panose="020B0600070205080204" pitchFamily="34" charset="-128"/>
                <a:cs typeface="ＭＳ Ｐゴシック" panose="020B0600070205080204" pitchFamily="34" charset="-128"/>
              </a:rPr>
              <a:t>send it to the corresponding interface (</a:t>
            </a:r>
            <a:r>
              <a:rPr lang="en-US" altLang="en-US" kern="0">
                <a:solidFill>
                  <a:srgbClr val="C00000"/>
                </a:solidFill>
                <a:latin typeface="Calibri" panose="020F0502020204030204"/>
                <a:ea typeface="ＭＳ Ｐゴシック" panose="020B0600070205080204" pitchFamily="34" charset="-128"/>
                <a:cs typeface="ＭＳ Ｐゴシック" panose="020B0600070205080204" pitchFamily="34" charset="-128"/>
              </a:rPr>
              <a:t>action</a:t>
            </a:r>
            <a:r>
              <a:rPr lang="en-US" altLang="en-US" kern="0">
                <a:solidFill>
                  <a:schemeClr val="tx1">
                    <a:lumMod val="85000"/>
                    <a:lumOff val="15000"/>
                  </a:schemeClr>
                </a:solidFill>
                <a:latin typeface="Calibri" panose="020F0502020204030204"/>
                <a:ea typeface="ＭＳ Ｐゴシック" panose="020B0600070205080204" pitchFamily="34" charset="-128"/>
                <a:cs typeface="ＭＳ Ｐゴシック" panose="020B0600070205080204" pitchFamily="34" charset="-128"/>
              </a:rPr>
              <a:t>)</a:t>
            </a:r>
          </a:p>
          <a:p>
            <a:pPr lvl="1">
              <a:lnSpc>
                <a:spcPct val="90000"/>
              </a:lnSpc>
              <a:defRPr/>
            </a:pPr>
            <a:r>
              <a:rPr kumimoji="0" lang="en-US" altLang="en-US" b="0" i="0" u="none" strike="noStrike" kern="0" cap="none" spc="0" normalizeH="0" baseline="0" noProof="0">
                <a:ln>
                  <a:noFill/>
                </a:ln>
                <a:solidFill>
                  <a:schemeClr val="tx1">
                    <a:lumMod val="85000"/>
                    <a:lumOff val="15000"/>
                  </a:schemeClr>
                </a:solidFill>
                <a:effectLst/>
                <a:uLnTx/>
                <a:uFillTx/>
                <a:latin typeface="Calibri" panose="020F0502020204030204"/>
                <a:ea typeface="ＭＳ Ｐゴシック" panose="020B0600070205080204" pitchFamily="34" charset="-128"/>
                <a:cs typeface="ＭＳ Ｐゴシック" panose="020B0600070205080204" pitchFamily="34" charset="-128"/>
              </a:rPr>
              <a:t>If not, drop the packet.</a:t>
            </a:r>
            <a:endParaRPr kumimoji="0" lang="en-US" altLang="en-US" b="0" i="0" u="none" strike="noStrike" kern="0" cap="none" spc="0" normalizeH="0" baseline="0" noProof="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Tree>
    <p:extLst>
      <p:ext uri="{BB962C8B-B14F-4D97-AF65-F5344CB8AC3E}">
        <p14:creationId xmlns:p14="http://schemas.microsoft.com/office/powerpoint/2010/main" val="380983787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4B22EC-B66C-65C7-9EBA-9B5203A0492C}"/>
              </a:ext>
            </a:extLst>
          </p:cNvPr>
          <p:cNvSpPr>
            <a:spLocks noGrp="1"/>
          </p:cNvSpPr>
          <p:nvPr>
            <p:ph type="title"/>
          </p:nvPr>
        </p:nvSpPr>
        <p:spPr/>
        <p:txBody>
          <a:bodyPr/>
          <a:lstStyle/>
          <a:p>
            <a:r>
              <a:rPr lang="en-US" sz="4400"/>
              <a:t>Destination-based forwarding</a:t>
            </a:r>
            <a:endParaRPr lang="en-US"/>
          </a:p>
        </p:txBody>
      </p:sp>
      <p:graphicFrame>
        <p:nvGraphicFramePr>
          <p:cNvPr id="6" name="Table 5">
            <a:extLst>
              <a:ext uri="{FF2B5EF4-FFF2-40B4-BE49-F238E27FC236}">
                <a16:creationId xmlns:a16="http://schemas.microsoft.com/office/drawing/2014/main" id="{4AC48A82-07A8-FFBC-FCCD-475B790D472B}"/>
              </a:ext>
            </a:extLst>
          </p:cNvPr>
          <p:cNvGraphicFramePr>
            <a:graphicFrameLocks noGrp="1"/>
          </p:cNvGraphicFramePr>
          <p:nvPr>
            <p:extLst>
              <p:ext uri="{D42A27DB-BD31-4B8C-83A1-F6EECF244321}">
                <p14:modId xmlns:p14="http://schemas.microsoft.com/office/powerpoint/2010/main" val="476610723"/>
              </p:ext>
            </p:extLst>
          </p:nvPr>
        </p:nvGraphicFramePr>
        <p:xfrm>
          <a:off x="4750710" y="1670361"/>
          <a:ext cx="6477000" cy="2417067"/>
        </p:xfrm>
        <a:graphic>
          <a:graphicData uri="http://schemas.openxmlformats.org/drawingml/2006/table">
            <a:tbl>
              <a:tblPr firstRow="1" bandRow="1">
                <a:tableStyleId>{5C22544A-7EE6-4342-B048-85BDC9FD1C3A}</a:tableStyleId>
              </a:tblPr>
              <a:tblGrid>
                <a:gridCol w="4052046">
                  <a:extLst>
                    <a:ext uri="{9D8B030D-6E8A-4147-A177-3AD203B41FA5}">
                      <a16:colId xmlns:a16="http://schemas.microsoft.com/office/drawing/2014/main" val="1640348150"/>
                    </a:ext>
                  </a:extLst>
                </a:gridCol>
                <a:gridCol w="2424954">
                  <a:extLst>
                    <a:ext uri="{9D8B030D-6E8A-4147-A177-3AD203B41FA5}">
                      <a16:colId xmlns:a16="http://schemas.microsoft.com/office/drawing/2014/main" val="154867810"/>
                    </a:ext>
                  </a:extLst>
                </a:gridCol>
              </a:tblGrid>
              <a:tr h="588267">
                <a:tc>
                  <a:txBody>
                    <a:bodyPr/>
                    <a:lstStyle/>
                    <a:p>
                      <a:pPr algn="l"/>
                      <a:r>
                        <a:rPr lang="en-US" sz="2800"/>
                        <a:t>Destination </a:t>
                      </a:r>
                      <a:r>
                        <a:rPr lang="en-US" sz="2800" u="sng"/>
                        <a:t>Prefix</a:t>
                      </a:r>
                    </a:p>
                  </a:txBody>
                  <a:tcPr/>
                </a:tc>
                <a:tc>
                  <a:txBody>
                    <a:bodyPr/>
                    <a:lstStyle/>
                    <a:p>
                      <a:pPr algn="ctr"/>
                      <a:r>
                        <a:rPr lang="en-US" sz="2800"/>
                        <a:t>Link Interface</a:t>
                      </a:r>
                    </a:p>
                  </a:txBody>
                  <a:tcPr/>
                </a:tc>
                <a:extLst>
                  <a:ext uri="{0D108BD9-81ED-4DB2-BD59-A6C34878D82A}">
                    <a16:rowId xmlns:a16="http://schemas.microsoft.com/office/drawing/2014/main" val="1700371186"/>
                  </a:ext>
                </a:extLst>
              </a:tr>
              <a:tr h="321661">
                <a:tc>
                  <a:txBody>
                    <a:bodyPr/>
                    <a:lstStyle/>
                    <a:p>
                      <a:pPr algn="l"/>
                      <a:r>
                        <a:rPr lang="en-US" sz="2400"/>
                        <a:t>10.20.30.0/24</a:t>
                      </a:r>
                    </a:p>
                  </a:txBody>
                  <a:tcPr/>
                </a:tc>
                <a:tc>
                  <a:txBody>
                    <a:bodyPr/>
                    <a:lstStyle/>
                    <a:p>
                      <a:pPr algn="ctr"/>
                      <a:r>
                        <a:rPr lang="en-US" sz="2400"/>
                        <a:t>0</a:t>
                      </a:r>
                    </a:p>
                  </a:txBody>
                  <a:tcPr/>
                </a:tc>
                <a:extLst>
                  <a:ext uri="{0D108BD9-81ED-4DB2-BD59-A6C34878D82A}">
                    <a16:rowId xmlns:a16="http://schemas.microsoft.com/office/drawing/2014/main" val="1976607637"/>
                  </a:ext>
                </a:extLst>
              </a:tr>
              <a:tr h="438203">
                <a:tc>
                  <a:txBody>
                    <a:bodyPr/>
                    <a:lstStyle/>
                    <a:p>
                      <a:pPr algn="l"/>
                      <a:r>
                        <a:rPr lang="en-US" sz="2400"/>
                        <a:t>5.4.0.0/16</a:t>
                      </a:r>
                    </a:p>
                  </a:txBody>
                  <a:tcPr/>
                </a:tc>
                <a:tc>
                  <a:txBody>
                    <a:bodyPr/>
                    <a:lstStyle/>
                    <a:p>
                      <a:pPr algn="ctr"/>
                      <a:r>
                        <a:rPr lang="en-US" sz="2400"/>
                        <a:t>1</a:t>
                      </a:r>
                    </a:p>
                  </a:txBody>
                  <a:tcPr/>
                </a:tc>
                <a:extLst>
                  <a:ext uri="{0D108BD9-81ED-4DB2-BD59-A6C34878D82A}">
                    <a16:rowId xmlns:a16="http://schemas.microsoft.com/office/drawing/2014/main" val="1760057121"/>
                  </a:ext>
                </a:extLst>
              </a:tr>
              <a:tr h="0">
                <a:tc>
                  <a:txBody>
                    <a:bodyPr/>
                    <a:lstStyle/>
                    <a:p>
                      <a:pPr algn="l"/>
                      <a:r>
                        <a:rPr lang="en-US" sz="2400"/>
                        <a:t>10.20.0.0/16</a:t>
                      </a:r>
                    </a:p>
                  </a:txBody>
                  <a:tcPr/>
                </a:tc>
                <a:tc>
                  <a:txBody>
                    <a:bodyPr/>
                    <a:lstStyle/>
                    <a:p>
                      <a:pPr algn="ctr"/>
                      <a:r>
                        <a:rPr lang="en-US" sz="2400"/>
                        <a:t>2</a:t>
                      </a:r>
                    </a:p>
                  </a:txBody>
                  <a:tcPr/>
                </a:tc>
                <a:extLst>
                  <a:ext uri="{0D108BD9-81ED-4DB2-BD59-A6C34878D82A}">
                    <a16:rowId xmlns:a16="http://schemas.microsoft.com/office/drawing/2014/main" val="1559006855"/>
                  </a:ext>
                </a:extLst>
              </a:tr>
              <a:tr h="0">
                <a:tc>
                  <a:txBody>
                    <a:bodyPr/>
                    <a:lstStyle/>
                    <a:p>
                      <a:pPr algn="l"/>
                      <a:r>
                        <a:rPr lang="en-US" sz="2400"/>
                        <a:t>…</a:t>
                      </a:r>
                    </a:p>
                  </a:txBody>
                  <a:tcPr/>
                </a:tc>
                <a:tc>
                  <a:txBody>
                    <a:bodyPr/>
                    <a:lstStyle/>
                    <a:p>
                      <a:pPr algn="ctr"/>
                      <a:r>
                        <a:rPr lang="en-US" sz="2400"/>
                        <a:t>…</a:t>
                      </a:r>
                    </a:p>
                  </a:txBody>
                  <a:tcPr/>
                </a:tc>
                <a:extLst>
                  <a:ext uri="{0D108BD9-81ED-4DB2-BD59-A6C34878D82A}">
                    <a16:rowId xmlns:a16="http://schemas.microsoft.com/office/drawing/2014/main" val="505868238"/>
                  </a:ext>
                </a:extLst>
              </a:tr>
            </a:tbl>
          </a:graphicData>
        </a:graphic>
      </p:graphicFrame>
      <p:sp>
        <p:nvSpPr>
          <p:cNvPr id="7" name="Rectangle 4">
            <a:extLst>
              <a:ext uri="{FF2B5EF4-FFF2-40B4-BE49-F238E27FC236}">
                <a16:creationId xmlns:a16="http://schemas.microsoft.com/office/drawing/2014/main" id="{6B9A4899-44FE-6CC4-E0BE-A06ED4C03488}"/>
              </a:ext>
            </a:extLst>
          </p:cNvPr>
          <p:cNvSpPr txBox="1">
            <a:spLocks noChangeArrowheads="1"/>
          </p:cNvSpPr>
          <p:nvPr/>
        </p:nvSpPr>
        <p:spPr bwMode="auto">
          <a:xfrm>
            <a:off x="516055" y="4387882"/>
            <a:ext cx="10515600" cy="2416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lnSpc>
                <a:spcPct val="90000"/>
              </a:lnSpc>
              <a:defRPr/>
            </a:pPr>
            <a:r>
              <a:rPr kumimoji="0" lang="en-US" altLang="en-US"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What if a packet matches multiple </a:t>
            </a:r>
            <a:r>
              <a:rPr lang="en-US" altLang="en-US" kern="0">
                <a:solidFill>
                  <a:prstClr val="black"/>
                </a:solidFill>
                <a:latin typeface="Calibri" panose="020F0502020204030204"/>
                <a:ea typeface="ＭＳ Ｐゴシック" panose="020B0600070205080204" pitchFamily="34" charset="-128"/>
                <a:cs typeface="ＭＳ Ｐゴシック" panose="020B0600070205080204" pitchFamily="34" charset="-128"/>
              </a:rPr>
              <a:t>entries?</a:t>
            </a:r>
            <a:endParaRPr kumimoji="0" lang="en-US" altLang="en-US"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pic>
        <p:nvPicPr>
          <p:cNvPr id="8" name="Picture 7">
            <a:extLst>
              <a:ext uri="{FF2B5EF4-FFF2-40B4-BE49-F238E27FC236}">
                <a16:creationId xmlns:a16="http://schemas.microsoft.com/office/drawing/2014/main" id="{6E240E39-1FE7-3FEF-7800-F620C5AEEC50}"/>
              </a:ext>
            </a:extLst>
          </p:cNvPr>
          <p:cNvPicPr>
            <a:picLocks noChangeAspect="1"/>
          </p:cNvPicPr>
          <p:nvPr/>
        </p:nvPicPr>
        <p:blipFill>
          <a:blip r:embed="rId2"/>
          <a:stretch>
            <a:fillRect/>
          </a:stretch>
        </p:blipFill>
        <p:spPr>
          <a:xfrm>
            <a:off x="2115296" y="1944198"/>
            <a:ext cx="825500" cy="622300"/>
          </a:xfrm>
          <a:prstGeom prst="rect">
            <a:avLst/>
          </a:prstGeom>
        </p:spPr>
      </p:pic>
      <p:sp>
        <p:nvSpPr>
          <p:cNvPr id="9" name="TextBox 8">
            <a:extLst>
              <a:ext uri="{FF2B5EF4-FFF2-40B4-BE49-F238E27FC236}">
                <a16:creationId xmlns:a16="http://schemas.microsoft.com/office/drawing/2014/main" id="{F9FC6064-E442-A33A-A674-63B43B28E200}"/>
              </a:ext>
            </a:extLst>
          </p:cNvPr>
          <p:cNvSpPr txBox="1"/>
          <p:nvPr/>
        </p:nvSpPr>
        <p:spPr>
          <a:xfrm>
            <a:off x="1360739" y="2650295"/>
            <a:ext cx="2673379" cy="1015663"/>
          </a:xfrm>
          <a:prstGeom prst="rect">
            <a:avLst/>
          </a:prstGeom>
          <a:noFill/>
        </p:spPr>
        <p:txBody>
          <a:bodyPr wrap="square" rtlCol="0">
            <a:spAutoFit/>
          </a:bodyPr>
          <a:lstStyle/>
          <a:p>
            <a:r>
              <a:rPr lang="en-US" sz="2000"/>
              <a:t>Destination IP address:</a:t>
            </a:r>
          </a:p>
          <a:p>
            <a:r>
              <a:rPr lang="en-US" sz="2000"/>
              <a:t>10.20.30.5</a:t>
            </a:r>
          </a:p>
          <a:p>
            <a:endParaRPr lang="en-US" sz="2000"/>
          </a:p>
        </p:txBody>
      </p:sp>
    </p:spTree>
    <p:extLst>
      <p:ext uri="{BB962C8B-B14F-4D97-AF65-F5344CB8AC3E}">
        <p14:creationId xmlns:p14="http://schemas.microsoft.com/office/powerpoint/2010/main" val="148116244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4B22EC-B66C-65C7-9EBA-9B5203A0492C}"/>
              </a:ext>
            </a:extLst>
          </p:cNvPr>
          <p:cNvSpPr>
            <a:spLocks noGrp="1"/>
          </p:cNvSpPr>
          <p:nvPr>
            <p:ph type="title"/>
          </p:nvPr>
        </p:nvSpPr>
        <p:spPr/>
        <p:txBody>
          <a:bodyPr>
            <a:normAutofit/>
          </a:bodyPr>
          <a:lstStyle/>
          <a:p>
            <a:r>
              <a:rPr lang="en-US"/>
              <a:t>How do overlapping entries happen?</a:t>
            </a:r>
          </a:p>
        </p:txBody>
      </p:sp>
      <p:sp>
        <p:nvSpPr>
          <p:cNvPr id="13" name="Line 25">
            <a:extLst>
              <a:ext uri="{FF2B5EF4-FFF2-40B4-BE49-F238E27FC236}">
                <a16:creationId xmlns:a16="http://schemas.microsoft.com/office/drawing/2014/main" id="{241E54DD-4E1E-006D-8FFE-66731584759F}"/>
              </a:ext>
            </a:extLst>
          </p:cNvPr>
          <p:cNvSpPr>
            <a:spLocks noChangeShapeType="1"/>
          </p:cNvSpPr>
          <p:nvPr/>
        </p:nvSpPr>
        <p:spPr bwMode="auto">
          <a:xfrm flipV="1">
            <a:off x="4425663" y="3121421"/>
            <a:ext cx="519940" cy="615157"/>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 name="Line 26">
            <a:extLst>
              <a:ext uri="{FF2B5EF4-FFF2-40B4-BE49-F238E27FC236}">
                <a16:creationId xmlns:a16="http://schemas.microsoft.com/office/drawing/2014/main" id="{F7A8C7B4-8FB5-FE89-DC4A-8963E9F8B844}"/>
              </a:ext>
            </a:extLst>
          </p:cNvPr>
          <p:cNvSpPr>
            <a:spLocks noChangeShapeType="1"/>
          </p:cNvSpPr>
          <p:nvPr/>
        </p:nvSpPr>
        <p:spPr bwMode="auto">
          <a:xfrm flipV="1">
            <a:off x="5733255" y="3426810"/>
            <a:ext cx="18861" cy="922154"/>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 name="Line 27">
            <a:extLst>
              <a:ext uri="{FF2B5EF4-FFF2-40B4-BE49-F238E27FC236}">
                <a16:creationId xmlns:a16="http://schemas.microsoft.com/office/drawing/2014/main" id="{422CE2BF-BDC1-D30D-B61F-D741F91F462D}"/>
              </a:ext>
            </a:extLst>
          </p:cNvPr>
          <p:cNvSpPr>
            <a:spLocks noChangeShapeType="1"/>
          </p:cNvSpPr>
          <p:nvPr/>
        </p:nvSpPr>
        <p:spPr bwMode="auto">
          <a:xfrm>
            <a:off x="4503701" y="4055013"/>
            <a:ext cx="858652" cy="548667"/>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cxnSp>
        <p:nvCxnSpPr>
          <p:cNvPr id="16" name="Straight Connector 15">
            <a:extLst>
              <a:ext uri="{FF2B5EF4-FFF2-40B4-BE49-F238E27FC236}">
                <a16:creationId xmlns:a16="http://schemas.microsoft.com/office/drawing/2014/main" id="{739A5E1B-183C-E02A-93FC-9A1661639ED8}"/>
              </a:ext>
            </a:extLst>
          </p:cNvPr>
          <p:cNvCxnSpPr>
            <a:cxnSpLocks/>
          </p:cNvCxnSpPr>
          <p:nvPr/>
        </p:nvCxnSpPr>
        <p:spPr>
          <a:xfrm flipH="1">
            <a:off x="2208962" y="4000849"/>
            <a:ext cx="6185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oup 50">
            <a:extLst>
              <a:ext uri="{FF2B5EF4-FFF2-40B4-BE49-F238E27FC236}">
                <a16:creationId xmlns:a16="http://schemas.microsoft.com/office/drawing/2014/main" id="{17EDE695-279D-1F11-1E12-000CFAC3FAA5}"/>
              </a:ext>
            </a:extLst>
          </p:cNvPr>
          <p:cNvGrpSpPr/>
          <p:nvPr/>
        </p:nvGrpSpPr>
        <p:grpSpPr>
          <a:xfrm>
            <a:off x="1439035" y="3631088"/>
            <a:ext cx="769927" cy="759333"/>
            <a:chOff x="3362325" y="2938779"/>
            <a:chExt cx="346075" cy="341313"/>
          </a:xfrm>
        </p:grpSpPr>
        <p:sp>
          <p:nvSpPr>
            <p:cNvPr id="17" name="Freeform 14">
              <a:extLst>
                <a:ext uri="{FF2B5EF4-FFF2-40B4-BE49-F238E27FC236}">
                  <a16:creationId xmlns:a16="http://schemas.microsoft.com/office/drawing/2014/main" id="{817CD9F1-B188-DCCE-55B9-618968630AD7}"/>
                </a:ext>
              </a:extLst>
            </p:cNvPr>
            <p:cNvSpPr>
              <a:spLocks/>
            </p:cNvSpPr>
            <p:nvPr/>
          </p:nvSpPr>
          <p:spPr bwMode="auto">
            <a:xfrm>
              <a:off x="3362325" y="2938779"/>
              <a:ext cx="346075" cy="341313"/>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 name="Rectangle 15">
              <a:extLst>
                <a:ext uri="{FF2B5EF4-FFF2-40B4-BE49-F238E27FC236}">
                  <a16:creationId xmlns:a16="http://schemas.microsoft.com/office/drawing/2014/main" id="{647BB802-60F1-C279-269D-BA828D406D73}"/>
                </a:ext>
              </a:extLst>
            </p:cNvPr>
            <p:cNvSpPr>
              <a:spLocks noChangeArrowheads="1"/>
            </p:cNvSpPr>
            <p:nvPr/>
          </p:nvSpPr>
          <p:spPr bwMode="auto">
            <a:xfrm>
              <a:off x="3460968" y="2986196"/>
              <a:ext cx="229230" cy="22134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p>
              <a:r>
                <a:rPr lang="en-US" sz="3200" b="1">
                  <a:solidFill>
                    <a:schemeClr val="bg1"/>
                  </a:solidFill>
                </a:rPr>
                <a:t>w</a:t>
              </a:r>
            </a:p>
          </p:txBody>
        </p:sp>
        <p:sp>
          <p:nvSpPr>
            <p:cNvPr id="19" name="Rectangle 16">
              <a:extLst>
                <a:ext uri="{FF2B5EF4-FFF2-40B4-BE49-F238E27FC236}">
                  <a16:creationId xmlns:a16="http://schemas.microsoft.com/office/drawing/2014/main" id="{3B648433-79EC-172E-FCD5-E26DF9719DAF}"/>
                </a:ext>
              </a:extLst>
            </p:cNvPr>
            <p:cNvSpPr>
              <a:spLocks noChangeArrowheads="1"/>
            </p:cNvSpPr>
            <p:nvPr/>
          </p:nvSpPr>
          <p:spPr bwMode="auto">
            <a:xfrm>
              <a:off x="3638550" y="2978466"/>
              <a:ext cx="49213"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p>
              <a:r>
                <a:rPr lang="en-US" sz="1400">
                  <a:solidFill>
                    <a:srgbClr val="000000"/>
                  </a:solidFill>
                </a:rPr>
                <a:t> </a:t>
              </a:r>
              <a:endParaRPr lang="en-US"/>
            </a:p>
          </p:txBody>
        </p:sp>
      </p:grpSp>
      <p:grpSp>
        <p:nvGrpSpPr>
          <p:cNvPr id="20" name="Group 19">
            <a:extLst>
              <a:ext uri="{FF2B5EF4-FFF2-40B4-BE49-F238E27FC236}">
                <a16:creationId xmlns:a16="http://schemas.microsoft.com/office/drawing/2014/main" id="{B159BC37-7802-EB78-794D-1A484969D525}"/>
              </a:ext>
            </a:extLst>
          </p:cNvPr>
          <p:cNvGrpSpPr/>
          <p:nvPr/>
        </p:nvGrpSpPr>
        <p:grpSpPr>
          <a:xfrm>
            <a:off x="2823491" y="3483372"/>
            <a:ext cx="1724966" cy="1120308"/>
            <a:chOff x="2950206" y="1990648"/>
            <a:chExt cx="892175" cy="579438"/>
          </a:xfrm>
        </p:grpSpPr>
        <p:sp>
          <p:nvSpPr>
            <p:cNvPr id="21" name="Freeform 8">
              <a:extLst>
                <a:ext uri="{FF2B5EF4-FFF2-40B4-BE49-F238E27FC236}">
                  <a16:creationId xmlns:a16="http://schemas.microsoft.com/office/drawing/2014/main" id="{3079E486-2B4B-19B9-D18D-C25F07FE9892}"/>
                </a:ext>
              </a:extLst>
            </p:cNvPr>
            <p:cNvSpPr>
              <a:spLocks/>
            </p:cNvSpPr>
            <p:nvPr/>
          </p:nvSpPr>
          <p:spPr bwMode="auto">
            <a:xfrm>
              <a:off x="2950206" y="1990648"/>
              <a:ext cx="892175" cy="579438"/>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2" name="Rectangle 9">
              <a:extLst>
                <a:ext uri="{FF2B5EF4-FFF2-40B4-BE49-F238E27FC236}">
                  <a16:creationId xmlns:a16="http://schemas.microsoft.com/office/drawing/2014/main" id="{3F784C72-2700-1C16-9D96-B8EFB66B5C00}"/>
                </a:ext>
              </a:extLst>
            </p:cNvPr>
            <p:cNvSpPr>
              <a:spLocks noChangeArrowheads="1"/>
            </p:cNvSpPr>
            <p:nvPr/>
          </p:nvSpPr>
          <p:spPr bwMode="auto">
            <a:xfrm flipH="1">
              <a:off x="3314700" y="2056297"/>
              <a:ext cx="333025" cy="38204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p>
              <a:r>
                <a:rPr lang="en-US" sz="4800" b="1">
                  <a:solidFill>
                    <a:schemeClr val="bg1"/>
                  </a:solidFill>
                </a:rPr>
                <a:t>A</a:t>
              </a:r>
            </a:p>
          </p:txBody>
        </p:sp>
      </p:grpSp>
      <p:grpSp>
        <p:nvGrpSpPr>
          <p:cNvPr id="36" name="Group 35">
            <a:extLst>
              <a:ext uri="{FF2B5EF4-FFF2-40B4-BE49-F238E27FC236}">
                <a16:creationId xmlns:a16="http://schemas.microsoft.com/office/drawing/2014/main" id="{3A5CEC66-BCCA-E325-04B6-FF000D3E955B}"/>
              </a:ext>
            </a:extLst>
          </p:cNvPr>
          <p:cNvGrpSpPr/>
          <p:nvPr/>
        </p:nvGrpSpPr>
        <p:grpSpPr>
          <a:xfrm>
            <a:off x="7969905" y="2832497"/>
            <a:ext cx="3162301" cy="1711325"/>
            <a:chOff x="6282368" y="1597639"/>
            <a:chExt cx="3162301" cy="1711325"/>
          </a:xfrm>
        </p:grpSpPr>
        <p:sp>
          <p:nvSpPr>
            <p:cNvPr id="37" name="Rectangle 28">
              <a:extLst>
                <a:ext uri="{FF2B5EF4-FFF2-40B4-BE49-F238E27FC236}">
                  <a16:creationId xmlns:a16="http://schemas.microsoft.com/office/drawing/2014/main" id="{14DD2BAC-3C4C-7F66-15F4-5B254E15A5EC}"/>
                </a:ext>
              </a:extLst>
            </p:cNvPr>
            <p:cNvSpPr>
              <a:spLocks noChangeArrowheads="1"/>
            </p:cNvSpPr>
            <p:nvPr/>
          </p:nvSpPr>
          <p:spPr bwMode="auto">
            <a:xfrm>
              <a:off x="6282368" y="1597639"/>
              <a:ext cx="965200" cy="450850"/>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38" name="Rectangle 29">
              <a:extLst>
                <a:ext uri="{FF2B5EF4-FFF2-40B4-BE49-F238E27FC236}">
                  <a16:creationId xmlns:a16="http://schemas.microsoft.com/office/drawing/2014/main" id="{3BFDDCE0-3C4E-9822-6431-F86A062C3D8D}"/>
                </a:ext>
              </a:extLst>
            </p:cNvPr>
            <p:cNvSpPr>
              <a:spLocks noChangeArrowheads="1"/>
            </p:cNvSpPr>
            <p:nvPr/>
          </p:nvSpPr>
          <p:spPr bwMode="auto">
            <a:xfrm>
              <a:off x="6757320" y="2261646"/>
              <a:ext cx="83502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legend</a:t>
              </a:r>
              <a:r>
                <a:rPr lang="en-US" sz="1700" b="1">
                  <a:solidFill>
                    <a:srgbClr val="000000"/>
                  </a:solidFill>
                </a:rPr>
                <a:t>:</a:t>
              </a:r>
              <a:endParaRPr lang="en-US"/>
            </a:p>
          </p:txBody>
        </p:sp>
        <p:sp>
          <p:nvSpPr>
            <p:cNvPr id="39" name="Rectangle 30">
              <a:extLst>
                <a:ext uri="{FF2B5EF4-FFF2-40B4-BE49-F238E27FC236}">
                  <a16:creationId xmlns:a16="http://schemas.microsoft.com/office/drawing/2014/main" id="{84CE49DD-94E0-76CA-D280-7AAF7D2D6116}"/>
                </a:ext>
              </a:extLst>
            </p:cNvPr>
            <p:cNvSpPr>
              <a:spLocks noChangeArrowheads="1"/>
            </p:cNvSpPr>
            <p:nvPr/>
          </p:nvSpPr>
          <p:spPr bwMode="auto">
            <a:xfrm>
              <a:off x="7072943" y="1669076"/>
              <a:ext cx="60325" cy="2587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700">
                  <a:solidFill>
                    <a:srgbClr val="000000"/>
                  </a:solidFill>
                </a:rPr>
                <a:t> </a:t>
              </a:r>
              <a:endParaRPr lang="en-US"/>
            </a:p>
          </p:txBody>
        </p:sp>
        <p:sp>
          <p:nvSpPr>
            <p:cNvPr id="40" name="Rectangle 31">
              <a:extLst>
                <a:ext uri="{FF2B5EF4-FFF2-40B4-BE49-F238E27FC236}">
                  <a16:creationId xmlns:a16="http://schemas.microsoft.com/office/drawing/2014/main" id="{8F03B93F-E30A-EE19-9A6D-249C1BB71437}"/>
                </a:ext>
              </a:extLst>
            </p:cNvPr>
            <p:cNvSpPr>
              <a:spLocks noChangeArrowheads="1"/>
            </p:cNvSpPr>
            <p:nvPr/>
          </p:nvSpPr>
          <p:spPr bwMode="auto">
            <a:xfrm>
              <a:off x="8204831" y="2516801"/>
              <a:ext cx="1160463" cy="792163"/>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41" name="Rectangle 32">
              <a:extLst>
                <a:ext uri="{FF2B5EF4-FFF2-40B4-BE49-F238E27FC236}">
                  <a16:creationId xmlns:a16="http://schemas.microsoft.com/office/drawing/2014/main" id="{AB14A3BD-4AF7-8BD1-C814-1D58D5543D90}"/>
                </a:ext>
              </a:extLst>
            </p:cNvPr>
            <p:cNvSpPr>
              <a:spLocks noChangeArrowheads="1"/>
            </p:cNvSpPr>
            <p:nvPr/>
          </p:nvSpPr>
          <p:spPr bwMode="auto">
            <a:xfrm>
              <a:off x="8331831" y="2580301"/>
              <a:ext cx="11128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customer </a:t>
              </a:r>
              <a:endParaRPr lang="en-US" sz="2000"/>
            </a:p>
          </p:txBody>
        </p:sp>
        <p:sp>
          <p:nvSpPr>
            <p:cNvPr id="42" name="Rectangle 33">
              <a:extLst>
                <a:ext uri="{FF2B5EF4-FFF2-40B4-BE49-F238E27FC236}">
                  <a16:creationId xmlns:a16="http://schemas.microsoft.com/office/drawing/2014/main" id="{B97BA028-C43F-46AE-DA1D-6C5C0D30C67B}"/>
                </a:ext>
              </a:extLst>
            </p:cNvPr>
            <p:cNvSpPr>
              <a:spLocks noChangeArrowheads="1"/>
            </p:cNvSpPr>
            <p:nvPr/>
          </p:nvSpPr>
          <p:spPr bwMode="auto">
            <a:xfrm>
              <a:off x="8331831" y="2831126"/>
              <a:ext cx="958850"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network:</a:t>
              </a:r>
              <a:endParaRPr lang="en-US" sz="2000"/>
            </a:p>
          </p:txBody>
        </p:sp>
        <p:sp>
          <p:nvSpPr>
            <p:cNvPr id="43" name="Rectangle 34">
              <a:extLst>
                <a:ext uri="{FF2B5EF4-FFF2-40B4-BE49-F238E27FC236}">
                  <a16:creationId xmlns:a16="http://schemas.microsoft.com/office/drawing/2014/main" id="{24D28E6E-06C8-80CD-0A02-C8395476AAAC}"/>
                </a:ext>
              </a:extLst>
            </p:cNvPr>
            <p:cNvSpPr>
              <a:spLocks noChangeArrowheads="1"/>
            </p:cNvSpPr>
            <p:nvPr/>
          </p:nvSpPr>
          <p:spPr bwMode="auto">
            <a:xfrm>
              <a:off x="9097006" y="2831126"/>
              <a:ext cx="69850"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 </a:t>
              </a:r>
              <a:endParaRPr lang="en-US" sz="2000"/>
            </a:p>
          </p:txBody>
        </p:sp>
        <p:sp>
          <p:nvSpPr>
            <p:cNvPr id="44" name="Rectangle 35">
              <a:extLst>
                <a:ext uri="{FF2B5EF4-FFF2-40B4-BE49-F238E27FC236}">
                  <a16:creationId xmlns:a16="http://schemas.microsoft.com/office/drawing/2014/main" id="{B0E48F1F-045E-751E-AB3B-11EA9882C912}"/>
                </a:ext>
              </a:extLst>
            </p:cNvPr>
            <p:cNvSpPr>
              <a:spLocks noChangeArrowheads="1"/>
            </p:cNvSpPr>
            <p:nvPr/>
          </p:nvSpPr>
          <p:spPr bwMode="auto">
            <a:xfrm>
              <a:off x="8204831" y="1623039"/>
              <a:ext cx="1106488" cy="673100"/>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45" name="Rectangle 36">
              <a:extLst>
                <a:ext uri="{FF2B5EF4-FFF2-40B4-BE49-F238E27FC236}">
                  <a16:creationId xmlns:a16="http://schemas.microsoft.com/office/drawing/2014/main" id="{A37C363E-F02D-5D8B-7367-21094D1F0E52}"/>
                </a:ext>
              </a:extLst>
            </p:cNvPr>
            <p:cNvSpPr>
              <a:spLocks noChangeArrowheads="1"/>
            </p:cNvSpPr>
            <p:nvPr/>
          </p:nvSpPr>
          <p:spPr bwMode="auto">
            <a:xfrm>
              <a:off x="8331831" y="1686539"/>
              <a:ext cx="91757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provider</a:t>
              </a:r>
              <a:endParaRPr lang="en-US" sz="2000"/>
            </a:p>
          </p:txBody>
        </p:sp>
        <p:sp>
          <p:nvSpPr>
            <p:cNvPr id="46" name="Rectangle 37">
              <a:extLst>
                <a:ext uri="{FF2B5EF4-FFF2-40B4-BE49-F238E27FC236}">
                  <a16:creationId xmlns:a16="http://schemas.microsoft.com/office/drawing/2014/main" id="{37E8CCDD-60E2-CC7B-8290-59F77E314B2A}"/>
                </a:ext>
              </a:extLst>
            </p:cNvPr>
            <p:cNvSpPr>
              <a:spLocks noChangeArrowheads="1"/>
            </p:cNvSpPr>
            <p:nvPr/>
          </p:nvSpPr>
          <p:spPr bwMode="auto">
            <a:xfrm>
              <a:off x="9054143" y="1686539"/>
              <a:ext cx="69850"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 </a:t>
              </a:r>
              <a:endParaRPr lang="en-US" sz="2000"/>
            </a:p>
          </p:txBody>
        </p:sp>
        <p:sp>
          <p:nvSpPr>
            <p:cNvPr id="47" name="Rectangle 38">
              <a:extLst>
                <a:ext uri="{FF2B5EF4-FFF2-40B4-BE49-F238E27FC236}">
                  <a16:creationId xmlns:a16="http://schemas.microsoft.com/office/drawing/2014/main" id="{624E13E3-D03E-8A26-E94C-390D345B908D}"/>
                </a:ext>
              </a:extLst>
            </p:cNvPr>
            <p:cNvSpPr>
              <a:spLocks noChangeArrowheads="1"/>
            </p:cNvSpPr>
            <p:nvPr/>
          </p:nvSpPr>
          <p:spPr bwMode="auto">
            <a:xfrm>
              <a:off x="8331831" y="1932601"/>
              <a:ext cx="889000"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network</a:t>
              </a:r>
              <a:endParaRPr lang="en-US" sz="2000"/>
            </a:p>
          </p:txBody>
        </p:sp>
        <p:sp>
          <p:nvSpPr>
            <p:cNvPr id="48" name="Rectangle 39">
              <a:extLst>
                <a:ext uri="{FF2B5EF4-FFF2-40B4-BE49-F238E27FC236}">
                  <a16:creationId xmlns:a16="http://schemas.microsoft.com/office/drawing/2014/main" id="{7354B27A-5468-E8DC-1CE6-E4B358433FE3}"/>
                </a:ext>
              </a:extLst>
            </p:cNvPr>
            <p:cNvSpPr>
              <a:spLocks noChangeArrowheads="1"/>
            </p:cNvSpPr>
            <p:nvPr/>
          </p:nvSpPr>
          <p:spPr bwMode="auto">
            <a:xfrm>
              <a:off x="9036681" y="1932601"/>
              <a:ext cx="69850"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 </a:t>
              </a:r>
              <a:endParaRPr lang="en-US" sz="2000"/>
            </a:p>
          </p:txBody>
        </p:sp>
        <p:sp>
          <p:nvSpPr>
            <p:cNvPr id="49" name="Freeform 40">
              <a:extLst>
                <a:ext uri="{FF2B5EF4-FFF2-40B4-BE49-F238E27FC236}">
                  <a16:creationId xmlns:a16="http://schemas.microsoft.com/office/drawing/2014/main" id="{3DD2D5F0-2FAB-9140-6417-D1CE0A8690BB}"/>
                </a:ext>
              </a:extLst>
            </p:cNvPr>
            <p:cNvSpPr>
              <a:spLocks/>
            </p:cNvSpPr>
            <p:nvPr/>
          </p:nvSpPr>
          <p:spPr bwMode="auto">
            <a:xfrm>
              <a:off x="7392031" y="1673839"/>
              <a:ext cx="893763" cy="574675"/>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50" name="Freeform 41">
              <a:extLst>
                <a:ext uri="{FF2B5EF4-FFF2-40B4-BE49-F238E27FC236}">
                  <a16:creationId xmlns:a16="http://schemas.microsoft.com/office/drawing/2014/main" id="{91308CCA-648D-C949-10B7-13C5FCA7B66F}"/>
                </a:ext>
              </a:extLst>
            </p:cNvPr>
            <p:cNvSpPr>
              <a:spLocks/>
            </p:cNvSpPr>
            <p:nvPr/>
          </p:nvSpPr>
          <p:spPr bwMode="auto">
            <a:xfrm>
              <a:off x="7892093" y="2631101"/>
              <a:ext cx="346075" cy="336550"/>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grpSp>
        <p:nvGrpSpPr>
          <p:cNvPr id="52" name="Group 51">
            <a:extLst>
              <a:ext uri="{FF2B5EF4-FFF2-40B4-BE49-F238E27FC236}">
                <a16:creationId xmlns:a16="http://schemas.microsoft.com/office/drawing/2014/main" id="{9D30B78E-CC62-057B-42AD-D65754881B82}"/>
              </a:ext>
            </a:extLst>
          </p:cNvPr>
          <p:cNvGrpSpPr/>
          <p:nvPr/>
        </p:nvGrpSpPr>
        <p:grpSpPr>
          <a:xfrm>
            <a:off x="4804802" y="2342232"/>
            <a:ext cx="1724966" cy="1120308"/>
            <a:chOff x="2950206" y="1990648"/>
            <a:chExt cx="892175" cy="579438"/>
          </a:xfrm>
        </p:grpSpPr>
        <p:sp>
          <p:nvSpPr>
            <p:cNvPr id="53" name="Freeform 8">
              <a:extLst>
                <a:ext uri="{FF2B5EF4-FFF2-40B4-BE49-F238E27FC236}">
                  <a16:creationId xmlns:a16="http://schemas.microsoft.com/office/drawing/2014/main" id="{9DE81854-6090-3B9C-C01A-4DFD953DF7C9}"/>
                </a:ext>
              </a:extLst>
            </p:cNvPr>
            <p:cNvSpPr>
              <a:spLocks/>
            </p:cNvSpPr>
            <p:nvPr/>
          </p:nvSpPr>
          <p:spPr bwMode="auto">
            <a:xfrm>
              <a:off x="2950206" y="1990648"/>
              <a:ext cx="892175" cy="579438"/>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54" name="Rectangle 9">
              <a:extLst>
                <a:ext uri="{FF2B5EF4-FFF2-40B4-BE49-F238E27FC236}">
                  <a16:creationId xmlns:a16="http://schemas.microsoft.com/office/drawing/2014/main" id="{2A61CB72-EE67-2909-355C-FD5D49953EFB}"/>
                </a:ext>
              </a:extLst>
            </p:cNvPr>
            <p:cNvSpPr>
              <a:spLocks noChangeArrowheads="1"/>
            </p:cNvSpPr>
            <p:nvPr/>
          </p:nvSpPr>
          <p:spPr bwMode="auto">
            <a:xfrm flipH="1">
              <a:off x="3314700" y="2056297"/>
              <a:ext cx="333025" cy="38204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p>
              <a:r>
                <a:rPr lang="en-US" sz="4800" b="1">
                  <a:solidFill>
                    <a:schemeClr val="bg1"/>
                  </a:solidFill>
                </a:rPr>
                <a:t>B</a:t>
              </a:r>
            </a:p>
          </p:txBody>
        </p:sp>
      </p:grpSp>
      <p:sp>
        <p:nvSpPr>
          <p:cNvPr id="57" name="Rectangle 9">
            <a:extLst>
              <a:ext uri="{FF2B5EF4-FFF2-40B4-BE49-F238E27FC236}">
                <a16:creationId xmlns:a16="http://schemas.microsoft.com/office/drawing/2014/main" id="{29202B84-8CD1-90CA-8342-97AB3ED032F6}"/>
              </a:ext>
            </a:extLst>
          </p:cNvPr>
          <p:cNvSpPr>
            <a:spLocks noChangeArrowheads="1"/>
          </p:cNvSpPr>
          <p:nvPr/>
        </p:nvSpPr>
        <p:spPr bwMode="auto">
          <a:xfrm flipH="1">
            <a:off x="5709583" y="4325616"/>
            <a:ext cx="643884" cy="738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p>
            <a:r>
              <a:rPr lang="en-US" sz="4800" b="1">
                <a:solidFill>
                  <a:schemeClr val="bg1"/>
                </a:solidFill>
              </a:rPr>
              <a:t>C</a:t>
            </a:r>
          </a:p>
        </p:txBody>
      </p:sp>
      <p:grpSp>
        <p:nvGrpSpPr>
          <p:cNvPr id="58" name="Group 57">
            <a:extLst>
              <a:ext uri="{FF2B5EF4-FFF2-40B4-BE49-F238E27FC236}">
                <a16:creationId xmlns:a16="http://schemas.microsoft.com/office/drawing/2014/main" id="{E64A9B5F-AACE-D5C5-B121-B339960ADCE5}"/>
              </a:ext>
            </a:extLst>
          </p:cNvPr>
          <p:cNvGrpSpPr/>
          <p:nvPr/>
        </p:nvGrpSpPr>
        <p:grpSpPr>
          <a:xfrm>
            <a:off x="5353091" y="4325616"/>
            <a:ext cx="797968" cy="759333"/>
            <a:chOff x="3362325" y="2938779"/>
            <a:chExt cx="358679" cy="341313"/>
          </a:xfrm>
        </p:grpSpPr>
        <p:sp>
          <p:nvSpPr>
            <p:cNvPr id="59" name="Freeform 14">
              <a:extLst>
                <a:ext uri="{FF2B5EF4-FFF2-40B4-BE49-F238E27FC236}">
                  <a16:creationId xmlns:a16="http://schemas.microsoft.com/office/drawing/2014/main" id="{AF2E714A-78A2-B607-3146-94B3A8953E40}"/>
                </a:ext>
              </a:extLst>
            </p:cNvPr>
            <p:cNvSpPr>
              <a:spLocks/>
            </p:cNvSpPr>
            <p:nvPr/>
          </p:nvSpPr>
          <p:spPr bwMode="auto">
            <a:xfrm>
              <a:off x="3362325" y="2938779"/>
              <a:ext cx="346075" cy="341313"/>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0" name="Rectangle 15">
              <a:extLst>
                <a:ext uri="{FF2B5EF4-FFF2-40B4-BE49-F238E27FC236}">
                  <a16:creationId xmlns:a16="http://schemas.microsoft.com/office/drawing/2014/main" id="{32ED26C7-70FD-7EFF-D4BC-5A161E0448ED}"/>
                </a:ext>
              </a:extLst>
            </p:cNvPr>
            <p:cNvSpPr>
              <a:spLocks noChangeArrowheads="1"/>
            </p:cNvSpPr>
            <p:nvPr/>
          </p:nvSpPr>
          <p:spPr bwMode="auto">
            <a:xfrm>
              <a:off x="3491774" y="2988961"/>
              <a:ext cx="229230" cy="22134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p>
              <a:r>
                <a:rPr lang="en-US" sz="3200" b="1">
                  <a:solidFill>
                    <a:schemeClr val="bg1"/>
                  </a:solidFill>
                </a:rPr>
                <a:t>x</a:t>
              </a:r>
            </a:p>
          </p:txBody>
        </p:sp>
        <p:sp>
          <p:nvSpPr>
            <p:cNvPr id="61" name="Rectangle 16">
              <a:extLst>
                <a:ext uri="{FF2B5EF4-FFF2-40B4-BE49-F238E27FC236}">
                  <a16:creationId xmlns:a16="http://schemas.microsoft.com/office/drawing/2014/main" id="{702B6C2D-62BF-A752-3110-60AF34B708AC}"/>
                </a:ext>
              </a:extLst>
            </p:cNvPr>
            <p:cNvSpPr>
              <a:spLocks noChangeArrowheads="1"/>
            </p:cNvSpPr>
            <p:nvPr/>
          </p:nvSpPr>
          <p:spPr bwMode="auto">
            <a:xfrm>
              <a:off x="3638550" y="2978466"/>
              <a:ext cx="49213"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p>
              <a:r>
                <a:rPr lang="en-US" sz="1400">
                  <a:solidFill>
                    <a:srgbClr val="000000"/>
                  </a:solidFill>
                </a:rPr>
                <a:t> </a:t>
              </a:r>
              <a:endParaRPr lang="en-US"/>
            </a:p>
          </p:txBody>
        </p:sp>
      </p:grpSp>
      <p:grpSp>
        <p:nvGrpSpPr>
          <p:cNvPr id="62" name="Group 61">
            <a:extLst>
              <a:ext uri="{FF2B5EF4-FFF2-40B4-BE49-F238E27FC236}">
                <a16:creationId xmlns:a16="http://schemas.microsoft.com/office/drawing/2014/main" id="{AA8F1653-E279-27FB-87C6-DFE3612694B2}"/>
              </a:ext>
            </a:extLst>
          </p:cNvPr>
          <p:cNvGrpSpPr/>
          <p:nvPr/>
        </p:nvGrpSpPr>
        <p:grpSpPr>
          <a:xfrm>
            <a:off x="6737578" y="3610300"/>
            <a:ext cx="769927" cy="759333"/>
            <a:chOff x="3362325" y="2938779"/>
            <a:chExt cx="346075" cy="341313"/>
          </a:xfrm>
        </p:grpSpPr>
        <p:sp>
          <p:nvSpPr>
            <p:cNvPr id="63" name="Freeform 14">
              <a:extLst>
                <a:ext uri="{FF2B5EF4-FFF2-40B4-BE49-F238E27FC236}">
                  <a16:creationId xmlns:a16="http://schemas.microsoft.com/office/drawing/2014/main" id="{CF08CB12-5687-E7E6-FAE5-C67673E9590B}"/>
                </a:ext>
              </a:extLst>
            </p:cNvPr>
            <p:cNvSpPr>
              <a:spLocks/>
            </p:cNvSpPr>
            <p:nvPr/>
          </p:nvSpPr>
          <p:spPr bwMode="auto">
            <a:xfrm>
              <a:off x="3362325" y="2938779"/>
              <a:ext cx="346075" cy="341313"/>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4" name="Rectangle 15">
              <a:extLst>
                <a:ext uri="{FF2B5EF4-FFF2-40B4-BE49-F238E27FC236}">
                  <a16:creationId xmlns:a16="http://schemas.microsoft.com/office/drawing/2014/main" id="{0E4B1203-6C0C-B1A2-D74C-18BD2A9BC659}"/>
                </a:ext>
              </a:extLst>
            </p:cNvPr>
            <p:cNvSpPr>
              <a:spLocks noChangeArrowheads="1"/>
            </p:cNvSpPr>
            <p:nvPr/>
          </p:nvSpPr>
          <p:spPr bwMode="auto">
            <a:xfrm>
              <a:off x="3460968" y="2986196"/>
              <a:ext cx="229230" cy="22134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p>
              <a:r>
                <a:rPr lang="en-US" sz="3200" b="1">
                  <a:solidFill>
                    <a:schemeClr val="bg1"/>
                  </a:solidFill>
                </a:rPr>
                <a:t>y</a:t>
              </a:r>
            </a:p>
          </p:txBody>
        </p:sp>
        <p:sp>
          <p:nvSpPr>
            <p:cNvPr id="65" name="Rectangle 16">
              <a:extLst>
                <a:ext uri="{FF2B5EF4-FFF2-40B4-BE49-F238E27FC236}">
                  <a16:creationId xmlns:a16="http://schemas.microsoft.com/office/drawing/2014/main" id="{2DC57E12-F821-647F-E51D-33D176D3C564}"/>
                </a:ext>
              </a:extLst>
            </p:cNvPr>
            <p:cNvSpPr>
              <a:spLocks noChangeArrowheads="1"/>
            </p:cNvSpPr>
            <p:nvPr/>
          </p:nvSpPr>
          <p:spPr bwMode="auto">
            <a:xfrm>
              <a:off x="3638550" y="2978466"/>
              <a:ext cx="49213"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p>
              <a:r>
                <a:rPr lang="en-US" sz="1400">
                  <a:solidFill>
                    <a:srgbClr val="000000"/>
                  </a:solidFill>
                </a:rPr>
                <a:t> </a:t>
              </a:r>
              <a:endParaRPr lang="en-US"/>
            </a:p>
          </p:txBody>
        </p:sp>
      </p:grpSp>
      <p:sp>
        <p:nvSpPr>
          <p:cNvPr id="66" name="Line 26">
            <a:extLst>
              <a:ext uri="{FF2B5EF4-FFF2-40B4-BE49-F238E27FC236}">
                <a16:creationId xmlns:a16="http://schemas.microsoft.com/office/drawing/2014/main" id="{5C34A87D-1319-8144-AE16-D20D8245D6E7}"/>
              </a:ext>
            </a:extLst>
          </p:cNvPr>
          <p:cNvSpPr>
            <a:spLocks noChangeShapeType="1"/>
          </p:cNvSpPr>
          <p:nvPr/>
        </p:nvSpPr>
        <p:spPr bwMode="auto">
          <a:xfrm flipH="1" flipV="1">
            <a:off x="6497788" y="3223198"/>
            <a:ext cx="427054" cy="492593"/>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67" name="TextBox 66">
            <a:extLst>
              <a:ext uri="{FF2B5EF4-FFF2-40B4-BE49-F238E27FC236}">
                <a16:creationId xmlns:a16="http://schemas.microsoft.com/office/drawing/2014/main" id="{A39015B4-2A35-805E-BB3D-99B804352E60}"/>
              </a:ext>
            </a:extLst>
          </p:cNvPr>
          <p:cNvSpPr txBox="1"/>
          <p:nvPr/>
        </p:nvSpPr>
        <p:spPr>
          <a:xfrm>
            <a:off x="5145704" y="5212040"/>
            <a:ext cx="1500732" cy="369332"/>
          </a:xfrm>
          <a:prstGeom prst="rect">
            <a:avLst/>
          </a:prstGeom>
          <a:noFill/>
        </p:spPr>
        <p:txBody>
          <a:bodyPr wrap="none" rtlCol="0">
            <a:spAutoFit/>
          </a:bodyPr>
          <a:lstStyle/>
          <a:p>
            <a:r>
              <a:rPr lang="en-US"/>
              <a:t>10.20.30.0/24</a:t>
            </a:r>
          </a:p>
        </p:txBody>
      </p:sp>
      <p:sp>
        <p:nvSpPr>
          <p:cNvPr id="68" name="TextBox 67">
            <a:extLst>
              <a:ext uri="{FF2B5EF4-FFF2-40B4-BE49-F238E27FC236}">
                <a16:creationId xmlns:a16="http://schemas.microsoft.com/office/drawing/2014/main" id="{11AD56FE-0CC8-CD79-4A03-A28CE7B5938A}"/>
              </a:ext>
            </a:extLst>
          </p:cNvPr>
          <p:cNvSpPr txBox="1"/>
          <p:nvPr/>
        </p:nvSpPr>
        <p:spPr>
          <a:xfrm>
            <a:off x="4916919" y="1951877"/>
            <a:ext cx="1383712" cy="369332"/>
          </a:xfrm>
          <a:prstGeom prst="rect">
            <a:avLst/>
          </a:prstGeom>
          <a:noFill/>
        </p:spPr>
        <p:txBody>
          <a:bodyPr wrap="none" rtlCol="0">
            <a:spAutoFit/>
          </a:bodyPr>
          <a:lstStyle/>
          <a:p>
            <a:r>
              <a:rPr lang="en-US"/>
              <a:t>10.20.0.0/16</a:t>
            </a:r>
          </a:p>
        </p:txBody>
      </p:sp>
      <p:grpSp>
        <p:nvGrpSpPr>
          <p:cNvPr id="70" name="Group 69">
            <a:extLst>
              <a:ext uri="{FF2B5EF4-FFF2-40B4-BE49-F238E27FC236}">
                <a16:creationId xmlns:a16="http://schemas.microsoft.com/office/drawing/2014/main" id="{604A1035-E627-1FDA-7F6D-92B154D9D3AD}"/>
              </a:ext>
            </a:extLst>
          </p:cNvPr>
          <p:cNvGrpSpPr/>
          <p:nvPr/>
        </p:nvGrpSpPr>
        <p:grpSpPr>
          <a:xfrm>
            <a:off x="4022689" y="3727803"/>
            <a:ext cx="516796" cy="338181"/>
            <a:chOff x="9497138" y="3394032"/>
            <a:chExt cx="367224" cy="240304"/>
          </a:xfrm>
        </p:grpSpPr>
        <p:sp>
          <p:nvSpPr>
            <p:cNvPr id="71" name="Freeform 70">
              <a:extLst>
                <a:ext uri="{FF2B5EF4-FFF2-40B4-BE49-F238E27FC236}">
                  <a16:creationId xmlns:a16="http://schemas.microsoft.com/office/drawing/2014/main" id="{19761289-0519-14E5-C3F9-7A868631E6A3}"/>
                </a:ext>
              </a:extLst>
            </p:cNvPr>
            <p:cNvSpPr/>
            <p:nvPr/>
          </p:nvSpPr>
          <p:spPr>
            <a:xfrm>
              <a:off x="9497138" y="3477212"/>
              <a:ext cx="367224" cy="15712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                   </a:t>
              </a:r>
            </a:p>
          </p:txBody>
        </p:sp>
        <p:sp>
          <p:nvSpPr>
            <p:cNvPr id="72" name="Oval 71">
              <a:extLst>
                <a:ext uri="{FF2B5EF4-FFF2-40B4-BE49-F238E27FC236}">
                  <a16:creationId xmlns:a16="http://schemas.microsoft.com/office/drawing/2014/main" id="{19748141-75C7-745B-A3DE-D6AE6AC44CDA}"/>
                </a:ext>
              </a:extLst>
            </p:cNvPr>
            <p:cNvSpPr/>
            <p:nvPr/>
          </p:nvSpPr>
          <p:spPr>
            <a:xfrm>
              <a:off x="9497349" y="3394032"/>
              <a:ext cx="366779" cy="155563"/>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              </a:t>
              </a:r>
            </a:p>
          </p:txBody>
        </p:sp>
        <p:sp>
          <p:nvSpPr>
            <p:cNvPr id="73" name="Freeform 72">
              <a:extLst>
                <a:ext uri="{FF2B5EF4-FFF2-40B4-BE49-F238E27FC236}">
                  <a16:creationId xmlns:a16="http://schemas.microsoft.com/office/drawing/2014/main" id="{C103A2CA-1861-F519-5EE3-50B06669F0B8}"/>
                </a:ext>
              </a:extLst>
            </p:cNvPr>
            <p:cNvSpPr/>
            <p:nvPr/>
          </p:nvSpPr>
          <p:spPr>
            <a:xfrm>
              <a:off x="9558743" y="3413804"/>
              <a:ext cx="244280" cy="6398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73">
              <a:extLst>
                <a:ext uri="{FF2B5EF4-FFF2-40B4-BE49-F238E27FC236}">
                  <a16:creationId xmlns:a16="http://schemas.microsoft.com/office/drawing/2014/main" id="{4FDF7468-CDED-5078-44F3-8C0D8597A8D7}"/>
                </a:ext>
              </a:extLst>
            </p:cNvPr>
            <p:cNvSpPr/>
            <p:nvPr/>
          </p:nvSpPr>
          <p:spPr>
            <a:xfrm>
              <a:off x="9582689" y="3441633"/>
              <a:ext cx="194724" cy="86476"/>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74">
              <a:extLst>
                <a:ext uri="{FF2B5EF4-FFF2-40B4-BE49-F238E27FC236}">
                  <a16:creationId xmlns:a16="http://schemas.microsoft.com/office/drawing/2014/main" id="{8853B125-3AEB-BF45-8D6D-76CBC59A9A38}"/>
                </a:ext>
              </a:extLst>
            </p:cNvPr>
            <p:cNvSpPr/>
            <p:nvPr/>
          </p:nvSpPr>
          <p:spPr>
            <a:xfrm>
              <a:off x="9718625" y="3468536"/>
              <a:ext cx="91205" cy="5508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75">
              <a:extLst>
                <a:ext uri="{FF2B5EF4-FFF2-40B4-BE49-F238E27FC236}">
                  <a16:creationId xmlns:a16="http://schemas.microsoft.com/office/drawing/2014/main" id="{E62EEC41-D3C6-8EF8-8520-ECDC17B681EA}"/>
                </a:ext>
              </a:extLst>
            </p:cNvPr>
            <p:cNvSpPr/>
            <p:nvPr/>
          </p:nvSpPr>
          <p:spPr>
            <a:xfrm>
              <a:off x="9551600" y="3468536"/>
              <a:ext cx="89556" cy="54448"/>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7" name="Group 117">
            <a:extLst>
              <a:ext uri="{FF2B5EF4-FFF2-40B4-BE49-F238E27FC236}">
                <a16:creationId xmlns:a16="http://schemas.microsoft.com/office/drawing/2014/main" id="{79AD401A-164E-5DCD-25F2-DA04D64EEFB3}"/>
              </a:ext>
            </a:extLst>
          </p:cNvPr>
          <p:cNvGrpSpPr>
            <a:grpSpLocks/>
          </p:cNvGrpSpPr>
          <p:nvPr/>
        </p:nvGrpSpPr>
        <p:grpSpPr bwMode="auto">
          <a:xfrm>
            <a:off x="2560159" y="2615186"/>
            <a:ext cx="2209800" cy="579438"/>
            <a:chOff x="1374" y="2244"/>
            <a:chExt cx="1392" cy="365"/>
          </a:xfrm>
        </p:grpSpPr>
        <p:sp>
          <p:nvSpPr>
            <p:cNvPr id="78" name="AutoShape 118">
              <a:extLst>
                <a:ext uri="{FF2B5EF4-FFF2-40B4-BE49-F238E27FC236}">
                  <a16:creationId xmlns:a16="http://schemas.microsoft.com/office/drawing/2014/main" id="{414E0968-2DD2-38D0-7A6A-AE70C45D7114}"/>
                </a:ext>
              </a:extLst>
            </p:cNvPr>
            <p:cNvSpPr>
              <a:spLocks noChangeArrowheads="1"/>
            </p:cNvSpPr>
            <p:nvPr/>
          </p:nvSpPr>
          <p:spPr bwMode="auto">
            <a:xfrm rot="19396893">
              <a:off x="2282" y="2446"/>
              <a:ext cx="484" cy="163"/>
            </a:xfrm>
            <a:prstGeom prst="leftArrow">
              <a:avLst>
                <a:gd name="adj1" fmla="val 50000"/>
                <a:gd name="adj2" fmla="val 69540"/>
              </a:avLst>
            </a:prstGeom>
            <a:gradFill rotWithShape="1">
              <a:gsLst>
                <a:gs pos="0">
                  <a:srgbClr val="C00000"/>
                </a:gs>
                <a:gs pos="100000">
                  <a:srgbClr val="FFFFFF"/>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endParaRPr>
            </a:p>
          </p:txBody>
        </p:sp>
        <p:sp>
          <p:nvSpPr>
            <p:cNvPr id="79" name="Text Box 119">
              <a:extLst>
                <a:ext uri="{FF2B5EF4-FFF2-40B4-BE49-F238E27FC236}">
                  <a16:creationId xmlns:a16="http://schemas.microsoft.com/office/drawing/2014/main" id="{477DECB8-5618-2C8D-088F-A99C7C0A5156}"/>
                </a:ext>
              </a:extLst>
            </p:cNvPr>
            <p:cNvSpPr txBox="1">
              <a:spLocks noChangeArrowheads="1"/>
            </p:cNvSpPr>
            <p:nvPr/>
          </p:nvSpPr>
          <p:spPr bwMode="auto">
            <a:xfrm>
              <a:off x="1374" y="2244"/>
              <a:ext cx="1319" cy="19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85000"/>
                </a:lnSpc>
                <a:spcBef>
                  <a:spcPct val="0"/>
                </a:spcBef>
                <a:spcAft>
                  <a:spcPct val="0"/>
                </a:spcAft>
                <a:buClrTx/>
                <a:buSzTx/>
                <a:buFontTx/>
                <a:buNone/>
                <a:tabLst/>
                <a:defRPr/>
              </a:pPr>
              <a:r>
                <a:rPr kumimoji="0" lang="en-US" sz="1600" b="0" i="1" u="none" strike="noStrike" kern="0" cap="none" spc="0" normalizeH="0" baseline="0" noProof="0">
                  <a:ln>
                    <a:noFill/>
                  </a:ln>
                  <a:solidFill>
                    <a:srgbClr val="C00000"/>
                  </a:solidFill>
                  <a:effectLst/>
                  <a:uLnTx/>
                  <a:uFillTx/>
                  <a:latin typeface="Arial" charset="0"/>
                  <a:ea typeface="ＭＳ Ｐゴシック" charset="0"/>
                </a:rPr>
                <a:t>B, </a:t>
              </a:r>
              <a:r>
                <a:rPr lang="en-US" sz="1600" i="1" kern="0">
                  <a:solidFill>
                    <a:srgbClr val="C00000"/>
                  </a:solidFill>
                </a:rPr>
                <a:t>10.20.0.0./16</a:t>
              </a:r>
              <a:endParaRPr kumimoji="0" lang="en-US" sz="1600" b="0" i="1" u="none" strike="noStrike" kern="0" cap="none" spc="0" normalizeH="0" baseline="0" noProof="0">
                <a:ln>
                  <a:noFill/>
                </a:ln>
                <a:solidFill>
                  <a:srgbClr val="C00000"/>
                </a:solidFill>
                <a:effectLst/>
                <a:uLnTx/>
                <a:uFillTx/>
                <a:latin typeface="Arial" charset="0"/>
                <a:ea typeface="ＭＳ Ｐゴシック" charset="0"/>
              </a:endParaRPr>
            </a:p>
          </p:txBody>
        </p:sp>
      </p:grpSp>
      <p:sp>
        <p:nvSpPr>
          <p:cNvPr id="80" name="AutoShape 118">
            <a:extLst>
              <a:ext uri="{FF2B5EF4-FFF2-40B4-BE49-F238E27FC236}">
                <a16:creationId xmlns:a16="http://schemas.microsoft.com/office/drawing/2014/main" id="{BA3CEE45-0BB1-6D43-66CD-8C3450B01845}"/>
              </a:ext>
            </a:extLst>
          </p:cNvPr>
          <p:cNvSpPr>
            <a:spLocks noChangeArrowheads="1"/>
          </p:cNvSpPr>
          <p:nvPr/>
        </p:nvSpPr>
        <p:spPr bwMode="auto">
          <a:xfrm rot="2069227">
            <a:off x="4511852" y="4464425"/>
            <a:ext cx="768350" cy="258763"/>
          </a:xfrm>
          <a:prstGeom prst="leftArrow">
            <a:avLst>
              <a:gd name="adj1" fmla="val 50000"/>
              <a:gd name="adj2" fmla="val 69540"/>
            </a:avLst>
          </a:prstGeom>
          <a:gradFill rotWithShape="1">
            <a:gsLst>
              <a:gs pos="0">
                <a:srgbClr val="C00000"/>
              </a:gs>
              <a:gs pos="100000">
                <a:srgbClr val="FFFFFF"/>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endParaRPr>
          </a:p>
        </p:txBody>
      </p:sp>
      <p:sp>
        <p:nvSpPr>
          <p:cNvPr id="81" name="Text Box 119">
            <a:extLst>
              <a:ext uri="{FF2B5EF4-FFF2-40B4-BE49-F238E27FC236}">
                <a16:creationId xmlns:a16="http://schemas.microsoft.com/office/drawing/2014/main" id="{481B435D-C6CC-8326-A1F6-86FA3ADAC623}"/>
              </a:ext>
            </a:extLst>
          </p:cNvPr>
          <p:cNvSpPr txBox="1">
            <a:spLocks noChangeArrowheads="1"/>
          </p:cNvSpPr>
          <p:nvPr/>
        </p:nvSpPr>
        <p:spPr bwMode="auto">
          <a:xfrm>
            <a:off x="3243367" y="4688407"/>
            <a:ext cx="1725613" cy="301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85000"/>
              </a:lnSpc>
              <a:spcBef>
                <a:spcPct val="0"/>
              </a:spcBef>
              <a:spcAft>
                <a:spcPct val="0"/>
              </a:spcAft>
              <a:buClrTx/>
              <a:buSzTx/>
              <a:buFontTx/>
              <a:buNone/>
              <a:tabLst/>
              <a:defRPr/>
            </a:pPr>
            <a:r>
              <a:rPr lang="en-US" sz="1600" i="1" kern="0">
                <a:solidFill>
                  <a:srgbClr val="C00000"/>
                </a:solidFill>
              </a:rPr>
              <a:t>x</a:t>
            </a:r>
            <a:r>
              <a:rPr kumimoji="0" lang="en-US" sz="1600" b="0" i="1" u="none" strike="noStrike" kern="0" cap="none" spc="0" normalizeH="0" baseline="0" noProof="0">
                <a:ln>
                  <a:noFill/>
                </a:ln>
                <a:solidFill>
                  <a:srgbClr val="C00000"/>
                </a:solidFill>
                <a:effectLst/>
                <a:uLnTx/>
                <a:uFillTx/>
                <a:latin typeface="Arial" charset="0"/>
                <a:ea typeface="ＭＳ Ｐゴシック" charset="0"/>
              </a:rPr>
              <a:t>, </a:t>
            </a:r>
            <a:r>
              <a:rPr lang="en-US" sz="1600" i="1" kern="0">
                <a:solidFill>
                  <a:srgbClr val="C00000"/>
                </a:solidFill>
              </a:rPr>
              <a:t>10.20.30.0./24</a:t>
            </a:r>
            <a:endParaRPr kumimoji="0" lang="en-US" sz="1600" b="0" i="1" u="none" strike="noStrike" kern="0" cap="none" spc="0" normalizeH="0" baseline="0" noProof="0">
              <a:ln>
                <a:noFill/>
              </a:ln>
              <a:solidFill>
                <a:srgbClr val="C00000"/>
              </a:solidFill>
              <a:effectLst/>
              <a:uLnTx/>
              <a:uFillTx/>
              <a:latin typeface="Arial" charset="0"/>
              <a:ea typeface="ＭＳ Ｐゴシック" charset="0"/>
            </a:endParaRPr>
          </a:p>
        </p:txBody>
      </p:sp>
    </p:spTree>
    <p:extLst>
      <p:ext uri="{BB962C8B-B14F-4D97-AF65-F5344CB8AC3E}">
        <p14:creationId xmlns:p14="http://schemas.microsoft.com/office/powerpoint/2010/main" val="34907744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4B22EC-B66C-65C7-9EBA-9B5203A0492C}"/>
              </a:ext>
            </a:extLst>
          </p:cNvPr>
          <p:cNvSpPr>
            <a:spLocks noGrp="1"/>
          </p:cNvSpPr>
          <p:nvPr>
            <p:ph type="title"/>
          </p:nvPr>
        </p:nvSpPr>
        <p:spPr/>
        <p:txBody>
          <a:bodyPr/>
          <a:lstStyle/>
          <a:p>
            <a:r>
              <a:rPr lang="en-US" sz="4400"/>
              <a:t>Destination-based forwarding</a:t>
            </a:r>
            <a:endParaRPr lang="en-US"/>
          </a:p>
        </p:txBody>
      </p:sp>
      <p:graphicFrame>
        <p:nvGraphicFramePr>
          <p:cNvPr id="6" name="Table 5">
            <a:extLst>
              <a:ext uri="{FF2B5EF4-FFF2-40B4-BE49-F238E27FC236}">
                <a16:creationId xmlns:a16="http://schemas.microsoft.com/office/drawing/2014/main" id="{4AC48A82-07A8-FFBC-FCCD-475B790D472B}"/>
              </a:ext>
            </a:extLst>
          </p:cNvPr>
          <p:cNvGraphicFramePr>
            <a:graphicFrameLocks noGrp="1"/>
          </p:cNvGraphicFramePr>
          <p:nvPr>
            <p:extLst>
              <p:ext uri="{D42A27DB-BD31-4B8C-83A1-F6EECF244321}">
                <p14:modId xmlns:p14="http://schemas.microsoft.com/office/powerpoint/2010/main" val="3637081336"/>
              </p:ext>
            </p:extLst>
          </p:nvPr>
        </p:nvGraphicFramePr>
        <p:xfrm>
          <a:off x="4750710" y="1383461"/>
          <a:ext cx="6477000" cy="2417067"/>
        </p:xfrm>
        <a:graphic>
          <a:graphicData uri="http://schemas.openxmlformats.org/drawingml/2006/table">
            <a:tbl>
              <a:tblPr firstRow="1" bandRow="1">
                <a:tableStyleId>{5C22544A-7EE6-4342-B048-85BDC9FD1C3A}</a:tableStyleId>
              </a:tblPr>
              <a:tblGrid>
                <a:gridCol w="4052046">
                  <a:extLst>
                    <a:ext uri="{9D8B030D-6E8A-4147-A177-3AD203B41FA5}">
                      <a16:colId xmlns:a16="http://schemas.microsoft.com/office/drawing/2014/main" val="1640348150"/>
                    </a:ext>
                  </a:extLst>
                </a:gridCol>
                <a:gridCol w="2424954">
                  <a:extLst>
                    <a:ext uri="{9D8B030D-6E8A-4147-A177-3AD203B41FA5}">
                      <a16:colId xmlns:a16="http://schemas.microsoft.com/office/drawing/2014/main" val="154867810"/>
                    </a:ext>
                  </a:extLst>
                </a:gridCol>
              </a:tblGrid>
              <a:tr h="588267">
                <a:tc>
                  <a:txBody>
                    <a:bodyPr/>
                    <a:lstStyle/>
                    <a:p>
                      <a:pPr algn="l"/>
                      <a:r>
                        <a:rPr lang="en-US" sz="2800"/>
                        <a:t>Destination </a:t>
                      </a:r>
                      <a:r>
                        <a:rPr lang="en-US" sz="2800" u="sng"/>
                        <a:t>Prefix</a:t>
                      </a:r>
                    </a:p>
                  </a:txBody>
                  <a:tcPr/>
                </a:tc>
                <a:tc>
                  <a:txBody>
                    <a:bodyPr/>
                    <a:lstStyle/>
                    <a:p>
                      <a:pPr algn="ctr"/>
                      <a:r>
                        <a:rPr lang="en-US" sz="2800"/>
                        <a:t>Link Interface</a:t>
                      </a:r>
                    </a:p>
                  </a:txBody>
                  <a:tcPr/>
                </a:tc>
                <a:extLst>
                  <a:ext uri="{0D108BD9-81ED-4DB2-BD59-A6C34878D82A}">
                    <a16:rowId xmlns:a16="http://schemas.microsoft.com/office/drawing/2014/main" val="1700371186"/>
                  </a:ext>
                </a:extLst>
              </a:tr>
              <a:tr h="321661">
                <a:tc>
                  <a:txBody>
                    <a:bodyPr/>
                    <a:lstStyle/>
                    <a:p>
                      <a:pPr algn="l"/>
                      <a:r>
                        <a:rPr lang="en-US" sz="2400"/>
                        <a:t>10.20.30.0/24</a:t>
                      </a:r>
                    </a:p>
                  </a:txBody>
                  <a:tcPr/>
                </a:tc>
                <a:tc>
                  <a:txBody>
                    <a:bodyPr/>
                    <a:lstStyle/>
                    <a:p>
                      <a:pPr algn="ctr"/>
                      <a:r>
                        <a:rPr lang="en-US" sz="2400"/>
                        <a:t>0</a:t>
                      </a:r>
                    </a:p>
                  </a:txBody>
                  <a:tcPr/>
                </a:tc>
                <a:extLst>
                  <a:ext uri="{0D108BD9-81ED-4DB2-BD59-A6C34878D82A}">
                    <a16:rowId xmlns:a16="http://schemas.microsoft.com/office/drawing/2014/main" val="1976607637"/>
                  </a:ext>
                </a:extLst>
              </a:tr>
              <a:tr h="438203">
                <a:tc>
                  <a:txBody>
                    <a:bodyPr/>
                    <a:lstStyle/>
                    <a:p>
                      <a:pPr algn="l"/>
                      <a:r>
                        <a:rPr lang="en-US" sz="2400"/>
                        <a:t>5.4.0.0/16</a:t>
                      </a:r>
                    </a:p>
                  </a:txBody>
                  <a:tcPr/>
                </a:tc>
                <a:tc>
                  <a:txBody>
                    <a:bodyPr/>
                    <a:lstStyle/>
                    <a:p>
                      <a:pPr algn="ctr"/>
                      <a:r>
                        <a:rPr lang="en-US" sz="2400"/>
                        <a:t>1</a:t>
                      </a:r>
                    </a:p>
                  </a:txBody>
                  <a:tcPr/>
                </a:tc>
                <a:extLst>
                  <a:ext uri="{0D108BD9-81ED-4DB2-BD59-A6C34878D82A}">
                    <a16:rowId xmlns:a16="http://schemas.microsoft.com/office/drawing/2014/main" val="1760057121"/>
                  </a:ext>
                </a:extLst>
              </a:tr>
              <a:tr h="0">
                <a:tc>
                  <a:txBody>
                    <a:bodyPr/>
                    <a:lstStyle/>
                    <a:p>
                      <a:pPr algn="l"/>
                      <a:r>
                        <a:rPr lang="en-US" sz="2400"/>
                        <a:t>10.20.0.0/16</a:t>
                      </a:r>
                    </a:p>
                  </a:txBody>
                  <a:tcPr/>
                </a:tc>
                <a:tc>
                  <a:txBody>
                    <a:bodyPr/>
                    <a:lstStyle/>
                    <a:p>
                      <a:pPr algn="ctr"/>
                      <a:r>
                        <a:rPr lang="en-US" sz="2400"/>
                        <a:t>2</a:t>
                      </a:r>
                    </a:p>
                  </a:txBody>
                  <a:tcPr/>
                </a:tc>
                <a:extLst>
                  <a:ext uri="{0D108BD9-81ED-4DB2-BD59-A6C34878D82A}">
                    <a16:rowId xmlns:a16="http://schemas.microsoft.com/office/drawing/2014/main" val="1559006855"/>
                  </a:ext>
                </a:extLst>
              </a:tr>
              <a:tr h="0">
                <a:tc>
                  <a:txBody>
                    <a:bodyPr/>
                    <a:lstStyle/>
                    <a:p>
                      <a:pPr algn="l"/>
                      <a:r>
                        <a:rPr lang="en-US" sz="2400"/>
                        <a:t>…</a:t>
                      </a:r>
                    </a:p>
                  </a:txBody>
                  <a:tcPr/>
                </a:tc>
                <a:tc>
                  <a:txBody>
                    <a:bodyPr/>
                    <a:lstStyle/>
                    <a:p>
                      <a:pPr algn="ctr"/>
                      <a:r>
                        <a:rPr lang="en-US" sz="2400"/>
                        <a:t>…</a:t>
                      </a:r>
                    </a:p>
                  </a:txBody>
                  <a:tcPr/>
                </a:tc>
                <a:extLst>
                  <a:ext uri="{0D108BD9-81ED-4DB2-BD59-A6C34878D82A}">
                    <a16:rowId xmlns:a16="http://schemas.microsoft.com/office/drawing/2014/main" val="505868238"/>
                  </a:ext>
                </a:extLst>
              </a:tr>
            </a:tbl>
          </a:graphicData>
        </a:graphic>
      </p:graphicFrame>
      <p:sp>
        <p:nvSpPr>
          <p:cNvPr id="7" name="Rectangle 4">
            <a:extLst>
              <a:ext uri="{FF2B5EF4-FFF2-40B4-BE49-F238E27FC236}">
                <a16:creationId xmlns:a16="http://schemas.microsoft.com/office/drawing/2014/main" id="{6B9A4899-44FE-6CC4-E0BE-A06ED4C03488}"/>
              </a:ext>
            </a:extLst>
          </p:cNvPr>
          <p:cNvSpPr txBox="1">
            <a:spLocks noChangeArrowheads="1"/>
          </p:cNvSpPr>
          <p:nvPr/>
        </p:nvSpPr>
        <p:spPr bwMode="auto">
          <a:xfrm>
            <a:off x="476866" y="3953832"/>
            <a:ext cx="10515600" cy="2416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lnSpc>
                <a:spcPct val="90000"/>
              </a:lnSpc>
              <a:defRPr/>
            </a:pPr>
            <a:r>
              <a:rPr kumimoji="0" lang="en-US" altLang="en-US"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What if a packet matches multiple </a:t>
            </a:r>
            <a:r>
              <a:rPr lang="en-US" altLang="en-US" kern="0" dirty="0">
                <a:solidFill>
                  <a:prstClr val="black"/>
                </a:solidFill>
                <a:latin typeface="Calibri" panose="020F0502020204030204"/>
                <a:ea typeface="ＭＳ Ｐゴシック" panose="020B0600070205080204" pitchFamily="34" charset="-128"/>
                <a:cs typeface="ＭＳ Ｐゴシック" panose="020B0600070205080204" pitchFamily="34" charset="-128"/>
              </a:rPr>
              <a:t>entries?</a:t>
            </a:r>
          </a:p>
          <a:p>
            <a:pPr lvl="1">
              <a:lnSpc>
                <a:spcPct val="90000"/>
              </a:lnSpc>
              <a:defRPr/>
            </a:pPr>
            <a:r>
              <a:rPr kumimoji="0" lang="en-US" altLang="en-US"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Pick the one that has the </a:t>
            </a:r>
            <a:r>
              <a:rPr kumimoji="0" lang="en-US" altLang="en-US"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longest prefix </a:t>
            </a:r>
            <a:r>
              <a:rPr kumimoji="0" lang="en-US" altLang="en-US"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matching the packet’s destination  </a:t>
            </a:r>
          </a:p>
          <a:p>
            <a:pPr lvl="1">
              <a:lnSpc>
                <a:spcPct val="90000"/>
              </a:lnSpc>
              <a:defRPr/>
            </a:pPr>
            <a:r>
              <a:rPr lang="en-US" altLang="en-US" kern="0" dirty="0">
                <a:solidFill>
                  <a:prstClr val="black"/>
                </a:solidFill>
                <a:latin typeface="Calibri" panose="020F0502020204030204"/>
                <a:ea typeface="ＭＳ Ｐゴシック" panose="020B0600070205080204" pitchFamily="34" charset="-128"/>
                <a:cs typeface="ＭＳ Ｐゴシック" panose="020B0600070205080204" pitchFamily="34" charset="-128"/>
              </a:rPr>
              <a:t>In the above example, 10.20.30.5 matches</a:t>
            </a:r>
          </a:p>
          <a:p>
            <a:pPr lvl="2">
              <a:lnSpc>
                <a:spcPct val="90000"/>
              </a:lnSpc>
              <a:defRPr/>
            </a:pPr>
            <a:r>
              <a:rPr lang="en-US" altLang="en-US" kern="0" dirty="0">
                <a:solidFill>
                  <a:prstClr val="black"/>
                </a:solidFill>
                <a:latin typeface="Calibri" panose="020F0502020204030204"/>
                <a:ea typeface="ＭＳ Ｐゴシック" panose="020B0600070205080204" pitchFamily="34" charset="-128"/>
                <a:cs typeface="ＭＳ Ｐゴシック" panose="020B0600070205080204" pitchFamily="34" charset="-128"/>
              </a:rPr>
              <a:t>the first 24 bits of 10.20.30.0/24</a:t>
            </a:r>
          </a:p>
          <a:p>
            <a:pPr lvl="2">
              <a:lnSpc>
                <a:spcPct val="90000"/>
              </a:lnSpc>
              <a:defRPr/>
            </a:pPr>
            <a:r>
              <a:rPr lang="en-US" altLang="en-US" kern="0" dirty="0">
                <a:solidFill>
                  <a:prstClr val="black"/>
                </a:solidFill>
                <a:latin typeface="Calibri" panose="020F0502020204030204"/>
                <a:ea typeface="ＭＳ Ｐゴシック" panose="020B0600070205080204" pitchFamily="34" charset="-128"/>
                <a:cs typeface="ＭＳ Ｐゴシック" panose="020B0600070205080204" pitchFamily="34" charset="-128"/>
              </a:rPr>
              <a:t>the first 16 bits of 10.20.0.0/16</a:t>
            </a:r>
          </a:p>
          <a:p>
            <a:pPr lvl="2">
              <a:lnSpc>
                <a:spcPct val="90000"/>
              </a:lnSpc>
              <a:defRPr/>
            </a:pPr>
            <a:r>
              <a:rPr lang="en-US" altLang="en-US" kern="0" dirty="0">
                <a:solidFill>
                  <a:prstClr val="black"/>
                </a:solidFill>
                <a:latin typeface="Calibri" panose="020F0502020204030204"/>
                <a:ea typeface="ＭＳ Ｐゴシック" panose="020B0600070205080204" pitchFamily="34" charset="-128"/>
                <a:cs typeface="ＭＳ Ｐゴシック" panose="020B0600070205080204" pitchFamily="34" charset="-128"/>
              </a:rPr>
              <a:t>So, the router picks the first entry, and sends the packet out of interface 0</a:t>
            </a:r>
          </a:p>
          <a:p>
            <a:pPr lvl="2">
              <a:lnSpc>
                <a:spcPct val="90000"/>
              </a:lnSpc>
              <a:defRPr/>
            </a:pPr>
            <a:endParaRPr kumimoji="0" lang="en-US" altLang="en-US"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pic>
        <p:nvPicPr>
          <p:cNvPr id="8" name="Picture 7">
            <a:extLst>
              <a:ext uri="{FF2B5EF4-FFF2-40B4-BE49-F238E27FC236}">
                <a16:creationId xmlns:a16="http://schemas.microsoft.com/office/drawing/2014/main" id="{6E240E39-1FE7-3FEF-7800-F620C5AEEC50}"/>
              </a:ext>
            </a:extLst>
          </p:cNvPr>
          <p:cNvPicPr>
            <a:picLocks noChangeAspect="1"/>
          </p:cNvPicPr>
          <p:nvPr/>
        </p:nvPicPr>
        <p:blipFill>
          <a:blip r:embed="rId2"/>
          <a:stretch>
            <a:fillRect/>
          </a:stretch>
        </p:blipFill>
        <p:spPr>
          <a:xfrm>
            <a:off x="2115296" y="1696001"/>
            <a:ext cx="825500" cy="622300"/>
          </a:xfrm>
          <a:prstGeom prst="rect">
            <a:avLst/>
          </a:prstGeom>
        </p:spPr>
      </p:pic>
      <p:sp>
        <p:nvSpPr>
          <p:cNvPr id="9" name="TextBox 8">
            <a:extLst>
              <a:ext uri="{FF2B5EF4-FFF2-40B4-BE49-F238E27FC236}">
                <a16:creationId xmlns:a16="http://schemas.microsoft.com/office/drawing/2014/main" id="{F9FC6064-E442-A33A-A674-63B43B28E200}"/>
              </a:ext>
            </a:extLst>
          </p:cNvPr>
          <p:cNvSpPr txBox="1"/>
          <p:nvPr/>
        </p:nvSpPr>
        <p:spPr>
          <a:xfrm>
            <a:off x="1360739" y="2402098"/>
            <a:ext cx="2673379" cy="1015663"/>
          </a:xfrm>
          <a:prstGeom prst="rect">
            <a:avLst/>
          </a:prstGeom>
          <a:noFill/>
        </p:spPr>
        <p:txBody>
          <a:bodyPr wrap="square" rtlCol="0">
            <a:spAutoFit/>
          </a:bodyPr>
          <a:lstStyle/>
          <a:p>
            <a:r>
              <a:rPr lang="en-US" sz="2000"/>
              <a:t>Destination IP address:</a:t>
            </a:r>
          </a:p>
          <a:p>
            <a:r>
              <a:rPr lang="en-US" sz="2000"/>
              <a:t>10.20.30.5</a:t>
            </a:r>
          </a:p>
          <a:p>
            <a:endParaRPr lang="en-US" sz="2000"/>
          </a:p>
        </p:txBody>
      </p:sp>
    </p:spTree>
    <p:extLst>
      <p:ext uri="{BB962C8B-B14F-4D97-AF65-F5344CB8AC3E}">
        <p14:creationId xmlns:p14="http://schemas.microsoft.com/office/powerpoint/2010/main" val="216413267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4B22EC-B66C-65C7-9EBA-9B5203A0492C}"/>
              </a:ext>
            </a:extLst>
          </p:cNvPr>
          <p:cNvSpPr>
            <a:spLocks noGrp="1"/>
          </p:cNvSpPr>
          <p:nvPr>
            <p:ph type="title"/>
          </p:nvPr>
        </p:nvSpPr>
        <p:spPr/>
        <p:txBody>
          <a:bodyPr/>
          <a:lstStyle/>
          <a:p>
            <a:r>
              <a:rPr lang="en-US" sz="4400"/>
              <a:t>Destination-based forwarding</a:t>
            </a:r>
            <a:endParaRPr lang="en-US"/>
          </a:p>
        </p:txBody>
      </p:sp>
      <p:graphicFrame>
        <p:nvGraphicFramePr>
          <p:cNvPr id="6" name="Table 5">
            <a:extLst>
              <a:ext uri="{FF2B5EF4-FFF2-40B4-BE49-F238E27FC236}">
                <a16:creationId xmlns:a16="http://schemas.microsoft.com/office/drawing/2014/main" id="{4AC48A82-07A8-FFBC-FCCD-475B790D472B}"/>
              </a:ext>
            </a:extLst>
          </p:cNvPr>
          <p:cNvGraphicFramePr>
            <a:graphicFrameLocks noGrp="1"/>
          </p:cNvGraphicFramePr>
          <p:nvPr/>
        </p:nvGraphicFramePr>
        <p:xfrm>
          <a:off x="4750710" y="1383461"/>
          <a:ext cx="6477000" cy="2417067"/>
        </p:xfrm>
        <a:graphic>
          <a:graphicData uri="http://schemas.openxmlformats.org/drawingml/2006/table">
            <a:tbl>
              <a:tblPr firstRow="1" bandRow="1">
                <a:tableStyleId>{5C22544A-7EE6-4342-B048-85BDC9FD1C3A}</a:tableStyleId>
              </a:tblPr>
              <a:tblGrid>
                <a:gridCol w="4052046">
                  <a:extLst>
                    <a:ext uri="{9D8B030D-6E8A-4147-A177-3AD203B41FA5}">
                      <a16:colId xmlns:a16="http://schemas.microsoft.com/office/drawing/2014/main" val="1640348150"/>
                    </a:ext>
                  </a:extLst>
                </a:gridCol>
                <a:gridCol w="2424954">
                  <a:extLst>
                    <a:ext uri="{9D8B030D-6E8A-4147-A177-3AD203B41FA5}">
                      <a16:colId xmlns:a16="http://schemas.microsoft.com/office/drawing/2014/main" val="154867810"/>
                    </a:ext>
                  </a:extLst>
                </a:gridCol>
              </a:tblGrid>
              <a:tr h="588267">
                <a:tc>
                  <a:txBody>
                    <a:bodyPr/>
                    <a:lstStyle/>
                    <a:p>
                      <a:pPr algn="l"/>
                      <a:r>
                        <a:rPr lang="en-US" sz="2800"/>
                        <a:t>Destination </a:t>
                      </a:r>
                      <a:r>
                        <a:rPr lang="en-US" sz="2800" u="sng"/>
                        <a:t>Prefix</a:t>
                      </a:r>
                    </a:p>
                  </a:txBody>
                  <a:tcPr/>
                </a:tc>
                <a:tc>
                  <a:txBody>
                    <a:bodyPr/>
                    <a:lstStyle/>
                    <a:p>
                      <a:pPr algn="ctr"/>
                      <a:r>
                        <a:rPr lang="en-US" sz="2800"/>
                        <a:t>Link Interface</a:t>
                      </a:r>
                    </a:p>
                  </a:txBody>
                  <a:tcPr/>
                </a:tc>
                <a:extLst>
                  <a:ext uri="{0D108BD9-81ED-4DB2-BD59-A6C34878D82A}">
                    <a16:rowId xmlns:a16="http://schemas.microsoft.com/office/drawing/2014/main" val="1700371186"/>
                  </a:ext>
                </a:extLst>
              </a:tr>
              <a:tr h="321661">
                <a:tc>
                  <a:txBody>
                    <a:bodyPr/>
                    <a:lstStyle/>
                    <a:p>
                      <a:pPr algn="l"/>
                      <a:r>
                        <a:rPr lang="en-US" sz="2400"/>
                        <a:t>10.20.30.0/24</a:t>
                      </a:r>
                    </a:p>
                  </a:txBody>
                  <a:tcPr/>
                </a:tc>
                <a:tc>
                  <a:txBody>
                    <a:bodyPr/>
                    <a:lstStyle/>
                    <a:p>
                      <a:pPr algn="ctr"/>
                      <a:r>
                        <a:rPr lang="en-US" sz="2400"/>
                        <a:t>0</a:t>
                      </a:r>
                    </a:p>
                  </a:txBody>
                  <a:tcPr/>
                </a:tc>
                <a:extLst>
                  <a:ext uri="{0D108BD9-81ED-4DB2-BD59-A6C34878D82A}">
                    <a16:rowId xmlns:a16="http://schemas.microsoft.com/office/drawing/2014/main" val="1976607637"/>
                  </a:ext>
                </a:extLst>
              </a:tr>
              <a:tr h="438203">
                <a:tc>
                  <a:txBody>
                    <a:bodyPr/>
                    <a:lstStyle/>
                    <a:p>
                      <a:pPr algn="l"/>
                      <a:r>
                        <a:rPr lang="en-US" sz="2400"/>
                        <a:t>5.4.0.0/16</a:t>
                      </a:r>
                    </a:p>
                  </a:txBody>
                  <a:tcPr/>
                </a:tc>
                <a:tc>
                  <a:txBody>
                    <a:bodyPr/>
                    <a:lstStyle/>
                    <a:p>
                      <a:pPr algn="ctr"/>
                      <a:r>
                        <a:rPr lang="en-US" sz="2400"/>
                        <a:t>1</a:t>
                      </a:r>
                    </a:p>
                  </a:txBody>
                  <a:tcPr/>
                </a:tc>
                <a:extLst>
                  <a:ext uri="{0D108BD9-81ED-4DB2-BD59-A6C34878D82A}">
                    <a16:rowId xmlns:a16="http://schemas.microsoft.com/office/drawing/2014/main" val="1760057121"/>
                  </a:ext>
                </a:extLst>
              </a:tr>
              <a:tr h="0">
                <a:tc>
                  <a:txBody>
                    <a:bodyPr/>
                    <a:lstStyle/>
                    <a:p>
                      <a:pPr algn="l"/>
                      <a:r>
                        <a:rPr lang="en-US" sz="2400"/>
                        <a:t>10.20.0.0/16</a:t>
                      </a:r>
                    </a:p>
                  </a:txBody>
                  <a:tcPr/>
                </a:tc>
                <a:tc>
                  <a:txBody>
                    <a:bodyPr/>
                    <a:lstStyle/>
                    <a:p>
                      <a:pPr algn="ctr"/>
                      <a:r>
                        <a:rPr lang="en-US" sz="2400"/>
                        <a:t>2</a:t>
                      </a:r>
                    </a:p>
                  </a:txBody>
                  <a:tcPr/>
                </a:tc>
                <a:extLst>
                  <a:ext uri="{0D108BD9-81ED-4DB2-BD59-A6C34878D82A}">
                    <a16:rowId xmlns:a16="http://schemas.microsoft.com/office/drawing/2014/main" val="1559006855"/>
                  </a:ext>
                </a:extLst>
              </a:tr>
              <a:tr h="0">
                <a:tc>
                  <a:txBody>
                    <a:bodyPr/>
                    <a:lstStyle/>
                    <a:p>
                      <a:pPr algn="l"/>
                      <a:r>
                        <a:rPr lang="en-US" sz="2400"/>
                        <a:t>…</a:t>
                      </a:r>
                    </a:p>
                  </a:txBody>
                  <a:tcPr/>
                </a:tc>
                <a:tc>
                  <a:txBody>
                    <a:bodyPr/>
                    <a:lstStyle/>
                    <a:p>
                      <a:pPr algn="ctr"/>
                      <a:r>
                        <a:rPr lang="en-US" sz="2400"/>
                        <a:t>…</a:t>
                      </a:r>
                    </a:p>
                  </a:txBody>
                  <a:tcPr/>
                </a:tc>
                <a:extLst>
                  <a:ext uri="{0D108BD9-81ED-4DB2-BD59-A6C34878D82A}">
                    <a16:rowId xmlns:a16="http://schemas.microsoft.com/office/drawing/2014/main" val="505868238"/>
                  </a:ext>
                </a:extLst>
              </a:tr>
            </a:tbl>
          </a:graphicData>
        </a:graphic>
      </p:graphicFrame>
      <p:sp>
        <p:nvSpPr>
          <p:cNvPr id="7" name="Rectangle 4">
            <a:extLst>
              <a:ext uri="{FF2B5EF4-FFF2-40B4-BE49-F238E27FC236}">
                <a16:creationId xmlns:a16="http://schemas.microsoft.com/office/drawing/2014/main" id="{6B9A4899-44FE-6CC4-E0BE-A06ED4C03488}"/>
              </a:ext>
            </a:extLst>
          </p:cNvPr>
          <p:cNvSpPr txBox="1">
            <a:spLocks noChangeArrowheads="1"/>
          </p:cNvSpPr>
          <p:nvPr/>
        </p:nvSpPr>
        <p:spPr bwMode="auto">
          <a:xfrm>
            <a:off x="476866" y="3953832"/>
            <a:ext cx="10515600" cy="2416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lnSpc>
                <a:spcPct val="90000"/>
              </a:lnSpc>
              <a:defRPr/>
            </a:pPr>
            <a:r>
              <a:rPr kumimoji="0" lang="en-US" altLang="en-US"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What if a packet matches multiple </a:t>
            </a:r>
            <a:r>
              <a:rPr lang="en-US" altLang="en-US" kern="0">
                <a:solidFill>
                  <a:prstClr val="black"/>
                </a:solidFill>
                <a:latin typeface="Calibri" panose="020F0502020204030204"/>
                <a:ea typeface="ＭＳ Ｐゴシック" panose="020B0600070205080204" pitchFamily="34" charset="-128"/>
                <a:cs typeface="ＭＳ Ｐゴシック" panose="020B0600070205080204" pitchFamily="34" charset="-128"/>
              </a:rPr>
              <a:t>entries?</a:t>
            </a:r>
          </a:p>
          <a:p>
            <a:pPr lvl="1">
              <a:lnSpc>
                <a:spcPct val="90000"/>
              </a:lnSpc>
              <a:defRPr/>
            </a:pPr>
            <a:r>
              <a:rPr kumimoji="0" lang="en-US" altLang="en-US"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Pick the one that has the </a:t>
            </a:r>
            <a:r>
              <a:rPr kumimoji="0" lang="en-US" altLang="en-US" b="0" i="0" u="none" strike="noStrike" kern="0" cap="none" spc="0" normalizeH="0" baseline="0" noProof="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longest prefix </a:t>
            </a:r>
            <a:r>
              <a:rPr kumimoji="0" lang="en-US" altLang="en-US"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matching the packet’s destination </a:t>
            </a:r>
          </a:p>
          <a:p>
            <a:pPr lvl="1">
              <a:lnSpc>
                <a:spcPct val="90000"/>
              </a:lnSpc>
              <a:defRPr/>
            </a:pPr>
            <a:r>
              <a:rPr lang="en-US" altLang="en-US" kern="0">
                <a:solidFill>
                  <a:prstClr val="black"/>
                </a:solidFill>
                <a:latin typeface="Calibri" panose="020F0502020204030204"/>
                <a:ea typeface="ＭＳ Ｐゴシック" panose="020B0600070205080204" pitchFamily="34" charset="-128"/>
                <a:cs typeface="ＭＳ Ｐゴシック" panose="020B0600070205080204" pitchFamily="34" charset="-128"/>
              </a:rPr>
              <a:t>i.e., the ”most specific” prefix</a:t>
            </a:r>
            <a:endParaRPr kumimoji="0" lang="en-US" altLang="en-US"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pic>
        <p:nvPicPr>
          <p:cNvPr id="8" name="Picture 7">
            <a:extLst>
              <a:ext uri="{FF2B5EF4-FFF2-40B4-BE49-F238E27FC236}">
                <a16:creationId xmlns:a16="http://schemas.microsoft.com/office/drawing/2014/main" id="{6E240E39-1FE7-3FEF-7800-F620C5AEEC50}"/>
              </a:ext>
            </a:extLst>
          </p:cNvPr>
          <p:cNvPicPr>
            <a:picLocks noChangeAspect="1"/>
          </p:cNvPicPr>
          <p:nvPr/>
        </p:nvPicPr>
        <p:blipFill>
          <a:blip r:embed="rId2"/>
          <a:stretch>
            <a:fillRect/>
          </a:stretch>
        </p:blipFill>
        <p:spPr>
          <a:xfrm>
            <a:off x="2115296" y="1696001"/>
            <a:ext cx="825500" cy="622300"/>
          </a:xfrm>
          <a:prstGeom prst="rect">
            <a:avLst/>
          </a:prstGeom>
        </p:spPr>
      </p:pic>
      <p:sp>
        <p:nvSpPr>
          <p:cNvPr id="9" name="TextBox 8">
            <a:extLst>
              <a:ext uri="{FF2B5EF4-FFF2-40B4-BE49-F238E27FC236}">
                <a16:creationId xmlns:a16="http://schemas.microsoft.com/office/drawing/2014/main" id="{F9FC6064-E442-A33A-A674-63B43B28E200}"/>
              </a:ext>
            </a:extLst>
          </p:cNvPr>
          <p:cNvSpPr txBox="1"/>
          <p:nvPr/>
        </p:nvSpPr>
        <p:spPr>
          <a:xfrm>
            <a:off x="1360739" y="2402098"/>
            <a:ext cx="2673379" cy="1015663"/>
          </a:xfrm>
          <a:prstGeom prst="rect">
            <a:avLst/>
          </a:prstGeom>
          <a:noFill/>
        </p:spPr>
        <p:txBody>
          <a:bodyPr wrap="square" rtlCol="0">
            <a:spAutoFit/>
          </a:bodyPr>
          <a:lstStyle/>
          <a:p>
            <a:r>
              <a:rPr lang="en-US" sz="2000"/>
              <a:t>Destination IP address:</a:t>
            </a:r>
          </a:p>
          <a:p>
            <a:r>
              <a:rPr lang="en-US" sz="2000"/>
              <a:t>10.20.30.5</a:t>
            </a:r>
          </a:p>
          <a:p>
            <a:endParaRPr lang="en-US" sz="2000"/>
          </a:p>
        </p:txBody>
      </p:sp>
    </p:spTree>
    <p:extLst>
      <p:ext uri="{BB962C8B-B14F-4D97-AF65-F5344CB8AC3E}">
        <p14:creationId xmlns:p14="http://schemas.microsoft.com/office/powerpoint/2010/main" val="320065671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F60557-1F67-0C39-A34B-1CAF24E8E180}"/>
              </a:ext>
            </a:extLst>
          </p:cNvPr>
          <p:cNvSpPr>
            <a:spLocks noGrp="1"/>
          </p:cNvSpPr>
          <p:nvPr>
            <p:ph type="title"/>
          </p:nvPr>
        </p:nvSpPr>
        <p:spPr/>
        <p:txBody>
          <a:bodyPr/>
          <a:lstStyle/>
          <a:p>
            <a:r>
              <a:rPr lang="en-US"/>
              <a:t>Make sure you know</a:t>
            </a:r>
          </a:p>
        </p:txBody>
      </p:sp>
      <p:sp>
        <p:nvSpPr>
          <p:cNvPr id="3" name="Content Placeholder 2">
            <a:extLst>
              <a:ext uri="{FF2B5EF4-FFF2-40B4-BE49-F238E27FC236}">
                <a16:creationId xmlns:a16="http://schemas.microsoft.com/office/drawing/2014/main" id="{C7A632DE-1F96-A811-E7EE-C04A0C5215D8}"/>
              </a:ext>
            </a:extLst>
          </p:cNvPr>
          <p:cNvSpPr>
            <a:spLocks noGrp="1"/>
          </p:cNvSpPr>
          <p:nvPr>
            <p:ph sz="half" idx="1"/>
          </p:nvPr>
        </p:nvSpPr>
        <p:spPr>
          <a:xfrm>
            <a:off x="838199" y="1825625"/>
            <a:ext cx="10761618" cy="4351338"/>
          </a:xfrm>
        </p:spPr>
        <p:txBody>
          <a:bodyPr/>
          <a:lstStyle/>
          <a:p>
            <a:r>
              <a:rPr lang="en-US" dirty="0"/>
              <a:t>What the forwarding table looks like for destination-based forwarding</a:t>
            </a:r>
          </a:p>
          <a:p>
            <a:r>
              <a:rPr lang="en-US" dirty="0"/>
              <a:t>What longest-prefix matching means</a:t>
            </a:r>
          </a:p>
          <a:p>
            <a:r>
              <a:rPr lang="en-US" dirty="0"/>
              <a:t>E.g., Given a packet and a table, you should be able to determine what the outgoing interface is.</a:t>
            </a:r>
          </a:p>
        </p:txBody>
      </p:sp>
    </p:spTree>
    <p:extLst>
      <p:ext uri="{BB962C8B-B14F-4D97-AF65-F5344CB8AC3E}">
        <p14:creationId xmlns:p14="http://schemas.microsoft.com/office/powerpoint/2010/main" val="287640477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21A502-53B3-5A9A-A353-AE5F8CFFE6A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493F51D-D60E-80B0-F954-EA3C6FC5870C}"/>
              </a:ext>
            </a:extLst>
          </p:cNvPr>
          <p:cNvSpPr>
            <a:spLocks noGrp="1"/>
          </p:cNvSpPr>
          <p:nvPr>
            <p:ph type="title"/>
          </p:nvPr>
        </p:nvSpPr>
        <p:spPr/>
        <p:txBody>
          <a:bodyPr/>
          <a:lstStyle/>
          <a:p>
            <a:r>
              <a:rPr lang="en-US">
                <a:cs typeface="Calibri" panose="020F0502020204030204" pitchFamily="34" charset="0"/>
              </a:rPr>
              <a:t>Network Layer in the Internet</a:t>
            </a:r>
            <a:endParaRPr lang="en-US"/>
          </a:p>
        </p:txBody>
      </p:sp>
      <p:sp>
        <p:nvSpPr>
          <p:cNvPr id="3" name="Content Placeholder 2">
            <a:extLst>
              <a:ext uri="{FF2B5EF4-FFF2-40B4-BE49-F238E27FC236}">
                <a16:creationId xmlns:a16="http://schemas.microsoft.com/office/drawing/2014/main" id="{3D0D9CFC-43DE-7358-DEAC-8702ED12AB25}"/>
              </a:ext>
            </a:extLst>
          </p:cNvPr>
          <p:cNvSpPr>
            <a:spLocks noGrp="1"/>
          </p:cNvSpPr>
          <p:nvPr>
            <p:ph sz="half" idx="1"/>
          </p:nvPr>
        </p:nvSpPr>
        <p:spPr>
          <a:xfrm>
            <a:off x="838200" y="1572572"/>
            <a:ext cx="8724089" cy="4482787"/>
          </a:xfrm>
        </p:spPr>
        <p:txBody>
          <a:bodyPr>
            <a:normAutofit/>
          </a:bodyPr>
          <a:lstStyle/>
          <a:p>
            <a:pPr marL="342900" indent="-212725">
              <a:buFont typeface="Wingdings" charset="2"/>
              <a:buChar char="§"/>
              <a:defRPr/>
            </a:pPr>
            <a:r>
              <a:rPr lang="en-US" sz="3200" dirty="0">
                <a:solidFill>
                  <a:schemeClr val="bg1">
                    <a:lumMod val="50000"/>
                  </a:schemeClr>
                </a:solidFill>
              </a:rPr>
              <a:t>The Internet Protocol (IP)</a:t>
            </a:r>
          </a:p>
          <a:p>
            <a:pPr>
              <a:defRPr/>
            </a:pPr>
            <a:r>
              <a:rPr lang="en-US" sz="3200" dirty="0">
                <a:solidFill>
                  <a:schemeClr val="bg2">
                    <a:lumMod val="50000"/>
                  </a:schemeClr>
                </a:solidFill>
              </a:rPr>
              <a:t>Internet Routing</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Hierarchical routing </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Intra-ISP routing: </a:t>
            </a:r>
            <a:r>
              <a:rPr lang="en-US" sz="2800" dirty="0">
                <a:solidFill>
                  <a:schemeClr val="bg2">
                    <a:lumMod val="50000"/>
                  </a:schemeClr>
                </a:solidFill>
              </a:rPr>
              <a:t>OSPF</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Inter-ISP routing: </a:t>
            </a:r>
            <a:r>
              <a:rPr lang="en-US" sz="2800" dirty="0">
                <a:solidFill>
                  <a:schemeClr val="bg2">
                    <a:lumMod val="50000"/>
                  </a:schemeClr>
                </a:solidFill>
              </a:rPr>
              <a:t>BGP</a:t>
            </a:r>
          </a:p>
          <a:p>
            <a:pPr>
              <a:defRPr/>
            </a:pPr>
            <a:r>
              <a:rPr lang="en-US" sz="3200" dirty="0">
                <a:solidFill>
                  <a:schemeClr val="bg1">
                    <a:lumMod val="50000"/>
                  </a:schemeClr>
                </a:solidFill>
              </a:rPr>
              <a:t>Internet Forwarding</a:t>
            </a:r>
          </a:p>
          <a:p>
            <a:pPr lvl="1">
              <a:spcBef>
                <a:spcPts val="400"/>
              </a:spcBef>
            </a:pPr>
            <a:r>
              <a:rPr lang="en-US" altLang="en-US" sz="2800" dirty="0">
                <a:solidFill>
                  <a:schemeClr val="bg1">
                    <a:lumMod val="50000"/>
                  </a:schemeClr>
                </a:solidFill>
                <a:ea typeface="ＭＳ Ｐゴシック" panose="020B0600070205080204" pitchFamily="34" charset="-128"/>
                <a:cs typeface="Arial" panose="020B0604020202020204" pitchFamily="34" charset="0"/>
              </a:rPr>
              <a:t>Destination-based forwarding</a:t>
            </a:r>
          </a:p>
          <a:p>
            <a:pPr>
              <a:spcBef>
                <a:spcPts val="400"/>
              </a:spcBef>
            </a:pPr>
            <a:r>
              <a:rPr lang="en-US" altLang="en-US" sz="3200" dirty="0">
                <a:ea typeface="ＭＳ Ｐゴシック" panose="020B0600070205080204" pitchFamily="34" charset="-128"/>
                <a:cs typeface="Arial" panose="020B0604020202020204" pitchFamily="34" charset="0"/>
              </a:rPr>
              <a:t>ICMP</a:t>
            </a:r>
          </a:p>
        </p:txBody>
      </p:sp>
    </p:spTree>
    <p:extLst>
      <p:ext uri="{BB962C8B-B14F-4D97-AF65-F5344CB8AC3E}">
        <p14:creationId xmlns:p14="http://schemas.microsoft.com/office/powerpoint/2010/main" val="27643959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a:extLst>
              <a:ext uri="{FF2B5EF4-FFF2-40B4-BE49-F238E27FC236}">
                <a16:creationId xmlns:a16="http://schemas.microsoft.com/office/drawing/2014/main" id="{797F811A-D5E1-97EF-8A59-1D8B208A82EB}"/>
              </a:ext>
            </a:extLst>
          </p:cNvPr>
          <p:cNvSpPr>
            <a:spLocks noChangeArrowheads="1"/>
          </p:cNvSpPr>
          <p:nvPr/>
        </p:nvSpPr>
        <p:spPr bwMode="auto">
          <a:xfrm>
            <a:off x="2667660" y="2052778"/>
            <a:ext cx="6534150" cy="4076700"/>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endParaRPr lang="zh-CN" altLang="zh-CN" sz="1800">
              <a:latin typeface="Arial" panose="020B0604020202020204" pitchFamily="34" charset="0"/>
            </a:endParaRPr>
          </a:p>
        </p:txBody>
      </p:sp>
      <p:sp>
        <p:nvSpPr>
          <p:cNvPr id="75779" name="Rectangle 3">
            <a:extLst>
              <a:ext uri="{FF2B5EF4-FFF2-40B4-BE49-F238E27FC236}">
                <a16:creationId xmlns:a16="http://schemas.microsoft.com/office/drawing/2014/main" id="{1A416394-6F2C-9F4E-B2DE-E9D96160E184}"/>
              </a:ext>
            </a:extLst>
          </p:cNvPr>
          <p:cNvSpPr>
            <a:spLocks noChangeArrowheads="1"/>
          </p:cNvSpPr>
          <p:nvPr/>
        </p:nvSpPr>
        <p:spPr bwMode="auto">
          <a:xfrm>
            <a:off x="2600985" y="2127391"/>
            <a:ext cx="6534150" cy="4076700"/>
          </a:xfrm>
          <a:prstGeom prst="rect">
            <a:avLst/>
          </a:prstGeom>
          <a:solidFill>
            <a:srgbClr val="FFFFFF"/>
          </a:solidFill>
          <a:ln w="19050">
            <a:solidFill>
              <a:schemeClr val="tx1"/>
            </a:solidFill>
            <a:miter lim="800000"/>
            <a:headEnd/>
            <a:tailEnd/>
          </a:ln>
        </p:spPr>
        <p:txBody>
          <a:bodyPr wrap="none" anchor="ct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endParaRPr lang="zh-CN" altLang="zh-CN" sz="1800">
              <a:latin typeface="Arial" panose="020B0604020202020204" pitchFamily="34" charset="0"/>
            </a:endParaRPr>
          </a:p>
        </p:txBody>
      </p:sp>
      <p:grpSp>
        <p:nvGrpSpPr>
          <p:cNvPr id="75781" name="Group 6">
            <a:extLst>
              <a:ext uri="{FF2B5EF4-FFF2-40B4-BE49-F238E27FC236}">
                <a16:creationId xmlns:a16="http://schemas.microsoft.com/office/drawing/2014/main" id="{155A1838-ADBE-5D0C-B3B2-1476A6F65535}"/>
              </a:ext>
            </a:extLst>
          </p:cNvPr>
          <p:cNvGrpSpPr>
            <a:grpSpLocks/>
          </p:cNvGrpSpPr>
          <p:nvPr/>
        </p:nvGrpSpPr>
        <p:grpSpPr bwMode="auto">
          <a:xfrm>
            <a:off x="4726649" y="3751403"/>
            <a:ext cx="1258887" cy="1214438"/>
            <a:chOff x="3992" y="2883"/>
            <a:chExt cx="613" cy="765"/>
          </a:xfrm>
        </p:grpSpPr>
        <p:sp>
          <p:nvSpPr>
            <p:cNvPr id="75806" name="Rectangle 7">
              <a:extLst>
                <a:ext uri="{FF2B5EF4-FFF2-40B4-BE49-F238E27FC236}">
                  <a16:creationId xmlns:a16="http://schemas.microsoft.com/office/drawing/2014/main" id="{6BCCFB39-D78A-EDD6-62B2-1086D1A4A982}"/>
                </a:ext>
              </a:extLst>
            </p:cNvPr>
            <p:cNvSpPr>
              <a:spLocks noChangeArrowheads="1"/>
            </p:cNvSpPr>
            <p:nvPr/>
          </p:nvSpPr>
          <p:spPr bwMode="auto">
            <a:xfrm>
              <a:off x="4023" y="2883"/>
              <a:ext cx="582" cy="738"/>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endParaRPr lang="zh-CN" altLang="zh-CN" sz="1800">
                <a:latin typeface="Arial" panose="020B0604020202020204" pitchFamily="34" charset="0"/>
              </a:endParaRPr>
            </a:p>
          </p:txBody>
        </p:sp>
        <p:sp>
          <p:nvSpPr>
            <p:cNvPr id="75807" name="Rectangle 8">
              <a:extLst>
                <a:ext uri="{FF2B5EF4-FFF2-40B4-BE49-F238E27FC236}">
                  <a16:creationId xmlns:a16="http://schemas.microsoft.com/office/drawing/2014/main" id="{72DE8324-17EC-F568-0B0C-D823FC9A8107}"/>
                </a:ext>
              </a:extLst>
            </p:cNvPr>
            <p:cNvSpPr>
              <a:spLocks noChangeArrowheads="1"/>
            </p:cNvSpPr>
            <p:nvPr/>
          </p:nvSpPr>
          <p:spPr bwMode="auto">
            <a:xfrm>
              <a:off x="3996" y="2910"/>
              <a:ext cx="582" cy="738"/>
            </a:xfrm>
            <a:prstGeom prst="rect">
              <a:avLst/>
            </a:prstGeom>
            <a:solidFill>
              <a:schemeClr val="bg1"/>
            </a:solidFill>
            <a:ln w="19050">
              <a:solidFill>
                <a:schemeClr val="tx1"/>
              </a:solidFill>
              <a:miter lim="800000"/>
              <a:headEnd/>
              <a:tailEnd/>
            </a:ln>
          </p:spPr>
          <p:txBody>
            <a:bodyPr wrap="none" anchor="ct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endParaRPr lang="zh-CN" altLang="zh-CN" sz="1800">
                <a:latin typeface="Arial" panose="020B0604020202020204" pitchFamily="34" charset="0"/>
              </a:endParaRPr>
            </a:p>
          </p:txBody>
        </p:sp>
        <p:sp>
          <p:nvSpPr>
            <p:cNvPr id="75808" name="Text Box 9">
              <a:extLst>
                <a:ext uri="{FF2B5EF4-FFF2-40B4-BE49-F238E27FC236}">
                  <a16:creationId xmlns:a16="http://schemas.microsoft.com/office/drawing/2014/main" id="{B144C699-143B-CE28-7160-9646427C24B5}"/>
                </a:ext>
              </a:extLst>
            </p:cNvPr>
            <p:cNvSpPr txBox="1">
              <a:spLocks noChangeArrowheads="1"/>
            </p:cNvSpPr>
            <p:nvPr/>
          </p:nvSpPr>
          <p:spPr bwMode="auto">
            <a:xfrm>
              <a:off x="3992" y="3071"/>
              <a:ext cx="60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gn="ctr">
                <a:lnSpc>
                  <a:spcPct val="100000"/>
                </a:lnSpc>
                <a:spcBef>
                  <a:spcPct val="0"/>
                </a:spcBef>
                <a:buClrTx/>
                <a:buSzTx/>
                <a:buFontTx/>
                <a:buNone/>
              </a:pPr>
              <a:r>
                <a:rPr lang="en-US" altLang="zh-CN" sz="1800">
                  <a:latin typeface="Arial" panose="020B0604020202020204" pitchFamily="34" charset="0"/>
                </a:rPr>
                <a:t>forwarding</a:t>
              </a:r>
            </a:p>
            <a:p>
              <a:pPr algn="ctr">
                <a:lnSpc>
                  <a:spcPct val="100000"/>
                </a:lnSpc>
                <a:spcBef>
                  <a:spcPct val="0"/>
                </a:spcBef>
                <a:buClrTx/>
                <a:buSzTx/>
                <a:buFontTx/>
                <a:buNone/>
              </a:pPr>
              <a:r>
                <a:rPr lang="en-US" altLang="zh-CN" sz="1800">
                  <a:latin typeface="Arial" panose="020B0604020202020204" pitchFamily="34" charset="0"/>
                </a:rPr>
                <a:t>table</a:t>
              </a:r>
            </a:p>
          </p:txBody>
        </p:sp>
        <p:sp>
          <p:nvSpPr>
            <p:cNvPr id="75809" name="Line 10">
              <a:extLst>
                <a:ext uri="{FF2B5EF4-FFF2-40B4-BE49-F238E27FC236}">
                  <a16:creationId xmlns:a16="http://schemas.microsoft.com/office/drawing/2014/main" id="{89E1A29C-ECCB-ADC0-C74C-BAFB1352C5CB}"/>
                </a:ext>
              </a:extLst>
            </p:cNvPr>
            <p:cNvSpPr>
              <a:spLocks noChangeShapeType="1"/>
            </p:cNvSpPr>
            <p:nvPr/>
          </p:nvSpPr>
          <p:spPr bwMode="auto">
            <a:xfrm>
              <a:off x="4065" y="2994"/>
              <a:ext cx="43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HK"/>
            </a:p>
          </p:txBody>
        </p:sp>
        <p:sp>
          <p:nvSpPr>
            <p:cNvPr id="75810" name="Line 11">
              <a:extLst>
                <a:ext uri="{FF2B5EF4-FFF2-40B4-BE49-F238E27FC236}">
                  <a16:creationId xmlns:a16="http://schemas.microsoft.com/office/drawing/2014/main" id="{C7E94285-A10F-67DC-3472-53F5C2318D23}"/>
                </a:ext>
              </a:extLst>
            </p:cNvPr>
            <p:cNvSpPr>
              <a:spLocks noChangeShapeType="1"/>
            </p:cNvSpPr>
            <p:nvPr/>
          </p:nvSpPr>
          <p:spPr bwMode="auto">
            <a:xfrm>
              <a:off x="4071" y="3048"/>
              <a:ext cx="43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HK"/>
            </a:p>
          </p:txBody>
        </p:sp>
        <p:sp>
          <p:nvSpPr>
            <p:cNvPr id="75811" name="Line 12">
              <a:extLst>
                <a:ext uri="{FF2B5EF4-FFF2-40B4-BE49-F238E27FC236}">
                  <a16:creationId xmlns:a16="http://schemas.microsoft.com/office/drawing/2014/main" id="{5B0D6002-DD7E-BFCF-A0B1-BE301A6DC81C}"/>
                </a:ext>
              </a:extLst>
            </p:cNvPr>
            <p:cNvSpPr>
              <a:spLocks noChangeShapeType="1"/>
            </p:cNvSpPr>
            <p:nvPr/>
          </p:nvSpPr>
          <p:spPr bwMode="auto">
            <a:xfrm>
              <a:off x="4074" y="3102"/>
              <a:ext cx="43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HK"/>
            </a:p>
          </p:txBody>
        </p:sp>
        <p:sp>
          <p:nvSpPr>
            <p:cNvPr id="75812" name="Line 13">
              <a:extLst>
                <a:ext uri="{FF2B5EF4-FFF2-40B4-BE49-F238E27FC236}">
                  <a16:creationId xmlns:a16="http://schemas.microsoft.com/office/drawing/2014/main" id="{A7F7E957-806B-A13C-B1FF-6FFEFAEEA3ED}"/>
                </a:ext>
              </a:extLst>
            </p:cNvPr>
            <p:cNvSpPr>
              <a:spLocks noChangeShapeType="1"/>
            </p:cNvSpPr>
            <p:nvPr/>
          </p:nvSpPr>
          <p:spPr bwMode="auto">
            <a:xfrm>
              <a:off x="4065" y="3477"/>
              <a:ext cx="43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HK"/>
            </a:p>
          </p:txBody>
        </p:sp>
        <p:sp>
          <p:nvSpPr>
            <p:cNvPr id="75813" name="Line 14">
              <a:extLst>
                <a:ext uri="{FF2B5EF4-FFF2-40B4-BE49-F238E27FC236}">
                  <a16:creationId xmlns:a16="http://schemas.microsoft.com/office/drawing/2014/main" id="{CB27EACE-127A-306E-0629-CA5FC297ADC8}"/>
                </a:ext>
              </a:extLst>
            </p:cNvPr>
            <p:cNvSpPr>
              <a:spLocks noChangeShapeType="1"/>
            </p:cNvSpPr>
            <p:nvPr/>
          </p:nvSpPr>
          <p:spPr bwMode="auto">
            <a:xfrm>
              <a:off x="4068" y="3528"/>
              <a:ext cx="43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HK"/>
            </a:p>
          </p:txBody>
        </p:sp>
        <p:sp>
          <p:nvSpPr>
            <p:cNvPr id="75814" name="Line 15">
              <a:extLst>
                <a:ext uri="{FF2B5EF4-FFF2-40B4-BE49-F238E27FC236}">
                  <a16:creationId xmlns:a16="http://schemas.microsoft.com/office/drawing/2014/main" id="{4F2B9164-377B-09FC-D568-9E2AE7B17D66}"/>
                </a:ext>
              </a:extLst>
            </p:cNvPr>
            <p:cNvSpPr>
              <a:spLocks noChangeShapeType="1"/>
            </p:cNvSpPr>
            <p:nvPr/>
          </p:nvSpPr>
          <p:spPr bwMode="auto">
            <a:xfrm>
              <a:off x="4071" y="3579"/>
              <a:ext cx="43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HK"/>
            </a:p>
          </p:txBody>
        </p:sp>
      </p:grpSp>
      <p:sp>
        <p:nvSpPr>
          <p:cNvPr id="75783" name="Line 17">
            <a:extLst>
              <a:ext uri="{FF2B5EF4-FFF2-40B4-BE49-F238E27FC236}">
                <a16:creationId xmlns:a16="http://schemas.microsoft.com/office/drawing/2014/main" id="{A12FBDA2-1B9E-98C1-67AA-A9EA148ED686}"/>
              </a:ext>
            </a:extLst>
          </p:cNvPr>
          <p:cNvSpPr>
            <a:spLocks noChangeShapeType="1"/>
          </p:cNvSpPr>
          <p:nvPr/>
        </p:nvSpPr>
        <p:spPr bwMode="auto">
          <a:xfrm flipV="1">
            <a:off x="2591461" y="5681804"/>
            <a:ext cx="6505575" cy="952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HK"/>
          </a:p>
        </p:txBody>
      </p:sp>
      <p:sp>
        <p:nvSpPr>
          <p:cNvPr id="75784" name="Line 18">
            <a:extLst>
              <a:ext uri="{FF2B5EF4-FFF2-40B4-BE49-F238E27FC236}">
                <a16:creationId xmlns:a16="http://schemas.microsoft.com/office/drawing/2014/main" id="{7831FCE7-3B41-2820-2C58-C72132DBD0BA}"/>
              </a:ext>
            </a:extLst>
          </p:cNvPr>
          <p:cNvSpPr>
            <a:spLocks noChangeShapeType="1"/>
          </p:cNvSpPr>
          <p:nvPr/>
        </p:nvSpPr>
        <p:spPr bwMode="auto">
          <a:xfrm flipV="1">
            <a:off x="2620036" y="5157929"/>
            <a:ext cx="6524625" cy="952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HK"/>
          </a:p>
        </p:txBody>
      </p:sp>
      <p:sp>
        <p:nvSpPr>
          <p:cNvPr id="75785" name="Rectangle 20">
            <a:extLst>
              <a:ext uri="{FF2B5EF4-FFF2-40B4-BE49-F238E27FC236}">
                <a16:creationId xmlns:a16="http://schemas.microsoft.com/office/drawing/2014/main" id="{33CA50B4-7CBB-3920-F0D7-0F9AE932E863}"/>
              </a:ext>
            </a:extLst>
          </p:cNvPr>
          <p:cNvSpPr>
            <a:spLocks noChangeArrowheads="1"/>
          </p:cNvSpPr>
          <p:nvPr/>
        </p:nvSpPr>
        <p:spPr bwMode="auto">
          <a:xfrm>
            <a:off x="2877210" y="2938603"/>
            <a:ext cx="1809750" cy="81915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endParaRPr lang="zh-CN" altLang="zh-CN" sz="1800">
              <a:latin typeface="Arial" panose="020B0604020202020204" pitchFamily="34" charset="0"/>
            </a:endParaRPr>
          </a:p>
        </p:txBody>
      </p:sp>
      <p:sp>
        <p:nvSpPr>
          <p:cNvPr id="75786" name="Rectangle 21">
            <a:extLst>
              <a:ext uri="{FF2B5EF4-FFF2-40B4-BE49-F238E27FC236}">
                <a16:creationId xmlns:a16="http://schemas.microsoft.com/office/drawing/2014/main" id="{D1483FE5-EAFA-DE74-0930-B330A5C8E8F9}"/>
              </a:ext>
            </a:extLst>
          </p:cNvPr>
          <p:cNvSpPr>
            <a:spLocks noChangeArrowheads="1"/>
          </p:cNvSpPr>
          <p:nvPr/>
        </p:nvSpPr>
        <p:spPr bwMode="auto">
          <a:xfrm>
            <a:off x="2810535" y="3005278"/>
            <a:ext cx="1809750" cy="819150"/>
          </a:xfrm>
          <a:prstGeom prst="rect">
            <a:avLst/>
          </a:prstGeom>
          <a:solidFill>
            <a:schemeClr val="bg1"/>
          </a:solidFill>
          <a:ln w="19050">
            <a:solidFill>
              <a:schemeClr val="tx1"/>
            </a:solidFill>
            <a:miter lim="800000"/>
            <a:headEnd/>
            <a:tailEnd/>
          </a:ln>
        </p:spPr>
        <p:txBody>
          <a:bodyPr wrap="none" anchor="ct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endParaRPr lang="zh-CN" altLang="zh-CN" sz="1800">
              <a:latin typeface="Arial" panose="020B0604020202020204" pitchFamily="34" charset="0"/>
            </a:endParaRPr>
          </a:p>
        </p:txBody>
      </p:sp>
      <p:sp>
        <p:nvSpPr>
          <p:cNvPr id="75787" name="Text Box 22">
            <a:extLst>
              <a:ext uri="{FF2B5EF4-FFF2-40B4-BE49-F238E27FC236}">
                <a16:creationId xmlns:a16="http://schemas.microsoft.com/office/drawing/2014/main" id="{476B615D-3ECF-A157-6E95-DA7AA959F2A2}"/>
              </a:ext>
            </a:extLst>
          </p:cNvPr>
          <p:cNvSpPr txBox="1">
            <a:spLocks noChangeArrowheads="1"/>
          </p:cNvSpPr>
          <p:nvPr/>
        </p:nvSpPr>
        <p:spPr bwMode="auto">
          <a:xfrm>
            <a:off x="2799423" y="2986229"/>
            <a:ext cx="1818575"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None/>
            </a:pPr>
            <a:r>
              <a:rPr lang="en-US" altLang="zh-CN" sz="2000" i="1" dirty="0">
                <a:solidFill>
                  <a:srgbClr val="CC0000"/>
                </a:solidFill>
              </a:rPr>
              <a:t>routing protocols</a:t>
            </a:r>
          </a:p>
          <a:p>
            <a:pPr>
              <a:lnSpc>
                <a:spcPct val="100000"/>
              </a:lnSpc>
              <a:spcBef>
                <a:spcPct val="0"/>
              </a:spcBef>
              <a:buClrTx/>
              <a:buSzTx/>
              <a:buFontTx/>
              <a:buChar char="•"/>
            </a:pPr>
            <a:r>
              <a:rPr lang="en-US" altLang="zh-CN" sz="1600" dirty="0">
                <a:latin typeface="Arial" panose="020B0604020202020204" pitchFamily="34" charset="0"/>
              </a:rPr>
              <a:t> path selection</a:t>
            </a:r>
          </a:p>
          <a:p>
            <a:pPr>
              <a:lnSpc>
                <a:spcPct val="100000"/>
              </a:lnSpc>
              <a:spcBef>
                <a:spcPct val="0"/>
              </a:spcBef>
              <a:buClrTx/>
              <a:buSzTx/>
              <a:buFontTx/>
              <a:buChar char="•"/>
            </a:pPr>
            <a:r>
              <a:rPr lang="en-US" altLang="zh-CN" sz="1600" dirty="0">
                <a:latin typeface="Arial" panose="020B0604020202020204" pitchFamily="34" charset="0"/>
              </a:rPr>
              <a:t> OSPF, BGP</a:t>
            </a:r>
            <a:r>
              <a:rPr lang="en-HK" altLang="zh-CN" sz="1600" dirty="0">
                <a:latin typeface="Arial" panose="020B0604020202020204" pitchFamily="34" charset="0"/>
              </a:rPr>
              <a:t>, </a:t>
            </a:r>
            <a:r>
              <a:rPr lang="en-HK" altLang="zh-CN" sz="1600" dirty="0" err="1">
                <a:latin typeface="Arial" panose="020B0604020202020204" pitchFamily="34" charset="0"/>
              </a:rPr>
              <a:t>ect</a:t>
            </a:r>
            <a:r>
              <a:rPr lang="en-HK" altLang="zh-CN" sz="1600" dirty="0">
                <a:latin typeface="Arial" panose="020B0604020202020204" pitchFamily="34" charset="0"/>
              </a:rPr>
              <a:t>.</a:t>
            </a:r>
            <a:endParaRPr lang="en-US" altLang="zh-CN" sz="1800" dirty="0">
              <a:latin typeface="Arial" panose="020B0604020202020204" pitchFamily="34" charset="0"/>
            </a:endParaRPr>
          </a:p>
        </p:txBody>
      </p:sp>
      <p:sp>
        <p:nvSpPr>
          <p:cNvPr id="75788" name="Freeform 23">
            <a:extLst>
              <a:ext uri="{FF2B5EF4-FFF2-40B4-BE49-F238E27FC236}">
                <a16:creationId xmlns:a16="http://schemas.microsoft.com/office/drawing/2014/main" id="{56678161-9E95-3D9D-A3D8-E8A4A55B561A}"/>
              </a:ext>
            </a:extLst>
          </p:cNvPr>
          <p:cNvSpPr>
            <a:spLocks/>
          </p:cNvSpPr>
          <p:nvPr/>
        </p:nvSpPr>
        <p:spPr bwMode="auto">
          <a:xfrm>
            <a:off x="4105935" y="3929204"/>
            <a:ext cx="628650" cy="390525"/>
          </a:xfrm>
          <a:custGeom>
            <a:avLst/>
            <a:gdLst>
              <a:gd name="T0" fmla="*/ 0 w 396"/>
              <a:gd name="T1" fmla="*/ 0 h 246"/>
              <a:gd name="T2" fmla="*/ 2147483646 w 396"/>
              <a:gd name="T3" fmla="*/ 2147483646 h 246"/>
              <a:gd name="T4" fmla="*/ 2147483646 w 396"/>
              <a:gd name="T5" fmla="*/ 2147483646 h 246"/>
              <a:gd name="T6" fmla="*/ 0 60000 65536"/>
              <a:gd name="T7" fmla="*/ 0 60000 65536"/>
              <a:gd name="T8" fmla="*/ 0 60000 65536"/>
              <a:gd name="T9" fmla="*/ 0 w 396"/>
              <a:gd name="T10" fmla="*/ 0 h 246"/>
              <a:gd name="T11" fmla="*/ 396 w 396"/>
              <a:gd name="T12" fmla="*/ 246 h 246"/>
            </a:gdLst>
            <a:ahLst/>
            <a:cxnLst>
              <a:cxn ang="T6">
                <a:pos x="T0" y="T1"/>
              </a:cxn>
              <a:cxn ang="T7">
                <a:pos x="T2" y="T3"/>
              </a:cxn>
              <a:cxn ang="T8">
                <a:pos x="T4" y="T5"/>
              </a:cxn>
            </a:cxnLst>
            <a:rect l="T9" t="T10" r="T11" b="T12"/>
            <a:pathLst>
              <a:path w="396" h="246">
                <a:moveTo>
                  <a:pt x="0" y="0"/>
                </a:moveTo>
                <a:cubicBezTo>
                  <a:pt x="30" y="16"/>
                  <a:pt x="42" y="126"/>
                  <a:pt x="150" y="186"/>
                </a:cubicBezTo>
                <a:cubicBezTo>
                  <a:pt x="258" y="246"/>
                  <a:pt x="345" y="205"/>
                  <a:pt x="396" y="210"/>
                </a:cubicBezTo>
              </a:path>
            </a:pathLst>
          </a:custGeom>
          <a:noFill/>
          <a:ln w="38100" cap="flat" cmpd="sng">
            <a:solidFill>
              <a:srgbClr val="000099"/>
            </a:solidFill>
            <a:prstDash val="solid"/>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HK"/>
          </a:p>
        </p:txBody>
      </p:sp>
      <p:grpSp>
        <p:nvGrpSpPr>
          <p:cNvPr id="75789" name="Group 24">
            <a:extLst>
              <a:ext uri="{FF2B5EF4-FFF2-40B4-BE49-F238E27FC236}">
                <a16:creationId xmlns:a16="http://schemas.microsoft.com/office/drawing/2014/main" id="{0761A440-5F52-4366-612D-B5523190378B}"/>
              </a:ext>
            </a:extLst>
          </p:cNvPr>
          <p:cNvGrpSpPr>
            <a:grpSpLocks/>
          </p:cNvGrpSpPr>
          <p:nvPr/>
        </p:nvGrpSpPr>
        <p:grpSpPr bwMode="auto">
          <a:xfrm>
            <a:off x="6055386" y="2848116"/>
            <a:ext cx="3000375" cy="1181100"/>
            <a:chOff x="102" y="1272"/>
            <a:chExt cx="1890" cy="744"/>
          </a:xfrm>
        </p:grpSpPr>
        <p:sp>
          <p:nvSpPr>
            <p:cNvPr id="75803" name="Rectangle 25">
              <a:extLst>
                <a:ext uri="{FF2B5EF4-FFF2-40B4-BE49-F238E27FC236}">
                  <a16:creationId xmlns:a16="http://schemas.microsoft.com/office/drawing/2014/main" id="{55D7AF9D-D04B-15E1-EF4C-6C78F1A40B04}"/>
                </a:ext>
              </a:extLst>
            </p:cNvPr>
            <p:cNvSpPr>
              <a:spLocks noChangeArrowheads="1"/>
            </p:cNvSpPr>
            <p:nvPr/>
          </p:nvSpPr>
          <p:spPr bwMode="auto">
            <a:xfrm>
              <a:off x="144" y="1272"/>
              <a:ext cx="1848" cy="6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endParaRPr lang="zh-CN" altLang="zh-CN" sz="1800">
                <a:latin typeface="Arial" panose="020B0604020202020204" pitchFamily="34" charset="0"/>
              </a:endParaRPr>
            </a:p>
          </p:txBody>
        </p:sp>
        <p:sp>
          <p:nvSpPr>
            <p:cNvPr id="75804" name="Rectangle 26">
              <a:extLst>
                <a:ext uri="{FF2B5EF4-FFF2-40B4-BE49-F238E27FC236}">
                  <a16:creationId xmlns:a16="http://schemas.microsoft.com/office/drawing/2014/main" id="{06D636DA-DCC6-A93D-944B-5EFB311F8649}"/>
                </a:ext>
              </a:extLst>
            </p:cNvPr>
            <p:cNvSpPr>
              <a:spLocks noChangeArrowheads="1"/>
            </p:cNvSpPr>
            <p:nvPr/>
          </p:nvSpPr>
          <p:spPr bwMode="auto">
            <a:xfrm>
              <a:off x="102" y="1314"/>
              <a:ext cx="1848" cy="702"/>
            </a:xfrm>
            <a:prstGeom prst="rect">
              <a:avLst/>
            </a:prstGeom>
            <a:solidFill>
              <a:schemeClr val="bg1"/>
            </a:solidFill>
            <a:ln w="19050">
              <a:solidFill>
                <a:schemeClr val="tx1"/>
              </a:solidFill>
              <a:miter lim="800000"/>
              <a:headEnd/>
              <a:tailEnd/>
            </a:ln>
          </p:spPr>
          <p:txBody>
            <a:bodyPr wrap="none" anchor="ct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endParaRPr lang="zh-CN" altLang="zh-CN" sz="1800">
                <a:latin typeface="Arial" panose="020B0604020202020204" pitchFamily="34" charset="0"/>
              </a:endParaRPr>
            </a:p>
          </p:txBody>
        </p:sp>
        <p:sp>
          <p:nvSpPr>
            <p:cNvPr id="75805" name="Text Box 27">
              <a:extLst>
                <a:ext uri="{FF2B5EF4-FFF2-40B4-BE49-F238E27FC236}">
                  <a16:creationId xmlns:a16="http://schemas.microsoft.com/office/drawing/2014/main" id="{F8C0A54F-E193-3686-EFCC-12EFE9DF54A3}"/>
                </a:ext>
              </a:extLst>
            </p:cNvPr>
            <p:cNvSpPr txBox="1">
              <a:spLocks noChangeArrowheads="1"/>
            </p:cNvSpPr>
            <p:nvPr/>
          </p:nvSpPr>
          <p:spPr bwMode="auto">
            <a:xfrm>
              <a:off x="116" y="1287"/>
              <a:ext cx="1810" cy="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r>
                <a:rPr lang="en-US" altLang="zh-CN" sz="2000" i="1" dirty="0">
                  <a:solidFill>
                    <a:srgbClr val="CC0000"/>
                  </a:solidFill>
                </a:rPr>
                <a:t>IP protocol</a:t>
              </a:r>
            </a:p>
            <a:p>
              <a:pPr>
                <a:lnSpc>
                  <a:spcPct val="100000"/>
                </a:lnSpc>
                <a:spcBef>
                  <a:spcPct val="0"/>
                </a:spcBef>
                <a:buClrTx/>
                <a:buSzTx/>
                <a:buFontTx/>
                <a:buChar char="•"/>
              </a:pPr>
              <a:r>
                <a:rPr lang="en-US" altLang="zh-CN" sz="1600" dirty="0">
                  <a:latin typeface="Arial" panose="020B0604020202020204" pitchFamily="34" charset="0"/>
                </a:rPr>
                <a:t> addressing</a:t>
              </a:r>
            </a:p>
            <a:p>
              <a:pPr>
                <a:lnSpc>
                  <a:spcPct val="100000"/>
                </a:lnSpc>
                <a:spcBef>
                  <a:spcPct val="0"/>
                </a:spcBef>
                <a:buClrTx/>
                <a:buSzTx/>
                <a:buFontTx/>
                <a:buChar char="•"/>
              </a:pPr>
              <a:r>
                <a:rPr lang="en-US" altLang="zh-CN" sz="1600" dirty="0">
                  <a:latin typeface="Arial" panose="020B0604020202020204" pitchFamily="34" charset="0"/>
                </a:rPr>
                <a:t> datagram format</a:t>
              </a:r>
            </a:p>
            <a:p>
              <a:pPr>
                <a:lnSpc>
                  <a:spcPct val="100000"/>
                </a:lnSpc>
                <a:spcBef>
                  <a:spcPct val="0"/>
                </a:spcBef>
                <a:buClrTx/>
                <a:buSzTx/>
                <a:buFontTx/>
                <a:buChar char="•"/>
              </a:pPr>
              <a:r>
                <a:rPr lang="en-US" altLang="zh-CN" sz="1600" dirty="0">
                  <a:latin typeface="Arial" panose="020B0604020202020204" pitchFamily="34" charset="0"/>
                </a:rPr>
                <a:t> packet handling conventions</a:t>
              </a:r>
              <a:endParaRPr lang="en-US" altLang="zh-CN" sz="1800" dirty="0">
                <a:latin typeface="Arial" panose="020B0604020202020204" pitchFamily="34" charset="0"/>
              </a:endParaRPr>
            </a:p>
          </p:txBody>
        </p:sp>
      </p:grpSp>
      <p:grpSp>
        <p:nvGrpSpPr>
          <p:cNvPr id="5" name="Group 4">
            <a:extLst>
              <a:ext uri="{FF2B5EF4-FFF2-40B4-BE49-F238E27FC236}">
                <a16:creationId xmlns:a16="http://schemas.microsoft.com/office/drawing/2014/main" id="{AC9E0ED6-0E8C-AFDE-AB76-59C8518F6943}"/>
              </a:ext>
            </a:extLst>
          </p:cNvPr>
          <p:cNvGrpSpPr/>
          <p:nvPr/>
        </p:nvGrpSpPr>
        <p:grpSpPr>
          <a:xfrm>
            <a:off x="6112536" y="4149867"/>
            <a:ext cx="2047873" cy="925889"/>
            <a:chOff x="6673851" y="3878264"/>
            <a:chExt cx="2047873" cy="925889"/>
          </a:xfrm>
        </p:grpSpPr>
        <p:sp>
          <p:nvSpPr>
            <p:cNvPr id="75790" name="Rectangle 29">
              <a:extLst>
                <a:ext uri="{FF2B5EF4-FFF2-40B4-BE49-F238E27FC236}">
                  <a16:creationId xmlns:a16="http://schemas.microsoft.com/office/drawing/2014/main" id="{E02885EE-05B1-533F-2987-F53B292C90EF}"/>
                </a:ext>
              </a:extLst>
            </p:cNvPr>
            <p:cNvSpPr>
              <a:spLocks noChangeArrowheads="1"/>
            </p:cNvSpPr>
            <p:nvPr/>
          </p:nvSpPr>
          <p:spPr bwMode="auto">
            <a:xfrm>
              <a:off x="6740526" y="3878264"/>
              <a:ext cx="1933575" cy="847725"/>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endParaRPr lang="zh-CN" altLang="zh-CN" sz="1800">
                <a:latin typeface="Arial" panose="020B0604020202020204" pitchFamily="34" charset="0"/>
              </a:endParaRPr>
            </a:p>
          </p:txBody>
        </p:sp>
        <p:sp>
          <p:nvSpPr>
            <p:cNvPr id="75791" name="Rectangle 30">
              <a:extLst>
                <a:ext uri="{FF2B5EF4-FFF2-40B4-BE49-F238E27FC236}">
                  <a16:creationId xmlns:a16="http://schemas.microsoft.com/office/drawing/2014/main" id="{117D7C56-FDC1-FDA8-87BD-6FD934DA0309}"/>
                </a:ext>
              </a:extLst>
            </p:cNvPr>
            <p:cNvSpPr>
              <a:spLocks noChangeArrowheads="1"/>
            </p:cNvSpPr>
            <p:nvPr/>
          </p:nvSpPr>
          <p:spPr bwMode="auto">
            <a:xfrm>
              <a:off x="6673851" y="3946526"/>
              <a:ext cx="1933575" cy="847725"/>
            </a:xfrm>
            <a:prstGeom prst="rect">
              <a:avLst/>
            </a:prstGeom>
            <a:solidFill>
              <a:schemeClr val="bg1"/>
            </a:solidFill>
            <a:ln w="19050">
              <a:solidFill>
                <a:schemeClr val="tx1"/>
              </a:solidFill>
              <a:miter lim="800000"/>
              <a:headEnd/>
              <a:tailEnd/>
            </a:ln>
          </p:spPr>
          <p:txBody>
            <a:bodyPr wrap="none" anchor="ct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endParaRPr lang="zh-CN" altLang="zh-CN" sz="1800">
                <a:latin typeface="Arial" panose="020B0604020202020204" pitchFamily="34" charset="0"/>
              </a:endParaRPr>
            </a:p>
          </p:txBody>
        </p:sp>
        <p:sp>
          <p:nvSpPr>
            <p:cNvPr id="75792" name="Text Box 31">
              <a:extLst>
                <a:ext uri="{FF2B5EF4-FFF2-40B4-BE49-F238E27FC236}">
                  <a16:creationId xmlns:a16="http://schemas.microsoft.com/office/drawing/2014/main" id="{3F0C910A-BFD4-2730-3039-4C6277FF85DE}"/>
                </a:ext>
              </a:extLst>
            </p:cNvPr>
            <p:cNvSpPr txBox="1">
              <a:spLocks noChangeArrowheads="1"/>
            </p:cNvSpPr>
            <p:nvPr/>
          </p:nvSpPr>
          <p:spPr bwMode="auto">
            <a:xfrm>
              <a:off x="6686549" y="3911601"/>
              <a:ext cx="2035175"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r>
                <a:rPr lang="en-US" altLang="zh-CN" sz="2000" i="1">
                  <a:solidFill>
                    <a:srgbClr val="CC0000"/>
                  </a:solidFill>
                </a:rPr>
                <a:t>ICMP protocol</a:t>
              </a:r>
            </a:p>
            <a:p>
              <a:pPr>
                <a:lnSpc>
                  <a:spcPct val="100000"/>
                </a:lnSpc>
                <a:spcBef>
                  <a:spcPct val="0"/>
                </a:spcBef>
                <a:buClrTx/>
                <a:buSzTx/>
                <a:buFontTx/>
                <a:buChar char="•"/>
              </a:pPr>
              <a:r>
                <a:rPr lang="en-US" altLang="zh-CN" sz="1600">
                  <a:latin typeface="Arial" panose="020B0604020202020204" pitchFamily="34" charset="0"/>
                </a:rPr>
                <a:t> error reporting</a:t>
              </a:r>
            </a:p>
            <a:p>
              <a:pPr>
                <a:lnSpc>
                  <a:spcPct val="100000"/>
                </a:lnSpc>
                <a:spcBef>
                  <a:spcPct val="0"/>
                </a:spcBef>
                <a:buClrTx/>
                <a:buSzTx/>
                <a:buFontTx/>
                <a:buChar char="•"/>
              </a:pPr>
              <a:r>
                <a:rPr lang="en-US" altLang="zh-CN" sz="1600">
                  <a:latin typeface="Arial" panose="020B0604020202020204" pitchFamily="34" charset="0"/>
                </a:rPr>
                <a:t> router </a:t>
              </a:r>
              <a:r>
                <a:rPr lang="ja-JP" altLang="en-US" sz="1600">
                  <a:latin typeface="Arial" panose="020B0604020202020204" pitchFamily="34" charset="0"/>
                </a:rPr>
                <a:t>“</a:t>
              </a:r>
              <a:r>
                <a:rPr lang="en-US" altLang="ja-JP" sz="1600">
                  <a:latin typeface="Arial" panose="020B0604020202020204" pitchFamily="34" charset="0"/>
                </a:rPr>
                <a:t>signaling</a:t>
              </a:r>
              <a:r>
                <a:rPr lang="ja-JP" altLang="en-US" sz="1600">
                  <a:latin typeface="Arial" panose="020B0604020202020204" pitchFamily="34" charset="0"/>
                </a:rPr>
                <a:t>”</a:t>
              </a:r>
              <a:endParaRPr lang="en-US" altLang="zh-CN" sz="1800">
                <a:latin typeface="Arial" panose="020B0604020202020204" pitchFamily="34" charset="0"/>
              </a:endParaRPr>
            </a:p>
          </p:txBody>
        </p:sp>
      </p:grpSp>
      <p:sp>
        <p:nvSpPr>
          <p:cNvPr id="75793" name="Line 32">
            <a:extLst>
              <a:ext uri="{FF2B5EF4-FFF2-40B4-BE49-F238E27FC236}">
                <a16:creationId xmlns:a16="http://schemas.microsoft.com/office/drawing/2014/main" id="{410B75E9-2B9A-A4E2-9B03-D00DC2616EB9}"/>
              </a:ext>
            </a:extLst>
          </p:cNvPr>
          <p:cNvSpPr>
            <a:spLocks noChangeShapeType="1"/>
          </p:cNvSpPr>
          <p:nvPr/>
        </p:nvSpPr>
        <p:spPr bwMode="auto">
          <a:xfrm flipV="1">
            <a:off x="2620036" y="2738579"/>
            <a:ext cx="6524625" cy="952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HK"/>
          </a:p>
        </p:txBody>
      </p:sp>
      <p:sp>
        <p:nvSpPr>
          <p:cNvPr id="75794" name="Text Box 33">
            <a:extLst>
              <a:ext uri="{FF2B5EF4-FFF2-40B4-BE49-F238E27FC236}">
                <a16:creationId xmlns:a16="http://schemas.microsoft.com/office/drawing/2014/main" id="{DF2CC8A3-5B9D-EB3C-65F6-69944EF85EAF}"/>
              </a:ext>
            </a:extLst>
          </p:cNvPr>
          <p:cNvSpPr txBox="1">
            <a:spLocks noChangeArrowheads="1"/>
          </p:cNvSpPr>
          <p:nvPr/>
        </p:nvSpPr>
        <p:spPr bwMode="auto">
          <a:xfrm>
            <a:off x="4061485" y="2260741"/>
            <a:ext cx="2838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r>
              <a:rPr lang="en-US" altLang="zh-CN" sz="1800">
                <a:solidFill>
                  <a:schemeClr val="bg2"/>
                </a:solidFill>
                <a:latin typeface="Arial" panose="020B0604020202020204" pitchFamily="34" charset="0"/>
              </a:rPr>
              <a:t>transport layer: TCP, UDP</a:t>
            </a:r>
            <a:endParaRPr lang="en-US" altLang="zh-CN" sz="1800">
              <a:latin typeface="Arial" panose="020B0604020202020204" pitchFamily="34" charset="0"/>
            </a:endParaRPr>
          </a:p>
        </p:txBody>
      </p:sp>
      <p:sp>
        <p:nvSpPr>
          <p:cNvPr id="75795" name="Text Box 34">
            <a:extLst>
              <a:ext uri="{FF2B5EF4-FFF2-40B4-BE49-F238E27FC236}">
                <a16:creationId xmlns:a16="http://schemas.microsoft.com/office/drawing/2014/main" id="{E39F2355-143E-B0ED-85F4-51B2CFBBF9E4}"/>
              </a:ext>
            </a:extLst>
          </p:cNvPr>
          <p:cNvSpPr txBox="1">
            <a:spLocks noChangeArrowheads="1"/>
          </p:cNvSpPr>
          <p:nvPr/>
        </p:nvSpPr>
        <p:spPr bwMode="auto">
          <a:xfrm>
            <a:off x="5175910" y="5232541"/>
            <a:ext cx="1085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r>
              <a:rPr lang="en-US" altLang="zh-CN" sz="1800">
                <a:solidFill>
                  <a:schemeClr val="bg2"/>
                </a:solidFill>
                <a:latin typeface="Arial" panose="020B0604020202020204" pitchFamily="34" charset="0"/>
              </a:rPr>
              <a:t>link layer</a:t>
            </a:r>
            <a:endParaRPr lang="en-US" altLang="zh-CN" sz="1800">
              <a:latin typeface="Arial" panose="020B0604020202020204" pitchFamily="34" charset="0"/>
            </a:endParaRPr>
          </a:p>
        </p:txBody>
      </p:sp>
      <p:sp>
        <p:nvSpPr>
          <p:cNvPr id="75796" name="Text Box 35">
            <a:extLst>
              <a:ext uri="{FF2B5EF4-FFF2-40B4-BE49-F238E27FC236}">
                <a16:creationId xmlns:a16="http://schemas.microsoft.com/office/drawing/2014/main" id="{F6CC6DFF-A9DE-4EAE-790B-67BB745128EF}"/>
              </a:ext>
            </a:extLst>
          </p:cNvPr>
          <p:cNvSpPr txBox="1">
            <a:spLocks noChangeArrowheads="1"/>
          </p:cNvSpPr>
          <p:nvPr/>
        </p:nvSpPr>
        <p:spPr bwMode="auto">
          <a:xfrm>
            <a:off x="5023510" y="5756416"/>
            <a:ext cx="1568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nSpc>
                <a:spcPct val="100000"/>
              </a:lnSpc>
              <a:spcBef>
                <a:spcPct val="0"/>
              </a:spcBef>
              <a:buClrTx/>
              <a:buSzTx/>
              <a:buFontTx/>
              <a:buNone/>
            </a:pPr>
            <a:r>
              <a:rPr lang="en-US" altLang="zh-CN" sz="1800">
                <a:solidFill>
                  <a:schemeClr val="bg2"/>
                </a:solidFill>
                <a:latin typeface="Arial" panose="020B0604020202020204" pitchFamily="34" charset="0"/>
              </a:rPr>
              <a:t>physical layer</a:t>
            </a:r>
            <a:endParaRPr lang="en-US" altLang="zh-CN" sz="1800">
              <a:latin typeface="Arial" panose="020B0604020202020204" pitchFamily="34" charset="0"/>
            </a:endParaRPr>
          </a:p>
        </p:txBody>
      </p:sp>
      <p:sp>
        <p:nvSpPr>
          <p:cNvPr id="75797" name="Text Box 36">
            <a:extLst>
              <a:ext uri="{FF2B5EF4-FFF2-40B4-BE49-F238E27FC236}">
                <a16:creationId xmlns:a16="http://schemas.microsoft.com/office/drawing/2014/main" id="{3F0E4E0A-9E58-CE6A-7DB3-0AF271FC7152}"/>
              </a:ext>
            </a:extLst>
          </p:cNvPr>
          <p:cNvSpPr txBox="1">
            <a:spLocks noChangeArrowheads="1"/>
          </p:cNvSpPr>
          <p:nvPr/>
        </p:nvSpPr>
        <p:spPr bwMode="auto">
          <a:xfrm>
            <a:off x="1270824" y="3530742"/>
            <a:ext cx="126348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ＭＳ Ｐゴシック" panose="020B0600070205080204" pitchFamily="34" charset="-128"/>
              </a:defRPr>
            </a:lvl1pPr>
            <a:lvl2pPr marL="742950" indent="-285750">
              <a:lnSpc>
                <a:spcPct val="85000"/>
              </a:lnSpc>
              <a:spcBef>
                <a:spcPct val="20000"/>
              </a:spcBef>
              <a:buClr>
                <a:srgbClr val="000099"/>
              </a:buClr>
              <a:buFont typeface="Arial" panose="020B0604020202020204" pitchFamily="34" charset="0"/>
              <a:buChar char="•"/>
              <a:defRPr sz="2400">
                <a:solidFill>
                  <a:schemeClr val="tx1"/>
                </a:solidFill>
                <a:latin typeface="Gill Sans MT" panose="020B0502020104020203" pitchFamily="34" charset="0"/>
                <a:ea typeface="ＭＳ Ｐゴシック" panose="020B0600070205080204" pitchFamily="34" charset="-128"/>
                <a:cs typeface="Gill Sans MT" panose="020B0502020104020203" pitchFamily="34" charset="0"/>
              </a:defRPr>
            </a:lvl2pPr>
            <a:lvl3pPr marL="1143000" indent="-228600">
              <a:spcBef>
                <a:spcPct val="20000"/>
              </a:spcBef>
              <a:buChar char="•"/>
              <a:defRPr sz="2000">
                <a:solidFill>
                  <a:schemeClr val="tx1"/>
                </a:solidFill>
                <a:latin typeface="Gill Sans MT" panose="020B0502020104020203" pitchFamily="34" charset="0"/>
                <a:ea typeface="Gill Sans MT" panose="020B0502020104020203" pitchFamily="34" charset="0"/>
                <a:cs typeface="Gill Sans MT" panose="020B0502020104020203" pitchFamily="34" charset="0"/>
              </a:defRPr>
            </a:lvl3pPr>
            <a:lvl4pPr marL="16002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4pPr>
            <a:lvl5pPr marL="2057400" indent="-228600">
              <a:spcBef>
                <a:spcPct val="20000"/>
              </a:spcBef>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Gill Sans MT" panose="020B0502020104020203" pitchFamily="34" charset="0"/>
                <a:cs typeface="Gill Sans MT" panose="020B0502020104020203" pitchFamily="34" charset="0"/>
              </a:defRPr>
            </a:lvl9pPr>
          </a:lstStyle>
          <a:p>
            <a:pPr algn="r">
              <a:lnSpc>
                <a:spcPct val="100000"/>
              </a:lnSpc>
              <a:spcBef>
                <a:spcPct val="0"/>
              </a:spcBef>
              <a:buClrTx/>
              <a:buSzTx/>
              <a:buFontTx/>
              <a:buNone/>
            </a:pPr>
            <a:r>
              <a:rPr lang="en-US" altLang="zh-CN" sz="2400">
                <a:solidFill>
                  <a:srgbClr val="CC0000"/>
                </a:solidFill>
                <a:latin typeface="Arial" panose="020B0604020202020204" pitchFamily="34" charset="0"/>
              </a:rPr>
              <a:t>network</a:t>
            </a:r>
          </a:p>
          <a:p>
            <a:pPr algn="r">
              <a:lnSpc>
                <a:spcPct val="100000"/>
              </a:lnSpc>
              <a:spcBef>
                <a:spcPct val="0"/>
              </a:spcBef>
              <a:buClrTx/>
              <a:buSzTx/>
              <a:buFontTx/>
              <a:buNone/>
            </a:pPr>
            <a:r>
              <a:rPr lang="en-US" altLang="zh-CN" sz="2400">
                <a:solidFill>
                  <a:srgbClr val="CC0000"/>
                </a:solidFill>
                <a:latin typeface="Arial" panose="020B0604020202020204" pitchFamily="34" charset="0"/>
              </a:rPr>
              <a:t>layer</a:t>
            </a:r>
            <a:endParaRPr lang="en-US" altLang="zh-CN" sz="1800">
              <a:solidFill>
                <a:srgbClr val="CC0000"/>
              </a:solidFill>
              <a:latin typeface="Arial" panose="020B0604020202020204" pitchFamily="34" charset="0"/>
            </a:endParaRPr>
          </a:p>
        </p:txBody>
      </p:sp>
      <p:sp>
        <p:nvSpPr>
          <p:cNvPr id="75798" name="Line 37">
            <a:extLst>
              <a:ext uri="{FF2B5EF4-FFF2-40B4-BE49-F238E27FC236}">
                <a16:creationId xmlns:a16="http://schemas.microsoft.com/office/drawing/2014/main" id="{F781F8DC-175D-01C1-3085-4AFB8AD5BF38}"/>
              </a:ext>
            </a:extLst>
          </p:cNvPr>
          <p:cNvSpPr>
            <a:spLocks noChangeShapeType="1"/>
          </p:cNvSpPr>
          <p:nvPr/>
        </p:nvSpPr>
        <p:spPr bwMode="auto">
          <a:xfrm flipV="1">
            <a:off x="2343810" y="2757628"/>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HK"/>
          </a:p>
        </p:txBody>
      </p:sp>
      <p:sp>
        <p:nvSpPr>
          <p:cNvPr id="75799" name="Line 38">
            <a:extLst>
              <a:ext uri="{FF2B5EF4-FFF2-40B4-BE49-F238E27FC236}">
                <a16:creationId xmlns:a16="http://schemas.microsoft.com/office/drawing/2014/main" id="{914B265C-2BAB-0474-974A-10CD90F4704C}"/>
              </a:ext>
            </a:extLst>
          </p:cNvPr>
          <p:cNvSpPr>
            <a:spLocks noChangeShapeType="1"/>
          </p:cNvSpPr>
          <p:nvPr/>
        </p:nvSpPr>
        <p:spPr bwMode="auto">
          <a:xfrm>
            <a:off x="2343810" y="4424503"/>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HK"/>
          </a:p>
        </p:txBody>
      </p:sp>
      <p:sp>
        <p:nvSpPr>
          <p:cNvPr id="4" name="Title 1">
            <a:extLst>
              <a:ext uri="{FF2B5EF4-FFF2-40B4-BE49-F238E27FC236}">
                <a16:creationId xmlns:a16="http://schemas.microsoft.com/office/drawing/2014/main" id="{4F2AA6E8-D371-CB2A-B9C3-C33E177D687D}"/>
              </a:ext>
            </a:extLst>
          </p:cNvPr>
          <p:cNvSpPr>
            <a:spLocks noGrp="1"/>
          </p:cNvSpPr>
          <p:nvPr>
            <p:ph type="title"/>
          </p:nvPr>
        </p:nvSpPr>
        <p:spPr>
          <a:xfrm>
            <a:off x="838200" y="398812"/>
            <a:ext cx="10515600" cy="894622"/>
          </a:xfrm>
        </p:spPr>
        <p:txBody>
          <a:bodyPr>
            <a:normAutofit fontScale="90000"/>
          </a:bodyPr>
          <a:lstStyle/>
          <a:p>
            <a:r>
              <a:rPr lang="en-US" altLang="en-US" sz="4800" dirty="0">
                <a:ea typeface="ＭＳ Ｐゴシック" panose="020B0600070205080204" pitchFamily="34" charset="-128"/>
              </a:rPr>
              <a:t>The Internet needs error reporting and testing</a:t>
            </a:r>
            <a:endParaRPr lang="en-US" sz="4800" dirty="0"/>
          </a:p>
        </p:txBody>
      </p:sp>
      <p:sp>
        <p:nvSpPr>
          <p:cNvPr id="8" name="Rectangle 3">
            <a:extLst>
              <a:ext uri="{FF2B5EF4-FFF2-40B4-BE49-F238E27FC236}">
                <a16:creationId xmlns:a16="http://schemas.microsoft.com/office/drawing/2014/main" id="{512902DA-2370-1B86-510F-3297FB111D85}"/>
              </a:ext>
            </a:extLst>
          </p:cNvPr>
          <p:cNvSpPr txBox="1">
            <a:spLocks noChangeArrowheads="1"/>
          </p:cNvSpPr>
          <p:nvPr/>
        </p:nvSpPr>
        <p:spPr>
          <a:xfrm>
            <a:off x="796272" y="1435763"/>
            <a:ext cx="10372157" cy="7767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95275"/>
            <a:r>
              <a:rPr lang="en-US" altLang="en-US" dirty="0">
                <a:ea typeface="ＭＳ Ｐゴシック" panose="020B0600070205080204" pitchFamily="34" charset="-128"/>
              </a:rPr>
              <a:t>What happens when something goes wrong during forwarding?</a:t>
            </a: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1FE0E7E-9E1E-584C-8DA4-C41F028D5E2A}"/>
              </a:ext>
            </a:extLst>
          </p:cNvPr>
          <p:cNvSpPr>
            <a:spLocks noGrp="1"/>
          </p:cNvSpPr>
          <p:nvPr>
            <p:ph type="title"/>
          </p:nvPr>
        </p:nvSpPr>
        <p:spPr/>
        <p:txBody>
          <a:bodyPr>
            <a:normAutofit/>
          </a:bodyPr>
          <a:lstStyle/>
          <a:p>
            <a:r>
              <a:rPr lang="en-US" dirty="0"/>
              <a:t>ICMP: internet control message protocol</a:t>
            </a:r>
          </a:p>
        </p:txBody>
      </p:sp>
      <p:sp>
        <p:nvSpPr>
          <p:cNvPr id="4" name="Slide Number Placeholder 3">
            <a:extLst>
              <a:ext uri="{FF2B5EF4-FFF2-40B4-BE49-F238E27FC236}">
                <a16:creationId xmlns:a16="http://schemas.microsoft.com/office/drawing/2014/main" id="{7D8D1936-B8B5-0847-9A92-51D7DECF1EEE}"/>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Network Layer: 4-</a:t>
            </a:r>
            <a:fld id="{C4204591-24BD-A542-B9D5-F8D8A88D2FEE}" type="slidenum">
              <a:rPr lang="en-US" smtClean="0"/>
              <a:pPr/>
              <a:t>13</a:t>
            </a:fld>
            <a:endParaRPr lang="en-US" dirty="0"/>
          </a:p>
        </p:txBody>
      </p:sp>
      <p:sp>
        <p:nvSpPr>
          <p:cNvPr id="5" name="Rectangle 3">
            <a:extLst>
              <a:ext uri="{FF2B5EF4-FFF2-40B4-BE49-F238E27FC236}">
                <a16:creationId xmlns:a16="http://schemas.microsoft.com/office/drawing/2014/main" id="{2FAB9C2F-4523-854D-98E9-120D41AA7083}"/>
              </a:ext>
            </a:extLst>
          </p:cNvPr>
          <p:cNvSpPr txBox="1">
            <a:spLocks noChangeArrowheads="1"/>
          </p:cNvSpPr>
          <p:nvPr/>
        </p:nvSpPr>
        <p:spPr>
          <a:xfrm>
            <a:off x="981643" y="1479757"/>
            <a:ext cx="5644621" cy="494875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95275"/>
            <a:r>
              <a:rPr lang="en-US" dirty="0"/>
              <a:t>used by hosts and routers to communicate network-level information</a:t>
            </a:r>
          </a:p>
          <a:p>
            <a:pPr lvl="1"/>
            <a:r>
              <a:rPr lang="en-US" dirty="0"/>
              <a:t>error reporting: unreachable host, network, port, protocol</a:t>
            </a:r>
          </a:p>
          <a:p>
            <a:pPr lvl="1"/>
            <a:r>
              <a:rPr lang="en-US" dirty="0"/>
              <a:t>echo request/reply (used by ping</a:t>
            </a:r>
            <a:r>
              <a:rPr lang="en-US" sz="2000" dirty="0"/>
              <a:t>)</a:t>
            </a:r>
          </a:p>
          <a:p>
            <a:r>
              <a:rPr lang="en-US" dirty="0"/>
              <a:t>ICMP messages carried in IP datagrams</a:t>
            </a:r>
          </a:p>
          <a:p>
            <a:pPr lvl="1"/>
            <a:r>
              <a:rPr lang="en-US" dirty="0"/>
              <a:t>Still considered part of the network-layer, not transport</a:t>
            </a:r>
          </a:p>
          <a:p>
            <a:pPr indent="-295275"/>
            <a:r>
              <a:rPr lang="en-US" i="1" dirty="0">
                <a:solidFill>
                  <a:srgbClr val="000099"/>
                </a:solidFill>
              </a:rPr>
              <a:t>ICMP message:</a:t>
            </a:r>
            <a:r>
              <a:rPr lang="en-US" i="1" dirty="0"/>
              <a:t> </a:t>
            </a:r>
            <a:r>
              <a:rPr lang="en-US" dirty="0"/>
              <a:t>type, code plus first 8 bytes of IP datagram causing error</a:t>
            </a:r>
          </a:p>
        </p:txBody>
      </p:sp>
      <p:sp>
        <p:nvSpPr>
          <p:cNvPr id="6" name="Text Box 4">
            <a:extLst>
              <a:ext uri="{FF2B5EF4-FFF2-40B4-BE49-F238E27FC236}">
                <a16:creationId xmlns:a16="http://schemas.microsoft.com/office/drawing/2014/main" id="{0084B1BA-03EA-054C-9CF7-0CDEC6826AA6}"/>
              </a:ext>
            </a:extLst>
          </p:cNvPr>
          <p:cNvSpPr txBox="1">
            <a:spLocks noChangeArrowheads="1"/>
          </p:cNvSpPr>
          <p:nvPr/>
        </p:nvSpPr>
        <p:spPr bwMode="auto">
          <a:xfrm>
            <a:off x="6987193" y="1763438"/>
            <a:ext cx="4260850" cy="44862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u="sng" dirty="0"/>
              <a:t>Type</a:t>
            </a:r>
            <a:r>
              <a:rPr lang="en-US" sz="1800" dirty="0"/>
              <a:t>  </a:t>
            </a:r>
            <a:r>
              <a:rPr lang="en-US" sz="1800" u="sng" dirty="0"/>
              <a:t>Code</a:t>
            </a:r>
            <a:r>
              <a:rPr lang="en-US" sz="1800" dirty="0"/>
              <a:t>  </a:t>
            </a:r>
            <a:r>
              <a:rPr lang="en-US" sz="1800" u="sng" dirty="0"/>
              <a:t>description</a:t>
            </a:r>
            <a:endParaRPr lang="en-US" sz="1800" dirty="0"/>
          </a:p>
          <a:p>
            <a:r>
              <a:rPr lang="en-US" sz="1800" dirty="0"/>
              <a:t>0        0         echo reply (ping)</a:t>
            </a:r>
          </a:p>
          <a:p>
            <a:r>
              <a:rPr lang="en-US" sz="1800" dirty="0"/>
              <a:t>3        0         dest. network unreachable</a:t>
            </a:r>
          </a:p>
          <a:p>
            <a:r>
              <a:rPr lang="en-US" sz="1800" dirty="0"/>
              <a:t>3        1         dest host unreachable</a:t>
            </a:r>
          </a:p>
          <a:p>
            <a:r>
              <a:rPr lang="en-US" sz="1800" dirty="0"/>
              <a:t>3        2         dest protocol unreachable</a:t>
            </a:r>
          </a:p>
          <a:p>
            <a:r>
              <a:rPr lang="en-US" sz="1800" dirty="0"/>
              <a:t>3        3         dest port unreachable</a:t>
            </a:r>
          </a:p>
          <a:p>
            <a:r>
              <a:rPr lang="en-US" sz="1800" dirty="0"/>
              <a:t>3        6         dest network unknown</a:t>
            </a:r>
          </a:p>
          <a:p>
            <a:r>
              <a:rPr lang="en-US" sz="1800" dirty="0"/>
              <a:t>3        7         dest host unknown</a:t>
            </a:r>
          </a:p>
          <a:p>
            <a:r>
              <a:rPr lang="en-US" sz="1800" dirty="0"/>
              <a:t>4        0         source quench (congestion</a:t>
            </a:r>
          </a:p>
          <a:p>
            <a:r>
              <a:rPr lang="en-US" sz="1800" dirty="0"/>
              <a:t>                     control - not used)</a:t>
            </a:r>
          </a:p>
          <a:p>
            <a:r>
              <a:rPr lang="en-US" sz="1800" dirty="0"/>
              <a:t>8        0         echo request (ping)</a:t>
            </a:r>
          </a:p>
          <a:p>
            <a:r>
              <a:rPr lang="en-US" sz="1800" dirty="0"/>
              <a:t>9        0         route advertisement</a:t>
            </a:r>
          </a:p>
          <a:p>
            <a:r>
              <a:rPr lang="en-US" sz="1800" dirty="0"/>
              <a:t>10      0         router discovery</a:t>
            </a:r>
          </a:p>
          <a:p>
            <a:r>
              <a:rPr lang="en-US" sz="1800" dirty="0"/>
              <a:t>11      0         TTL expired</a:t>
            </a:r>
          </a:p>
          <a:p>
            <a:r>
              <a:rPr lang="en-US" sz="1800" dirty="0"/>
              <a:t>12      0         bad IP header</a:t>
            </a:r>
          </a:p>
          <a:p>
            <a:endParaRPr lang="en-US" sz="1800" dirty="0"/>
          </a:p>
        </p:txBody>
      </p:sp>
    </p:spTree>
    <p:extLst>
      <p:ext uri="{BB962C8B-B14F-4D97-AF65-F5344CB8AC3E}">
        <p14:creationId xmlns:p14="http://schemas.microsoft.com/office/powerpoint/2010/main" val="19466818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500"/>
                                        <p:tgtEl>
                                          <p:spTgt spid="5">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animEffect transition="in" filter="dissolve">
                                      <p:cBhvr>
                                        <p:cTn id="13" dur="500"/>
                                        <p:tgtEl>
                                          <p:spTgt spid="5">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5">
                                            <p:txEl>
                                              <p:pRg st="3" end="3"/>
                                            </p:txEl>
                                          </p:spTgt>
                                        </p:tgtEl>
                                        <p:attrNameLst>
                                          <p:attrName>style.visibility</p:attrName>
                                        </p:attrNameLst>
                                      </p:cBhvr>
                                      <p:to>
                                        <p:strVal val="visible"/>
                                      </p:to>
                                    </p:set>
                                    <p:animEffect transition="in" filter="dissolve">
                                      <p:cBhvr>
                                        <p:cTn id="18" dur="500"/>
                                        <p:tgtEl>
                                          <p:spTgt spid="5">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animEffect transition="in" filter="dissolve">
                                      <p:cBhvr>
                                        <p:cTn id="21" dur="500"/>
                                        <p:tgtEl>
                                          <p:spTgt spid="5">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dissolve">
                                      <p:cBhvr>
                                        <p:cTn id="2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dirty="0"/>
              <a:t>Traceroute and ICMP</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80180" y="1324512"/>
            <a:ext cx="9929246" cy="26861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traceroute</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provides delay measurement (RTT) from source to router along end-end Internet path towards destination</a:t>
            </a:r>
          </a:p>
          <a:p>
            <a:pPr marL="630238" lvl="1" indent="-287338">
              <a:spcBef>
                <a:spcPts val="1000"/>
              </a:spcBef>
              <a:buClr>
                <a:srgbClr val="0000A3"/>
              </a:buClr>
              <a:buFont typeface="Wingdings" pitchFamily="2" charset="2"/>
              <a:buChar char="§"/>
              <a:defRPr/>
            </a:pPr>
            <a:r>
              <a:rPr kumimoji="0" lang="en-US" altLang="en-US" sz="2800" b="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using TTL in the IP datagram header and ICMP message (type 11, code 0: TTL expired)</a:t>
            </a:r>
          </a:p>
        </p:txBody>
      </p:sp>
      <p:grpSp>
        <p:nvGrpSpPr>
          <p:cNvPr id="3" name="Group 2">
            <a:extLst>
              <a:ext uri="{FF2B5EF4-FFF2-40B4-BE49-F238E27FC236}">
                <a16:creationId xmlns:a16="http://schemas.microsoft.com/office/drawing/2014/main" id="{95D12332-3051-7B8F-D60E-A56610B58CDC}"/>
              </a:ext>
            </a:extLst>
          </p:cNvPr>
          <p:cNvGrpSpPr/>
          <p:nvPr/>
        </p:nvGrpSpPr>
        <p:grpSpPr>
          <a:xfrm>
            <a:off x="1762711" y="4624058"/>
            <a:ext cx="7294612" cy="1021244"/>
            <a:chOff x="1735551" y="4787020"/>
            <a:chExt cx="7294612" cy="1021244"/>
          </a:xfrm>
        </p:grpSpPr>
        <p:sp>
          <p:nvSpPr>
            <p:cNvPr id="18" name="Line 38">
              <a:extLst>
                <a:ext uri="{FF2B5EF4-FFF2-40B4-BE49-F238E27FC236}">
                  <a16:creationId xmlns:a16="http://schemas.microsoft.com/office/drawing/2014/main" id="{54E266FC-2C53-E845-810D-72800D812F60}"/>
                </a:ext>
              </a:extLst>
            </p:cNvPr>
            <p:cNvSpPr>
              <a:spLocks noChangeShapeType="1"/>
            </p:cNvSpPr>
            <p:nvPr/>
          </p:nvSpPr>
          <p:spPr bwMode="auto">
            <a:xfrm>
              <a:off x="2632229" y="5109150"/>
              <a:ext cx="469144" cy="3154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105">
              <a:extLst>
                <a:ext uri="{FF2B5EF4-FFF2-40B4-BE49-F238E27FC236}">
                  <a16:creationId xmlns:a16="http://schemas.microsoft.com/office/drawing/2014/main" id="{BF1773B1-5019-2B4A-BE6A-B8195D8981B9}"/>
                </a:ext>
              </a:extLst>
            </p:cNvPr>
            <p:cNvSpPr>
              <a:spLocks noChangeShapeType="1"/>
            </p:cNvSpPr>
            <p:nvPr/>
          </p:nvSpPr>
          <p:spPr bwMode="auto">
            <a:xfrm flipV="1">
              <a:off x="3492134" y="5210332"/>
              <a:ext cx="639909"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1" name="Group 180">
              <a:extLst>
                <a:ext uri="{FF2B5EF4-FFF2-40B4-BE49-F238E27FC236}">
                  <a16:creationId xmlns:a16="http://schemas.microsoft.com/office/drawing/2014/main" id="{349EA779-C782-D646-A376-27962D2DE8E5}"/>
                </a:ext>
              </a:extLst>
            </p:cNvPr>
            <p:cNvGrpSpPr/>
            <p:nvPr/>
          </p:nvGrpSpPr>
          <p:grpSpPr>
            <a:xfrm>
              <a:off x="2909877" y="5257133"/>
              <a:ext cx="860625" cy="398511"/>
              <a:chOff x="7493876" y="2774731"/>
              <a:chExt cx="1481958" cy="894622"/>
            </a:xfrm>
          </p:grpSpPr>
          <p:sp>
            <p:nvSpPr>
              <p:cNvPr id="182" name="Freeform 181">
                <a:extLst>
                  <a:ext uri="{FF2B5EF4-FFF2-40B4-BE49-F238E27FC236}">
                    <a16:creationId xmlns:a16="http://schemas.microsoft.com/office/drawing/2014/main" id="{051DA911-6679-5545-AC55-97B68D0A590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3" name="Oval 182">
                <a:extLst>
                  <a:ext uri="{FF2B5EF4-FFF2-40B4-BE49-F238E27FC236}">
                    <a16:creationId xmlns:a16="http://schemas.microsoft.com/office/drawing/2014/main" id="{1B387723-AD5A-6B40-86DC-4E06378B6C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4" name="Group 183">
                <a:extLst>
                  <a:ext uri="{FF2B5EF4-FFF2-40B4-BE49-F238E27FC236}">
                    <a16:creationId xmlns:a16="http://schemas.microsoft.com/office/drawing/2014/main" id="{EAEAA504-561F-934C-865A-D764D9D4B585}"/>
                  </a:ext>
                </a:extLst>
              </p:cNvPr>
              <p:cNvGrpSpPr/>
              <p:nvPr/>
            </p:nvGrpSpPr>
            <p:grpSpPr>
              <a:xfrm>
                <a:off x="7713663" y="2848339"/>
                <a:ext cx="1042107" cy="425543"/>
                <a:chOff x="7786941" y="2884917"/>
                <a:chExt cx="897649" cy="353919"/>
              </a:xfrm>
            </p:grpSpPr>
            <p:sp>
              <p:nvSpPr>
                <p:cNvPr id="185" name="Freeform 184">
                  <a:extLst>
                    <a:ext uri="{FF2B5EF4-FFF2-40B4-BE49-F238E27FC236}">
                      <a16:creationId xmlns:a16="http://schemas.microsoft.com/office/drawing/2014/main" id="{B39429AE-64BE-C648-B108-3B471FFD1A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Freeform 185">
                  <a:extLst>
                    <a:ext uri="{FF2B5EF4-FFF2-40B4-BE49-F238E27FC236}">
                      <a16:creationId xmlns:a16="http://schemas.microsoft.com/office/drawing/2014/main" id="{109B151A-13E2-DE44-ACE5-AC68DBD136E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7" name="Freeform 186">
                  <a:extLst>
                    <a:ext uri="{FF2B5EF4-FFF2-40B4-BE49-F238E27FC236}">
                      <a16:creationId xmlns:a16="http://schemas.microsoft.com/office/drawing/2014/main" id="{EF70FD4D-FD10-ED44-BB61-DD85162EEA3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8" name="Freeform 187">
                  <a:extLst>
                    <a:ext uri="{FF2B5EF4-FFF2-40B4-BE49-F238E27FC236}">
                      <a16:creationId xmlns:a16="http://schemas.microsoft.com/office/drawing/2014/main" id="{F03C20EC-4A97-134D-9A10-FFE3DDFF03F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0" name="Line 106">
              <a:extLst>
                <a:ext uri="{FF2B5EF4-FFF2-40B4-BE49-F238E27FC236}">
                  <a16:creationId xmlns:a16="http://schemas.microsoft.com/office/drawing/2014/main" id="{254FEBFF-881B-E94A-B5B4-5A077C547A5D}"/>
                </a:ext>
              </a:extLst>
            </p:cNvPr>
            <p:cNvSpPr>
              <a:spLocks noChangeShapeType="1"/>
            </p:cNvSpPr>
            <p:nvPr/>
          </p:nvSpPr>
          <p:spPr bwMode="auto">
            <a:xfrm>
              <a:off x="4427173" y="5194457"/>
              <a:ext cx="67755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108">
              <a:extLst>
                <a:ext uri="{FF2B5EF4-FFF2-40B4-BE49-F238E27FC236}">
                  <a16:creationId xmlns:a16="http://schemas.microsoft.com/office/drawing/2014/main" id="{524659AB-C458-864A-B318-E8190017E7B8}"/>
                </a:ext>
              </a:extLst>
            </p:cNvPr>
            <p:cNvSpPr>
              <a:spLocks noChangeShapeType="1"/>
            </p:cNvSpPr>
            <p:nvPr/>
          </p:nvSpPr>
          <p:spPr bwMode="auto">
            <a:xfrm flipH="1">
              <a:off x="4189046" y="4805519"/>
              <a:ext cx="661222" cy="2730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291">
              <a:extLst>
                <a:ext uri="{FF2B5EF4-FFF2-40B4-BE49-F238E27FC236}">
                  <a16:creationId xmlns:a16="http://schemas.microsoft.com/office/drawing/2014/main" id="{EB8F889A-4D2D-1B4E-8BFD-EC217EFF65EB}"/>
                </a:ext>
              </a:extLst>
            </p:cNvPr>
            <p:cNvSpPr>
              <a:spLocks noChangeShapeType="1"/>
            </p:cNvSpPr>
            <p:nvPr/>
          </p:nvSpPr>
          <p:spPr bwMode="auto">
            <a:xfrm>
              <a:off x="4157297" y="5326219"/>
              <a:ext cx="318847"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2" name="Group 171">
              <a:extLst>
                <a:ext uri="{FF2B5EF4-FFF2-40B4-BE49-F238E27FC236}">
                  <a16:creationId xmlns:a16="http://schemas.microsoft.com/office/drawing/2014/main" id="{DA77B42D-EF91-9343-B8AA-7F791CA6173D}"/>
                </a:ext>
              </a:extLst>
            </p:cNvPr>
            <p:cNvGrpSpPr/>
            <p:nvPr/>
          </p:nvGrpSpPr>
          <p:grpSpPr>
            <a:xfrm>
              <a:off x="3757890" y="4946456"/>
              <a:ext cx="860625" cy="398511"/>
              <a:chOff x="7493876" y="2774731"/>
              <a:chExt cx="1481958" cy="894622"/>
            </a:xfrm>
          </p:grpSpPr>
          <p:sp>
            <p:nvSpPr>
              <p:cNvPr id="173" name="Freeform 172">
                <a:extLst>
                  <a:ext uri="{FF2B5EF4-FFF2-40B4-BE49-F238E27FC236}">
                    <a16:creationId xmlns:a16="http://schemas.microsoft.com/office/drawing/2014/main" id="{717B3640-CBA8-9D4D-B10E-118D837582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4" name="Oval 173">
                <a:extLst>
                  <a:ext uri="{FF2B5EF4-FFF2-40B4-BE49-F238E27FC236}">
                    <a16:creationId xmlns:a16="http://schemas.microsoft.com/office/drawing/2014/main" id="{3DF87D0C-16B9-0242-9434-F058BACF6AF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5" name="Group 174">
                <a:extLst>
                  <a:ext uri="{FF2B5EF4-FFF2-40B4-BE49-F238E27FC236}">
                    <a16:creationId xmlns:a16="http://schemas.microsoft.com/office/drawing/2014/main" id="{875F2C4B-EC99-0546-B8BC-E6ABDA1C57CF}"/>
                  </a:ext>
                </a:extLst>
              </p:cNvPr>
              <p:cNvGrpSpPr/>
              <p:nvPr/>
            </p:nvGrpSpPr>
            <p:grpSpPr>
              <a:xfrm>
                <a:off x="7713663" y="2848339"/>
                <a:ext cx="1042107" cy="425543"/>
                <a:chOff x="7786941" y="2884917"/>
                <a:chExt cx="897649" cy="353919"/>
              </a:xfrm>
            </p:grpSpPr>
            <p:sp>
              <p:nvSpPr>
                <p:cNvPr id="176" name="Freeform 175">
                  <a:extLst>
                    <a:ext uri="{FF2B5EF4-FFF2-40B4-BE49-F238E27FC236}">
                      <a16:creationId xmlns:a16="http://schemas.microsoft.com/office/drawing/2014/main" id="{7AB43264-5575-584F-8FE6-D1C2C13E1C3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Freeform 176">
                  <a:extLst>
                    <a:ext uri="{FF2B5EF4-FFF2-40B4-BE49-F238E27FC236}">
                      <a16:creationId xmlns:a16="http://schemas.microsoft.com/office/drawing/2014/main" id="{99D8A414-A25C-5C43-9BC9-95C40A420E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Freeform 177">
                  <a:extLst>
                    <a:ext uri="{FF2B5EF4-FFF2-40B4-BE49-F238E27FC236}">
                      <a16:creationId xmlns:a16="http://schemas.microsoft.com/office/drawing/2014/main" id="{B398E537-2A8D-B343-AFFC-0C206FB72B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Freeform 178">
                  <a:extLst>
                    <a:ext uri="{FF2B5EF4-FFF2-40B4-BE49-F238E27FC236}">
                      <a16:creationId xmlns:a16="http://schemas.microsoft.com/office/drawing/2014/main" id="{8F5B5F4D-A081-8041-8446-B98FF77714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2" name="Line 113">
              <a:extLst>
                <a:ext uri="{FF2B5EF4-FFF2-40B4-BE49-F238E27FC236}">
                  <a16:creationId xmlns:a16="http://schemas.microsoft.com/office/drawing/2014/main" id="{EEC03E85-460E-344B-B658-EA55A9271333}"/>
                </a:ext>
              </a:extLst>
            </p:cNvPr>
            <p:cNvSpPr>
              <a:spLocks noChangeShapeType="1"/>
            </p:cNvSpPr>
            <p:nvPr/>
          </p:nvSpPr>
          <p:spPr bwMode="auto">
            <a:xfrm flipH="1">
              <a:off x="5403483" y="5254782"/>
              <a:ext cx="865759" cy="1444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94">
              <a:extLst>
                <a:ext uri="{FF2B5EF4-FFF2-40B4-BE49-F238E27FC236}">
                  <a16:creationId xmlns:a16="http://schemas.microsoft.com/office/drawing/2014/main" id="{6AFF4B42-51C0-8447-92BB-FCA57D50B68A}"/>
                </a:ext>
              </a:extLst>
            </p:cNvPr>
            <p:cNvSpPr>
              <a:spLocks noChangeShapeType="1"/>
            </p:cNvSpPr>
            <p:nvPr/>
          </p:nvSpPr>
          <p:spPr bwMode="auto">
            <a:xfrm flipH="1">
              <a:off x="4798646" y="5516719"/>
              <a:ext cx="487128" cy="1524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64" name="Group 163">
              <a:extLst>
                <a:ext uri="{FF2B5EF4-FFF2-40B4-BE49-F238E27FC236}">
                  <a16:creationId xmlns:a16="http://schemas.microsoft.com/office/drawing/2014/main" id="{CEAC493A-EEEF-7C4F-AA98-1801621812D4}"/>
                </a:ext>
              </a:extLst>
            </p:cNvPr>
            <p:cNvGrpSpPr/>
            <p:nvPr/>
          </p:nvGrpSpPr>
          <p:grpSpPr>
            <a:xfrm>
              <a:off x="4786210" y="5286743"/>
              <a:ext cx="860625" cy="398511"/>
              <a:chOff x="7493876" y="2774731"/>
              <a:chExt cx="1481958" cy="894622"/>
            </a:xfrm>
          </p:grpSpPr>
          <p:sp>
            <p:nvSpPr>
              <p:cNvPr id="165" name="Freeform 164">
                <a:extLst>
                  <a:ext uri="{FF2B5EF4-FFF2-40B4-BE49-F238E27FC236}">
                    <a16:creationId xmlns:a16="http://schemas.microsoft.com/office/drawing/2014/main" id="{7C772A01-ED51-DF4C-9654-6B6278386C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6" name="Oval 165">
                <a:extLst>
                  <a:ext uri="{FF2B5EF4-FFF2-40B4-BE49-F238E27FC236}">
                    <a16:creationId xmlns:a16="http://schemas.microsoft.com/office/drawing/2014/main" id="{B003DFE7-C366-8140-9629-CD63DF215ED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7" name="Group 166">
                <a:extLst>
                  <a:ext uri="{FF2B5EF4-FFF2-40B4-BE49-F238E27FC236}">
                    <a16:creationId xmlns:a16="http://schemas.microsoft.com/office/drawing/2014/main" id="{5F84292C-45D7-D245-AF05-1049328026B3}"/>
                  </a:ext>
                </a:extLst>
              </p:cNvPr>
              <p:cNvGrpSpPr/>
              <p:nvPr/>
            </p:nvGrpSpPr>
            <p:grpSpPr>
              <a:xfrm>
                <a:off x="7713663" y="2848339"/>
                <a:ext cx="1042107" cy="425543"/>
                <a:chOff x="7786941" y="2884917"/>
                <a:chExt cx="897649" cy="353919"/>
              </a:xfrm>
            </p:grpSpPr>
            <p:sp>
              <p:nvSpPr>
                <p:cNvPr id="168" name="Freeform 167">
                  <a:extLst>
                    <a:ext uri="{FF2B5EF4-FFF2-40B4-BE49-F238E27FC236}">
                      <a16:creationId xmlns:a16="http://schemas.microsoft.com/office/drawing/2014/main" id="{672ECA71-4ED1-A742-8D27-C7DD78E812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AB422B19-1B67-F744-AB96-3C00EBB25F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0" name="Freeform 169">
                  <a:extLst>
                    <a:ext uri="{FF2B5EF4-FFF2-40B4-BE49-F238E27FC236}">
                      <a16:creationId xmlns:a16="http://schemas.microsoft.com/office/drawing/2014/main" id="{64DBC56A-851B-1045-8E18-0E1AE5828A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1" name="Freeform 170">
                  <a:extLst>
                    <a:ext uri="{FF2B5EF4-FFF2-40B4-BE49-F238E27FC236}">
                      <a16:creationId xmlns:a16="http://schemas.microsoft.com/office/drawing/2014/main" id="{687D1E8F-A9D2-414E-B37C-C2A41CFCDB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3" name="Line 260">
              <a:extLst>
                <a:ext uri="{FF2B5EF4-FFF2-40B4-BE49-F238E27FC236}">
                  <a16:creationId xmlns:a16="http://schemas.microsoft.com/office/drawing/2014/main" id="{146ED7EC-5957-5A4D-8C10-71CB9EFF9CF6}"/>
                </a:ext>
              </a:extLst>
            </p:cNvPr>
            <p:cNvSpPr>
              <a:spLocks noChangeShapeType="1"/>
            </p:cNvSpPr>
            <p:nvPr/>
          </p:nvSpPr>
          <p:spPr bwMode="auto">
            <a:xfrm>
              <a:off x="6522673" y="5219857"/>
              <a:ext cx="67755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261">
              <a:extLst>
                <a:ext uri="{FF2B5EF4-FFF2-40B4-BE49-F238E27FC236}">
                  <a16:creationId xmlns:a16="http://schemas.microsoft.com/office/drawing/2014/main" id="{7F082344-D846-A442-8098-3870FBC04E2E}"/>
                </a:ext>
              </a:extLst>
            </p:cNvPr>
            <p:cNvSpPr>
              <a:spLocks noChangeShapeType="1"/>
            </p:cNvSpPr>
            <p:nvPr/>
          </p:nvSpPr>
          <p:spPr bwMode="auto">
            <a:xfrm flipH="1">
              <a:off x="7460883" y="5165882"/>
              <a:ext cx="777191" cy="2778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92">
              <a:extLst>
                <a:ext uri="{FF2B5EF4-FFF2-40B4-BE49-F238E27FC236}">
                  <a16:creationId xmlns:a16="http://schemas.microsoft.com/office/drawing/2014/main" id="{F2A2632A-A659-1B45-9C0A-17E3A7312946}"/>
                </a:ext>
              </a:extLst>
            </p:cNvPr>
            <p:cNvSpPr>
              <a:spLocks noChangeShapeType="1"/>
            </p:cNvSpPr>
            <p:nvPr/>
          </p:nvSpPr>
          <p:spPr bwMode="auto">
            <a:xfrm>
              <a:off x="6081347" y="4913469"/>
              <a:ext cx="318847"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95">
              <a:extLst>
                <a:ext uri="{FF2B5EF4-FFF2-40B4-BE49-F238E27FC236}">
                  <a16:creationId xmlns:a16="http://schemas.microsoft.com/office/drawing/2014/main" id="{69CE8977-5EAF-2D48-AB87-ABB232029696}"/>
                </a:ext>
              </a:extLst>
            </p:cNvPr>
            <p:cNvSpPr>
              <a:spLocks noChangeShapeType="1"/>
            </p:cNvSpPr>
            <p:nvPr/>
          </p:nvSpPr>
          <p:spPr bwMode="auto">
            <a:xfrm>
              <a:off x="5195749" y="5020337"/>
              <a:ext cx="8857" cy="2603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 Box 300">
              <a:extLst>
                <a:ext uri="{FF2B5EF4-FFF2-40B4-BE49-F238E27FC236}">
                  <a16:creationId xmlns:a16="http://schemas.microsoft.com/office/drawing/2014/main" id="{A650D718-81E6-C34A-AA06-669C83840015}"/>
                </a:ext>
              </a:extLst>
            </p:cNvPr>
            <p:cNvSpPr txBox="1">
              <a:spLocks noChangeArrowheads="1"/>
            </p:cNvSpPr>
            <p:nvPr/>
          </p:nvSpPr>
          <p:spPr bwMode="auto">
            <a:xfrm>
              <a:off x="2799984" y="4878544"/>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3 probes</a:t>
              </a:r>
            </a:p>
          </p:txBody>
        </p:sp>
        <p:sp>
          <p:nvSpPr>
            <p:cNvPr id="30" name="Text Box 302">
              <a:extLst>
                <a:ext uri="{FF2B5EF4-FFF2-40B4-BE49-F238E27FC236}">
                  <a16:creationId xmlns:a16="http://schemas.microsoft.com/office/drawing/2014/main" id="{8C2F6269-CD63-DC47-AA5A-D6F6AD85E9F6}"/>
                </a:ext>
              </a:extLst>
            </p:cNvPr>
            <p:cNvSpPr txBox="1">
              <a:spLocks noChangeArrowheads="1"/>
            </p:cNvSpPr>
            <p:nvPr/>
          </p:nvSpPr>
          <p:spPr bwMode="auto">
            <a:xfrm>
              <a:off x="3414347" y="5438932"/>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3 probes</a:t>
              </a:r>
            </a:p>
          </p:txBody>
        </p:sp>
        <p:sp>
          <p:nvSpPr>
            <p:cNvPr id="31" name="Text Box 304">
              <a:extLst>
                <a:ext uri="{FF2B5EF4-FFF2-40B4-BE49-F238E27FC236}">
                  <a16:creationId xmlns:a16="http://schemas.microsoft.com/office/drawing/2014/main" id="{43A2AD3C-9D79-9140-BB67-1BE3BD4261D1}"/>
                </a:ext>
              </a:extLst>
            </p:cNvPr>
            <p:cNvSpPr txBox="1">
              <a:spLocks noChangeArrowheads="1"/>
            </p:cNvSpPr>
            <p:nvPr/>
          </p:nvSpPr>
          <p:spPr bwMode="auto">
            <a:xfrm>
              <a:off x="4643523" y="4787020"/>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3 probes</a:t>
              </a:r>
            </a:p>
          </p:txBody>
        </p:sp>
        <p:grpSp>
          <p:nvGrpSpPr>
            <p:cNvPr id="32" name="Group 100">
              <a:extLst>
                <a:ext uri="{FF2B5EF4-FFF2-40B4-BE49-F238E27FC236}">
                  <a16:creationId xmlns:a16="http://schemas.microsoft.com/office/drawing/2014/main" id="{1BEC51D1-0886-F14D-B99F-4CA3879860C9}"/>
                </a:ext>
              </a:extLst>
            </p:cNvPr>
            <p:cNvGrpSpPr>
              <a:grpSpLocks/>
            </p:cNvGrpSpPr>
            <p:nvPr/>
          </p:nvGrpSpPr>
          <p:grpSpPr bwMode="auto">
            <a:xfrm>
              <a:off x="1735551" y="4815044"/>
              <a:ext cx="1027081" cy="688975"/>
              <a:chOff x="-44" y="1473"/>
              <a:chExt cx="981" cy="1105"/>
            </a:xfrm>
          </p:grpSpPr>
          <p:pic>
            <p:nvPicPr>
              <p:cNvPr id="33" name="Picture 101" descr="desktop_computer_stylized_medium">
                <a:extLst>
                  <a:ext uri="{FF2B5EF4-FFF2-40B4-BE49-F238E27FC236}">
                    <a16:creationId xmlns:a16="http://schemas.microsoft.com/office/drawing/2014/main" id="{C4436358-53EB-1341-B2F7-BBA9BFD86FC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102">
                <a:extLst>
                  <a:ext uri="{FF2B5EF4-FFF2-40B4-BE49-F238E27FC236}">
                    <a16:creationId xmlns:a16="http://schemas.microsoft.com/office/drawing/2014/main" id="{4813CA23-213B-0C4B-B526-D05F84EB9650}"/>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Group 103">
              <a:extLst>
                <a:ext uri="{FF2B5EF4-FFF2-40B4-BE49-F238E27FC236}">
                  <a16:creationId xmlns:a16="http://schemas.microsoft.com/office/drawing/2014/main" id="{838A2555-9382-2A43-A8D2-3F77BF649C4C}"/>
                </a:ext>
              </a:extLst>
            </p:cNvPr>
            <p:cNvGrpSpPr>
              <a:grpSpLocks/>
            </p:cNvGrpSpPr>
            <p:nvPr/>
          </p:nvGrpSpPr>
          <p:grpSpPr bwMode="auto">
            <a:xfrm flipH="1">
              <a:off x="7978409" y="4853144"/>
              <a:ext cx="1051754" cy="669925"/>
              <a:chOff x="-44" y="1473"/>
              <a:chExt cx="981" cy="1105"/>
            </a:xfrm>
          </p:grpSpPr>
          <p:pic>
            <p:nvPicPr>
              <p:cNvPr id="42" name="Picture 104" descr="desktop_computer_stylized_medium">
                <a:extLst>
                  <a:ext uri="{FF2B5EF4-FFF2-40B4-BE49-F238E27FC236}">
                    <a16:creationId xmlns:a16="http://schemas.microsoft.com/office/drawing/2014/main" id="{99E32CCD-2CED-C441-BCF6-83FBBB7A20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105">
                <a:extLst>
                  <a:ext uri="{FF2B5EF4-FFF2-40B4-BE49-F238E27FC236}">
                    <a16:creationId xmlns:a16="http://schemas.microsoft.com/office/drawing/2014/main" id="{1DE64A0C-778E-0542-AF02-9D5203B331A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4" name="Freeform 303">
              <a:extLst>
                <a:ext uri="{FF2B5EF4-FFF2-40B4-BE49-F238E27FC236}">
                  <a16:creationId xmlns:a16="http://schemas.microsoft.com/office/drawing/2014/main" id="{D57CFF59-F6AE-0444-8D13-D8E49817EC92}"/>
                </a:ext>
              </a:extLst>
            </p:cNvPr>
            <p:cNvSpPr>
              <a:spLocks/>
            </p:cNvSpPr>
            <p:nvPr/>
          </p:nvSpPr>
          <p:spPr bwMode="auto">
            <a:xfrm>
              <a:off x="2669809" y="5099207"/>
              <a:ext cx="3135331" cy="403225"/>
            </a:xfrm>
            <a:custGeom>
              <a:avLst/>
              <a:gdLst>
                <a:gd name="T0" fmla="*/ 2147483647 w 1416"/>
                <a:gd name="T1" fmla="*/ 2147483647 h 254"/>
                <a:gd name="T2" fmla="*/ 2147483647 w 1416"/>
                <a:gd name="T3" fmla="*/ 2147483647 h 254"/>
                <a:gd name="T4" fmla="*/ 2147483647 w 1416"/>
                <a:gd name="T5" fmla="*/ 2147483647 h 254"/>
                <a:gd name="T6" fmla="*/ 2147483647 w 1416"/>
                <a:gd name="T7" fmla="*/ 2147483647 h 254"/>
                <a:gd name="T8" fmla="*/ 2147483647 w 1416"/>
                <a:gd name="T9" fmla="*/ 2147483647 h 254"/>
                <a:gd name="T10" fmla="*/ 2147483647 w 1416"/>
                <a:gd name="T11" fmla="*/ 2147483647 h 254"/>
                <a:gd name="T12" fmla="*/ 0 w 1416"/>
                <a:gd name="T13" fmla="*/ 2147483647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299">
              <a:extLst>
                <a:ext uri="{FF2B5EF4-FFF2-40B4-BE49-F238E27FC236}">
                  <a16:creationId xmlns:a16="http://schemas.microsoft.com/office/drawing/2014/main" id="{106F45C5-44D3-EB44-A1DD-18F6304B9226}"/>
                </a:ext>
              </a:extLst>
            </p:cNvPr>
            <p:cNvSpPr>
              <a:spLocks/>
            </p:cNvSpPr>
            <p:nvPr/>
          </p:nvSpPr>
          <p:spPr bwMode="auto">
            <a:xfrm>
              <a:off x="2701559" y="5135719"/>
              <a:ext cx="584553" cy="419100"/>
            </a:xfrm>
            <a:custGeom>
              <a:avLst/>
              <a:gdLst>
                <a:gd name="T0" fmla="*/ 2147483647 w 264"/>
                <a:gd name="T1" fmla="*/ 0 h 264"/>
                <a:gd name="T2" fmla="*/ 2147483647 w 264"/>
                <a:gd name="T3" fmla="*/ 2147483647 h 264"/>
                <a:gd name="T4" fmla="*/ 0 w 264"/>
                <a:gd name="T5" fmla="*/ 2147483647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01">
              <a:extLst>
                <a:ext uri="{FF2B5EF4-FFF2-40B4-BE49-F238E27FC236}">
                  <a16:creationId xmlns:a16="http://schemas.microsoft.com/office/drawing/2014/main" id="{B0DADD8E-881D-B14F-BA59-384DC3B918B6}"/>
                </a:ext>
              </a:extLst>
            </p:cNvPr>
            <p:cNvSpPr>
              <a:spLocks/>
            </p:cNvSpPr>
            <p:nvPr/>
          </p:nvSpPr>
          <p:spPr bwMode="auto">
            <a:xfrm>
              <a:off x="2695210" y="5049994"/>
              <a:ext cx="1877656" cy="474663"/>
            </a:xfrm>
            <a:custGeom>
              <a:avLst/>
              <a:gdLst>
                <a:gd name="T0" fmla="*/ 2147483647 w 848"/>
                <a:gd name="T1" fmla="*/ 2147483647 h 299"/>
                <a:gd name="T2" fmla="*/ 2147483647 w 848"/>
                <a:gd name="T3" fmla="*/ 2147483647 h 299"/>
                <a:gd name="T4" fmla="*/ 2147483647 w 848"/>
                <a:gd name="T5" fmla="*/ 2147483647 h 299"/>
                <a:gd name="T6" fmla="*/ 2147483647 w 848"/>
                <a:gd name="T7" fmla="*/ 2147483647 h 299"/>
                <a:gd name="T8" fmla="*/ 0 w 848"/>
                <a:gd name="T9" fmla="*/ 2147483647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55">
              <a:extLst>
                <a:ext uri="{FF2B5EF4-FFF2-40B4-BE49-F238E27FC236}">
                  <a16:creationId xmlns:a16="http://schemas.microsoft.com/office/drawing/2014/main" id="{91E1CD52-668E-2940-80F2-B10C4C902272}"/>
                </a:ext>
              </a:extLst>
            </p:cNvPr>
            <p:cNvGrpSpPr/>
            <p:nvPr/>
          </p:nvGrpSpPr>
          <p:grpSpPr>
            <a:xfrm>
              <a:off x="5896823" y="4972528"/>
              <a:ext cx="860625" cy="398511"/>
              <a:chOff x="7493876" y="2774731"/>
              <a:chExt cx="1481958" cy="894622"/>
            </a:xfrm>
          </p:grpSpPr>
          <p:sp>
            <p:nvSpPr>
              <p:cNvPr id="157" name="Freeform 156">
                <a:extLst>
                  <a:ext uri="{FF2B5EF4-FFF2-40B4-BE49-F238E27FC236}">
                    <a16:creationId xmlns:a16="http://schemas.microsoft.com/office/drawing/2014/main" id="{524447EB-AF2A-A041-9AAF-22AE80BEBBC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02DFC5C8-0F07-0646-B191-3F36D49C23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39560971-B62C-2E4C-935A-836B55269213}"/>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E2E046A7-F455-5A48-9F2B-58FE95A5E2B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B411AFE3-7C43-B447-9404-B41B6AD175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149A557C-1B39-D44A-ABCE-44F29E0A3D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47C4949-2773-9643-AB8D-C5F0FC9CD57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2433838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Line 38">
            <a:extLst>
              <a:ext uri="{FF2B5EF4-FFF2-40B4-BE49-F238E27FC236}">
                <a16:creationId xmlns:a16="http://schemas.microsoft.com/office/drawing/2014/main" id="{AC6D9F55-2634-3E47-8DAC-F9B6C7AB8ECD}"/>
              </a:ext>
            </a:extLst>
          </p:cNvPr>
          <p:cNvSpPr>
            <a:spLocks noChangeShapeType="1"/>
          </p:cNvSpPr>
          <p:nvPr/>
        </p:nvSpPr>
        <p:spPr bwMode="auto">
          <a:xfrm>
            <a:off x="2523068" y="1745295"/>
            <a:ext cx="288925" cy="26511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11" name="Line 105">
            <a:extLst>
              <a:ext uri="{FF2B5EF4-FFF2-40B4-BE49-F238E27FC236}">
                <a16:creationId xmlns:a16="http://schemas.microsoft.com/office/drawing/2014/main" id="{63045DF4-4308-5F42-9EFE-B4355F710F5B}"/>
              </a:ext>
            </a:extLst>
          </p:cNvPr>
          <p:cNvSpPr>
            <a:spLocks noChangeShapeType="1"/>
          </p:cNvSpPr>
          <p:nvPr/>
        </p:nvSpPr>
        <p:spPr bwMode="auto">
          <a:xfrm flipV="1">
            <a:off x="3316818" y="1796095"/>
            <a:ext cx="458788" cy="2079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12" name="Line 106">
            <a:extLst>
              <a:ext uri="{FF2B5EF4-FFF2-40B4-BE49-F238E27FC236}">
                <a16:creationId xmlns:a16="http://schemas.microsoft.com/office/drawing/2014/main" id="{BBB17065-A510-114A-8621-EE1EA354173C}"/>
              </a:ext>
            </a:extLst>
          </p:cNvPr>
          <p:cNvSpPr>
            <a:spLocks noChangeShapeType="1"/>
          </p:cNvSpPr>
          <p:nvPr/>
        </p:nvSpPr>
        <p:spPr bwMode="auto">
          <a:xfrm>
            <a:off x="4251856" y="1780220"/>
            <a:ext cx="485775" cy="2079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p>
        </p:txBody>
      </p:sp>
      <p:grpSp>
        <p:nvGrpSpPr>
          <p:cNvPr id="111" name="Group 110">
            <a:extLst>
              <a:ext uri="{FF2B5EF4-FFF2-40B4-BE49-F238E27FC236}">
                <a16:creationId xmlns:a16="http://schemas.microsoft.com/office/drawing/2014/main" id="{E4D00AFC-0ED6-A64F-9541-51DAA9871165}"/>
              </a:ext>
            </a:extLst>
          </p:cNvPr>
          <p:cNvGrpSpPr/>
          <p:nvPr/>
        </p:nvGrpSpPr>
        <p:grpSpPr>
          <a:xfrm>
            <a:off x="2687515" y="1862419"/>
            <a:ext cx="649995" cy="330505"/>
            <a:chOff x="7493876" y="2774731"/>
            <a:chExt cx="1481958" cy="894622"/>
          </a:xfrm>
        </p:grpSpPr>
        <p:sp>
          <p:nvSpPr>
            <p:cNvPr id="112" name="Freeform 111">
              <a:extLst>
                <a:ext uri="{FF2B5EF4-FFF2-40B4-BE49-F238E27FC236}">
                  <a16:creationId xmlns:a16="http://schemas.microsoft.com/office/drawing/2014/main" id="{C93E02DF-CF0A-644B-AB8D-34591D46844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3" name="Oval 112">
              <a:extLst>
                <a:ext uri="{FF2B5EF4-FFF2-40B4-BE49-F238E27FC236}">
                  <a16:creationId xmlns:a16="http://schemas.microsoft.com/office/drawing/2014/main" id="{3C6363F8-760E-CD43-9C20-7F297BBFA4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4" name="Group 113">
              <a:extLst>
                <a:ext uri="{FF2B5EF4-FFF2-40B4-BE49-F238E27FC236}">
                  <a16:creationId xmlns:a16="http://schemas.microsoft.com/office/drawing/2014/main" id="{5B499BB5-5460-0F44-8DA1-58EE15E17F9F}"/>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A1B123EB-792C-1943-9428-27089B1302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EFA5F314-D129-134E-989C-1CC396D3EE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A7E62618-55BE-E34D-9B94-9EE77B3B4BA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733A7749-5FD2-8940-8960-CEC5428B6D9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3" name="Line 108">
            <a:extLst>
              <a:ext uri="{FF2B5EF4-FFF2-40B4-BE49-F238E27FC236}">
                <a16:creationId xmlns:a16="http://schemas.microsoft.com/office/drawing/2014/main" id="{05A1B007-E11B-6440-851C-A21C76D35D19}"/>
              </a:ext>
            </a:extLst>
          </p:cNvPr>
          <p:cNvSpPr>
            <a:spLocks noChangeShapeType="1"/>
          </p:cNvSpPr>
          <p:nvPr/>
        </p:nvSpPr>
        <p:spPr bwMode="auto">
          <a:xfrm flipH="1">
            <a:off x="4013731" y="1511933"/>
            <a:ext cx="349250" cy="15240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17" name="Line 291">
            <a:extLst>
              <a:ext uri="{FF2B5EF4-FFF2-40B4-BE49-F238E27FC236}">
                <a16:creationId xmlns:a16="http://schemas.microsoft.com/office/drawing/2014/main" id="{ED7DFDB5-79C1-BA48-ACC4-FB16560BA3AE}"/>
              </a:ext>
            </a:extLst>
          </p:cNvPr>
          <p:cNvSpPr>
            <a:spLocks noChangeShapeType="1"/>
          </p:cNvSpPr>
          <p:nvPr/>
        </p:nvSpPr>
        <p:spPr bwMode="auto">
          <a:xfrm>
            <a:off x="3981981" y="1911983"/>
            <a:ext cx="228600" cy="3111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p>
        </p:txBody>
      </p:sp>
      <p:grpSp>
        <p:nvGrpSpPr>
          <p:cNvPr id="103" name="Group 102">
            <a:extLst>
              <a:ext uri="{FF2B5EF4-FFF2-40B4-BE49-F238E27FC236}">
                <a16:creationId xmlns:a16="http://schemas.microsoft.com/office/drawing/2014/main" id="{7FC7DDB9-40D0-BA4F-8140-D2ED6764D1A8}"/>
              </a:ext>
            </a:extLst>
          </p:cNvPr>
          <p:cNvGrpSpPr/>
          <p:nvPr/>
        </p:nvGrpSpPr>
        <p:grpSpPr>
          <a:xfrm>
            <a:off x="3636127" y="1646571"/>
            <a:ext cx="649995" cy="330505"/>
            <a:chOff x="7493876" y="2774731"/>
            <a:chExt cx="1481958" cy="894622"/>
          </a:xfrm>
        </p:grpSpPr>
        <p:sp>
          <p:nvSpPr>
            <p:cNvPr id="104" name="Freeform 103">
              <a:extLst>
                <a:ext uri="{FF2B5EF4-FFF2-40B4-BE49-F238E27FC236}">
                  <a16:creationId xmlns:a16="http://schemas.microsoft.com/office/drawing/2014/main" id="{1B210B08-92DC-EB44-8B60-4ADC7FE57C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5" name="Oval 104">
              <a:extLst>
                <a:ext uri="{FF2B5EF4-FFF2-40B4-BE49-F238E27FC236}">
                  <a16:creationId xmlns:a16="http://schemas.microsoft.com/office/drawing/2014/main" id="{E751B67E-ABA3-F244-911F-412E43C6FA3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6" name="Group 105">
              <a:extLst>
                <a:ext uri="{FF2B5EF4-FFF2-40B4-BE49-F238E27FC236}">
                  <a16:creationId xmlns:a16="http://schemas.microsoft.com/office/drawing/2014/main" id="{6C00EE59-3588-C548-B87B-9A62D4AFC08A}"/>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D1BA194A-69B1-9E4B-84DD-6478D47894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64C7D0B6-9A61-9441-A7FB-6A38EEA37D3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2214EE46-9163-0E4F-A2C7-89CDCA14B98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7A203D1E-032C-DA4B-848D-E56E4CAC18D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91FE0E7E-9E1E-584C-8DA4-C41F028D5E2A}"/>
              </a:ext>
            </a:extLst>
          </p:cNvPr>
          <p:cNvSpPr>
            <a:spLocks noGrp="1"/>
          </p:cNvSpPr>
          <p:nvPr>
            <p:ph type="title"/>
          </p:nvPr>
        </p:nvSpPr>
        <p:spPr/>
        <p:txBody>
          <a:bodyPr>
            <a:normAutofit/>
          </a:bodyPr>
          <a:lstStyle/>
          <a:p>
            <a:r>
              <a:rPr lang="en-US" dirty="0"/>
              <a:t>Traceroute and ICMP</a:t>
            </a:r>
          </a:p>
        </p:txBody>
      </p:sp>
      <p:sp>
        <p:nvSpPr>
          <p:cNvPr id="4" name="Slide Number Placeholder 3">
            <a:extLst>
              <a:ext uri="{FF2B5EF4-FFF2-40B4-BE49-F238E27FC236}">
                <a16:creationId xmlns:a16="http://schemas.microsoft.com/office/drawing/2014/main" id="{7D8D1936-B8B5-0847-9A92-51D7DECF1EEE}"/>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Network Layer: 4-</a:t>
            </a:r>
            <a:fld id="{C4204591-24BD-A542-B9D5-F8D8A88D2FEE}" type="slidenum">
              <a:rPr lang="en-US" smtClean="0"/>
              <a:pPr/>
              <a:t>15</a:t>
            </a:fld>
            <a:endParaRPr lang="en-US" dirty="0"/>
          </a:p>
        </p:txBody>
      </p:sp>
      <p:sp>
        <p:nvSpPr>
          <p:cNvPr id="7" name="Rectangle 3">
            <a:extLst>
              <a:ext uri="{FF2B5EF4-FFF2-40B4-BE49-F238E27FC236}">
                <a16:creationId xmlns:a16="http://schemas.microsoft.com/office/drawing/2014/main" id="{8E4A0D75-A87E-3A47-8964-F0C38348E63C}"/>
              </a:ext>
            </a:extLst>
          </p:cNvPr>
          <p:cNvSpPr txBox="1">
            <a:spLocks noChangeArrowheads="1"/>
          </p:cNvSpPr>
          <p:nvPr/>
        </p:nvSpPr>
        <p:spPr>
          <a:xfrm>
            <a:off x="984900" y="5695721"/>
            <a:ext cx="9998917" cy="5508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95275" indent="-295275">
              <a:spcBef>
                <a:spcPts val="400"/>
              </a:spcBef>
              <a:defRPr/>
            </a:pPr>
            <a:r>
              <a:rPr lang="en-US" dirty="0"/>
              <a:t>when ICMP message arrives at source: record RTTs</a:t>
            </a:r>
          </a:p>
          <a:p>
            <a:pPr marL="523875" lvl="1" indent="-180975">
              <a:defRPr/>
            </a:pPr>
            <a:endParaRPr lang="en-US" dirty="0"/>
          </a:p>
        </p:txBody>
      </p:sp>
      <p:sp>
        <p:nvSpPr>
          <p:cNvPr id="8" name="Rectangle 4">
            <a:extLst>
              <a:ext uri="{FF2B5EF4-FFF2-40B4-BE49-F238E27FC236}">
                <a16:creationId xmlns:a16="http://schemas.microsoft.com/office/drawing/2014/main" id="{FC811031-3315-0942-A8F2-880E674477A5}"/>
              </a:ext>
            </a:extLst>
          </p:cNvPr>
          <p:cNvSpPr txBox="1">
            <a:spLocks noChangeArrowheads="1"/>
          </p:cNvSpPr>
          <p:nvPr/>
        </p:nvSpPr>
        <p:spPr>
          <a:xfrm>
            <a:off x="6911937" y="2213510"/>
            <a:ext cx="3810000" cy="200501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2575" indent="-282575">
              <a:defRPr/>
            </a:pPr>
            <a:endParaRPr lang="en-US" sz="2400" dirty="0"/>
          </a:p>
        </p:txBody>
      </p:sp>
      <p:sp>
        <p:nvSpPr>
          <p:cNvPr id="9" name="Rectangle 5">
            <a:extLst>
              <a:ext uri="{FF2B5EF4-FFF2-40B4-BE49-F238E27FC236}">
                <a16:creationId xmlns:a16="http://schemas.microsoft.com/office/drawing/2014/main" id="{F5215760-1BF7-FA4A-83A1-5E35AED77E49}"/>
              </a:ext>
            </a:extLst>
          </p:cNvPr>
          <p:cNvSpPr>
            <a:spLocks noChangeArrowheads="1"/>
          </p:cNvSpPr>
          <p:nvPr/>
        </p:nvSpPr>
        <p:spPr bwMode="auto">
          <a:xfrm>
            <a:off x="8095562" y="2730905"/>
            <a:ext cx="3810000" cy="256820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65000"/>
              <a:buFont typeface="Wingdings" charset="0"/>
              <a:buNone/>
            </a:pPr>
            <a:r>
              <a:rPr lang="en-US" sz="2800" dirty="0">
                <a:solidFill>
                  <a:srgbClr val="000099"/>
                </a:solidFill>
              </a:rPr>
              <a:t>stopping criteria:</a:t>
            </a:r>
          </a:p>
          <a:p>
            <a:pPr marL="342900" indent="-342900">
              <a:lnSpc>
                <a:spcPct val="85000"/>
              </a:lnSpc>
              <a:spcBef>
                <a:spcPct val="20000"/>
              </a:spcBef>
              <a:buClr>
                <a:srgbClr val="000099"/>
              </a:buClr>
              <a:buSzPct val="100000"/>
              <a:buFont typeface="Wingdings" charset="2"/>
              <a:buChar char="§"/>
            </a:pPr>
            <a:r>
              <a:rPr lang="en-US" sz="2400" dirty="0"/>
              <a:t>UDP segment eventually arrives at destination host</a:t>
            </a:r>
          </a:p>
          <a:p>
            <a:pPr marL="342900" indent="-342900">
              <a:lnSpc>
                <a:spcPct val="85000"/>
              </a:lnSpc>
              <a:spcBef>
                <a:spcPct val="20000"/>
              </a:spcBef>
              <a:buClr>
                <a:srgbClr val="000099"/>
              </a:buClr>
              <a:buSzPct val="100000"/>
              <a:buFont typeface="Wingdings" charset="2"/>
              <a:buChar char="§"/>
            </a:pPr>
            <a:r>
              <a:rPr lang="en-US" sz="2400" dirty="0"/>
              <a:t>destination returns ICMP </a:t>
            </a:r>
            <a:r>
              <a:rPr lang="ja-JP" altLang="en-US" sz="2400"/>
              <a:t>“</a:t>
            </a:r>
            <a:r>
              <a:rPr lang="en-US" altLang="ja-JP" sz="2400" dirty="0"/>
              <a:t>port unreachable</a:t>
            </a:r>
            <a:r>
              <a:rPr lang="ja-JP" altLang="en-US" sz="2400"/>
              <a:t>”</a:t>
            </a:r>
            <a:r>
              <a:rPr lang="en-US" altLang="ja-JP" sz="2400" dirty="0"/>
              <a:t> message (type 3, code 3)</a:t>
            </a:r>
          </a:p>
          <a:p>
            <a:pPr marL="342900" indent="-342900">
              <a:lnSpc>
                <a:spcPct val="85000"/>
              </a:lnSpc>
              <a:spcBef>
                <a:spcPct val="20000"/>
              </a:spcBef>
              <a:buClr>
                <a:srgbClr val="000099"/>
              </a:buClr>
              <a:buSzPct val="100000"/>
              <a:buFont typeface="Wingdings" charset="2"/>
              <a:buChar char="§"/>
            </a:pPr>
            <a:r>
              <a:rPr lang="en-US" sz="2400" dirty="0"/>
              <a:t>source stops</a:t>
            </a:r>
          </a:p>
        </p:txBody>
      </p:sp>
      <p:sp>
        <p:nvSpPr>
          <p:cNvPr id="14" name="Line 113">
            <a:extLst>
              <a:ext uri="{FF2B5EF4-FFF2-40B4-BE49-F238E27FC236}">
                <a16:creationId xmlns:a16="http://schemas.microsoft.com/office/drawing/2014/main" id="{6AA7237F-648F-4346-B607-726E29410304}"/>
              </a:ext>
            </a:extLst>
          </p:cNvPr>
          <p:cNvSpPr>
            <a:spLocks noChangeShapeType="1"/>
          </p:cNvSpPr>
          <p:nvPr/>
        </p:nvSpPr>
        <p:spPr bwMode="auto">
          <a:xfrm flipH="1">
            <a:off x="5228168" y="1840545"/>
            <a:ext cx="620713" cy="1444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15" name="Line 260">
            <a:extLst>
              <a:ext uri="{FF2B5EF4-FFF2-40B4-BE49-F238E27FC236}">
                <a16:creationId xmlns:a16="http://schemas.microsoft.com/office/drawing/2014/main" id="{744B8E5D-9D96-0244-B652-88F64CE86864}"/>
              </a:ext>
            </a:extLst>
          </p:cNvPr>
          <p:cNvSpPr>
            <a:spLocks noChangeShapeType="1"/>
          </p:cNvSpPr>
          <p:nvPr/>
        </p:nvSpPr>
        <p:spPr bwMode="auto">
          <a:xfrm>
            <a:off x="6347356" y="1805620"/>
            <a:ext cx="485775" cy="2079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16" name="Line 261">
            <a:extLst>
              <a:ext uri="{FF2B5EF4-FFF2-40B4-BE49-F238E27FC236}">
                <a16:creationId xmlns:a16="http://schemas.microsoft.com/office/drawing/2014/main" id="{77482319-1FC4-4B47-96AD-F4C1CC872F67}"/>
              </a:ext>
            </a:extLst>
          </p:cNvPr>
          <p:cNvSpPr>
            <a:spLocks noChangeShapeType="1"/>
          </p:cNvSpPr>
          <p:nvPr/>
        </p:nvSpPr>
        <p:spPr bwMode="auto">
          <a:xfrm flipH="1">
            <a:off x="7285568" y="1751645"/>
            <a:ext cx="557213" cy="27781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18" name="Line 292">
            <a:extLst>
              <a:ext uri="{FF2B5EF4-FFF2-40B4-BE49-F238E27FC236}">
                <a16:creationId xmlns:a16="http://schemas.microsoft.com/office/drawing/2014/main" id="{643CE68A-9EE2-E24E-B8B0-464EC443926F}"/>
              </a:ext>
            </a:extLst>
          </p:cNvPr>
          <p:cNvSpPr>
            <a:spLocks noChangeShapeType="1"/>
          </p:cNvSpPr>
          <p:nvPr/>
        </p:nvSpPr>
        <p:spPr bwMode="auto">
          <a:xfrm>
            <a:off x="5906031" y="1499233"/>
            <a:ext cx="228600" cy="3111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19" name="Line 294">
            <a:extLst>
              <a:ext uri="{FF2B5EF4-FFF2-40B4-BE49-F238E27FC236}">
                <a16:creationId xmlns:a16="http://schemas.microsoft.com/office/drawing/2014/main" id="{81BD4982-AB8A-154C-9D1A-9C5E9110BE6A}"/>
              </a:ext>
            </a:extLst>
          </p:cNvPr>
          <p:cNvSpPr>
            <a:spLocks noChangeShapeType="1"/>
          </p:cNvSpPr>
          <p:nvPr/>
        </p:nvSpPr>
        <p:spPr bwMode="auto">
          <a:xfrm flipH="1">
            <a:off x="4623331" y="2102483"/>
            <a:ext cx="349250" cy="15240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20" name="Line 295">
            <a:extLst>
              <a:ext uri="{FF2B5EF4-FFF2-40B4-BE49-F238E27FC236}">
                <a16:creationId xmlns:a16="http://schemas.microsoft.com/office/drawing/2014/main" id="{C89A6845-FCBD-B049-A189-B66175CF3488}"/>
              </a:ext>
            </a:extLst>
          </p:cNvPr>
          <p:cNvSpPr>
            <a:spLocks noChangeShapeType="1"/>
          </p:cNvSpPr>
          <p:nvPr/>
        </p:nvSpPr>
        <p:spPr bwMode="auto">
          <a:xfrm>
            <a:off x="4978931" y="1607183"/>
            <a:ext cx="6350" cy="2603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21" name="Text Box 300">
            <a:extLst>
              <a:ext uri="{FF2B5EF4-FFF2-40B4-BE49-F238E27FC236}">
                <a16:creationId xmlns:a16="http://schemas.microsoft.com/office/drawing/2014/main" id="{A4E12AE2-214D-FB46-BF30-02F5C0C7F42D}"/>
              </a:ext>
            </a:extLst>
          </p:cNvPr>
          <p:cNvSpPr txBox="1">
            <a:spLocks noChangeArrowheads="1"/>
          </p:cNvSpPr>
          <p:nvPr/>
        </p:nvSpPr>
        <p:spPr bwMode="auto">
          <a:xfrm>
            <a:off x="2624668" y="1464308"/>
            <a:ext cx="1073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solidFill>
                  <a:srgbClr val="CC0000"/>
                </a:solidFill>
              </a:rPr>
              <a:t>3 probes</a:t>
            </a:r>
          </a:p>
        </p:txBody>
      </p:sp>
      <p:sp>
        <p:nvSpPr>
          <p:cNvPr id="22" name="Text Box 302">
            <a:extLst>
              <a:ext uri="{FF2B5EF4-FFF2-40B4-BE49-F238E27FC236}">
                <a16:creationId xmlns:a16="http://schemas.microsoft.com/office/drawing/2014/main" id="{2B501928-2A30-7B4A-B187-4C933A34547B}"/>
              </a:ext>
            </a:extLst>
          </p:cNvPr>
          <p:cNvSpPr txBox="1">
            <a:spLocks noChangeArrowheads="1"/>
          </p:cNvSpPr>
          <p:nvPr/>
        </p:nvSpPr>
        <p:spPr bwMode="auto">
          <a:xfrm>
            <a:off x="3239031" y="2024695"/>
            <a:ext cx="1073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solidFill>
                  <a:srgbClr val="CC0000"/>
                </a:solidFill>
              </a:rPr>
              <a:t>3 probes</a:t>
            </a:r>
          </a:p>
        </p:txBody>
      </p:sp>
      <p:sp>
        <p:nvSpPr>
          <p:cNvPr id="23" name="Text Box 304">
            <a:extLst>
              <a:ext uri="{FF2B5EF4-FFF2-40B4-BE49-F238E27FC236}">
                <a16:creationId xmlns:a16="http://schemas.microsoft.com/office/drawing/2014/main" id="{3FC6D86A-60EA-094C-8309-F54FFECF738C}"/>
              </a:ext>
            </a:extLst>
          </p:cNvPr>
          <p:cNvSpPr txBox="1">
            <a:spLocks noChangeArrowheads="1"/>
          </p:cNvSpPr>
          <p:nvPr/>
        </p:nvSpPr>
        <p:spPr bwMode="auto">
          <a:xfrm>
            <a:off x="4262968" y="1438908"/>
            <a:ext cx="1073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solidFill>
                  <a:srgbClr val="CC0000"/>
                </a:solidFill>
              </a:rPr>
              <a:t>3 probes</a:t>
            </a:r>
          </a:p>
        </p:txBody>
      </p:sp>
      <p:grpSp>
        <p:nvGrpSpPr>
          <p:cNvPr id="24" name="Group 21">
            <a:extLst>
              <a:ext uri="{FF2B5EF4-FFF2-40B4-BE49-F238E27FC236}">
                <a16:creationId xmlns:a16="http://schemas.microsoft.com/office/drawing/2014/main" id="{D74A4262-78EB-B642-AB4F-774FDB1D17EC}"/>
              </a:ext>
            </a:extLst>
          </p:cNvPr>
          <p:cNvGrpSpPr>
            <a:grpSpLocks/>
          </p:cNvGrpSpPr>
          <p:nvPr/>
        </p:nvGrpSpPr>
        <p:grpSpPr bwMode="auto">
          <a:xfrm>
            <a:off x="1754718" y="1400808"/>
            <a:ext cx="820738" cy="688975"/>
            <a:chOff x="-44" y="1473"/>
            <a:chExt cx="981" cy="1105"/>
          </a:xfrm>
        </p:grpSpPr>
        <p:pic>
          <p:nvPicPr>
            <p:cNvPr id="25" name="Picture 22" descr="desktop_computer_stylized_medium">
              <a:extLst>
                <a:ext uri="{FF2B5EF4-FFF2-40B4-BE49-F238E27FC236}">
                  <a16:creationId xmlns:a16="http://schemas.microsoft.com/office/drawing/2014/main" id="{55ABCD17-9EE5-D343-A594-6F0FF05DBDE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 name="Freeform 23">
              <a:extLst>
                <a:ext uri="{FF2B5EF4-FFF2-40B4-BE49-F238E27FC236}">
                  <a16:creationId xmlns:a16="http://schemas.microsoft.com/office/drawing/2014/main" id="{96A2D126-FB58-5147-86C4-11A4B90D4A9E}"/>
                </a:ext>
              </a:extLst>
            </p:cNvPr>
            <p:cNvSpPr>
              <a:spLocks/>
            </p:cNvSpPr>
            <p:nvPr/>
          </p:nvSpPr>
          <p:spPr bwMode="auto">
            <a:xfrm flipH="1">
              <a:off x="374" y="1579"/>
              <a:ext cx="477" cy="506"/>
            </a:xfrm>
            <a:custGeom>
              <a:avLst/>
              <a:gdLst>
                <a:gd name="T0" fmla="*/ 0 w 356"/>
                <a:gd name="T1" fmla="*/ 0 h 368"/>
                <a:gd name="T2" fmla="*/ 4176 w 356"/>
                <a:gd name="T3" fmla="*/ 248 h 368"/>
                <a:gd name="T4" fmla="*/ 4954 w 356"/>
                <a:gd name="T5" fmla="*/ 5173 h 368"/>
                <a:gd name="T6" fmla="*/ 1092 w 356"/>
                <a:gd name="T7" fmla="*/ 6469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dirty="0"/>
            </a:p>
          </p:txBody>
        </p:sp>
      </p:grpSp>
      <p:grpSp>
        <p:nvGrpSpPr>
          <p:cNvPr id="27" name="Group 24">
            <a:extLst>
              <a:ext uri="{FF2B5EF4-FFF2-40B4-BE49-F238E27FC236}">
                <a16:creationId xmlns:a16="http://schemas.microsoft.com/office/drawing/2014/main" id="{D8B33579-02B9-AD43-B8C1-2B8FD0FD38F6}"/>
              </a:ext>
            </a:extLst>
          </p:cNvPr>
          <p:cNvGrpSpPr>
            <a:grpSpLocks/>
          </p:cNvGrpSpPr>
          <p:nvPr/>
        </p:nvGrpSpPr>
        <p:grpSpPr bwMode="auto">
          <a:xfrm flipH="1">
            <a:off x="7803093" y="1438908"/>
            <a:ext cx="754063" cy="669925"/>
            <a:chOff x="-44" y="1473"/>
            <a:chExt cx="981" cy="1105"/>
          </a:xfrm>
        </p:grpSpPr>
        <p:pic>
          <p:nvPicPr>
            <p:cNvPr id="28" name="Picture 25" descr="desktop_computer_stylized_medium">
              <a:extLst>
                <a:ext uri="{FF2B5EF4-FFF2-40B4-BE49-F238E27FC236}">
                  <a16:creationId xmlns:a16="http://schemas.microsoft.com/office/drawing/2014/main" id="{7DA2A0EF-0067-1746-8025-EF24977946D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 name="Freeform 26">
              <a:extLst>
                <a:ext uri="{FF2B5EF4-FFF2-40B4-BE49-F238E27FC236}">
                  <a16:creationId xmlns:a16="http://schemas.microsoft.com/office/drawing/2014/main" id="{C271C74D-4191-B540-9745-1D7B1BB1AAE7}"/>
                </a:ext>
              </a:extLst>
            </p:cNvPr>
            <p:cNvSpPr>
              <a:spLocks/>
            </p:cNvSpPr>
            <p:nvPr/>
          </p:nvSpPr>
          <p:spPr bwMode="auto">
            <a:xfrm flipH="1">
              <a:off x="374" y="1579"/>
              <a:ext cx="477" cy="506"/>
            </a:xfrm>
            <a:custGeom>
              <a:avLst/>
              <a:gdLst>
                <a:gd name="T0" fmla="*/ 0 w 356"/>
                <a:gd name="T1" fmla="*/ 0 h 368"/>
                <a:gd name="T2" fmla="*/ 4176 w 356"/>
                <a:gd name="T3" fmla="*/ 248 h 368"/>
                <a:gd name="T4" fmla="*/ 4954 w 356"/>
                <a:gd name="T5" fmla="*/ 5173 h 368"/>
                <a:gd name="T6" fmla="*/ 1092 w 356"/>
                <a:gd name="T7" fmla="*/ 6469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dirty="0"/>
            </a:p>
          </p:txBody>
        </p:sp>
      </p:grpSp>
      <p:sp>
        <p:nvSpPr>
          <p:cNvPr id="76" name="Freeform 299">
            <a:extLst>
              <a:ext uri="{FF2B5EF4-FFF2-40B4-BE49-F238E27FC236}">
                <a16:creationId xmlns:a16="http://schemas.microsoft.com/office/drawing/2014/main" id="{0A303470-07E1-144B-9043-7ADCFA521050}"/>
              </a:ext>
            </a:extLst>
          </p:cNvPr>
          <p:cNvSpPr>
            <a:spLocks/>
          </p:cNvSpPr>
          <p:nvPr/>
        </p:nvSpPr>
        <p:spPr bwMode="auto">
          <a:xfrm>
            <a:off x="2526243" y="1721483"/>
            <a:ext cx="419100" cy="419100"/>
          </a:xfrm>
          <a:custGeom>
            <a:avLst/>
            <a:gdLst>
              <a:gd name="T0" fmla="*/ 2147483647 w 264"/>
              <a:gd name="T1" fmla="*/ 0 h 264"/>
              <a:gd name="T2" fmla="*/ 2147483647 w 264"/>
              <a:gd name="T3" fmla="*/ 2147483647 h 264"/>
              <a:gd name="T4" fmla="*/ 0 w 264"/>
              <a:gd name="T5" fmla="*/ 2147483647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a:solidFill>
              <a:srgbClr val="CC0000"/>
            </a:solidFill>
            <a:round/>
            <a:headEnd/>
            <a:tailEnd type="triangle" w="med" len="med"/>
          </a:ln>
          <a:extLst>
            <a:ext uri="{909E8E84-426E-40dd-AFC4-6F175D3DCCD1}">
              <a14:hiddenFill xmlns:a14="http://schemas.microsoft.com/office/drawing/2010/main" xmlns="">
                <a:solidFill>
                  <a:srgbClr val="FFFFFF"/>
                </a:solidFill>
              </a14:hiddenFill>
            </a:ext>
          </a:extLst>
        </p:spPr>
        <p:txBody>
          <a:bodyPr/>
          <a:lstStyle/>
          <a:p>
            <a:endParaRPr lang="en-US" dirty="0"/>
          </a:p>
        </p:txBody>
      </p:sp>
      <p:sp>
        <p:nvSpPr>
          <p:cNvPr id="77" name="Freeform 301">
            <a:extLst>
              <a:ext uri="{FF2B5EF4-FFF2-40B4-BE49-F238E27FC236}">
                <a16:creationId xmlns:a16="http://schemas.microsoft.com/office/drawing/2014/main" id="{A6CEBADE-DAE8-C144-9DDF-8892F13C3B24}"/>
              </a:ext>
            </a:extLst>
          </p:cNvPr>
          <p:cNvSpPr>
            <a:spLocks/>
          </p:cNvSpPr>
          <p:nvPr/>
        </p:nvSpPr>
        <p:spPr bwMode="auto">
          <a:xfrm>
            <a:off x="2519893" y="1635758"/>
            <a:ext cx="1346200" cy="474662"/>
          </a:xfrm>
          <a:custGeom>
            <a:avLst/>
            <a:gdLst>
              <a:gd name="T0" fmla="*/ 2147483647 w 848"/>
              <a:gd name="T1" fmla="*/ 2147483647 h 299"/>
              <a:gd name="T2" fmla="*/ 2147483647 w 848"/>
              <a:gd name="T3" fmla="*/ 2147483647 h 299"/>
              <a:gd name="T4" fmla="*/ 2147483647 w 848"/>
              <a:gd name="T5" fmla="*/ 2147483647 h 299"/>
              <a:gd name="T6" fmla="*/ 2147483647 w 848"/>
              <a:gd name="T7" fmla="*/ 2147483647 h 299"/>
              <a:gd name="T8" fmla="*/ 0 w 848"/>
              <a:gd name="T9" fmla="*/ 2147483647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a:solidFill>
              <a:srgbClr val="CC0000"/>
            </a:solidFill>
            <a:round/>
            <a:headEnd/>
            <a:tailEnd type="triangle" w="med" len="med"/>
          </a:ln>
          <a:extLst>
            <a:ext uri="{909E8E84-426E-40dd-AFC4-6F175D3DCCD1}">
              <a14:hiddenFill xmlns:a14="http://schemas.microsoft.com/office/drawing/2010/main" xmlns="">
                <a:solidFill>
                  <a:srgbClr val="FFFFFF"/>
                </a:solidFill>
              </a14:hiddenFill>
            </a:ext>
          </a:extLst>
        </p:spPr>
        <p:txBody>
          <a:bodyPr/>
          <a:lstStyle/>
          <a:p>
            <a:endParaRPr lang="en-US" dirty="0"/>
          </a:p>
        </p:txBody>
      </p:sp>
      <p:sp>
        <p:nvSpPr>
          <p:cNvPr id="78" name="Rectangle 3">
            <a:extLst>
              <a:ext uri="{FF2B5EF4-FFF2-40B4-BE49-F238E27FC236}">
                <a16:creationId xmlns:a16="http://schemas.microsoft.com/office/drawing/2014/main" id="{86ABF170-63AE-784F-965E-87238AB122D3}"/>
              </a:ext>
            </a:extLst>
          </p:cNvPr>
          <p:cNvSpPr txBox="1">
            <a:spLocks noChangeArrowheads="1"/>
          </p:cNvSpPr>
          <p:nvPr/>
        </p:nvSpPr>
        <p:spPr>
          <a:xfrm>
            <a:off x="938996" y="2521027"/>
            <a:ext cx="6396401" cy="324079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2575" indent="-282575">
              <a:defRPr/>
            </a:pPr>
            <a:r>
              <a:rPr lang="en-US" dirty="0"/>
              <a:t>source sends sets of UDP segments to destination</a:t>
            </a:r>
          </a:p>
          <a:p>
            <a:pPr marL="565150" lvl="1" indent="-222250">
              <a:defRPr/>
            </a:pPr>
            <a:r>
              <a:rPr lang="en-US" dirty="0"/>
              <a:t>1</a:t>
            </a:r>
            <a:r>
              <a:rPr lang="en-US" baseline="30000" dirty="0"/>
              <a:t>st</a:t>
            </a:r>
            <a:r>
              <a:rPr lang="en-US" dirty="0"/>
              <a:t>  set has TTL =1, 2</a:t>
            </a:r>
            <a:r>
              <a:rPr lang="en-US" baseline="30000" dirty="0"/>
              <a:t>nd</a:t>
            </a:r>
            <a:r>
              <a:rPr lang="en-US" dirty="0"/>
              <a:t>  set has TTL=2, etc.</a:t>
            </a:r>
          </a:p>
          <a:p>
            <a:pPr marL="282575" indent="-282575">
              <a:defRPr/>
            </a:pPr>
            <a:r>
              <a:rPr lang="en-US" dirty="0"/>
              <a:t>datagram in </a:t>
            </a:r>
            <a:r>
              <a:rPr lang="en-US" i="1" dirty="0"/>
              <a:t>n</a:t>
            </a:r>
            <a:r>
              <a:rPr lang="en-US" dirty="0"/>
              <a:t>th set arrives to nth router:</a:t>
            </a:r>
          </a:p>
          <a:p>
            <a:pPr marL="523875" lvl="1" indent="-180975">
              <a:defRPr/>
            </a:pPr>
            <a:r>
              <a:rPr lang="en-US" dirty="0"/>
              <a:t>router discards datagram and sends source ICMP message (type 11, code 0)</a:t>
            </a:r>
          </a:p>
          <a:p>
            <a:pPr marL="523875" lvl="1" indent="-180975">
              <a:defRPr/>
            </a:pPr>
            <a:r>
              <a:rPr lang="en-US" dirty="0"/>
              <a:t>ICMP message possibly includes name of router &amp; IP address</a:t>
            </a:r>
          </a:p>
          <a:p>
            <a:pPr marL="523875" lvl="1" indent="-180975">
              <a:defRPr/>
            </a:pPr>
            <a:endParaRPr lang="en-US" dirty="0"/>
          </a:p>
        </p:txBody>
      </p:sp>
      <p:grpSp>
        <p:nvGrpSpPr>
          <p:cNvPr id="79" name="Group 78">
            <a:extLst>
              <a:ext uri="{FF2B5EF4-FFF2-40B4-BE49-F238E27FC236}">
                <a16:creationId xmlns:a16="http://schemas.microsoft.com/office/drawing/2014/main" id="{7809EF1D-FCE1-C04E-A44A-D719D1B04BFF}"/>
              </a:ext>
            </a:extLst>
          </p:cNvPr>
          <p:cNvGrpSpPr/>
          <p:nvPr/>
        </p:nvGrpSpPr>
        <p:grpSpPr>
          <a:xfrm>
            <a:off x="6775374" y="1828801"/>
            <a:ext cx="649995" cy="330505"/>
            <a:chOff x="7493876" y="2774731"/>
            <a:chExt cx="1481958" cy="894622"/>
          </a:xfrm>
        </p:grpSpPr>
        <p:sp>
          <p:nvSpPr>
            <p:cNvPr id="80" name="Freeform 79">
              <a:extLst>
                <a:ext uri="{FF2B5EF4-FFF2-40B4-BE49-F238E27FC236}">
                  <a16:creationId xmlns:a16="http://schemas.microsoft.com/office/drawing/2014/main" id="{B0E05895-B00F-E243-B257-39ECF185C4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9AD02441-9BB9-334C-8E42-B3A82A1E37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766526EB-EB3E-424B-B843-FC27B333E91F}"/>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597E61E0-655B-2B4E-BBB5-8F09F6A73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97D4045B-365E-1C4B-B89C-895F103F8C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289722AD-9577-D241-83B8-D7CA27439D2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AE58B9C1-746D-EE47-909C-568D25CAAD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53A25456-859E-194F-8A01-129A16321B59}"/>
              </a:ext>
            </a:extLst>
          </p:cNvPr>
          <p:cNvGrpSpPr/>
          <p:nvPr/>
        </p:nvGrpSpPr>
        <p:grpSpPr>
          <a:xfrm>
            <a:off x="5748969" y="1683745"/>
            <a:ext cx="649995" cy="330505"/>
            <a:chOff x="7493876" y="2774731"/>
            <a:chExt cx="1481958" cy="894622"/>
          </a:xfrm>
        </p:grpSpPr>
        <p:sp>
          <p:nvSpPr>
            <p:cNvPr id="88" name="Freeform 87">
              <a:extLst>
                <a:ext uri="{FF2B5EF4-FFF2-40B4-BE49-F238E27FC236}">
                  <a16:creationId xmlns:a16="http://schemas.microsoft.com/office/drawing/2014/main" id="{35349B4C-4224-4143-81BE-502CDD0AC4F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 name="Oval 88">
              <a:extLst>
                <a:ext uri="{FF2B5EF4-FFF2-40B4-BE49-F238E27FC236}">
                  <a16:creationId xmlns:a16="http://schemas.microsoft.com/office/drawing/2014/main" id="{1CD1AD51-62A8-7247-A11A-31F7A6ECD9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 name="Group 89">
              <a:extLst>
                <a:ext uri="{FF2B5EF4-FFF2-40B4-BE49-F238E27FC236}">
                  <a16:creationId xmlns:a16="http://schemas.microsoft.com/office/drawing/2014/main" id="{4284C1C3-1A3F-6E40-9AC5-D861BDF7ADC5}"/>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AE3D44B-6096-834A-B79D-856409400D5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D49FE2A6-7505-FE4B-910D-6B90585D998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F0FFCCCF-F339-A949-B73C-8AC3CF5856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D8D639F3-1A24-E741-B2C9-1DA7E2332E2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CAA9E0A8-71B5-B74B-A6BF-19704732A56E}"/>
              </a:ext>
            </a:extLst>
          </p:cNvPr>
          <p:cNvGrpSpPr/>
          <p:nvPr/>
        </p:nvGrpSpPr>
        <p:grpSpPr>
          <a:xfrm>
            <a:off x="4623412" y="1847161"/>
            <a:ext cx="649995" cy="330505"/>
            <a:chOff x="7493876" y="2774731"/>
            <a:chExt cx="1481958" cy="894622"/>
          </a:xfrm>
        </p:grpSpPr>
        <p:sp>
          <p:nvSpPr>
            <p:cNvPr id="96" name="Freeform 95">
              <a:extLst>
                <a:ext uri="{FF2B5EF4-FFF2-40B4-BE49-F238E27FC236}">
                  <a16:creationId xmlns:a16="http://schemas.microsoft.com/office/drawing/2014/main" id="{5D3DCA5C-54B0-8547-9024-DAEB329BD0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3FA9F0CC-BBDD-B549-88C1-0A57D00AAFA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ADD9367E-174E-EF41-8C49-1F86E80F3AD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869EC998-0625-9943-9C8D-56B8EAC53C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D0DA9B10-5917-FF40-9BEA-65D8BB74E3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288CD489-7393-2241-A37C-F185FE43751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AB4FD59C-D4B2-9D44-A7A1-304C914D24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Freeform 303">
            <a:extLst>
              <a:ext uri="{FF2B5EF4-FFF2-40B4-BE49-F238E27FC236}">
                <a16:creationId xmlns:a16="http://schemas.microsoft.com/office/drawing/2014/main" id="{88F136AC-D997-3246-8D9E-2A9DCE44B3CE}"/>
              </a:ext>
            </a:extLst>
          </p:cNvPr>
          <p:cNvSpPr>
            <a:spLocks/>
          </p:cNvSpPr>
          <p:nvPr/>
        </p:nvSpPr>
        <p:spPr bwMode="auto">
          <a:xfrm>
            <a:off x="2494493" y="1684970"/>
            <a:ext cx="2247900" cy="403225"/>
          </a:xfrm>
          <a:custGeom>
            <a:avLst/>
            <a:gdLst>
              <a:gd name="T0" fmla="*/ 2147483647 w 1416"/>
              <a:gd name="T1" fmla="*/ 2147483647 h 254"/>
              <a:gd name="T2" fmla="*/ 2147483647 w 1416"/>
              <a:gd name="T3" fmla="*/ 2147483647 h 254"/>
              <a:gd name="T4" fmla="*/ 2147483647 w 1416"/>
              <a:gd name="T5" fmla="*/ 2147483647 h 254"/>
              <a:gd name="T6" fmla="*/ 2147483647 w 1416"/>
              <a:gd name="T7" fmla="*/ 2147483647 h 254"/>
              <a:gd name="T8" fmla="*/ 2147483647 w 1416"/>
              <a:gd name="T9" fmla="*/ 2147483647 h 254"/>
              <a:gd name="T10" fmla="*/ 2147483647 w 1416"/>
              <a:gd name="T11" fmla="*/ 2147483647 h 254"/>
              <a:gd name="T12" fmla="*/ 0 w 1416"/>
              <a:gd name="T13" fmla="*/ 2147483647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a:solidFill>
              <a:srgbClr val="CC0000"/>
            </a:solidFill>
            <a:round/>
            <a:headEnd/>
            <a:tailEnd type="triangle" w="med" len="med"/>
          </a:ln>
          <a:extLst>
            <a:ext uri="{909E8E84-426E-40dd-AFC4-6F175D3DCCD1}">
              <a14:hiddenFill xmlns:a14="http://schemas.microsoft.com/office/drawing/2010/main" xmlns="">
                <a:solidFill>
                  <a:srgbClr val="FFFFFF"/>
                </a:solidFill>
              </a14:hiddenFill>
            </a:ext>
          </a:extLst>
        </p:spPr>
        <p:txBody>
          <a:bodyPr/>
          <a:lstStyle/>
          <a:p>
            <a:endParaRPr lang="en-US" dirty="0"/>
          </a:p>
        </p:txBody>
      </p:sp>
    </p:spTree>
    <p:extLst>
      <p:ext uri="{BB962C8B-B14F-4D97-AF65-F5344CB8AC3E}">
        <p14:creationId xmlns:p14="http://schemas.microsoft.com/office/powerpoint/2010/main" val="17056021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8">
                                            <p:txEl>
                                              <p:pRg st="0" end="0"/>
                                            </p:txEl>
                                          </p:spTgt>
                                        </p:tgtEl>
                                        <p:attrNameLst>
                                          <p:attrName>style.visibility</p:attrName>
                                        </p:attrNameLst>
                                      </p:cBhvr>
                                      <p:to>
                                        <p:strVal val="visible"/>
                                      </p:to>
                                    </p:set>
                                    <p:animEffect transition="in" filter="dissolve">
                                      <p:cBhvr>
                                        <p:cTn id="7" dur="500"/>
                                        <p:tgtEl>
                                          <p:spTgt spid="7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8">
                                            <p:txEl>
                                              <p:pRg st="1" end="1"/>
                                            </p:txEl>
                                          </p:spTgt>
                                        </p:tgtEl>
                                        <p:attrNameLst>
                                          <p:attrName>style.visibility</p:attrName>
                                        </p:attrNameLst>
                                      </p:cBhvr>
                                      <p:to>
                                        <p:strVal val="visible"/>
                                      </p:to>
                                    </p:set>
                                    <p:animEffect transition="in" filter="dissolve">
                                      <p:cBhvr>
                                        <p:cTn id="10" dur="500"/>
                                        <p:tgtEl>
                                          <p:spTgt spid="78">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8">
                                            <p:txEl>
                                              <p:pRg st="2" end="2"/>
                                            </p:txEl>
                                          </p:spTgt>
                                        </p:tgtEl>
                                        <p:attrNameLst>
                                          <p:attrName>style.visibility</p:attrName>
                                        </p:attrNameLst>
                                      </p:cBhvr>
                                      <p:to>
                                        <p:strVal val="visible"/>
                                      </p:to>
                                    </p:set>
                                    <p:animEffect transition="in" filter="dissolve">
                                      <p:cBhvr>
                                        <p:cTn id="15" dur="500"/>
                                        <p:tgtEl>
                                          <p:spTgt spid="7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78">
                                            <p:txEl>
                                              <p:pRg st="3" end="3"/>
                                            </p:txEl>
                                          </p:spTgt>
                                        </p:tgtEl>
                                        <p:attrNameLst>
                                          <p:attrName>style.visibility</p:attrName>
                                        </p:attrNameLst>
                                      </p:cBhvr>
                                      <p:to>
                                        <p:strVal val="visible"/>
                                      </p:to>
                                    </p:set>
                                    <p:animEffect transition="in" filter="dissolve">
                                      <p:cBhvr>
                                        <p:cTn id="18" dur="500"/>
                                        <p:tgtEl>
                                          <p:spTgt spid="7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78">
                                            <p:txEl>
                                              <p:pRg st="4" end="4"/>
                                            </p:txEl>
                                          </p:spTgt>
                                        </p:tgtEl>
                                        <p:attrNameLst>
                                          <p:attrName>style.visibility</p:attrName>
                                        </p:attrNameLst>
                                      </p:cBhvr>
                                      <p:to>
                                        <p:strVal val="visible"/>
                                      </p:to>
                                    </p:set>
                                    <p:animEffect transition="in" filter="dissolve">
                                      <p:cBhvr>
                                        <p:cTn id="21" dur="500"/>
                                        <p:tgtEl>
                                          <p:spTgt spid="78">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dissolve">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76"/>
                                        </p:tgtEl>
                                        <p:attrNameLst>
                                          <p:attrName>style.visibility</p:attrName>
                                        </p:attrNameLst>
                                      </p:cBhvr>
                                      <p:to>
                                        <p:strVal val="visible"/>
                                      </p:to>
                                    </p:set>
                                  </p:childTnLst>
                                  <p:subTnLst>
                                    <p:set>
                                      <p:cBhvr override="childStyle">
                                        <p:cTn dur="1" fill="hold" display="0" masterRel="nextClick" afterEffect="1"/>
                                        <p:tgtEl>
                                          <p:spTgt spid="76"/>
                                        </p:tgtEl>
                                        <p:attrNameLst>
                                          <p:attrName>style.visibility</p:attrName>
                                        </p:attrNameLst>
                                      </p:cBhvr>
                                      <p:to>
                                        <p:strVal val="hidden"/>
                                      </p:to>
                                    </p:set>
                                  </p:subTnLst>
                                </p:cTn>
                              </p:par>
                              <p:par>
                                <p:cTn id="31" presetID="1" presetClass="entr" presetSubtype="0" fill="hold" grpId="0" nodeType="withEffect">
                                  <p:stCondLst>
                                    <p:cond delay="0"/>
                                  </p:stCondLst>
                                  <p:childTnLst>
                                    <p:set>
                                      <p:cBhvr>
                                        <p:cTn id="32" dur="1" fill="hold">
                                          <p:stCondLst>
                                            <p:cond delay="0"/>
                                          </p:stCondLst>
                                        </p:cTn>
                                        <p:tgtEl>
                                          <p:spTgt spid="21"/>
                                        </p:tgtEl>
                                        <p:attrNameLst>
                                          <p:attrName>style.visibility</p:attrName>
                                        </p:attrNameLst>
                                      </p:cBhvr>
                                      <p:to>
                                        <p:strVal val="visible"/>
                                      </p:to>
                                    </p:set>
                                  </p:childTnLst>
                                  <p:subTnLst>
                                    <p:set>
                                      <p:cBhvr override="childStyle">
                                        <p:cTn dur="1" fill="hold" display="0" masterRel="nextClick" afterEffect="1"/>
                                        <p:tgtEl>
                                          <p:spTgt spid="21"/>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77"/>
                                        </p:tgtEl>
                                        <p:attrNameLst>
                                          <p:attrName>style.visibility</p:attrName>
                                        </p:attrNameLst>
                                      </p:cBhvr>
                                      <p:to>
                                        <p:strVal val="visible"/>
                                      </p:to>
                                    </p:set>
                                  </p:childTnLst>
                                  <p:subTnLst>
                                    <p:set>
                                      <p:cBhvr override="childStyle">
                                        <p:cTn dur="1" fill="hold" display="0" masterRel="nextClick" afterEffect="1"/>
                                        <p:tgtEl>
                                          <p:spTgt spid="77"/>
                                        </p:tgtEl>
                                        <p:attrNameLst>
                                          <p:attrName>style.visibility</p:attrName>
                                        </p:attrNameLst>
                                      </p:cBhvr>
                                      <p:to>
                                        <p:strVal val="hidden"/>
                                      </p:to>
                                    </p:set>
                                  </p:sub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subTnLst>
                                    <p:set>
                                      <p:cBhvr override="childStyle">
                                        <p:cTn dur="1" fill="hold" display="0" masterRel="nextClick" afterEffect="1"/>
                                        <p:tgtEl>
                                          <p:spTgt spid="22"/>
                                        </p:tgtEl>
                                        <p:attrNameLst>
                                          <p:attrName>style.visibility</p:attrName>
                                        </p:attrNameLst>
                                      </p:cBhvr>
                                      <p:to>
                                        <p:strVal val="hidden"/>
                                      </p:to>
                                    </p:set>
                                  </p:sub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7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3"/>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9"/>
                                        </p:tgtEl>
                                        <p:attrNameLst>
                                          <p:attrName>style.visibility</p:attrName>
                                        </p:attrNameLst>
                                      </p:cBhvr>
                                      <p:to>
                                        <p:strVal val="visible"/>
                                      </p:to>
                                    </p:set>
                                    <p:animEffect transition="in" filter="dissolve">
                                      <p:cBhvr>
                                        <p:cTn id="4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21" grpId="0"/>
      <p:bldP spid="22" grpId="0"/>
      <p:bldP spid="23" grpId="0"/>
      <p:bldP spid="76" grpId="0" animBg="1"/>
      <p:bldP spid="77" grpId="0" animBg="1"/>
      <p:bldP spid="75"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D9D38C-8654-8C25-A4F8-8E537428550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EABD007-A176-934F-BE5A-8A62E52F7220}"/>
              </a:ext>
            </a:extLst>
          </p:cNvPr>
          <p:cNvSpPr>
            <a:spLocks noGrp="1"/>
          </p:cNvSpPr>
          <p:nvPr>
            <p:ph type="title"/>
          </p:nvPr>
        </p:nvSpPr>
        <p:spPr/>
        <p:txBody>
          <a:bodyPr/>
          <a:lstStyle/>
          <a:p>
            <a:r>
              <a:rPr lang="en-US">
                <a:cs typeface="Calibri" panose="020F0502020204030204" pitchFamily="34" charset="0"/>
              </a:rPr>
              <a:t>Network Layer in the Internet</a:t>
            </a:r>
            <a:endParaRPr lang="en-US"/>
          </a:p>
        </p:txBody>
      </p:sp>
      <p:sp>
        <p:nvSpPr>
          <p:cNvPr id="3" name="Content Placeholder 2">
            <a:extLst>
              <a:ext uri="{FF2B5EF4-FFF2-40B4-BE49-F238E27FC236}">
                <a16:creationId xmlns:a16="http://schemas.microsoft.com/office/drawing/2014/main" id="{AE94C3B1-10D3-68E9-71BF-795654F31F29}"/>
              </a:ext>
            </a:extLst>
          </p:cNvPr>
          <p:cNvSpPr>
            <a:spLocks noGrp="1"/>
          </p:cNvSpPr>
          <p:nvPr>
            <p:ph sz="half" idx="1"/>
          </p:nvPr>
        </p:nvSpPr>
        <p:spPr>
          <a:xfrm>
            <a:off x="838201" y="1572572"/>
            <a:ext cx="5257800" cy="4482787"/>
          </a:xfrm>
        </p:spPr>
        <p:txBody>
          <a:bodyPr>
            <a:normAutofit/>
          </a:bodyPr>
          <a:lstStyle/>
          <a:p>
            <a:pPr marL="342900" indent="-212725">
              <a:buFont typeface="Wingdings" charset="2"/>
              <a:buChar char="§"/>
              <a:defRPr/>
            </a:pPr>
            <a:r>
              <a:rPr lang="en-US" sz="3200" dirty="0">
                <a:solidFill>
                  <a:schemeClr val="bg1">
                    <a:lumMod val="50000"/>
                  </a:schemeClr>
                </a:solidFill>
              </a:rPr>
              <a:t>The Internet Protocol (IP)</a:t>
            </a:r>
          </a:p>
          <a:p>
            <a:pPr>
              <a:defRPr/>
            </a:pPr>
            <a:r>
              <a:rPr lang="en-US" sz="3200" dirty="0">
                <a:solidFill>
                  <a:schemeClr val="bg2">
                    <a:lumMod val="50000"/>
                  </a:schemeClr>
                </a:solidFill>
              </a:rPr>
              <a:t>Internet Routing</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Hierarchical routing </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Intra-ISP routing: </a:t>
            </a:r>
            <a:r>
              <a:rPr lang="en-US" sz="2800" dirty="0">
                <a:solidFill>
                  <a:schemeClr val="bg2">
                    <a:lumMod val="50000"/>
                  </a:schemeClr>
                </a:solidFill>
              </a:rPr>
              <a:t>OSPF</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Inter-ISP routing: </a:t>
            </a:r>
            <a:r>
              <a:rPr lang="en-US" sz="2800" dirty="0">
                <a:solidFill>
                  <a:schemeClr val="bg2">
                    <a:lumMod val="50000"/>
                  </a:schemeClr>
                </a:solidFill>
              </a:rPr>
              <a:t>BGP</a:t>
            </a:r>
          </a:p>
          <a:p>
            <a:pPr>
              <a:defRPr/>
            </a:pPr>
            <a:r>
              <a:rPr lang="en-US" sz="3200" dirty="0">
                <a:solidFill>
                  <a:schemeClr val="bg1">
                    <a:lumMod val="50000"/>
                  </a:schemeClr>
                </a:solidFill>
              </a:rPr>
              <a:t>Internet Forwarding</a:t>
            </a:r>
          </a:p>
          <a:p>
            <a:pPr lvl="1">
              <a:spcBef>
                <a:spcPts val="400"/>
              </a:spcBef>
            </a:pPr>
            <a:r>
              <a:rPr lang="en-US" altLang="en-US" sz="2800" dirty="0">
                <a:solidFill>
                  <a:schemeClr val="bg1">
                    <a:lumMod val="50000"/>
                  </a:schemeClr>
                </a:solidFill>
                <a:ea typeface="ＭＳ Ｐゴシック" panose="020B0600070205080204" pitchFamily="34" charset="-128"/>
                <a:cs typeface="Arial" panose="020B0604020202020204" pitchFamily="34" charset="0"/>
              </a:rPr>
              <a:t>Destination-based forwarding</a:t>
            </a:r>
          </a:p>
          <a:p>
            <a:pPr>
              <a:spcBef>
                <a:spcPts val="400"/>
              </a:spcBef>
            </a:pPr>
            <a:r>
              <a:rPr lang="en-US" altLang="en-US" sz="3200" dirty="0">
                <a:solidFill>
                  <a:schemeClr val="bg1">
                    <a:lumMod val="50000"/>
                  </a:schemeClr>
                </a:solidFill>
                <a:ea typeface="ＭＳ Ｐゴシック" panose="020B0600070205080204" pitchFamily="34" charset="-128"/>
                <a:cs typeface="Arial" panose="020B0604020202020204" pitchFamily="34" charset="0"/>
              </a:rPr>
              <a:t>ICMP</a:t>
            </a:r>
          </a:p>
          <a:p>
            <a:pPr>
              <a:spcBef>
                <a:spcPts val="400"/>
              </a:spcBef>
            </a:pPr>
            <a:endParaRPr lang="en-US" altLang="en-US" sz="3200" dirty="0">
              <a:solidFill>
                <a:schemeClr val="bg1">
                  <a:lumMod val="50000"/>
                </a:schemeClr>
              </a:solidFill>
              <a:ea typeface="ＭＳ Ｐゴシック" panose="020B0600070205080204" pitchFamily="34" charset="-128"/>
              <a:cs typeface="Arial" panose="020B0604020202020204" pitchFamily="34" charset="0"/>
            </a:endParaRPr>
          </a:p>
        </p:txBody>
      </p:sp>
      <p:sp>
        <p:nvSpPr>
          <p:cNvPr id="4" name="Content Placeholder 2">
            <a:extLst>
              <a:ext uri="{FF2B5EF4-FFF2-40B4-BE49-F238E27FC236}">
                <a16:creationId xmlns:a16="http://schemas.microsoft.com/office/drawing/2014/main" id="{13FC716C-AEA9-46A7-1DA9-93AFE50A5A46}"/>
              </a:ext>
            </a:extLst>
          </p:cNvPr>
          <p:cNvSpPr txBox="1">
            <a:spLocks/>
          </p:cNvSpPr>
          <p:nvPr/>
        </p:nvSpPr>
        <p:spPr>
          <a:xfrm>
            <a:off x="6386467" y="1572571"/>
            <a:ext cx="5736124" cy="44827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212725">
              <a:buFont typeface="Wingdings" charset="2"/>
              <a:buChar char="§"/>
              <a:defRPr/>
            </a:pPr>
            <a:r>
              <a:rPr lang="en-US" sz="3200" dirty="0"/>
              <a:t>Beyond destination-based routing and forwarding</a:t>
            </a:r>
          </a:p>
          <a:p>
            <a:pPr lvl="1">
              <a:defRPr/>
            </a:pPr>
            <a:r>
              <a:rPr lang="en-US" altLang="en-US" sz="2800" dirty="0">
                <a:ea typeface="ＭＳ Ｐゴシック" panose="020B0600070205080204" pitchFamily="34" charset="-128"/>
                <a:cs typeface="Arial" panose="020B0604020202020204" pitchFamily="34" charset="0"/>
              </a:rPr>
              <a:t>The end-to-end argument</a:t>
            </a:r>
          </a:p>
          <a:p>
            <a:pPr lvl="1">
              <a:defRPr/>
            </a:pPr>
            <a:r>
              <a:rPr lang="en-US" altLang="en-US" sz="2800" dirty="0">
                <a:ea typeface="ＭＳ Ｐゴシック" panose="020B0600070205080204" pitchFamily="34" charset="-128"/>
                <a:cs typeface="Arial" panose="020B0604020202020204" pitchFamily="34" charset="0"/>
              </a:rPr>
              <a:t>Middleboxes</a:t>
            </a:r>
          </a:p>
          <a:p>
            <a:pPr lvl="1">
              <a:defRPr/>
            </a:pPr>
            <a:r>
              <a:rPr lang="en-US" sz="2800" dirty="0"/>
              <a:t>Software-defined network (SDNs)</a:t>
            </a:r>
          </a:p>
          <a:p>
            <a:pPr lvl="1">
              <a:defRPr/>
            </a:pPr>
            <a:endParaRPr lang="en-US" altLang="en-US" sz="2800" dirty="0">
              <a:solidFill>
                <a:schemeClr val="bg2">
                  <a:lumMod val="50000"/>
                </a:schemeClr>
              </a:solidFill>
              <a:ea typeface="ＭＳ Ｐゴシック" panose="020B0600070205080204" pitchFamily="34" charset="-128"/>
              <a:cs typeface="Arial" panose="020B0604020202020204" pitchFamily="34" charset="0"/>
            </a:endParaRPr>
          </a:p>
          <a:p>
            <a:pPr lvl="1">
              <a:defRPr/>
            </a:pPr>
            <a:endParaRPr lang="en-US" altLang="en-US" sz="2800" dirty="0">
              <a:solidFill>
                <a:schemeClr val="bg2">
                  <a:lumMod val="50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46910275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61D689-03FE-59DB-D13A-F8B49F278E1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A87A811-921A-0010-EEB8-5471131B9BCB}"/>
              </a:ext>
            </a:extLst>
          </p:cNvPr>
          <p:cNvSpPr>
            <a:spLocks noGrp="1"/>
          </p:cNvSpPr>
          <p:nvPr>
            <p:ph type="title"/>
          </p:nvPr>
        </p:nvSpPr>
        <p:spPr/>
        <p:txBody>
          <a:bodyPr/>
          <a:lstStyle/>
          <a:p>
            <a:r>
              <a:rPr lang="en-US">
                <a:cs typeface="Calibri" panose="020F0502020204030204" pitchFamily="34" charset="0"/>
              </a:rPr>
              <a:t>Network Layer in the Internet</a:t>
            </a:r>
            <a:endParaRPr lang="en-US"/>
          </a:p>
        </p:txBody>
      </p:sp>
      <p:sp>
        <p:nvSpPr>
          <p:cNvPr id="3" name="Content Placeholder 2">
            <a:extLst>
              <a:ext uri="{FF2B5EF4-FFF2-40B4-BE49-F238E27FC236}">
                <a16:creationId xmlns:a16="http://schemas.microsoft.com/office/drawing/2014/main" id="{AC27DAEE-34F3-F3E3-24D0-8363FCEC987D}"/>
              </a:ext>
            </a:extLst>
          </p:cNvPr>
          <p:cNvSpPr>
            <a:spLocks noGrp="1"/>
          </p:cNvSpPr>
          <p:nvPr>
            <p:ph sz="half" idx="1"/>
          </p:nvPr>
        </p:nvSpPr>
        <p:spPr>
          <a:xfrm>
            <a:off x="838201" y="1572572"/>
            <a:ext cx="5257800" cy="4482787"/>
          </a:xfrm>
        </p:spPr>
        <p:txBody>
          <a:bodyPr>
            <a:normAutofit/>
          </a:bodyPr>
          <a:lstStyle/>
          <a:p>
            <a:pPr marL="342900" indent="-212725">
              <a:buFont typeface="Wingdings" charset="2"/>
              <a:buChar char="§"/>
              <a:defRPr/>
            </a:pPr>
            <a:r>
              <a:rPr lang="en-US" sz="3200" dirty="0">
                <a:solidFill>
                  <a:schemeClr val="bg1">
                    <a:lumMod val="50000"/>
                  </a:schemeClr>
                </a:solidFill>
              </a:rPr>
              <a:t>The Internet Protocol (IP)</a:t>
            </a:r>
          </a:p>
          <a:p>
            <a:pPr>
              <a:defRPr/>
            </a:pPr>
            <a:r>
              <a:rPr lang="en-US" sz="3200" dirty="0">
                <a:solidFill>
                  <a:schemeClr val="bg2">
                    <a:lumMod val="50000"/>
                  </a:schemeClr>
                </a:solidFill>
              </a:rPr>
              <a:t>Internet Routing</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Hierarchical routing </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Intra-ISP routing: </a:t>
            </a:r>
            <a:r>
              <a:rPr lang="en-US" sz="2800" dirty="0">
                <a:solidFill>
                  <a:schemeClr val="bg2">
                    <a:lumMod val="50000"/>
                  </a:schemeClr>
                </a:solidFill>
              </a:rPr>
              <a:t>OSPF</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Inter-ISP routing: </a:t>
            </a:r>
            <a:r>
              <a:rPr lang="en-US" sz="2800" dirty="0">
                <a:solidFill>
                  <a:schemeClr val="bg2">
                    <a:lumMod val="50000"/>
                  </a:schemeClr>
                </a:solidFill>
              </a:rPr>
              <a:t>BGP</a:t>
            </a:r>
          </a:p>
          <a:p>
            <a:pPr>
              <a:defRPr/>
            </a:pPr>
            <a:r>
              <a:rPr lang="en-US" sz="3200" dirty="0">
                <a:solidFill>
                  <a:schemeClr val="bg1">
                    <a:lumMod val="50000"/>
                  </a:schemeClr>
                </a:solidFill>
              </a:rPr>
              <a:t>Internet Forwarding</a:t>
            </a:r>
          </a:p>
          <a:p>
            <a:pPr lvl="1">
              <a:spcBef>
                <a:spcPts val="400"/>
              </a:spcBef>
            </a:pPr>
            <a:r>
              <a:rPr lang="en-US" altLang="en-US" sz="2800" dirty="0">
                <a:solidFill>
                  <a:schemeClr val="bg1">
                    <a:lumMod val="50000"/>
                  </a:schemeClr>
                </a:solidFill>
                <a:ea typeface="ＭＳ Ｐゴシック" panose="020B0600070205080204" pitchFamily="34" charset="-128"/>
                <a:cs typeface="Arial" panose="020B0604020202020204" pitchFamily="34" charset="0"/>
              </a:rPr>
              <a:t>Destination-based forwarding</a:t>
            </a:r>
          </a:p>
          <a:p>
            <a:pPr>
              <a:spcBef>
                <a:spcPts val="400"/>
              </a:spcBef>
            </a:pPr>
            <a:r>
              <a:rPr lang="en-US" altLang="en-US" sz="3200" dirty="0">
                <a:solidFill>
                  <a:schemeClr val="bg1">
                    <a:lumMod val="50000"/>
                  </a:schemeClr>
                </a:solidFill>
                <a:ea typeface="ＭＳ Ｐゴシック" panose="020B0600070205080204" pitchFamily="34" charset="-128"/>
                <a:cs typeface="Arial" panose="020B0604020202020204" pitchFamily="34" charset="0"/>
              </a:rPr>
              <a:t>ICMP</a:t>
            </a:r>
          </a:p>
        </p:txBody>
      </p:sp>
      <p:sp>
        <p:nvSpPr>
          <p:cNvPr id="4" name="Content Placeholder 2">
            <a:extLst>
              <a:ext uri="{FF2B5EF4-FFF2-40B4-BE49-F238E27FC236}">
                <a16:creationId xmlns:a16="http://schemas.microsoft.com/office/drawing/2014/main" id="{EA03DEDF-070D-FAB8-1AA5-E14D25C7BFC8}"/>
              </a:ext>
            </a:extLst>
          </p:cNvPr>
          <p:cNvSpPr txBox="1">
            <a:spLocks/>
          </p:cNvSpPr>
          <p:nvPr/>
        </p:nvSpPr>
        <p:spPr>
          <a:xfrm>
            <a:off x="6386467" y="1572571"/>
            <a:ext cx="5736124" cy="44827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212725">
              <a:buFont typeface="Wingdings" charset="2"/>
              <a:buChar char="§"/>
              <a:defRPr/>
            </a:pPr>
            <a:r>
              <a:rPr lang="en-US" sz="3200" dirty="0"/>
              <a:t>Beyond destination-based routing and forwarding</a:t>
            </a:r>
          </a:p>
          <a:p>
            <a:pPr lvl="1">
              <a:defRPr/>
            </a:pPr>
            <a:r>
              <a:rPr lang="en-US" altLang="en-US" sz="2800" u="sng" dirty="0">
                <a:ea typeface="ＭＳ Ｐゴシック" panose="020B0600070205080204" pitchFamily="34" charset="-128"/>
                <a:cs typeface="Arial" panose="020B0604020202020204" pitchFamily="34" charset="0"/>
              </a:rPr>
              <a:t>The end-to-end argument</a:t>
            </a:r>
          </a:p>
          <a:p>
            <a:pPr lvl="1">
              <a:defRPr/>
            </a:pPr>
            <a:r>
              <a:rPr lang="en-US" altLang="en-US" sz="2800" dirty="0">
                <a:ea typeface="ＭＳ Ｐゴシック" panose="020B0600070205080204" pitchFamily="34" charset="-128"/>
                <a:cs typeface="Arial" panose="020B0604020202020204" pitchFamily="34" charset="0"/>
              </a:rPr>
              <a:t>Middleboxes</a:t>
            </a:r>
          </a:p>
          <a:p>
            <a:pPr lvl="1">
              <a:defRPr/>
            </a:pPr>
            <a:r>
              <a:rPr lang="en-US" sz="2800" dirty="0"/>
              <a:t>Software-defined network (SDNs)</a:t>
            </a:r>
          </a:p>
          <a:p>
            <a:pPr lvl="1">
              <a:defRPr/>
            </a:pPr>
            <a:endParaRPr lang="en-US" altLang="en-US" sz="2800" dirty="0">
              <a:solidFill>
                <a:schemeClr val="bg2">
                  <a:lumMod val="50000"/>
                </a:schemeClr>
              </a:solidFill>
              <a:ea typeface="ＭＳ Ｐゴシック" panose="020B0600070205080204" pitchFamily="34" charset="-128"/>
              <a:cs typeface="Arial" panose="020B0604020202020204" pitchFamily="34" charset="0"/>
            </a:endParaRPr>
          </a:p>
          <a:p>
            <a:pPr lvl="1">
              <a:defRPr/>
            </a:pPr>
            <a:endParaRPr lang="en-US" altLang="en-US" sz="2800" dirty="0">
              <a:solidFill>
                <a:schemeClr val="bg2">
                  <a:lumMod val="50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404508370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335300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a:t>
            </a:r>
            <a:r>
              <a:rPr kumimoji="0" lang="en-US" sz="2800" b="0" i="0" u="none" strike="noStrike" kern="1200" cap="none" spc="0" normalizeH="0" baseline="0" noProof="0" dirty="0">
                <a:ln>
                  <a:noFill/>
                </a:ln>
                <a:solidFill>
                  <a:srgbClr val="C00000"/>
                </a:solidFill>
                <a:effectLst/>
                <a:highlight>
                  <a:srgbClr val="FFFF00"/>
                </a:highlight>
                <a:uLnTx/>
                <a:uFillTx/>
                <a:latin typeface="Calibri" panose="020F0502020204030204"/>
                <a:ea typeface="+mn-ea"/>
                <a:cs typeface="+mn-cs"/>
              </a:rPr>
              <a:t>end to end</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556122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314E72-2549-AC24-1A57-9F5E7E2EDA7D}"/>
            </a:ext>
          </a:extLst>
        </p:cNvPr>
        <p:cNvGrpSpPr/>
        <p:nvPr/>
      </p:nvGrpSpPr>
      <p:grpSpPr>
        <a:xfrm>
          <a:off x="0" y="0"/>
          <a:ext cx="0" cy="0"/>
          <a:chOff x="0" y="0"/>
          <a:chExt cx="0" cy="0"/>
        </a:xfrm>
      </p:grpSpPr>
      <p:sp>
        <p:nvSpPr>
          <p:cNvPr id="11" name="Title 2">
            <a:extLst>
              <a:ext uri="{FF2B5EF4-FFF2-40B4-BE49-F238E27FC236}">
                <a16:creationId xmlns:a16="http://schemas.microsoft.com/office/drawing/2014/main" id="{15A75BBF-5628-DB0C-E034-88E16C6692A2}"/>
              </a:ext>
            </a:extLst>
          </p:cNvPr>
          <p:cNvSpPr>
            <a:spLocks noGrp="1"/>
          </p:cNvSpPr>
          <p:nvPr>
            <p:ph type="title"/>
          </p:nvPr>
        </p:nvSpPr>
        <p:spPr>
          <a:xfrm>
            <a:off x="838200" y="345805"/>
            <a:ext cx="10515600" cy="894622"/>
          </a:xfrm>
        </p:spPr>
        <p:txBody>
          <a:bodyPr>
            <a:normAutofit/>
          </a:bodyPr>
          <a:lstStyle/>
          <a:p>
            <a:r>
              <a:rPr lang="en-US" sz="4800" dirty="0"/>
              <a:t>The end-to-end argument</a:t>
            </a:r>
          </a:p>
        </p:txBody>
      </p:sp>
      <p:sp>
        <p:nvSpPr>
          <p:cNvPr id="7" name="TextBox 6">
            <a:extLst>
              <a:ext uri="{FF2B5EF4-FFF2-40B4-BE49-F238E27FC236}">
                <a16:creationId xmlns:a16="http://schemas.microsoft.com/office/drawing/2014/main" id="{AB6EA212-F585-BD5C-A936-43318643B4F2}"/>
              </a:ext>
            </a:extLst>
          </p:cNvPr>
          <p:cNvSpPr txBox="1"/>
          <p:nvPr/>
        </p:nvSpPr>
        <p:spPr>
          <a:xfrm>
            <a:off x="872836" y="1256363"/>
            <a:ext cx="10474037" cy="4431983"/>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We have talked about how some of the more complex network functionality, e.g., reliable data transfer and congestion control, is implemented in the transport layer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the end points</a:t>
            </a:r>
            <a:endParaRPr lang="en-US" sz="2800" dirty="0">
              <a:solidFill>
                <a:prstClr val="black"/>
              </a:solidFill>
              <a:latin typeface="Calibri" panose="020F0502020204030204"/>
            </a:endParaRPr>
          </a:p>
          <a:p>
            <a:pPr marL="742950" lvl="1" indent="-285750">
              <a:spcBef>
                <a:spcPts val="600"/>
              </a:spcBef>
              <a:buClr>
                <a:srgbClr val="010F90"/>
              </a:buClr>
              <a:buFont typeface="Wingdings" pitchFamily="2" charset="2"/>
              <a:buChar char="§"/>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as opposed to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inside the network </a:t>
            </a:r>
            <a:r>
              <a:rPr kumimoji="0" lang="en-US" sz="2800" b="0" i="0" u="none" strike="noStrike" kern="1200" cap="none" spc="0" normalizeH="0" baseline="0" noProof="0" dirty="0">
                <a:ln>
                  <a:noFill/>
                </a:ln>
                <a:effectLst/>
                <a:uLnTx/>
                <a:uFillTx/>
                <a:latin typeface="Calibri" panose="020F0502020204030204"/>
                <a:ea typeface="+mn-ea"/>
                <a:cs typeface="+mn-cs"/>
              </a:rPr>
              <a:t>(e.g., in the routers)</a:t>
            </a:r>
          </a:p>
          <a:p>
            <a:pPr marL="285750" indent="-285750">
              <a:spcBef>
                <a:spcPts val="1200"/>
              </a:spcBef>
              <a:buClr>
                <a:srgbClr val="010F90"/>
              </a:buClr>
              <a:buFont typeface="Wingdings" pitchFamily="2" charset="2"/>
              <a:buChar char="§"/>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But that didn’t necessarily have to be the case</a:t>
            </a:r>
          </a:p>
          <a:p>
            <a:pPr marL="285750" indent="-285750">
              <a:spcBef>
                <a:spcPts val="1200"/>
              </a:spcBef>
              <a:buClr>
                <a:srgbClr val="010F90"/>
              </a:buClr>
              <a:buFont typeface="Wingdings" pitchFamily="2" charset="2"/>
              <a:buChar char="§"/>
              <a:defRPr/>
            </a:pPr>
            <a:r>
              <a:rPr lang="en-US" sz="2800" dirty="0">
                <a:solidFill>
                  <a:prstClr val="black"/>
                </a:solidFill>
                <a:latin typeface="Calibri" panose="020F0502020204030204"/>
              </a:rPr>
              <a:t>One could come up with a network design where these functionalities are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inside the network</a:t>
            </a:r>
          </a:p>
          <a:p>
            <a:pPr marL="742950" lvl="1" indent="-285750">
              <a:spcBef>
                <a:spcPts val="600"/>
              </a:spcBef>
              <a:buClr>
                <a:srgbClr val="010F90"/>
              </a:buClr>
              <a:buFont typeface="Wingdings" pitchFamily="2" charset="2"/>
              <a:buChar char="§"/>
              <a:defRPr/>
            </a:pPr>
            <a:r>
              <a:rPr lang="en-US" sz="2800" dirty="0">
                <a:latin typeface="Calibri" panose="020F0502020204030204"/>
              </a:rPr>
              <a:t>In fact, </a:t>
            </a:r>
            <a:r>
              <a:rPr lang="en-US" sz="2800" dirty="0" err="1">
                <a:latin typeface="Calibri" panose="020F0502020204030204"/>
              </a:rPr>
              <a:t>Infiniband</a:t>
            </a:r>
            <a:r>
              <a:rPr lang="en-US" sz="2800" dirty="0">
                <a:latin typeface="Calibri" panose="020F0502020204030204"/>
              </a:rPr>
              <a:t> networks have made different choices in this regard compared to the current Internet</a:t>
            </a:r>
            <a:endParaRPr kumimoji="0" lang="en-US" sz="2800" b="0" i="0" u="none" strike="noStrike" kern="1200" cap="none" spc="0" normalizeH="0" baseline="0" noProof="0" dirty="0">
              <a:ln>
                <a:noFill/>
              </a:ln>
              <a:effectLst/>
              <a:uLnTx/>
              <a:uFillTx/>
              <a:latin typeface="Calibri" panose="020F0502020204030204"/>
              <a:ea typeface="+mn-ea"/>
              <a:cs typeface="+mn-cs"/>
            </a:endParaRPr>
          </a:p>
        </p:txBody>
      </p:sp>
    </p:spTree>
    <p:extLst>
      <p:ext uri="{BB962C8B-B14F-4D97-AF65-F5344CB8AC3E}">
        <p14:creationId xmlns:p14="http://schemas.microsoft.com/office/powerpoint/2010/main" val="309515297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CCA442-FBA7-526E-ABDD-308D9308A414}"/>
            </a:ext>
          </a:extLst>
        </p:cNvPr>
        <p:cNvGrpSpPr/>
        <p:nvPr/>
      </p:nvGrpSpPr>
      <p:grpSpPr>
        <a:xfrm>
          <a:off x="0" y="0"/>
          <a:ext cx="0" cy="0"/>
          <a:chOff x="0" y="0"/>
          <a:chExt cx="0" cy="0"/>
        </a:xfrm>
      </p:grpSpPr>
      <p:sp>
        <p:nvSpPr>
          <p:cNvPr id="11" name="Title 2">
            <a:extLst>
              <a:ext uri="{FF2B5EF4-FFF2-40B4-BE49-F238E27FC236}">
                <a16:creationId xmlns:a16="http://schemas.microsoft.com/office/drawing/2014/main" id="{8B4A262D-8A30-AA62-DBD8-F2728D796890}"/>
              </a:ext>
            </a:extLst>
          </p:cNvPr>
          <p:cNvSpPr>
            <a:spLocks noGrp="1"/>
          </p:cNvSpPr>
          <p:nvPr>
            <p:ph type="title"/>
          </p:nvPr>
        </p:nvSpPr>
        <p:spPr>
          <a:xfrm>
            <a:off x="838200" y="345805"/>
            <a:ext cx="10515600" cy="894622"/>
          </a:xfrm>
        </p:spPr>
        <p:txBody>
          <a:bodyPr>
            <a:normAutofit/>
          </a:bodyPr>
          <a:lstStyle/>
          <a:p>
            <a:r>
              <a:rPr lang="en-US" sz="4800" dirty="0"/>
              <a:t>The end-to-end argument</a:t>
            </a:r>
          </a:p>
        </p:txBody>
      </p:sp>
      <p:grpSp>
        <p:nvGrpSpPr>
          <p:cNvPr id="8" name="Group 7">
            <a:extLst>
              <a:ext uri="{FF2B5EF4-FFF2-40B4-BE49-F238E27FC236}">
                <a16:creationId xmlns:a16="http://schemas.microsoft.com/office/drawing/2014/main" id="{7015782D-24E4-5D26-935A-9B220D50C6F7}"/>
              </a:ext>
            </a:extLst>
          </p:cNvPr>
          <p:cNvGrpSpPr/>
          <p:nvPr/>
        </p:nvGrpSpPr>
        <p:grpSpPr>
          <a:xfrm>
            <a:off x="1874509" y="1840245"/>
            <a:ext cx="7991761" cy="1770965"/>
            <a:chOff x="1218293" y="1951181"/>
            <a:chExt cx="7991761" cy="1770965"/>
          </a:xfrm>
        </p:grpSpPr>
        <p:cxnSp>
          <p:nvCxnSpPr>
            <p:cNvPr id="9" name="Straight Arrow Connector 8">
              <a:extLst>
                <a:ext uri="{FF2B5EF4-FFF2-40B4-BE49-F238E27FC236}">
                  <a16:creationId xmlns:a16="http://schemas.microsoft.com/office/drawing/2014/main" id="{0218CB11-5B26-17E0-114B-EEFC7E7087F9}"/>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A1BCE1BA-9FA5-A939-9CE5-ABC1F0A5E420}"/>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133959B-8357-06E5-8EFE-394BC097A3BC}"/>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290E807E-1ADC-BC05-78BA-499F728436CB}"/>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5B826DA9-4182-0770-DE20-8AEB379FFB24}"/>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6839DEF5-15CC-4A0A-81AB-DA3CABD55FB1}"/>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53A971E3-CAAC-23BD-9F81-5FEBF6551230}"/>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E35ACB4D-CEA1-08FD-F4C9-9D4AAB3BB235}"/>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040BF99A-1CE6-E348-6695-C425A1D709A9}"/>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F7221B2F-B1D5-0212-F54F-CD7191BE70B2}"/>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99814742-AAE3-506A-ED09-10BE7729D3D8}"/>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4CB701F3-7A93-6246-4534-7687AA78E5CC}"/>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4BBD5F8E-7BA9-6C6F-3248-3D406CEFE508}"/>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0B86B77-20B9-B9BB-6094-AC7543F6A2C7}"/>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DAA01DFF-6F3F-CC2C-384D-4CC0CBD7D1E4}"/>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8C2D3F71-337F-ED46-6D74-0D042CA2C47F}"/>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9264CCB9-802E-6B8C-E765-B5D0C402F444}"/>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A44B989-2209-78E2-78FF-F051D3F8D9F9}"/>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FC4ACD14-9AB1-0EFB-8A24-4DD6942B2731}"/>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7D9B2B7E-5E14-2D97-603E-39D01E7890D9}"/>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0864E275-7C5A-7E4F-802B-F2EFBEBE00D7}"/>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593BC67C-8F6E-3627-023C-1570BE901F31}"/>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C69C7FF1-F4C3-74F4-59D2-3761983BEFAD}"/>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D334E1EF-30A1-D52C-B7EA-DD23068F06E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39730243-99FB-70B0-B3F0-F063DA55B5BA}"/>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C3F96ED-5518-26C2-1F2C-BFD47F1727B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2D774F4F-BD93-F41F-90C9-3CCABD87BF2C}"/>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182F78D0-864D-7A61-E379-78B2B69B7817}"/>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26A31709-BA82-A902-DBFB-88ED6F047704}"/>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2F5506A5-CD28-7CEF-1A66-BAB00E480C4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2EEEDEA3-2186-AD9F-3F68-A2455F8BD66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503F3EF9-7E77-B826-6271-8CE7EF89DE07}"/>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50BDCC4B-59BC-8031-F6FF-F91B0EB4DA47}"/>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5B9BF0C4-EBCC-1EE8-F1D9-08167DAAC9D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ED94FC5-F9B1-261E-77A8-8AD2712CA64C}"/>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A029D1D6-7BEC-F433-388F-CB892B31F96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24D7690F-A3A6-4F3A-4C36-D16E9BA0AA1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C38DF22B-FE48-F282-09E1-72E6E7BB9D0A}"/>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7E929C2C-2D7D-6E91-554B-6E13AC0FAD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95250D6-C6F8-57FF-983C-428D7636DFC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D7C2C610-4B5E-D175-6816-A14425F094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697EC2D4-39CA-DB5D-9B44-EF4DB061566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0E558B9C-FD4D-307F-A406-DFF40D46E3F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223240BE-AE9B-E11E-13C2-A9185A2116CC}"/>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267732D3-F084-7054-4E2F-349C7F9A344B}"/>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9BB125A1-442F-A44C-2ADB-878D776E0D5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1447FB73-462E-256E-575E-FA47548D72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8E3CD286-4997-A5E3-52BD-8DB7EAB712FA}"/>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9DED2F81-4B05-A720-180F-5AC3B21B05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3666EEFF-0B54-56AD-6F5B-EBAD517996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E3C97571-7A5A-DC95-1F09-49E65F49B2F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06E5734C-B897-3754-6541-B52698AF0C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51B3E127-C4F9-D276-5D80-0A6250623BEA}"/>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A1873C28-49E4-72E9-6F90-A4ECD5DDF47A}"/>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DFC6CA95-35FA-A10F-ADD2-269CA6C2B1EF}"/>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1CA7EF4C-CED7-418A-2112-3ACB8929B3AA}"/>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6D9F5B9D-6A62-2A9B-EAA0-EEE2CCC3F05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AFE5CA51-C06A-CC26-9F82-8D9BF53BF70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23E35E0B-FC30-F384-A3E6-8ABE13AC5382}"/>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5EE8A730-C163-65C5-481E-F4EDC31F7A2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1AEA8F2F-1BA1-BFAE-885C-F5AE1E491B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BEC77AC2-5E72-327D-56A1-97A8E8791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1A68997F-2DF4-9487-C686-3F7E656403B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140A3C5E-FC61-46FD-19DC-8EEFCD6C5F8F}"/>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AAFAC784-8CA1-6392-3099-E0960AE975C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F19A3686-8E87-E349-87D8-204730117BA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166648F9-8886-2288-E949-EA37533484AD}"/>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4D2CB929-6BBF-AD69-5D55-B33E7445CE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441C62AD-6584-FF00-059C-35E6FF08AC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95CE9576-09C6-1FD2-AEE1-31FA97CBB5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231DA17C-C25B-EF22-AA72-061611DD5DF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6E36F87D-F8B1-0806-E657-A89CEBE133AE}"/>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F819A708-9FB2-9A47-3C81-555BD56D2E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01E920C0-1FBF-FB3B-2FBD-3EA594CE24F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DFB51160-0D26-566C-7BB0-2C552FDF59C8}"/>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EDE411EF-E132-9D73-C9E8-AD8ACD6A95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DF711F00-25FB-B3B8-DBCB-02EFB4FB8F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D5C51528-E120-1FC2-9FA2-9F5EBF03BA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33C36CD7-AF14-D527-EB01-D4A1BCCD45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9E96E5B8-68AE-0EEF-C7ED-A30033FF000E}"/>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0E381B72-2589-0433-E531-C9169B3EB7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F3EFD69F-0F94-1ECC-57BA-EDA42AB13B2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A3F78F4E-E08A-BCC6-028A-6E6D5C7B433D}"/>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239AA419-DAE2-875E-D78D-A48C8494A03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42DEBC3-C283-3ABA-967C-64A200E44A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EE32A94C-2460-4B75-1B27-C454A73B40C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4BEF03FF-A494-BFFE-6113-34B5A53D76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B3E7A706-38A8-39DF-AFB3-5699E9D4C833}"/>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0C861DBB-CA35-6D3E-126A-7DED9CDF9F2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81E53DDD-E475-6AFB-5FEE-BCB3CE9C6F6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1E76AB8F-7565-2732-1EF6-123BD723CA49}"/>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5BB9999C-B464-A471-E84B-D7AEBCA1DA5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C496DBD8-4F51-AD90-53E5-081BCDACDAC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3C7FDFF9-312C-DD32-5536-D37E97DA65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56F998BC-A589-478C-5431-CF648C44EF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95C6FEAD-8F9D-DACA-92BC-65631A307671}"/>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B9B76688-95D4-627D-C984-702DDBE4667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2F14EDD3-3D29-F95F-A55C-BA55C27EBCA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D7A6F655-2AC2-85BC-FBCB-412A28A95C00}"/>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7B73AEB2-E050-6C39-A46E-080B26B6B8E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2A692648-5B4B-962A-0ECE-D2534B3D6FDF}"/>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89D185CC-4AFC-2DA3-B7B6-E69249DDE567}"/>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D9A3F78B-3D46-6423-464F-F84147AC892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A52513CB-4F8A-B173-8F34-3378DA68756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4402E894-7D3E-9CBC-AF94-4CFD8D92233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B5B08D8C-7131-4AE1-EF91-1481DB180D5E}"/>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9289984A-C4E5-E337-F456-2CACAEA0B2A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ADBA72C8-F3BC-A06A-9200-E92AB87BC817}"/>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78E9374D-C3FF-89B0-B27D-346E81081FCE}"/>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04C6515A-EA00-C8D2-9E7B-96177BBAECF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483C1F3B-13DC-0329-DF08-B8363DF6C96E}"/>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8670EC81-5E91-5D6B-F758-F6C3A8D3F86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2852D6D4-730B-1DC0-0B85-9001ACEE32A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3CE48424-C04F-0D0F-F539-3358CC9C08C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F98483C2-3C61-7C59-DDB3-6A10B43D138E}"/>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F7082A5A-08E5-AC36-793F-B5BA7D311CD5}"/>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6CD531DA-F637-92C3-AAE0-405020DADDA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268569EB-0816-7A37-8B88-F180B93C0683}"/>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1C2A0DEC-2AE0-41E7-DC0F-DB9641D41BE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50C3F41-D749-0216-2EFF-3311607AA891}"/>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1756A75F-C153-E89C-589E-4D4CBCC7B5E7}"/>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AF25D74A-9CD1-7AC5-A475-0A466FD2E85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5B41E222-80BE-9C81-6948-F5F802953F0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4A88CF06-F500-2539-0D54-559E6F527EA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04304D73-322B-159F-8A60-BAF0A77496F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545539C8-1B88-0F3E-5D14-AC4BCDAA505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41032DF8-679F-00DB-BDCE-8EA6A92E89B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1055A3A5-9D9D-BD71-C73F-50212EA5927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10874662-967D-92E4-3424-EDA09A377AAE}"/>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2A37DA63-DF20-1B75-4DAE-89DD8C4B28B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7145987C-5DE7-E345-7841-81DEBB6F3B84}"/>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ABA2F164-FB05-0F3B-8E23-9451F7C2A1AF}"/>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661B9E0C-EF12-D923-E5C6-8A10B1BAB317}"/>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94BEAFE4-9F23-716E-8F12-5B00721C45B4}"/>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BE55A52C-A40C-C912-C82E-B10C4CAE1426}"/>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35DE7E4E-A994-E361-3271-AFCDFB60DD0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8D13CA62-61C1-3FE8-C44D-7DB7095AB067}"/>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8A93005C-2700-A198-36EB-8A075FF6349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779585C6-69C6-D8A0-519E-D6DC0CA94BD3}"/>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EBEC0E38-9D2B-2ED5-BA47-08367AA76BC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5CE28A17-BABB-398F-387B-4792BADC017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87F53282-5A59-01B8-FD37-B2D8FD8F6C41}"/>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37FCA2DE-E0DE-6B2D-3BA7-53B3FA855A8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329CB91A-D70D-0A7D-5485-847E82FCA05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055BCD78-D905-6511-68C8-EC2F8093D93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A59AF018-7730-A418-D4F8-DC9595AA55A4}"/>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BB583DB3-1085-3AC7-FD97-5FBA151E77F4}"/>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33D202A7-F530-E324-D231-12C5A1F56D3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82721C70-453E-E311-124B-B8E6281A6F3F}"/>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5EE4795B-7564-072B-836A-87B74B037F1E}"/>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6D03094A-51FD-2BD6-829C-DB217C58D8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A6A804F0-C571-24ED-AF21-17EECA73D99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C94C476C-433A-B7B8-EEDA-53A5C090A5D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58B0B419-D4F1-6569-6E91-FC59AEC32081}"/>
              </a:ext>
            </a:extLst>
          </p:cNvPr>
          <p:cNvGrpSpPr/>
          <p:nvPr/>
        </p:nvGrpSpPr>
        <p:grpSpPr>
          <a:xfrm>
            <a:off x="1893346" y="3955849"/>
            <a:ext cx="7964014" cy="1722627"/>
            <a:chOff x="1247888" y="3937689"/>
            <a:chExt cx="7964014" cy="1722627"/>
          </a:xfrm>
        </p:grpSpPr>
        <p:sp>
          <p:nvSpPr>
            <p:cNvPr id="164" name="Freeform 427">
              <a:extLst>
                <a:ext uri="{FF2B5EF4-FFF2-40B4-BE49-F238E27FC236}">
                  <a16:creationId xmlns:a16="http://schemas.microsoft.com/office/drawing/2014/main" id="{E441EB3F-154E-5133-042E-9E1BFD737232}"/>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37295B06-B057-761C-BAD0-258C205D4104}"/>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2CA8D688-3613-D66C-C957-950CDD883318}"/>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2D29BFAB-2C3F-EFFE-6F80-A0000B1B9B5C}"/>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41D88E46-F979-1B27-CA8B-6E98013C96F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AF7C7FDF-331F-E6E8-CC0F-90B1514BB7B7}"/>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4F08E337-92F9-533C-9380-9156B16D75A1}"/>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A091D3D5-6DF5-BF5E-95D7-F6DA28EF85D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E4BA6916-89A2-E146-08AC-2DCEA786143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5903307-2F28-992A-C750-B424B1F7A2D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B9ECE5A3-227B-CC50-C73A-79EE5F46F98E}"/>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A95663C8-305F-1E64-E40F-F258009BB6E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78D914E4-87B0-4734-6B00-3B09C4CF476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B96CE4BA-DB1E-422F-A376-B3985C1C2C36}"/>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452FC744-8CA2-C315-5B1B-A585E8353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72F94034-DD7C-E580-3084-647BA476342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901ED523-43B8-0110-540E-303CC2E27BAA}"/>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69517FC8-3B75-9393-B8E1-3185E2AA19A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7CFA04F2-BD85-CC06-9744-B7E505CA810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2D7196BB-A6DD-3990-8328-6E16A7CD24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9BC430EC-4101-A954-499E-C88341A813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10CD3267-94B5-75A7-C1B8-7FDA2CDFDB1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4132E2D8-8874-892E-9614-734A1397EA84}"/>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655CA739-B218-9804-6767-FF288B402459}"/>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BE6B3D84-E4B4-C605-AB06-AAB968C05F1C}"/>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C6EEE8D3-3DB3-CABF-FC93-20455E9032FE}"/>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EE0667BC-AF25-AEEE-3BA0-4BD3884414E2}"/>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7C078C6C-B40D-2C36-50B3-577760D10F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7EAA140E-9336-B53B-2B97-DE4C72B07C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33F5D534-71AF-61CF-55E8-8641AD8D5D07}"/>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5120C4D-395C-EA3F-48D4-60553B9CA83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3C76E6F4-8604-964E-EE64-FCBEDBE3557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B13E132-ED79-A1B5-9B90-2D1D62F6F2C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CD8D7DA6-B4E0-9F20-2D3F-0B7AAA15735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BA9FAAEA-CE67-A44E-63A8-C782683623C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698D4089-68AB-FD6B-99BD-49B87B5035B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A37AC39B-8144-3F95-1D72-1CEFFF890660}"/>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9D9D757B-004B-FE70-91B8-9FA5B52B3A34}"/>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85E243F1-E02D-4A8E-88DC-7DF33D5FCF82}"/>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590CEC3A-FFD5-FC3C-C97C-FDB03E3AFBA9}"/>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624EA3FF-4106-C606-37F7-8290B91FC6B2}"/>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AB35B675-7E4D-4A36-1681-65BA98141BBC}"/>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588CEAB6-BC70-7F2D-ADA4-4930041D799F}"/>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BF88CC35-21D6-22DE-9EA9-3F2DF603CBFD}"/>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37C6AD44-F3E6-6256-E564-E7D7454236D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36CA3B2-0F55-C398-7E23-6874BAC2CDBC}"/>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9168A8D5-51A2-2815-53D1-FA25EB35163A}"/>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1D311F44-3620-29F8-CB1F-584B673C91B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107D10C9-490B-F039-0523-B5635CAFB3ED}"/>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F4F60A7E-6739-C564-2D12-0CEDF3C10D9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18D08CE3-3576-818A-E289-4E3C494A06B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05E048C0-353B-1B66-CECF-8D33950DFABA}"/>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52E7DFF4-1AD8-97DC-ACE0-3B14ED034B2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0BD33C69-F72E-5FC9-340E-1B456735ACEA}"/>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B130E216-C4A1-5907-CBC2-83EC46D3E29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6F1D58B2-8F1B-3C30-9279-613CBC3F3E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A12B0216-9121-AAF5-B177-B91B1556E2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AAEBF503-9F68-8E27-A7F6-30BA681D1C2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99B671CD-D063-3EF8-87DB-18E7919C236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ECEA3DE5-BA48-8BB0-B5D2-CA495DE2A72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366B38D2-5192-0D4C-36D8-66FF231A04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DA9D4C9F-5639-650A-7457-E0C0EB7AEF9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70F8CF56-864D-041F-13EC-44E5BEF85843}"/>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90A566B0-9F5D-F82B-E29C-5EB9273DC06B}"/>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A65F2F53-DAE6-857C-50C9-8E77DD14C89C}"/>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9A925C84-61D0-789A-AA37-296A56A4D285}"/>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8F329B33-E9EF-2F6A-694D-D23FD6874A1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660F8AA6-FBB9-4B92-44D0-BA02BDF7F33D}"/>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E7ABB32C-1C16-5168-C2FC-19329722C4B8}"/>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07AE4217-D379-AAB5-B029-739902B82FE1}"/>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F6310EEB-E031-7D61-630B-82C3FE43A62F}"/>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B9B12863-8D19-ADF4-D7C5-AC00E8FE7624}"/>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8A8FD306-6770-0595-87C5-A3B538C26B89}"/>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4AE5A440-AD86-3183-45C1-22592C7D9ECC}"/>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ECDAB074-E5A3-B761-A612-2EAAFC2E163A}"/>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2EC027AC-8C8C-E576-BB7D-394056678917}"/>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E6E655AE-771A-4AA1-CED8-CE0B976E59C5}"/>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490E8B70-B433-C34B-9481-490A659FAC1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C4DE82C0-F023-6554-4A0E-7EC23C08039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8466DAC-258C-A7E9-15F1-0DD37715A8F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D59441D-A3DD-8C34-E78F-FD1528EA7A2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D6FC294F-A1E9-C327-B931-CA86EC15E69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2AE70E93-E453-F493-6CC8-73B65A0C2AB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0990EC8F-1219-2D09-6C50-13B704ED4D9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12517589-828E-57F2-4356-A60D4753FDB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0CF4A796-9BB1-70DA-F2CC-6827873131D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6A186465-9A3D-829A-70F4-508E90201799}"/>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E841012A-6F1D-7DFE-9B33-4B8E6DAFA5F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9A9838A0-3D11-98BC-550B-1597C64E0E2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64C64CE7-501B-692C-F602-ECEAAC5B160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3BD9C8FD-6BC9-B407-4FC4-DB895DC449B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58DB1A6F-DAF4-A958-8686-FC394A544BD2}"/>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2D8499C7-784F-C726-1F2F-00E1E37E99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23139C3B-5F3E-CBB3-EEB4-7E1E7966B8C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FF747437-502B-49C9-EB0A-C117307378D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FEAC6959-860D-A4DB-594D-8D0018B51EA2}"/>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C5CE40B4-718C-7C1F-C121-9A0C35F9424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54A2FEB9-B7F1-D75C-A930-77C8743BDC0C}"/>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1D7E1C7A-B7B9-CB4F-1D4D-D7B429F1FB6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643A11A6-B657-5498-D05D-520F6244777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3C18F480-B625-B644-BDE9-D8F443B8FF1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0A845967-7DC7-15F1-C4CC-E1694491996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9C4F4F69-21C5-54F8-920B-DDDD89CF78C8}"/>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3AE3369-6B28-AE42-C8D3-CF9FF3FA983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EC6C694D-3C65-D0F4-1D1E-661C054B5B6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BC627030-7007-EFE0-2D00-D50F0DA573B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D60D501A-0A80-7ABC-4218-7FF4C39A490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78C3108B-0987-3C29-7ADB-542BE20F90D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8B79F646-3A93-7141-5688-752864EB05F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1E5B8E94-5B57-603A-3325-9877484599A0}"/>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3780D636-CF38-FF94-7740-B69D8B749183}"/>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40B3923B-B932-A65D-461F-87BDF8202F96}"/>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3120E616-D016-D726-E86E-0B3AB18A89F4}"/>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39636ADD-DBA8-0AC8-A503-26E035086F4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AFA1F645-E41D-6148-63DA-AB8B8F310ADF}"/>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5F81D876-CF28-30F2-8E55-EFB342DD7E5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719F6C35-3BF7-5B84-AEDF-0423B9C965F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019E3057-6CDA-FAD0-2294-A050C3A030E5}"/>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B3D247BC-EEBC-A15D-4BC5-CCF774AD4F9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C4B357AA-2FBE-A861-D13E-62D4E22FDFA5}"/>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57F26AD8-45A9-F08C-8A15-036E793548D9}"/>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052AFFD0-686C-AFE2-4A6B-F25E1517239E}"/>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3308C40-7061-CA12-9BD1-23A167023DF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01F36B2-17EA-8D5D-DB9D-57359EB1C286}"/>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5FCB73C2-34AF-858A-CDE8-FBADF27BCC10}"/>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214F5DA3-8FA4-F99D-9EA9-7C799C339405}"/>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622A6741-DC17-10A9-F5EF-550CD6551B0B}"/>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AC2AC1FA-A70B-286A-BAA3-A020600B1DAE}"/>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E529AB80-9530-DA7C-9E27-DE74896104DA}"/>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31C3B070-1155-24D6-62FF-87CF6790922F}"/>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F51A26D9-325D-3880-B5FF-C3045F1AF87B}"/>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9219A7C8-1129-455C-ACB8-98E3DA955F90}"/>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669377CB-CFBF-CB89-8A95-25FDF53A4128}"/>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FFBDC98C-D569-7168-4DDA-A8EFE7DE327D}"/>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EB31C585-22B0-8AC5-8775-0375A193F57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DC84811A-709A-CFD7-07EB-C6E846B04DF1}"/>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9435FC26-688F-5241-042D-C9E493426207}"/>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ADBEEDAC-6AF2-A43A-6009-0CF3C315ABD9}"/>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5F949FC1-B12E-CAFE-77DE-367B99D846A1}"/>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2058541E-99B2-4C22-F29C-0AD08307D82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64931AF1-6C11-389E-5B5E-78401482943D}"/>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FBCFD751-6565-84CE-2D81-541D257072E0}"/>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CF67F6C7-BCD5-206E-1581-94BD0AB9E5F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8C895B9A-A90B-59E7-1E83-190764E666A0}"/>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D86E1822-51FE-C82E-1981-BC899CC07EC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3A813AB5-D323-F2CE-DD4D-C1CD5746905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1FAEB377-A374-E1A2-9996-0A1133CFD1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AAC2F225-D3F7-46C3-2684-3F9B4118643B}"/>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DED01309-92EC-7FCF-1C09-A52BE543AC8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E35777DC-F84D-DAE1-FA9F-76A3852949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1DC411EC-210B-01ED-1C60-7FCB4F6C054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8E49904F-DD22-32A5-1F67-E775A6D4DE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4479E773-3F56-DB0B-3BBC-CF7F03284E50}"/>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D5F65A6B-7AF7-45E0-E2AC-F2F0F3AD9CB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F4C5EC35-2476-A3DB-C67C-1259124858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3B633774-37D5-B302-625A-4231C9ECD872}"/>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4085AC40-5E90-CBB5-0541-74E70BFC8E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D8CF12E-F337-7917-F038-F044A0890F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2363FEC0-4DAC-040D-946F-549198C1BF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C853C694-F935-8CC3-9C15-6CBE78B9D5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6E593267-8C11-775E-6126-9E7C7292414D}"/>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A6472EA7-73E9-0B7F-6F76-F7E4AA77F94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540F2C0D-FD27-D3A5-CBD1-2B2BCED2333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4304745F-3AC3-70E2-A19E-2B61F41EBF96}"/>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7F990D0E-4682-EC6D-0FEA-C733F90BD71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17ADE4F-7CF1-BE9A-EA6C-8FA27FFD6E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26E9740-8AB6-CD80-BD08-B31BE919AF8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B0AB6D95-D810-909F-293C-7F8DF449D8B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6CFF659-7B02-B743-AA79-98E215D875C2}"/>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3145704B-6214-8B20-D1CC-D4E42A5DD6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8FA6FC93-D5F5-14B0-DE95-AC85653593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93558EFE-E538-79C7-29B5-B1B9F70D1D15}"/>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4F67B766-6735-85E6-1F14-C9D336641F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2BDD9E16-A845-A22D-B791-0EC1F8053F4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9D6302FC-6D58-D8F9-D77D-CC7C911ECA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BE073615-DB6C-1B3B-DE8A-8D0C205B3AA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8D246BC6-5FE0-637D-FA7C-37DBC91DF092}"/>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951BF90-8F84-4B66-BAA2-6D2F4FB66AF8}"/>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E9816F3D-9F33-2D3F-7D13-65B470751779}"/>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F12407BA-3F72-4803-AEB6-4A523C8B01A4}"/>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87923FE4-190C-B93C-CDFA-ABAB21A8B37D}"/>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412F96C3-42A3-1C11-FF04-913ED3875618}"/>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3B3D7167-E989-8C91-7393-E7F6E65767AD}"/>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78443DB6-8011-78B2-7F34-D7CCE26B5FA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7A434D10-698F-75EC-853B-4CC96F26EFD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0D788EF3-A23F-2E41-10FD-6FA84559F6E2}"/>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5284CFD-91E0-5E4D-B015-367057E1D3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0FE22CDB-A0CE-5560-EF42-9ADF5B2A33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7F381432-3C29-A4F7-359F-0C4EF537EA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FD4D4330-7E35-0A7C-99A2-60120CBAB22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723BADDD-C242-74E6-F67B-2B69FFD0307A}"/>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A9B08DF8-B415-E4CE-34FC-F1F4D8FF092F}"/>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04EA48B7-4716-5DD5-D920-6ACF45188CC8}"/>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CB60471B-C6D3-47D2-24A3-E37D6A4BA480}"/>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80B1273D-F26C-DB51-CAAC-A307EEAEFD08}"/>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1DF22F1-D288-6E1B-9EE2-9D32EFE75E7D}"/>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CC9D24F6-37C3-D85A-44B9-C67D34B026DE}"/>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0875EA53-0594-598B-F4DE-BE9473FF630F}"/>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2781118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end-to-end argument</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184024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39444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
        <p:nvSpPr>
          <p:cNvPr id="2" name="TextBox 1">
            <a:extLst>
              <a:ext uri="{FF2B5EF4-FFF2-40B4-BE49-F238E27FC236}">
                <a16:creationId xmlns:a16="http://schemas.microsoft.com/office/drawing/2014/main" id="{F0509A99-AA23-25A9-47FE-B53F8198F3E5}"/>
              </a:ext>
            </a:extLst>
          </p:cNvPr>
          <p:cNvSpPr txBox="1"/>
          <p:nvPr/>
        </p:nvSpPr>
        <p:spPr>
          <a:xfrm rot="817653">
            <a:off x="1024128" y="2773335"/>
            <a:ext cx="375424" cy="584775"/>
          </a:xfrm>
          <a:prstGeom prst="rect">
            <a:avLst/>
          </a:prstGeom>
          <a:noFill/>
        </p:spPr>
        <p:txBody>
          <a:bodyPr wrap="none" rtlCol="0">
            <a:spAutoFit/>
          </a:bodyPr>
          <a:lstStyle/>
          <a:p>
            <a:r>
              <a:rPr lang="en-US" sz="3200" b="1" dirty="0">
                <a:solidFill>
                  <a:srgbClr val="C00000"/>
                </a:solidFill>
              </a:rPr>
              <a:t>?</a:t>
            </a:r>
          </a:p>
        </p:txBody>
      </p:sp>
      <p:sp>
        <p:nvSpPr>
          <p:cNvPr id="3" name="TextBox 2">
            <a:extLst>
              <a:ext uri="{FF2B5EF4-FFF2-40B4-BE49-F238E27FC236}">
                <a16:creationId xmlns:a16="http://schemas.microsoft.com/office/drawing/2014/main" id="{87B929A5-005C-0E2F-B514-836D85130AB4}"/>
              </a:ext>
            </a:extLst>
          </p:cNvPr>
          <p:cNvSpPr txBox="1"/>
          <p:nvPr/>
        </p:nvSpPr>
        <p:spPr>
          <a:xfrm rot="20769376">
            <a:off x="901805" y="3969799"/>
            <a:ext cx="375424" cy="584775"/>
          </a:xfrm>
          <a:prstGeom prst="rect">
            <a:avLst/>
          </a:prstGeom>
          <a:noFill/>
        </p:spPr>
        <p:txBody>
          <a:bodyPr wrap="none" rtlCol="0">
            <a:spAutoFit/>
          </a:bodyPr>
          <a:lstStyle/>
          <a:p>
            <a:r>
              <a:rPr lang="en-US" sz="3200" b="1" dirty="0">
                <a:solidFill>
                  <a:srgbClr val="C00000"/>
                </a:solidFill>
              </a:rPr>
              <a:t>?</a:t>
            </a:r>
          </a:p>
        </p:txBody>
      </p:sp>
      <p:sp>
        <p:nvSpPr>
          <p:cNvPr id="4" name="TextBox 3">
            <a:extLst>
              <a:ext uri="{FF2B5EF4-FFF2-40B4-BE49-F238E27FC236}">
                <a16:creationId xmlns:a16="http://schemas.microsoft.com/office/drawing/2014/main" id="{30D0847A-51E2-719F-3DB4-412ABECD250D}"/>
              </a:ext>
            </a:extLst>
          </p:cNvPr>
          <p:cNvSpPr txBox="1"/>
          <p:nvPr/>
        </p:nvSpPr>
        <p:spPr>
          <a:xfrm rot="20769376">
            <a:off x="416271" y="3428706"/>
            <a:ext cx="375424" cy="584775"/>
          </a:xfrm>
          <a:prstGeom prst="rect">
            <a:avLst/>
          </a:prstGeom>
          <a:noFill/>
        </p:spPr>
        <p:txBody>
          <a:bodyPr wrap="square" rtlCol="0">
            <a:spAutoFit/>
          </a:bodyPr>
          <a:lstStyle/>
          <a:p>
            <a:r>
              <a:rPr lang="en-US" sz="3200" b="1" dirty="0">
                <a:solidFill>
                  <a:srgbClr val="C00000"/>
                </a:solidFill>
              </a:rPr>
              <a:t>?</a:t>
            </a:r>
          </a:p>
        </p:txBody>
      </p:sp>
      <p:sp>
        <p:nvSpPr>
          <p:cNvPr id="5" name="TextBox 4">
            <a:extLst>
              <a:ext uri="{FF2B5EF4-FFF2-40B4-BE49-F238E27FC236}">
                <a16:creationId xmlns:a16="http://schemas.microsoft.com/office/drawing/2014/main" id="{38431551-92EB-C0EA-9E55-10629DED3E18}"/>
              </a:ext>
            </a:extLst>
          </p:cNvPr>
          <p:cNvSpPr txBox="1"/>
          <p:nvPr/>
        </p:nvSpPr>
        <p:spPr>
          <a:xfrm rot="766792">
            <a:off x="1109069" y="3390679"/>
            <a:ext cx="375424" cy="584775"/>
          </a:xfrm>
          <a:prstGeom prst="rect">
            <a:avLst/>
          </a:prstGeom>
          <a:noFill/>
        </p:spPr>
        <p:txBody>
          <a:bodyPr wrap="none" rtlCol="0">
            <a:spAutoFit/>
          </a:bodyPr>
          <a:lstStyle/>
          <a:p>
            <a:r>
              <a:rPr lang="en-US" sz="3200" b="1" dirty="0">
                <a:solidFill>
                  <a:srgbClr val="C00000"/>
                </a:solidFill>
              </a:rPr>
              <a:t>?</a:t>
            </a:r>
          </a:p>
        </p:txBody>
      </p:sp>
      <p:sp>
        <p:nvSpPr>
          <p:cNvPr id="6" name="TextBox 5">
            <a:extLst>
              <a:ext uri="{FF2B5EF4-FFF2-40B4-BE49-F238E27FC236}">
                <a16:creationId xmlns:a16="http://schemas.microsoft.com/office/drawing/2014/main" id="{F81FDB00-5D38-58C5-0E46-4F3575739CAD}"/>
              </a:ext>
            </a:extLst>
          </p:cNvPr>
          <p:cNvSpPr txBox="1"/>
          <p:nvPr/>
        </p:nvSpPr>
        <p:spPr>
          <a:xfrm rot="817653">
            <a:off x="10890792" y="1874981"/>
            <a:ext cx="375424" cy="584775"/>
          </a:xfrm>
          <a:prstGeom prst="rect">
            <a:avLst/>
          </a:prstGeom>
          <a:noFill/>
        </p:spPr>
        <p:txBody>
          <a:bodyPr wrap="none" rtlCol="0">
            <a:spAutoFit/>
          </a:bodyPr>
          <a:lstStyle/>
          <a:p>
            <a:r>
              <a:rPr lang="en-US" sz="3200" b="1" dirty="0">
                <a:solidFill>
                  <a:srgbClr val="C00000"/>
                </a:solidFill>
              </a:rPr>
              <a:t>?</a:t>
            </a:r>
          </a:p>
        </p:txBody>
      </p:sp>
      <p:sp>
        <p:nvSpPr>
          <p:cNvPr id="362" name="TextBox 361">
            <a:extLst>
              <a:ext uri="{FF2B5EF4-FFF2-40B4-BE49-F238E27FC236}">
                <a16:creationId xmlns:a16="http://schemas.microsoft.com/office/drawing/2014/main" id="{28246226-00E1-DDA4-A125-661E970EA0FB}"/>
              </a:ext>
            </a:extLst>
          </p:cNvPr>
          <p:cNvSpPr txBox="1"/>
          <p:nvPr/>
        </p:nvSpPr>
        <p:spPr>
          <a:xfrm rot="20769376">
            <a:off x="10768469" y="3071445"/>
            <a:ext cx="375424" cy="584775"/>
          </a:xfrm>
          <a:prstGeom prst="rect">
            <a:avLst/>
          </a:prstGeom>
          <a:noFill/>
        </p:spPr>
        <p:txBody>
          <a:bodyPr wrap="none" rtlCol="0">
            <a:spAutoFit/>
          </a:bodyPr>
          <a:lstStyle/>
          <a:p>
            <a:r>
              <a:rPr lang="en-US" sz="3200" b="1" dirty="0">
                <a:solidFill>
                  <a:srgbClr val="C00000"/>
                </a:solidFill>
              </a:rPr>
              <a:t>?</a:t>
            </a:r>
          </a:p>
        </p:txBody>
      </p:sp>
      <p:sp>
        <p:nvSpPr>
          <p:cNvPr id="363" name="TextBox 362">
            <a:extLst>
              <a:ext uri="{FF2B5EF4-FFF2-40B4-BE49-F238E27FC236}">
                <a16:creationId xmlns:a16="http://schemas.microsoft.com/office/drawing/2014/main" id="{30AC24EE-004D-C624-D22E-4479313C7FFA}"/>
              </a:ext>
            </a:extLst>
          </p:cNvPr>
          <p:cNvSpPr txBox="1"/>
          <p:nvPr/>
        </p:nvSpPr>
        <p:spPr>
          <a:xfrm rot="20769376">
            <a:off x="10282935" y="2512064"/>
            <a:ext cx="375424" cy="584775"/>
          </a:xfrm>
          <a:prstGeom prst="rect">
            <a:avLst/>
          </a:prstGeom>
          <a:noFill/>
        </p:spPr>
        <p:txBody>
          <a:bodyPr wrap="square" rtlCol="0">
            <a:spAutoFit/>
          </a:bodyPr>
          <a:lstStyle/>
          <a:p>
            <a:r>
              <a:rPr lang="en-US" sz="3200" b="1" dirty="0">
                <a:solidFill>
                  <a:srgbClr val="C00000"/>
                </a:solidFill>
              </a:rPr>
              <a:t>?</a:t>
            </a:r>
          </a:p>
        </p:txBody>
      </p:sp>
      <p:sp>
        <p:nvSpPr>
          <p:cNvPr id="364" name="TextBox 363">
            <a:extLst>
              <a:ext uri="{FF2B5EF4-FFF2-40B4-BE49-F238E27FC236}">
                <a16:creationId xmlns:a16="http://schemas.microsoft.com/office/drawing/2014/main" id="{7A78F2C8-C17C-3566-3286-435A835475DC}"/>
              </a:ext>
            </a:extLst>
          </p:cNvPr>
          <p:cNvSpPr txBox="1"/>
          <p:nvPr/>
        </p:nvSpPr>
        <p:spPr>
          <a:xfrm rot="766792">
            <a:off x="10975733" y="2492325"/>
            <a:ext cx="375424" cy="584775"/>
          </a:xfrm>
          <a:prstGeom prst="rect">
            <a:avLst/>
          </a:prstGeom>
          <a:noFill/>
        </p:spPr>
        <p:txBody>
          <a:bodyPr wrap="none" rtlCol="0">
            <a:spAutoFit/>
          </a:bodyPr>
          <a:lstStyle/>
          <a:p>
            <a:r>
              <a:rPr lang="en-US" sz="3200" b="1" dirty="0">
                <a:solidFill>
                  <a:srgbClr val="C00000"/>
                </a:solidFill>
              </a:rPr>
              <a:t>?</a:t>
            </a:r>
          </a:p>
        </p:txBody>
      </p:sp>
    </p:spTree>
    <p:extLst>
      <p:ext uri="{BB962C8B-B14F-4D97-AF65-F5344CB8AC3E}">
        <p14:creationId xmlns:p14="http://schemas.microsoft.com/office/powerpoint/2010/main" val="18981229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end-to-end argument</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37009" y="183824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Saltzer, Reed, Clark 1981</a:t>
              </a:r>
            </a:p>
          </p:txBody>
        </p:sp>
      </p:gr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end-to-end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523220"/>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 the Internet, the choice ended up being…</a:t>
            </a:r>
            <a:endPar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
        <p:nvSpPr>
          <p:cNvPr id="366" name="TextBox 365">
            <a:extLst>
              <a:ext uri="{FF2B5EF4-FFF2-40B4-BE49-F238E27FC236}">
                <a16:creationId xmlns:a16="http://schemas.microsoft.com/office/drawing/2014/main" id="{98611AC4-8EA1-3B3D-7C6C-59D04D278800}"/>
              </a:ext>
            </a:extLst>
          </p:cNvPr>
          <p:cNvSpPr txBox="1"/>
          <p:nvPr/>
        </p:nvSpPr>
        <p:spPr>
          <a:xfrm>
            <a:off x="617963" y="2828017"/>
            <a:ext cx="877994" cy="861774"/>
          </a:xfrm>
          <a:prstGeom prst="rect">
            <a:avLst/>
          </a:prstGeom>
          <a:noFill/>
        </p:spPr>
        <p:txBody>
          <a:bodyPr wrap="square" rtlCol="0">
            <a:spAutoFit/>
          </a:bodyPr>
          <a:lstStyle/>
          <a:p>
            <a:r>
              <a:rPr lang="en-US" sz="5000" dirty="0"/>
              <a:t>👍</a:t>
            </a:r>
          </a:p>
        </p:txBody>
      </p:sp>
      <p:sp>
        <p:nvSpPr>
          <p:cNvPr id="367" name="TextBox 366">
            <a:extLst>
              <a:ext uri="{FF2B5EF4-FFF2-40B4-BE49-F238E27FC236}">
                <a16:creationId xmlns:a16="http://schemas.microsoft.com/office/drawing/2014/main" id="{91C9ACE1-ABBB-FCDC-8996-77FC82CC8F43}"/>
              </a:ext>
            </a:extLst>
          </p:cNvPr>
          <p:cNvSpPr txBox="1"/>
          <p:nvPr/>
        </p:nvSpPr>
        <p:spPr>
          <a:xfrm>
            <a:off x="622223" y="4957832"/>
            <a:ext cx="877994" cy="861774"/>
          </a:xfrm>
          <a:prstGeom prst="rect">
            <a:avLst/>
          </a:prstGeom>
          <a:noFill/>
        </p:spPr>
        <p:txBody>
          <a:bodyPr wrap="square" rtlCol="0">
            <a:spAutoFit/>
          </a:bodyPr>
          <a:lstStyle/>
          <a:p>
            <a:r>
              <a:rPr lang="en-US" sz="5000" dirty="0"/>
              <a:t>👎</a:t>
            </a:r>
          </a:p>
        </p:txBody>
      </p:sp>
    </p:spTree>
    <p:extLst>
      <p:ext uri="{BB962C8B-B14F-4D97-AF65-F5344CB8AC3E}">
        <p14:creationId xmlns:p14="http://schemas.microsoft.com/office/powerpoint/2010/main" val="342400963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Autofit/>
          </a:bodyPr>
          <a:lstStyle/>
          <a:p>
            <a:r>
              <a:rPr lang="en-US" sz="3600" dirty="0"/>
              <a:t>Side note: end-to-end argument is not set in stone</a:t>
            </a:r>
          </a:p>
        </p:txBody>
      </p:sp>
      <p:sp>
        <p:nvSpPr>
          <p:cNvPr id="7" name="TextBox 6">
            <a:extLst>
              <a:ext uri="{FF2B5EF4-FFF2-40B4-BE49-F238E27FC236}">
                <a16:creationId xmlns:a16="http://schemas.microsoft.com/office/drawing/2014/main" id="{ADDAB9EC-7AA2-8B48-A30E-1B64A4D5E42D}"/>
              </a:ext>
            </a:extLst>
          </p:cNvPr>
          <p:cNvSpPr txBox="1"/>
          <p:nvPr/>
        </p:nvSpPr>
        <p:spPr>
          <a:xfrm>
            <a:off x="879763" y="1659285"/>
            <a:ext cx="10474037" cy="3970318"/>
          </a:xfrm>
          <a:prstGeom prst="rect">
            <a:avLst/>
          </a:prstGeom>
          <a:noFill/>
        </p:spPr>
        <p:txBody>
          <a:bodyPr wrap="square" rtlCol="0">
            <a:spAutoFit/>
          </a:bodyPr>
          <a:lstStyle/>
          <a:p>
            <a:pPr marL="285750" marR="0" lvl="0" indent="-285750" algn="l" defTabSz="914400" rtl="0" eaLnBrk="1" fontAlgn="auto" latinLnBrk="0" hangingPunct="1">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schemeClr val="tx1">
                    <a:lumMod val="85000"/>
                    <a:lumOff val="15000"/>
                  </a:schemeClr>
                </a:solidFill>
                <a:effectLst/>
                <a:uLnTx/>
                <a:uFillTx/>
                <a:latin typeface="Calibri" panose="020F0502020204030204"/>
                <a:ea typeface="+mn-ea"/>
                <a:cs typeface="+mn-cs"/>
              </a:rPr>
              <a:t>This was a design decision made by the designers of the Internet protocol stack to meet their requirements for the Internet</a:t>
            </a:r>
          </a:p>
          <a:p>
            <a:pPr marL="285750" marR="0" lvl="0" indent="-285750" algn="l" defTabSz="914400" rtl="0" eaLnBrk="1" fontAlgn="auto" latinLnBrk="0" hangingPunct="1">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schemeClr val="tx1">
                    <a:lumMod val="85000"/>
                    <a:lumOff val="15000"/>
                  </a:schemeClr>
                </a:solidFill>
                <a:effectLst/>
                <a:uLnTx/>
                <a:uFillTx/>
                <a:latin typeface="Calibri" panose="020F0502020204030204"/>
                <a:ea typeface="+mn-ea"/>
                <a:cs typeface="+mn-cs"/>
              </a:rPr>
              <a:t>Other networks with different requirements can make different choices</a:t>
            </a:r>
          </a:p>
          <a:p>
            <a:pPr marL="285750" marR="0" lvl="0" indent="-285750" algn="l" defTabSz="914400" rtl="0" eaLnBrk="1" fontAlgn="auto" latinLnBrk="0" hangingPunct="1">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schemeClr val="tx1">
                    <a:lumMod val="85000"/>
                    <a:lumOff val="15000"/>
                  </a:schemeClr>
                </a:solidFill>
                <a:effectLst/>
                <a:uLnTx/>
                <a:uFillTx/>
                <a:latin typeface="Calibri" panose="020F0502020204030204"/>
                <a:ea typeface="+mn-ea"/>
                <a:cs typeface="+mn-cs"/>
              </a:rPr>
              <a:t>For example, the InfiniBand protocol stack offers reliable data transfer at the network layer</a:t>
            </a:r>
          </a:p>
          <a:p>
            <a:pPr marL="742950" lvl="1" indent="-285750">
              <a:buClr>
                <a:srgbClr val="010F90"/>
              </a:buClr>
              <a:buFont typeface="Wingdings" pitchFamily="2" charset="2"/>
              <a:buChar char="§"/>
              <a:defRPr/>
            </a:pPr>
            <a:r>
              <a:rPr lang="en-US" sz="2800" dirty="0">
                <a:solidFill>
                  <a:schemeClr val="tx1">
                    <a:lumMod val="85000"/>
                    <a:lumOff val="15000"/>
                  </a:schemeClr>
                </a:solidFill>
                <a:latin typeface="Calibri" panose="020F0502020204030204"/>
              </a:rPr>
              <a:t>No packets will be lost!</a:t>
            </a:r>
          </a:p>
          <a:p>
            <a:pPr marL="742950" lvl="1" indent="-285750">
              <a:buClr>
                <a:srgbClr val="010F90"/>
              </a:buClr>
              <a:buFont typeface="Wingdings" pitchFamily="2" charset="2"/>
              <a:buChar char="§"/>
              <a:defRPr/>
            </a:pPr>
            <a:r>
              <a:rPr lang="en-US" sz="2800" dirty="0">
                <a:solidFill>
                  <a:schemeClr val="tx1">
                    <a:lumMod val="85000"/>
                    <a:lumOff val="15000"/>
                  </a:schemeClr>
                </a:solidFill>
                <a:latin typeface="Calibri" panose="020F0502020204030204"/>
              </a:rPr>
              <a:t>More limited in scale</a:t>
            </a:r>
          </a:p>
          <a:p>
            <a:pPr marL="742950" lvl="1" indent="-285750">
              <a:buClr>
                <a:srgbClr val="010F90"/>
              </a:buClr>
              <a:buFont typeface="Wingdings" pitchFamily="2" charset="2"/>
              <a:buChar char="§"/>
              <a:defRPr/>
            </a:pPr>
            <a:r>
              <a:rPr lang="en-US" sz="2800" dirty="0">
                <a:solidFill>
                  <a:schemeClr val="tx1">
                    <a:lumMod val="85000"/>
                    <a:lumOff val="15000"/>
                  </a:schemeClr>
                </a:solidFill>
                <a:latin typeface="Calibri" panose="020F0502020204030204"/>
              </a:rPr>
              <a:t>Can’t easily inter-operate with the Internet</a:t>
            </a:r>
          </a:p>
        </p:txBody>
      </p:sp>
    </p:spTree>
    <p:extLst>
      <p:ext uri="{BB962C8B-B14F-4D97-AF65-F5344CB8AC3E}">
        <p14:creationId xmlns:p14="http://schemas.microsoft.com/office/powerpoint/2010/main" val="166700940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388574AA-142F-0D6B-A1A7-242CC4A1C92C}"/>
              </a:ext>
            </a:extLst>
          </p:cNvPr>
          <p:cNvSpPr>
            <a:spLocks noGrp="1"/>
          </p:cNvSpPr>
          <p:nvPr>
            <p:ph idx="1"/>
          </p:nvPr>
        </p:nvSpPr>
        <p:spPr/>
        <p:txBody>
          <a:bodyPr/>
          <a:lstStyle/>
          <a:p>
            <a:r>
              <a:rPr lang="en-US" dirty="0"/>
              <a:t>What the end-to-end argument is</a:t>
            </a:r>
          </a:p>
          <a:p>
            <a:pPr lvl="1"/>
            <a:r>
              <a:rPr lang="en-US" dirty="0"/>
              <a:t>With an example</a:t>
            </a:r>
          </a:p>
          <a:p>
            <a:r>
              <a:rPr lang="en-US" dirty="0"/>
              <a:t>How it affected the design of the Internet and its protocol stack</a:t>
            </a:r>
          </a:p>
        </p:txBody>
      </p:sp>
      <p:sp>
        <p:nvSpPr>
          <p:cNvPr id="3" name="Title 2">
            <a:extLst>
              <a:ext uri="{FF2B5EF4-FFF2-40B4-BE49-F238E27FC236}">
                <a16:creationId xmlns:a16="http://schemas.microsoft.com/office/drawing/2014/main" id="{B3667C05-69B8-1C53-F34D-8259E39BF4BC}"/>
              </a:ext>
            </a:extLst>
          </p:cNvPr>
          <p:cNvSpPr>
            <a:spLocks noGrp="1"/>
          </p:cNvSpPr>
          <p:nvPr>
            <p:ph type="title"/>
          </p:nvPr>
        </p:nvSpPr>
        <p:spPr/>
        <p:txBody>
          <a:bodyPr/>
          <a:lstStyle/>
          <a:p>
            <a:r>
              <a:rPr lang="en-US" dirty="0"/>
              <a:t>Make sure you know</a:t>
            </a:r>
          </a:p>
        </p:txBody>
      </p:sp>
      <p:sp>
        <p:nvSpPr>
          <p:cNvPr id="4" name="Slide Number Placeholder 3">
            <a:extLst>
              <a:ext uri="{FF2B5EF4-FFF2-40B4-BE49-F238E27FC236}">
                <a16:creationId xmlns:a16="http://schemas.microsoft.com/office/drawing/2014/main" id="{255C6443-6B09-DEB9-C617-B9544469E8D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318127222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8F9310-A934-E05B-0A00-8B7DF6A0FE6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DF77019-7520-7DA6-FFEF-FAF43EAF2DA4}"/>
              </a:ext>
            </a:extLst>
          </p:cNvPr>
          <p:cNvSpPr>
            <a:spLocks noGrp="1"/>
          </p:cNvSpPr>
          <p:nvPr>
            <p:ph type="title"/>
          </p:nvPr>
        </p:nvSpPr>
        <p:spPr/>
        <p:txBody>
          <a:bodyPr/>
          <a:lstStyle/>
          <a:p>
            <a:r>
              <a:rPr lang="en-US">
                <a:cs typeface="Calibri" panose="020F0502020204030204" pitchFamily="34" charset="0"/>
              </a:rPr>
              <a:t>Network Layer in the Internet</a:t>
            </a:r>
            <a:endParaRPr lang="en-US"/>
          </a:p>
        </p:txBody>
      </p:sp>
      <p:sp>
        <p:nvSpPr>
          <p:cNvPr id="4" name="Content Placeholder 2">
            <a:extLst>
              <a:ext uri="{FF2B5EF4-FFF2-40B4-BE49-F238E27FC236}">
                <a16:creationId xmlns:a16="http://schemas.microsoft.com/office/drawing/2014/main" id="{F5FE9A7E-66EA-F5BC-2C17-BA147AA08C9B}"/>
              </a:ext>
            </a:extLst>
          </p:cNvPr>
          <p:cNvSpPr txBox="1">
            <a:spLocks/>
          </p:cNvSpPr>
          <p:nvPr/>
        </p:nvSpPr>
        <p:spPr>
          <a:xfrm>
            <a:off x="6386467" y="1572571"/>
            <a:ext cx="5736124" cy="44827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212725">
              <a:buFont typeface="Wingdings" charset="2"/>
              <a:buChar char="§"/>
              <a:defRPr/>
            </a:pPr>
            <a:r>
              <a:rPr lang="en-US" sz="3200" dirty="0"/>
              <a:t>Beyond destination-based routing and forwarding</a:t>
            </a:r>
          </a:p>
          <a:p>
            <a:pPr lvl="1">
              <a:defRPr/>
            </a:pPr>
            <a:r>
              <a:rPr lang="en-US" altLang="en-US" sz="2800" u="sng" dirty="0">
                <a:ea typeface="ＭＳ Ｐゴシック" panose="020B0600070205080204" pitchFamily="34" charset="-128"/>
                <a:cs typeface="Arial" panose="020B0604020202020204" pitchFamily="34" charset="0"/>
              </a:rPr>
              <a:t>The end-to-end argument</a:t>
            </a:r>
          </a:p>
          <a:p>
            <a:pPr lvl="1">
              <a:defRPr/>
            </a:pPr>
            <a:r>
              <a:rPr lang="en-US" altLang="en-US" sz="2800" u="sng" dirty="0">
                <a:ea typeface="ＭＳ Ｐゴシック" panose="020B0600070205080204" pitchFamily="34" charset="-128"/>
                <a:cs typeface="Arial" panose="020B0604020202020204" pitchFamily="34" charset="0"/>
              </a:rPr>
              <a:t>Middleboxes</a:t>
            </a:r>
          </a:p>
          <a:p>
            <a:pPr lvl="1">
              <a:defRPr/>
            </a:pPr>
            <a:r>
              <a:rPr lang="en-US" sz="2800" dirty="0"/>
              <a:t>Software-defined network (SDNs)</a:t>
            </a:r>
          </a:p>
          <a:p>
            <a:pPr lvl="1">
              <a:defRPr/>
            </a:pPr>
            <a:endParaRPr lang="en-US" altLang="en-US" sz="2800" dirty="0">
              <a:solidFill>
                <a:schemeClr val="bg2">
                  <a:lumMod val="50000"/>
                </a:schemeClr>
              </a:solidFill>
              <a:ea typeface="ＭＳ Ｐゴシック" panose="020B0600070205080204" pitchFamily="34" charset="-128"/>
              <a:cs typeface="Arial" panose="020B0604020202020204" pitchFamily="34" charset="0"/>
            </a:endParaRPr>
          </a:p>
          <a:p>
            <a:pPr lvl="1">
              <a:defRPr/>
            </a:pPr>
            <a:endParaRPr lang="en-US" altLang="en-US" sz="2800" dirty="0">
              <a:solidFill>
                <a:schemeClr val="bg2">
                  <a:lumMod val="50000"/>
                </a:schemeClr>
              </a:solidFill>
              <a:ea typeface="ＭＳ Ｐゴシック" panose="020B0600070205080204" pitchFamily="34" charset="-128"/>
              <a:cs typeface="Arial" panose="020B0604020202020204" pitchFamily="34" charset="0"/>
            </a:endParaRPr>
          </a:p>
        </p:txBody>
      </p:sp>
      <p:sp>
        <p:nvSpPr>
          <p:cNvPr id="8" name="Content Placeholder 2">
            <a:extLst>
              <a:ext uri="{FF2B5EF4-FFF2-40B4-BE49-F238E27FC236}">
                <a16:creationId xmlns:a16="http://schemas.microsoft.com/office/drawing/2014/main" id="{0C903253-28DB-F86E-6DCC-76E395AF9295}"/>
              </a:ext>
            </a:extLst>
          </p:cNvPr>
          <p:cNvSpPr>
            <a:spLocks noGrp="1"/>
          </p:cNvSpPr>
          <p:nvPr>
            <p:ph sz="half" idx="1"/>
          </p:nvPr>
        </p:nvSpPr>
        <p:spPr>
          <a:xfrm>
            <a:off x="838201" y="1572572"/>
            <a:ext cx="5257800" cy="4482787"/>
          </a:xfrm>
        </p:spPr>
        <p:txBody>
          <a:bodyPr>
            <a:normAutofit/>
          </a:bodyPr>
          <a:lstStyle/>
          <a:p>
            <a:pPr marL="342900" indent="-212725">
              <a:buFont typeface="Wingdings" charset="2"/>
              <a:buChar char="§"/>
              <a:defRPr/>
            </a:pPr>
            <a:r>
              <a:rPr lang="en-US" sz="3200" dirty="0">
                <a:solidFill>
                  <a:schemeClr val="bg1">
                    <a:lumMod val="50000"/>
                  </a:schemeClr>
                </a:solidFill>
              </a:rPr>
              <a:t>The Internet Protocol (IP)</a:t>
            </a:r>
          </a:p>
          <a:p>
            <a:pPr>
              <a:defRPr/>
            </a:pPr>
            <a:r>
              <a:rPr lang="en-US" sz="3200" dirty="0">
                <a:solidFill>
                  <a:schemeClr val="bg2">
                    <a:lumMod val="50000"/>
                  </a:schemeClr>
                </a:solidFill>
              </a:rPr>
              <a:t>Internet Routing</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Hierarchical routing </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Intra-ISP routing: </a:t>
            </a:r>
            <a:r>
              <a:rPr lang="en-US" sz="2800" dirty="0">
                <a:solidFill>
                  <a:schemeClr val="bg2">
                    <a:lumMod val="50000"/>
                  </a:schemeClr>
                </a:solidFill>
              </a:rPr>
              <a:t>OSPF</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Inter-ISP routing: </a:t>
            </a:r>
            <a:r>
              <a:rPr lang="en-US" sz="2800" dirty="0">
                <a:solidFill>
                  <a:schemeClr val="bg2">
                    <a:lumMod val="50000"/>
                  </a:schemeClr>
                </a:solidFill>
              </a:rPr>
              <a:t>BGP</a:t>
            </a:r>
          </a:p>
          <a:p>
            <a:pPr>
              <a:defRPr/>
            </a:pPr>
            <a:r>
              <a:rPr lang="en-US" sz="3200" dirty="0">
                <a:solidFill>
                  <a:schemeClr val="bg1">
                    <a:lumMod val="50000"/>
                  </a:schemeClr>
                </a:solidFill>
              </a:rPr>
              <a:t>Internet Forwarding</a:t>
            </a:r>
          </a:p>
          <a:p>
            <a:pPr lvl="1">
              <a:spcBef>
                <a:spcPts val="400"/>
              </a:spcBef>
            </a:pPr>
            <a:r>
              <a:rPr lang="en-US" altLang="en-US" sz="2800" dirty="0">
                <a:solidFill>
                  <a:schemeClr val="bg1">
                    <a:lumMod val="50000"/>
                  </a:schemeClr>
                </a:solidFill>
                <a:ea typeface="ＭＳ Ｐゴシック" panose="020B0600070205080204" pitchFamily="34" charset="-128"/>
                <a:cs typeface="Arial" panose="020B0604020202020204" pitchFamily="34" charset="0"/>
              </a:rPr>
              <a:t>Destination-based forwarding</a:t>
            </a:r>
          </a:p>
          <a:p>
            <a:pPr>
              <a:spcBef>
                <a:spcPts val="400"/>
              </a:spcBef>
            </a:pPr>
            <a:r>
              <a:rPr lang="en-US" altLang="en-US" sz="3200" dirty="0">
                <a:solidFill>
                  <a:schemeClr val="bg1">
                    <a:lumMod val="50000"/>
                  </a:schemeClr>
                </a:solidFill>
                <a:ea typeface="ＭＳ Ｐゴシック" panose="020B0600070205080204" pitchFamily="34" charset="-128"/>
                <a:cs typeface="Arial" panose="020B0604020202020204" pitchFamily="34" charset="0"/>
              </a:rPr>
              <a:t>ICMP</a:t>
            </a:r>
          </a:p>
          <a:p>
            <a:pPr>
              <a:spcBef>
                <a:spcPts val="400"/>
              </a:spcBef>
            </a:pPr>
            <a:endParaRPr lang="en-US" altLang="en-US" sz="3200" dirty="0">
              <a:solidFill>
                <a:schemeClr val="bg1">
                  <a:lumMod val="50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249964149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normAutofit/>
          </a:bodyPr>
          <a:lstStyle/>
          <a:p>
            <a:r>
              <a:rPr lang="en-US" dirty="0"/>
              <a:t>What if we need to do more in the network?</a:t>
            </a:r>
          </a:p>
        </p:txBody>
      </p:sp>
      <p:grpSp>
        <p:nvGrpSpPr>
          <p:cNvPr id="20" name="Group 19">
            <a:extLst>
              <a:ext uri="{FF2B5EF4-FFF2-40B4-BE49-F238E27FC236}">
                <a16:creationId xmlns:a16="http://schemas.microsoft.com/office/drawing/2014/main" id="{8DFA953D-B82D-1142-9242-93E87E5CDB56}"/>
              </a:ext>
            </a:extLst>
          </p:cNvPr>
          <p:cNvGrpSpPr/>
          <p:nvPr/>
        </p:nvGrpSpPr>
        <p:grpSpPr>
          <a:xfrm>
            <a:off x="1055919" y="1836490"/>
            <a:ext cx="3826411" cy="3921369"/>
            <a:chOff x="4426457" y="2119394"/>
            <a:chExt cx="3826411" cy="3921369"/>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826411" cy="3921369"/>
              <a:chOff x="4426457" y="2119394"/>
              <a:chExt cx="3826411" cy="3921369"/>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7"/>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7"/>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7"/>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7"/>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7"/>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7"/>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7"/>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714216" cy="6740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(until early 2000s)</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at the end point</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8"/>
            <a:stretch>
              <a:fillRect/>
            </a:stretch>
          </p:blipFill>
          <p:spPr>
            <a:xfrm>
              <a:off x="5686424" y="3033711"/>
              <a:ext cx="914401" cy="914401"/>
            </a:xfrm>
            <a:prstGeom prst="rect">
              <a:avLst/>
            </a:prstGeom>
          </p:spPr>
        </p:pic>
      </p:grpSp>
      <p:sp>
        <p:nvSpPr>
          <p:cNvPr id="4" name="Content Placeholder 2">
            <a:extLst>
              <a:ext uri="{FF2B5EF4-FFF2-40B4-BE49-F238E27FC236}">
                <a16:creationId xmlns:a16="http://schemas.microsoft.com/office/drawing/2014/main" id="{A2C4E90E-60C1-29E9-6AC7-DD806914E533}"/>
              </a:ext>
            </a:extLst>
          </p:cNvPr>
          <p:cNvSpPr>
            <a:spLocks noGrp="1"/>
          </p:cNvSpPr>
          <p:nvPr>
            <p:ph sz="half" idx="1"/>
          </p:nvPr>
        </p:nvSpPr>
        <p:spPr>
          <a:xfrm>
            <a:off x="5228071" y="1643813"/>
            <a:ext cx="6178558" cy="4482787"/>
          </a:xfrm>
        </p:spPr>
        <p:txBody>
          <a:bodyPr>
            <a:normAutofit/>
          </a:bodyPr>
          <a:lstStyle/>
          <a:p>
            <a:pPr marL="342900" indent="-212725">
              <a:buFont typeface="Wingdings" charset="2"/>
              <a:buChar char="§"/>
              <a:defRPr/>
            </a:pPr>
            <a:r>
              <a:rPr lang="en-US" dirty="0"/>
              <a:t>Following the end-to-end argument, routers in the network would only do destination-based forwarding</a:t>
            </a:r>
          </a:p>
          <a:p>
            <a:pPr marL="685800" lvl="1" indent="-212725">
              <a:buFont typeface="Wingdings" charset="2"/>
              <a:buChar char="§"/>
              <a:defRPr/>
            </a:pPr>
            <a:r>
              <a:rPr lang="en-US" dirty="0"/>
              <a:t>No parsing beyond network layer header</a:t>
            </a:r>
          </a:p>
          <a:p>
            <a:pPr marL="685800" lvl="1" indent="-212725">
              <a:buFont typeface="Wingdings" charset="2"/>
              <a:buChar char="§"/>
              <a:defRPr/>
            </a:pPr>
            <a:r>
              <a:rPr lang="en-US" sz="2400" dirty="0"/>
              <a:t>No changing </a:t>
            </a:r>
            <a:r>
              <a:rPr lang="en-US" dirty="0"/>
              <a:t>anything in the packet</a:t>
            </a:r>
          </a:p>
          <a:p>
            <a:pPr marL="1133475" lvl="2" indent="-212725">
              <a:buFont typeface="Wingdings" charset="2"/>
              <a:buChar char="§"/>
              <a:defRPr/>
            </a:pPr>
            <a:r>
              <a:rPr lang="en-US" dirty="0"/>
              <a:t>Except for, say, flags like ECN or TTL</a:t>
            </a:r>
          </a:p>
          <a:p>
            <a:pPr marL="342900" indent="-212725">
              <a:buFont typeface="Wingdings" charset="2"/>
              <a:buChar char="§"/>
              <a:defRPr/>
            </a:pPr>
            <a:r>
              <a:rPr lang="en-US" dirty="0"/>
              <a:t>But, it turned out, we may need more from the network after all.</a:t>
            </a:r>
          </a:p>
        </p:txBody>
      </p:sp>
    </p:spTree>
    <p:extLst>
      <p:ext uri="{BB962C8B-B14F-4D97-AF65-F5344CB8AC3E}">
        <p14:creationId xmlns:p14="http://schemas.microsoft.com/office/powerpoint/2010/main" val="274528535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Middleboxes everywhere!</a:t>
            </a:r>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modifies IP addresses and ports</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2003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Intrusion</a:t>
            </a:r>
            <a:r>
              <a:rPr kumimoji="0" lang="en-US" sz="2800" b="0" i="0" u="none" strike="noStrike" kern="1200" cap="none" spc="0" normalizeH="0" noProof="0" dirty="0">
                <a:ln>
                  <a:noFill/>
                </a:ln>
                <a:solidFill>
                  <a:srgbClr val="C00000"/>
                </a:solidFill>
                <a:effectLst/>
                <a:uLnTx/>
                <a:uFillTx/>
                <a:latin typeface="Calibri" panose="020F0502020204030204"/>
                <a:ea typeface="+mn-ea"/>
                <a:cs typeface="+mn-cs"/>
              </a:rPr>
              <a:t> Detection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System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lang="en-US" sz="2400" dirty="0">
                <a:solidFill>
                  <a:prstClr val="black"/>
                </a:solidFill>
                <a:latin typeface="Calibri" panose="020F0502020204030204"/>
              </a:rPr>
              <a:t>drop suspicious traffic</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9" name="Rectangle 618">
            <a:extLst>
              <a:ext uri="{FF2B5EF4-FFF2-40B4-BE49-F238E27FC236}">
                <a16:creationId xmlns:a16="http://schemas.microsoft.com/office/drawing/2014/main" id="{7D19D5D9-8746-234A-B60B-EA905D0364D7}"/>
              </a:ext>
            </a:extLst>
          </p:cNvPr>
          <p:cNvSpPr/>
          <p:nvPr/>
        </p:nvSpPr>
        <p:spPr>
          <a:xfrm>
            <a:off x="659323" y="4544265"/>
            <a:ext cx="3193773"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br>
              <a:rPr lang="en-US" sz="2400" noProof="0" dirty="0">
                <a:solidFill>
                  <a:prstClr val="black"/>
                </a:solidFill>
                <a:latin typeface="Calibri" panose="020F0502020204030204"/>
              </a:rPr>
            </a:br>
            <a:r>
              <a:rPr lang="en-US" sz="2400" noProof="0" dirty="0">
                <a:solidFill>
                  <a:prstClr val="black"/>
                </a:solidFill>
                <a:latin typeface="Calibri" panose="020F0502020204030204"/>
              </a:rPr>
              <a:t>pick the server packets should go to</a:t>
            </a:r>
            <a:r>
              <a:rPr lang="en-US" sz="2400" dirty="0">
                <a:solidFill>
                  <a:prstClr val="black"/>
                </a:solidFill>
                <a:latin typeface="Calibri" panose="020F0502020204030204"/>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0" name="Rectangle 619">
            <a:extLst>
              <a:ext uri="{FF2B5EF4-FFF2-40B4-BE49-F238E27FC236}">
                <a16:creationId xmlns:a16="http://schemas.microsoft.com/office/drawing/2014/main" id="{310824EC-5D27-DC4E-AF2F-8B6F572093A7}"/>
              </a:ext>
            </a:extLst>
          </p:cNvPr>
          <p:cNvSpPr/>
          <p:nvPr/>
        </p:nvSpPr>
        <p:spPr>
          <a:xfrm>
            <a:off x="8399582" y="4041280"/>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keep</a:t>
            </a:r>
            <a:r>
              <a:rPr kumimoji="0" lang="en-US" sz="2400" b="0" i="0" u="none" strike="noStrike" kern="1200" cap="none" spc="0" normalizeH="0" noProof="0" dirty="0">
                <a:ln>
                  <a:noFill/>
                </a:ln>
                <a:solidFill>
                  <a:prstClr val="black"/>
                </a:solidFill>
                <a:effectLst/>
                <a:uLnTx/>
                <a:uFillTx/>
                <a:latin typeface="Calibri" panose="020F0502020204030204"/>
                <a:ea typeface="+mn-ea"/>
                <a:cs typeface="+mn-cs"/>
              </a:rPr>
              <a:t> copies of popular data</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0"/>
                                        </p:tgtEl>
                                        <p:attrNameLst>
                                          <p:attrName>style.visibility</p:attrName>
                                        </p:attrNameLst>
                                      </p:cBhvr>
                                      <p:to>
                                        <p:strVal val="visible"/>
                                      </p:to>
                                    </p:set>
                                    <p:animEffect transition="in" filter="dissolve">
                                      <p:cBhvr>
                                        <p:cTn id="22"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 (or Network Functions)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298543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“whitebox” hardware</a:t>
            </a:r>
          </a:p>
          <a:p>
            <a:pPr marL="914400" lvl="1" indent="-339725">
              <a:spcBef>
                <a:spcPts val="600"/>
              </a:spcBef>
              <a:buClr>
                <a:srgbClr val="0000A8"/>
              </a:buClr>
              <a:buFont typeface="Wingdings" pitchFamily="2" charset="2"/>
              <a:buChar char="§"/>
              <a:defRPr/>
            </a:pPr>
            <a:r>
              <a:rPr lang="en-US" sz="2800" noProof="0" dirty="0">
                <a:solidFill>
                  <a:schemeClr val="tx1">
                    <a:lumMod val="85000"/>
                    <a:lumOff val="15000"/>
                  </a:schemeClr>
                </a:solidFill>
                <a:latin typeface="Calibri" panose="020F0502020204030204"/>
              </a:rPr>
              <a:t>Hardware providing an open API (programming interface)</a:t>
            </a:r>
          </a:p>
          <a:p>
            <a:pPr marL="457200" indent="-339725">
              <a:spcBef>
                <a:spcPts val="600"/>
              </a:spcBef>
              <a:buClr>
                <a:srgbClr val="0000A8"/>
              </a:buClr>
              <a:buFont typeface="Wingdings" pitchFamily="2" charset="2"/>
              <a:buChar char="§"/>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Sometimes, high-speed implementation in</a:t>
            </a:r>
            <a:r>
              <a:rPr kumimoji="0" lang="en-US" sz="2800" b="0" i="0" u="none" strike="noStrike" kern="1200" cap="none" spc="0" normalizeH="0" noProof="0" dirty="0">
                <a:ln>
                  <a:noFill/>
                </a:ln>
                <a:solidFill>
                  <a:prstClr val="black"/>
                </a:solidFill>
                <a:effectLst/>
                <a:uLnTx/>
                <a:uFillTx/>
                <a:latin typeface="Calibri" panose="020F0502020204030204"/>
                <a:ea typeface="+mn-ea"/>
                <a:cs typeface="+mn-cs"/>
              </a:rPr>
              <a:t> software</a:t>
            </a:r>
          </a:p>
          <a:p>
            <a:pPr marL="914400" lvl="1" indent="-339725">
              <a:spcBef>
                <a:spcPts val="600"/>
              </a:spcBef>
              <a:buClr>
                <a:srgbClr val="0000A8"/>
              </a:buClr>
              <a:buFont typeface="Wingdings" pitchFamily="2" charset="2"/>
              <a:buChar char="§"/>
              <a:defRPr/>
            </a:pPr>
            <a:r>
              <a:rPr lang="en-US" sz="2800" dirty="0">
                <a:solidFill>
                  <a:srgbClr val="0013A3"/>
                </a:solidFill>
              </a:rPr>
              <a:t>network functions virtualization (NFV): </a:t>
            </a:r>
            <a:r>
              <a:rPr lang="en-US" sz="2800" dirty="0">
                <a:solidFill>
                  <a:schemeClr val="tx1">
                    <a:lumMod val="85000"/>
                    <a:lumOff val="15000"/>
                  </a:schemeClr>
                </a:solidFill>
              </a:rPr>
              <a:t>specialized packet processing in, say, a VM.</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xEl>
                                              <p:pRg st="3" end="3"/>
                                            </p:txEl>
                                          </p:spTgt>
                                        </p:tgtEl>
                                        <p:attrNameLst>
                                          <p:attrName>style.visibility</p:attrName>
                                        </p:attrNameLst>
                                      </p:cBhvr>
                                      <p:to>
                                        <p:strVal val="visible"/>
                                      </p:to>
                                    </p:set>
                                    <p:animEffect transition="in" filter="dissolve">
                                      <p:cBhvr>
                                        <p:cTn id="20" dur="500"/>
                                        <p:tgtEl>
                                          <p:spTgt spid="6">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6">
                                            <p:txEl>
                                              <p:pRg st="4" end="4"/>
                                            </p:txEl>
                                          </p:spTgt>
                                        </p:tgtEl>
                                        <p:attrNameLst>
                                          <p:attrName>style.visibility</p:attrName>
                                        </p:attrNameLst>
                                      </p:cBhvr>
                                      <p:to>
                                        <p:strVal val="visible"/>
                                      </p:to>
                                    </p:set>
                                    <p:animEffect transition="in" filter="dissolve">
                                      <p:cBhvr>
                                        <p:cTn id="23" dur="500"/>
                                        <p:tgtEl>
                                          <p:spTgt spid="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(more realistic)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3055571"/>
            <a:ext cx="3722144" cy="1569660"/>
            <a:chOff x="814038" y="2681497"/>
            <a:chExt cx="3722144" cy="1569660"/>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681497"/>
              <a:ext cx="3300761"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new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 name="TextBox 3">
            <a:extLst>
              <a:ext uri="{FF2B5EF4-FFF2-40B4-BE49-F238E27FC236}">
                <a16:creationId xmlns:a16="http://schemas.microsoft.com/office/drawing/2014/main" id="{9FEFC31E-DBA1-4A5D-1874-0410525935D6}"/>
              </a:ext>
            </a:extLst>
          </p:cNvPr>
          <p:cNvSpPr txBox="1"/>
          <p:nvPr/>
        </p:nvSpPr>
        <p:spPr>
          <a:xfrm>
            <a:off x="8090840" y="3033848"/>
            <a:ext cx="364750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 middleboxes break the end-to-end argument?</a:t>
            </a:r>
          </a:p>
        </p:txBody>
      </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normAutofit/>
          </a:bodyPr>
          <a:lstStyle/>
          <a:p>
            <a:r>
              <a:rPr lang="en-US" dirty="0"/>
              <a:t>What if we need to do more in the network?</a:t>
            </a:r>
          </a:p>
        </p:txBody>
      </p:sp>
      <p:grpSp>
        <p:nvGrpSpPr>
          <p:cNvPr id="20" name="Group 19">
            <a:extLst>
              <a:ext uri="{FF2B5EF4-FFF2-40B4-BE49-F238E27FC236}">
                <a16:creationId xmlns:a16="http://schemas.microsoft.com/office/drawing/2014/main" id="{8DFA953D-B82D-1142-9242-93E87E5CDB56}"/>
              </a:ext>
            </a:extLst>
          </p:cNvPr>
          <p:cNvGrpSpPr/>
          <p:nvPr/>
        </p:nvGrpSpPr>
        <p:grpSpPr>
          <a:xfrm>
            <a:off x="2191883" y="1817287"/>
            <a:ext cx="3631684" cy="3921369"/>
            <a:chOff x="4426457" y="2119394"/>
            <a:chExt cx="3631684" cy="3921369"/>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631684" cy="3921369"/>
              <a:chOff x="4426457" y="2119394"/>
              <a:chExt cx="3631684" cy="3921369"/>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7"/>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7"/>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7"/>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7"/>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7"/>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7"/>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7"/>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519489" cy="6740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(until early 2000s)</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8"/>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5898399" y="1874872"/>
            <a:ext cx="4629123" cy="4331892"/>
            <a:chOff x="8347293" y="2105539"/>
            <a:chExt cx="4629123" cy="4331892"/>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347293" y="2105539"/>
              <a:ext cx="4629123" cy="4331892"/>
              <a:chOff x="8347293" y="2105539"/>
              <a:chExt cx="4629123" cy="4331892"/>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7"/>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7"/>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7"/>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7"/>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7"/>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7"/>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891066" y="5264802"/>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(now)</a:t>
                </a:r>
              </a:p>
              <a:p>
                <a:pPr marL="285750" indent="-215900">
                  <a:lnSpc>
                    <a:spcPct val="90000"/>
                  </a:lnSpc>
                  <a:buClr>
                    <a:srgbClr val="0013A3"/>
                  </a:buClr>
                  <a:buFont typeface="Arial" panose="020B0604020202020204" pitchFamily="34" charset="0"/>
                  <a:buChar char="•"/>
                  <a:defRPr/>
                </a:pPr>
                <a:r>
                  <a:rPr lang="en-US" dirty="0">
                    <a:solidFill>
                      <a:prstClr val="black"/>
                    </a:solidFill>
                    <a:latin typeface="Calibri" panose="020F0502020204030204"/>
                  </a:rPr>
                  <a:t>Middleboxes/NFV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Software defined networks (SDNs)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7"/>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7"/>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8"/>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7"/>
          <a:stretch>
            <a:fillRect/>
          </a:stretch>
        </p:blipFill>
        <p:spPr>
          <a:xfrm>
            <a:off x="7147689" y="2598981"/>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7052442" y="1346443"/>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7"/>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7"/>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7"/>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4174254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dissolve">
                                      <p:cBhvr>
                                        <p:cTn id="7" dur="5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48"/>
                                        </p:tgtEl>
                                        <p:attrNameLst>
                                          <p:attrName>style.visibility</p:attrName>
                                        </p:attrNameLst>
                                      </p:cBhvr>
                                      <p:to>
                                        <p:strVal val="visible"/>
                                      </p:to>
                                    </p:set>
                                    <p:animEffect transition="in" filter="dissolve">
                                      <p:cBhvr>
                                        <p:cTn id="12" dur="500"/>
                                        <p:tgtEl>
                                          <p:spTgt spid="44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388574AA-142F-0D6B-A1A7-242CC4A1C92C}"/>
              </a:ext>
            </a:extLst>
          </p:cNvPr>
          <p:cNvSpPr>
            <a:spLocks noGrp="1"/>
          </p:cNvSpPr>
          <p:nvPr>
            <p:ph idx="1"/>
          </p:nvPr>
        </p:nvSpPr>
        <p:spPr/>
        <p:txBody>
          <a:bodyPr/>
          <a:lstStyle/>
          <a:p>
            <a:r>
              <a:rPr lang="en-US" dirty="0"/>
              <a:t>What a middleboxes is </a:t>
            </a:r>
          </a:p>
          <a:p>
            <a:r>
              <a:rPr lang="en-US" dirty="0"/>
              <a:t>Know some example middleboxes and what they do</a:t>
            </a:r>
          </a:p>
          <a:p>
            <a:r>
              <a:rPr lang="en-US" dirty="0"/>
              <a:t>How the functionality inside the network has changed since its early days</a:t>
            </a:r>
          </a:p>
        </p:txBody>
      </p:sp>
      <p:sp>
        <p:nvSpPr>
          <p:cNvPr id="3" name="Title 2">
            <a:extLst>
              <a:ext uri="{FF2B5EF4-FFF2-40B4-BE49-F238E27FC236}">
                <a16:creationId xmlns:a16="http://schemas.microsoft.com/office/drawing/2014/main" id="{B3667C05-69B8-1C53-F34D-8259E39BF4BC}"/>
              </a:ext>
            </a:extLst>
          </p:cNvPr>
          <p:cNvSpPr>
            <a:spLocks noGrp="1"/>
          </p:cNvSpPr>
          <p:nvPr>
            <p:ph type="title"/>
          </p:nvPr>
        </p:nvSpPr>
        <p:spPr/>
        <p:txBody>
          <a:bodyPr/>
          <a:lstStyle/>
          <a:p>
            <a:r>
              <a:rPr lang="en-US" dirty="0"/>
              <a:t>Make sure you know</a:t>
            </a:r>
          </a:p>
        </p:txBody>
      </p:sp>
      <p:sp>
        <p:nvSpPr>
          <p:cNvPr id="4" name="Slide Number Placeholder 3">
            <a:extLst>
              <a:ext uri="{FF2B5EF4-FFF2-40B4-BE49-F238E27FC236}">
                <a16:creationId xmlns:a16="http://schemas.microsoft.com/office/drawing/2014/main" id="{255C6443-6B09-DEB9-C617-B9544469E8D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231671448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594DC5-23CB-51FB-C1A8-9A85C5580AC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8FDF435-5639-1DB3-73CC-1CC31E2D1ABE}"/>
              </a:ext>
            </a:extLst>
          </p:cNvPr>
          <p:cNvSpPr>
            <a:spLocks noGrp="1"/>
          </p:cNvSpPr>
          <p:nvPr>
            <p:ph type="title"/>
          </p:nvPr>
        </p:nvSpPr>
        <p:spPr/>
        <p:txBody>
          <a:bodyPr/>
          <a:lstStyle/>
          <a:p>
            <a:r>
              <a:rPr lang="en-US">
                <a:cs typeface="Calibri" panose="020F0502020204030204" pitchFamily="34" charset="0"/>
              </a:rPr>
              <a:t>Network Layer in the Internet</a:t>
            </a:r>
            <a:endParaRPr lang="en-US"/>
          </a:p>
        </p:txBody>
      </p:sp>
      <p:sp>
        <p:nvSpPr>
          <p:cNvPr id="4" name="Content Placeholder 2">
            <a:extLst>
              <a:ext uri="{FF2B5EF4-FFF2-40B4-BE49-F238E27FC236}">
                <a16:creationId xmlns:a16="http://schemas.microsoft.com/office/drawing/2014/main" id="{47BBC7D4-FFA2-55AF-FF85-6F741173960D}"/>
              </a:ext>
            </a:extLst>
          </p:cNvPr>
          <p:cNvSpPr txBox="1">
            <a:spLocks/>
          </p:cNvSpPr>
          <p:nvPr/>
        </p:nvSpPr>
        <p:spPr>
          <a:xfrm>
            <a:off x="6386467" y="1572571"/>
            <a:ext cx="5736124" cy="44827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212725">
              <a:buFont typeface="Wingdings" charset="2"/>
              <a:buChar char="§"/>
              <a:defRPr/>
            </a:pPr>
            <a:r>
              <a:rPr lang="en-US" sz="3200" dirty="0"/>
              <a:t>Beyond destination-based routing and forwarding</a:t>
            </a:r>
          </a:p>
          <a:p>
            <a:pPr lvl="1">
              <a:defRPr/>
            </a:pPr>
            <a:r>
              <a:rPr lang="en-US" altLang="en-US" sz="2800" u="sng" dirty="0">
                <a:ea typeface="ＭＳ Ｐゴシック" panose="020B0600070205080204" pitchFamily="34" charset="-128"/>
                <a:cs typeface="Arial" panose="020B0604020202020204" pitchFamily="34" charset="0"/>
              </a:rPr>
              <a:t>The end-to-end argument</a:t>
            </a:r>
          </a:p>
          <a:p>
            <a:pPr lvl="1">
              <a:defRPr/>
            </a:pPr>
            <a:r>
              <a:rPr lang="en-US" altLang="en-US" sz="2800" u="sng" dirty="0">
                <a:ea typeface="ＭＳ Ｐゴシック" panose="020B0600070205080204" pitchFamily="34" charset="-128"/>
                <a:cs typeface="Arial" panose="020B0604020202020204" pitchFamily="34" charset="0"/>
              </a:rPr>
              <a:t>Middleboxes</a:t>
            </a:r>
          </a:p>
          <a:p>
            <a:pPr lvl="1">
              <a:defRPr/>
            </a:pPr>
            <a:r>
              <a:rPr lang="en-US" sz="2800" u="sng" dirty="0">
                <a:ea typeface="ＭＳ Ｐゴシック" panose="020B0600070205080204" pitchFamily="34" charset="-128"/>
                <a:cs typeface="Arial" panose="020B0604020202020204" pitchFamily="34" charset="0"/>
              </a:rPr>
              <a:t>Software-defined network (SDNs)</a:t>
            </a:r>
          </a:p>
          <a:p>
            <a:pPr lvl="1">
              <a:defRPr/>
            </a:pPr>
            <a:endParaRPr lang="en-US" altLang="en-US" sz="2800" dirty="0">
              <a:solidFill>
                <a:schemeClr val="bg2">
                  <a:lumMod val="50000"/>
                </a:schemeClr>
              </a:solidFill>
              <a:ea typeface="ＭＳ Ｐゴシック" panose="020B0600070205080204" pitchFamily="34" charset="-128"/>
              <a:cs typeface="Arial" panose="020B0604020202020204" pitchFamily="34" charset="0"/>
            </a:endParaRPr>
          </a:p>
          <a:p>
            <a:pPr lvl="1">
              <a:defRPr/>
            </a:pPr>
            <a:endParaRPr lang="en-US" altLang="en-US" sz="2800" dirty="0">
              <a:solidFill>
                <a:schemeClr val="bg2">
                  <a:lumMod val="50000"/>
                </a:schemeClr>
              </a:solidFill>
              <a:ea typeface="ＭＳ Ｐゴシック" panose="020B0600070205080204" pitchFamily="34" charset="-128"/>
              <a:cs typeface="Arial" panose="020B0604020202020204" pitchFamily="34" charset="0"/>
            </a:endParaRPr>
          </a:p>
        </p:txBody>
      </p:sp>
      <p:sp>
        <p:nvSpPr>
          <p:cNvPr id="7" name="Content Placeholder 2">
            <a:extLst>
              <a:ext uri="{FF2B5EF4-FFF2-40B4-BE49-F238E27FC236}">
                <a16:creationId xmlns:a16="http://schemas.microsoft.com/office/drawing/2014/main" id="{9F69F80E-8716-9EF4-5B9F-F98BE9A33378}"/>
              </a:ext>
            </a:extLst>
          </p:cNvPr>
          <p:cNvSpPr>
            <a:spLocks noGrp="1"/>
          </p:cNvSpPr>
          <p:nvPr>
            <p:ph sz="half" idx="1"/>
          </p:nvPr>
        </p:nvSpPr>
        <p:spPr>
          <a:xfrm>
            <a:off x="838201" y="1572572"/>
            <a:ext cx="5257800" cy="4482787"/>
          </a:xfrm>
        </p:spPr>
        <p:txBody>
          <a:bodyPr>
            <a:normAutofit/>
          </a:bodyPr>
          <a:lstStyle/>
          <a:p>
            <a:pPr marL="342900" indent="-212725">
              <a:buFont typeface="Wingdings" charset="2"/>
              <a:buChar char="§"/>
              <a:defRPr/>
            </a:pPr>
            <a:r>
              <a:rPr lang="en-US" sz="3200" dirty="0">
                <a:solidFill>
                  <a:schemeClr val="bg1">
                    <a:lumMod val="50000"/>
                  </a:schemeClr>
                </a:solidFill>
              </a:rPr>
              <a:t>The Internet Protocol (IP)</a:t>
            </a:r>
          </a:p>
          <a:p>
            <a:pPr>
              <a:defRPr/>
            </a:pPr>
            <a:r>
              <a:rPr lang="en-US" sz="3200" dirty="0">
                <a:solidFill>
                  <a:schemeClr val="bg2">
                    <a:lumMod val="50000"/>
                  </a:schemeClr>
                </a:solidFill>
              </a:rPr>
              <a:t>Internet Routing</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Hierarchical routing </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Intra-ISP routing: </a:t>
            </a:r>
            <a:r>
              <a:rPr lang="en-US" sz="2800" dirty="0">
                <a:solidFill>
                  <a:schemeClr val="bg2">
                    <a:lumMod val="50000"/>
                  </a:schemeClr>
                </a:solidFill>
              </a:rPr>
              <a:t>OSPF</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Inter-ISP routing: </a:t>
            </a:r>
            <a:r>
              <a:rPr lang="en-US" sz="2800" dirty="0">
                <a:solidFill>
                  <a:schemeClr val="bg2">
                    <a:lumMod val="50000"/>
                  </a:schemeClr>
                </a:solidFill>
              </a:rPr>
              <a:t>BGP</a:t>
            </a:r>
          </a:p>
          <a:p>
            <a:pPr>
              <a:defRPr/>
            </a:pPr>
            <a:r>
              <a:rPr lang="en-US" sz="3200" dirty="0">
                <a:solidFill>
                  <a:schemeClr val="bg1">
                    <a:lumMod val="50000"/>
                  </a:schemeClr>
                </a:solidFill>
              </a:rPr>
              <a:t>Internet Forwarding</a:t>
            </a:r>
          </a:p>
          <a:p>
            <a:pPr lvl="1">
              <a:spcBef>
                <a:spcPts val="400"/>
              </a:spcBef>
            </a:pPr>
            <a:r>
              <a:rPr lang="en-US" altLang="en-US" sz="2800" dirty="0">
                <a:solidFill>
                  <a:schemeClr val="bg1">
                    <a:lumMod val="50000"/>
                  </a:schemeClr>
                </a:solidFill>
                <a:ea typeface="ＭＳ Ｐゴシック" panose="020B0600070205080204" pitchFamily="34" charset="-128"/>
                <a:cs typeface="Arial" panose="020B0604020202020204" pitchFamily="34" charset="0"/>
              </a:rPr>
              <a:t>Destination-based forwarding</a:t>
            </a:r>
          </a:p>
          <a:p>
            <a:pPr>
              <a:spcBef>
                <a:spcPts val="400"/>
              </a:spcBef>
            </a:pPr>
            <a:r>
              <a:rPr lang="en-US" altLang="en-US" sz="3200" dirty="0">
                <a:solidFill>
                  <a:schemeClr val="bg1">
                    <a:lumMod val="50000"/>
                  </a:schemeClr>
                </a:solidFill>
                <a:ea typeface="ＭＳ Ｐゴシック" panose="020B0600070205080204" pitchFamily="34" charset="-128"/>
                <a:cs typeface="Arial" panose="020B0604020202020204" pitchFamily="34" charset="0"/>
              </a:rPr>
              <a:t>ICMP</a:t>
            </a:r>
          </a:p>
          <a:p>
            <a:pPr>
              <a:spcBef>
                <a:spcPts val="400"/>
              </a:spcBef>
            </a:pPr>
            <a:endParaRPr lang="en-US" altLang="en-US" sz="3200" dirty="0">
              <a:solidFill>
                <a:schemeClr val="bg1">
                  <a:lumMod val="50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291403262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7768DC-1FE0-65FE-3BBB-B3F4D7424B13}"/>
              </a:ext>
            </a:extLst>
          </p:cNvPr>
          <p:cNvSpPr>
            <a:spLocks noGrp="1"/>
          </p:cNvSpPr>
          <p:nvPr>
            <p:ph type="title"/>
          </p:nvPr>
        </p:nvSpPr>
        <p:spPr/>
        <p:txBody>
          <a:bodyPr/>
          <a:lstStyle/>
          <a:p>
            <a:r>
              <a:rPr lang="en-US" dirty="0"/>
              <a:t>A more general packet processing model</a:t>
            </a:r>
          </a:p>
        </p:txBody>
      </p:sp>
      <p:sp>
        <p:nvSpPr>
          <p:cNvPr id="3" name="Content Placeholder 2">
            <a:extLst>
              <a:ext uri="{FF2B5EF4-FFF2-40B4-BE49-F238E27FC236}">
                <a16:creationId xmlns:a16="http://schemas.microsoft.com/office/drawing/2014/main" id="{3DCED3EC-1750-1539-728D-86F3534C25DA}"/>
              </a:ext>
            </a:extLst>
          </p:cNvPr>
          <p:cNvSpPr>
            <a:spLocks noGrp="1"/>
          </p:cNvSpPr>
          <p:nvPr>
            <p:ph sz="half" idx="1"/>
          </p:nvPr>
        </p:nvSpPr>
        <p:spPr>
          <a:xfrm>
            <a:off x="838200" y="1825625"/>
            <a:ext cx="9963150" cy="4351338"/>
          </a:xfrm>
        </p:spPr>
        <p:txBody>
          <a:bodyPr>
            <a:normAutofit/>
          </a:bodyPr>
          <a:lstStyle/>
          <a:p>
            <a:r>
              <a:rPr lang="en-US" dirty="0"/>
              <a:t>Routers ➝ Forwarding table that maps destination IP addresses of incoming packets to the outgoing interface</a:t>
            </a:r>
          </a:p>
          <a:p>
            <a:r>
              <a:rPr lang="en-US" dirty="0"/>
              <a:t>Middleboxes ➝ Each has their own custom approach to packet processing that goes beyond what routers traditionally do</a:t>
            </a:r>
          </a:p>
          <a:p>
            <a:pPr lvl="1"/>
            <a:r>
              <a:rPr lang="en-US" dirty="0"/>
              <a:t>Make decisions based on headers in other layers (e.g., transport)</a:t>
            </a:r>
          </a:p>
          <a:p>
            <a:pPr lvl="1"/>
            <a:r>
              <a:rPr lang="en-US" dirty="0"/>
              <a:t>Modify packet header and/or content</a:t>
            </a:r>
          </a:p>
          <a:p>
            <a:pPr lvl="1"/>
            <a:r>
              <a:rPr lang="en-US" dirty="0"/>
              <a:t>…</a:t>
            </a:r>
          </a:p>
          <a:p>
            <a:r>
              <a:rPr lang="en-US" dirty="0"/>
              <a:t>OpenFlow ➝ A proposal for generalized packet processing model devices in the network</a:t>
            </a:r>
          </a:p>
          <a:p>
            <a:pPr lvl="1"/>
            <a:r>
              <a:rPr lang="en-US" dirty="0"/>
              <a:t>One of the original building blocks of software-defined networking (SDN)</a:t>
            </a:r>
          </a:p>
        </p:txBody>
      </p:sp>
    </p:spTree>
    <p:extLst>
      <p:ext uri="{BB962C8B-B14F-4D97-AF65-F5344CB8AC3E}">
        <p14:creationId xmlns:p14="http://schemas.microsoft.com/office/powerpoint/2010/main" val="360143134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a:ln>
                  <a:noFill/>
                </a:ln>
                <a:solidFill>
                  <a:srgbClr val="0013A3"/>
                </a:solidFill>
                <a:effectLst/>
                <a:uLnTx/>
                <a:uFillTx/>
                <a:latin typeface="Calibri" panose="020F0502020204030204"/>
                <a:ea typeface="ＭＳ Ｐゴシック" panose="020B0600070205080204" pitchFamily="34" charset="-128"/>
                <a:cs typeface="+mn-cs"/>
              </a:rPr>
              <a:t>generalized forwarding</a:t>
            </a: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forward based on dest. IP address</a:t>
            </a:r>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a:solidFill>
                  <a:srgbClr val="0000A8"/>
                </a:solidFill>
                <a:latin typeface="Calibri" panose="020F0502020204030204" pitchFamily="34" charset="0"/>
                <a:ea typeface="ＭＳ Ｐゴシック" panose="020B0600070205080204" pitchFamily="34" charset="-128"/>
              </a:rPr>
              <a:t>match:</a:t>
            </a:r>
            <a:r>
              <a:rPr lang="en-US" altLang="en-US">
                <a:solidFill>
                  <a:srgbClr val="000090"/>
                </a:solidFill>
                <a:latin typeface="Calibri" panose="020F0502020204030204" pitchFamily="34" charset="0"/>
                <a:ea typeface="ＭＳ Ｐゴシック" panose="020B0600070205080204" pitchFamily="34" charset="-128"/>
              </a:rPr>
              <a:t> </a:t>
            </a:r>
            <a:r>
              <a:rPr lang="en-US" altLang="en-US">
                <a:latin typeface="Calibri" panose="020F0502020204030204" pitchFamily="34" charset="0"/>
                <a:ea typeface="ＭＳ Ｐゴシック" panose="020B0600070205080204" pitchFamily="34" charset="-128"/>
              </a:rPr>
              <a:t>pattern</a:t>
            </a:r>
            <a:r>
              <a:rPr lang="en-US" altLang="en-US">
                <a:solidFill>
                  <a:srgbClr val="000090"/>
                </a:solidFill>
                <a:latin typeface="Calibri" panose="020F0502020204030204" pitchFamily="34" charset="0"/>
                <a:ea typeface="ＭＳ Ｐゴシック" panose="020B0600070205080204" pitchFamily="34" charset="-128"/>
              </a:rPr>
              <a:t> </a:t>
            </a:r>
            <a:r>
              <a:rPr lang="en-US" altLang="en-US">
                <a:latin typeface="Calibri" panose="020F0502020204030204" pitchFamily="34" charset="0"/>
                <a:ea typeface="ＭＳ Ｐゴシック" panose="020B0600070205080204" pitchFamily="34" charset="-128"/>
              </a:rPr>
              <a:t>values in packet header fields</a:t>
            </a:r>
          </a:p>
          <a:p>
            <a:pPr lvl="1"/>
            <a:r>
              <a:rPr lang="en-US" altLang="en-US">
                <a:solidFill>
                  <a:srgbClr val="0000A8"/>
                </a:solidFill>
                <a:latin typeface="Calibri" panose="020F0502020204030204" pitchFamily="34" charset="0"/>
                <a:ea typeface="ＭＳ Ｐゴシック" panose="020B0600070205080204" pitchFamily="34" charset="-128"/>
              </a:rPr>
              <a:t>actions: </a:t>
            </a:r>
            <a:r>
              <a:rPr lang="en-US" altLang="en-US">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a:solidFill>
                  <a:srgbClr val="0000A8"/>
                </a:solidFill>
                <a:latin typeface="Calibri" panose="020F0502020204030204" pitchFamily="34" charset="0"/>
                <a:ea typeface="ＭＳ Ｐゴシック" panose="020B0600070205080204" pitchFamily="34" charset="-128"/>
              </a:rPr>
              <a:t>priority: </a:t>
            </a:r>
            <a:r>
              <a:rPr lang="en-US" altLang="en-US">
                <a:latin typeface="Calibri" panose="020F0502020204030204" pitchFamily="34" charset="0"/>
                <a:ea typeface="ＭＳ Ｐゴシック" panose="020B0600070205080204" pitchFamily="34" charset="-128"/>
              </a:rPr>
              <a:t>disambiguate overlapping patterns</a:t>
            </a:r>
          </a:p>
          <a:p>
            <a:pPr lvl="1"/>
            <a:r>
              <a:rPr lang="en-US" altLang="en-US">
                <a:solidFill>
                  <a:srgbClr val="0000A8"/>
                </a:solidFill>
                <a:latin typeface="Calibri" panose="020F0502020204030204" pitchFamily="34" charset="0"/>
                <a:ea typeface="ＭＳ Ｐゴシック" panose="020B0600070205080204" pitchFamily="34" charset="-128"/>
              </a:rPr>
              <a:t>counters: </a:t>
            </a:r>
            <a:r>
              <a:rPr lang="en-US" altLang="en-US">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match+action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a:solidFill>
                  <a:srgbClr val="0000A8"/>
                </a:solidFill>
                <a:latin typeface="Calibri" panose="020F0502020204030204" pitchFamily="34" charset="0"/>
                <a:ea typeface="ＭＳ Ｐゴシック" panose="020B0600070205080204" pitchFamily="34" charset="-128"/>
              </a:rPr>
              <a:t>match:</a:t>
            </a:r>
            <a:r>
              <a:rPr lang="en-US" altLang="en-US">
                <a:solidFill>
                  <a:srgbClr val="000090"/>
                </a:solidFill>
                <a:latin typeface="Calibri" panose="020F0502020204030204" pitchFamily="34" charset="0"/>
                <a:ea typeface="ＭＳ Ｐゴシック" panose="020B0600070205080204" pitchFamily="34" charset="-128"/>
              </a:rPr>
              <a:t> </a:t>
            </a:r>
            <a:r>
              <a:rPr lang="en-US" altLang="en-US">
                <a:latin typeface="Calibri" panose="020F0502020204030204" pitchFamily="34" charset="0"/>
                <a:ea typeface="ＭＳ Ｐゴシック" panose="020B0600070205080204" pitchFamily="34" charset="-128"/>
              </a:rPr>
              <a:t>pattern</a:t>
            </a:r>
            <a:r>
              <a:rPr lang="en-US" altLang="en-US">
                <a:solidFill>
                  <a:srgbClr val="000090"/>
                </a:solidFill>
                <a:latin typeface="Calibri" panose="020F0502020204030204" pitchFamily="34" charset="0"/>
                <a:ea typeface="ＭＳ Ｐゴシック" panose="020B0600070205080204" pitchFamily="34" charset="-128"/>
              </a:rPr>
              <a:t> </a:t>
            </a:r>
            <a:r>
              <a:rPr lang="en-US" altLang="en-US">
                <a:latin typeface="Calibri" panose="020F0502020204030204" pitchFamily="34" charset="0"/>
                <a:ea typeface="ＭＳ Ｐゴシック" panose="020B0600070205080204" pitchFamily="34" charset="-128"/>
              </a:rPr>
              <a:t>values in packet header fields</a:t>
            </a:r>
          </a:p>
          <a:p>
            <a:pPr lvl="1"/>
            <a:r>
              <a:rPr lang="en-US" altLang="en-US">
                <a:solidFill>
                  <a:srgbClr val="0000A8"/>
                </a:solidFill>
                <a:latin typeface="Calibri" panose="020F0502020204030204" pitchFamily="34" charset="0"/>
                <a:ea typeface="ＭＳ Ｐゴシック" panose="020B0600070205080204" pitchFamily="34" charset="-128"/>
              </a:rPr>
              <a:t>actions: </a:t>
            </a:r>
            <a:r>
              <a:rPr lang="en-US" altLang="en-US">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a:solidFill>
                  <a:srgbClr val="0000A8"/>
                </a:solidFill>
                <a:latin typeface="Calibri" panose="020F0502020204030204" pitchFamily="34" charset="0"/>
                <a:ea typeface="ＭＳ Ｐゴシック" panose="020B0600070205080204" pitchFamily="34" charset="-128"/>
              </a:rPr>
              <a:t>priority: </a:t>
            </a:r>
            <a:r>
              <a:rPr lang="en-US" altLang="en-US">
                <a:latin typeface="Calibri" panose="020F0502020204030204" pitchFamily="34" charset="0"/>
                <a:ea typeface="ＭＳ Ｐゴシック" panose="020B0600070205080204" pitchFamily="34" charset="-128"/>
              </a:rPr>
              <a:t>disambiguate overlapping patterns</a:t>
            </a:r>
          </a:p>
          <a:p>
            <a:pPr lvl="1"/>
            <a:r>
              <a:rPr lang="en-US" altLang="en-US">
                <a:solidFill>
                  <a:srgbClr val="0000A8"/>
                </a:solidFill>
                <a:latin typeface="Calibri" panose="020F0502020204030204" pitchFamily="34" charset="0"/>
                <a:ea typeface="ＭＳ Ｐゴシック" panose="020B0600070205080204" pitchFamily="34" charset="-128"/>
              </a:rPr>
              <a:t>counters: </a:t>
            </a:r>
            <a:r>
              <a:rPr lang="en-US" altLang="en-US">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Calibri" charset="0"/>
                  <a:ea typeface="ヒラギノ角ゴ Pro W3" charset="0"/>
                  <a:cs typeface="ヒラギノ角ゴ Pro W3" charset="0"/>
                  <a:sym typeface="Wingdings" charset="0"/>
                </a:rPr>
                <a:t>src=10.1.2.3, dest=*.*.*.*     send to controller</a:t>
              </a:r>
              <a:endParaRPr kumimoji="0" lang="en-US" sz="2400" b="0" i="0" u="none" strike="noStrike" kern="1200" cap="none" spc="0" normalizeH="0" baseline="0" noProof="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Calibri" charset="0"/>
                  <a:ea typeface="ヒラギノ角ゴ Pro W3" charset="0"/>
                  <a:cs typeface="ヒラギノ角ゴ Pro W3" charset="0"/>
                </a:rPr>
                <a:t>src=1.2.*.*, dest=*.*.*.* </a:t>
              </a:r>
              <a:r>
                <a:rPr kumimoji="0" lang="en-US" sz="2400" b="0" i="0" u="none" strike="noStrike" kern="1200" cap="none" spc="0" normalizeH="0" baseline="0" noProof="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Calibri" charset="0"/>
                  <a:ea typeface="ヒラギノ角ゴ Pro W3" charset="0"/>
                  <a:cs typeface="ヒラギノ角ゴ Pro W3" charset="0"/>
                  <a:sym typeface="Wingdings" charset="0"/>
                </a:rPr>
                <a:t>src = *.*.*.*, dest=3.4.*.*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a:t>Flow table abstraction</a:t>
            </a:r>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Src MAC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Dst MAC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TCP/UDP Src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 Pri</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TCP/UDP Dst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(ssh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a:solidFill>
                  <a:srgbClr val="C00000"/>
                </a:solidFill>
                <a:latin typeface="Calibri" panose="020F0502020204030204" pitchFamily="34" charset="0"/>
              </a:rPr>
              <a:t>match+action: </a:t>
            </a:r>
            <a:r>
              <a:rPr lang="en-US" altLang="en-US">
                <a:latin typeface="Calibri" panose="020F0502020204030204" pitchFamily="34" charset="0"/>
              </a:rPr>
              <a:t>abstraction</a:t>
            </a:r>
            <a:r>
              <a:rPr lang="en-US" altLang="en-US">
                <a:solidFill>
                  <a:srgbClr val="C00000"/>
                </a:solidFill>
                <a:latin typeface="Calibri" panose="020F0502020204030204" pitchFamily="34" charset="0"/>
              </a:rPr>
              <a:t> </a:t>
            </a:r>
            <a:r>
              <a:rPr lang="en-US" altLang="en-US">
                <a:latin typeface="Calibri" panose="020F0502020204030204" pitchFamily="34" charset="0"/>
              </a:rPr>
              <a:t>unifies different kinds of devices</a:t>
            </a:r>
            <a:endParaRPr lang="en-US" altLang="en-US"/>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a:ln>
                <a:noFill/>
              </a:ln>
              <a:solidFill>
                <a:prstClr val="black"/>
              </a:solidFill>
              <a:effectLst/>
              <a:uLnTx/>
              <a:uFillTx/>
              <a:latin typeface="Calibri" charset="0"/>
              <a:ea typeface="+mn-ea"/>
              <a:cs typeface="+mn-cs"/>
            </a:endParaRPr>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a:solidFill>
                  <a:srgbClr val="C00000"/>
                </a:solidFill>
                <a:latin typeface="Calibri" panose="020F0502020204030204" pitchFamily="34" charset="0"/>
              </a:rPr>
              <a:t>match+action: </a:t>
            </a:r>
            <a:r>
              <a:rPr lang="en-US" altLang="en-US">
                <a:latin typeface="Calibri" panose="020F0502020204030204" pitchFamily="34" charset="0"/>
              </a:rPr>
              <a:t>abstraction</a:t>
            </a:r>
            <a:r>
              <a:rPr lang="en-US" altLang="en-US">
                <a:solidFill>
                  <a:srgbClr val="C00000"/>
                </a:solidFill>
                <a:latin typeface="Calibri" panose="020F0502020204030204" pitchFamily="34" charset="0"/>
              </a:rPr>
              <a:t> </a:t>
            </a:r>
            <a:r>
              <a:rPr lang="en-US" altLang="en-US">
                <a:latin typeface="Calibri" panose="020F0502020204030204" pitchFamily="34" charset="0"/>
              </a:rPr>
              <a:t>unifies different kinds of devices</a:t>
            </a:r>
            <a:endParaRPr lang="en-US" altLang="en-US"/>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a:ln>
                <a:noFill/>
              </a:ln>
              <a:solidFill>
                <a:prstClr val="black"/>
              </a:solidFill>
              <a:effectLst/>
              <a:uLnTx/>
              <a:uFillTx/>
              <a:latin typeface="Calibri" charset="0"/>
              <a:ea typeface="+mn-ea"/>
              <a:cs typeface="+mn-cs"/>
            </a:endParaRPr>
          </a:p>
        </p:txBody>
      </p:sp>
      <p:sp>
        <p:nvSpPr>
          <p:cNvPr id="3" name="Rectangle 2">
            <a:extLst>
              <a:ext uri="{FF2B5EF4-FFF2-40B4-BE49-F238E27FC236}">
                <a16:creationId xmlns:a16="http://schemas.microsoft.com/office/drawing/2014/main" id="{63D1116E-25FB-0110-8A11-0253FF24E50F}"/>
              </a:ext>
            </a:extLst>
          </p:cNvPr>
          <p:cNvSpPr/>
          <p:nvPr/>
        </p:nvSpPr>
        <p:spPr>
          <a:xfrm>
            <a:off x="718457" y="1972491"/>
            <a:ext cx="11011989" cy="4323806"/>
          </a:xfrm>
          <a:prstGeom prst="rect">
            <a:avLst/>
          </a:prstGeom>
          <a:solidFill>
            <a:srgbClr val="FFFFFF">
              <a:alpha val="7686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85000"/>
                  <a:lumOff val="15000"/>
                </a:schemeClr>
              </a:solidFill>
            </a:endParaRPr>
          </a:p>
        </p:txBody>
      </p:sp>
      <p:sp>
        <p:nvSpPr>
          <p:cNvPr id="5" name="Rounded Rectangle 4">
            <a:extLst>
              <a:ext uri="{FF2B5EF4-FFF2-40B4-BE49-F238E27FC236}">
                <a16:creationId xmlns:a16="http://schemas.microsoft.com/office/drawing/2014/main" id="{48DB0126-D391-CFD6-4AE3-6CD3AB0962D7}"/>
              </a:ext>
            </a:extLst>
          </p:cNvPr>
          <p:cNvSpPr/>
          <p:nvPr/>
        </p:nvSpPr>
        <p:spPr>
          <a:xfrm>
            <a:off x="2280676" y="2152629"/>
            <a:ext cx="7220999" cy="3487783"/>
          </a:xfrm>
          <a:prstGeom prst="roundRect">
            <a:avLst/>
          </a:prstGeom>
          <a:solidFill>
            <a:srgbClr val="FFFFFF"/>
          </a:solidFill>
          <a:ln w="762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n>
                <a:solidFill>
                  <a:sysClr val="windowText" lastClr="000000"/>
                </a:solidFill>
              </a:ln>
              <a:solidFill>
                <a:sysClr val="windowText" lastClr="000000"/>
              </a:solidFill>
            </a:endParaRPr>
          </a:p>
        </p:txBody>
      </p:sp>
      <p:sp>
        <p:nvSpPr>
          <p:cNvPr id="7" name="TextBox 6">
            <a:extLst>
              <a:ext uri="{FF2B5EF4-FFF2-40B4-BE49-F238E27FC236}">
                <a16:creationId xmlns:a16="http://schemas.microsoft.com/office/drawing/2014/main" id="{3B4336CD-33F5-B75D-75F5-4D87A0D40DCB}"/>
              </a:ext>
            </a:extLst>
          </p:cNvPr>
          <p:cNvSpPr txBox="1"/>
          <p:nvPr/>
        </p:nvSpPr>
        <p:spPr>
          <a:xfrm>
            <a:off x="3116863" y="2574116"/>
            <a:ext cx="5208989" cy="1200329"/>
          </a:xfrm>
          <a:prstGeom prst="rect">
            <a:avLst/>
          </a:prstGeom>
          <a:noFill/>
        </p:spPr>
        <p:txBody>
          <a:bodyPr wrap="square" rtlCol="0">
            <a:spAutoFit/>
          </a:bodyPr>
          <a:lstStyle/>
          <a:p>
            <a:pPr algn="ctr"/>
            <a:r>
              <a:rPr lang="en-US" sz="3600"/>
              <a:t>In SDN, we call all of them (packet) </a:t>
            </a:r>
            <a:r>
              <a:rPr lang="en-US" sz="3600">
                <a:solidFill>
                  <a:srgbClr val="C00000"/>
                </a:solidFill>
              </a:rPr>
              <a:t>switches</a:t>
            </a:r>
          </a:p>
        </p:txBody>
      </p:sp>
      <p:sp>
        <p:nvSpPr>
          <p:cNvPr id="9" name="TextBox 8">
            <a:extLst>
              <a:ext uri="{FF2B5EF4-FFF2-40B4-BE49-F238E27FC236}">
                <a16:creationId xmlns:a16="http://schemas.microsoft.com/office/drawing/2014/main" id="{3F0F1A26-E245-AD98-08E6-897A9D0F9B70}"/>
              </a:ext>
            </a:extLst>
          </p:cNvPr>
          <p:cNvSpPr txBox="1"/>
          <p:nvPr/>
        </p:nvSpPr>
        <p:spPr>
          <a:xfrm>
            <a:off x="2968817" y="4167861"/>
            <a:ext cx="6057617" cy="1200329"/>
          </a:xfrm>
          <a:prstGeom prst="rect">
            <a:avLst/>
          </a:prstGeom>
          <a:noFill/>
        </p:spPr>
        <p:txBody>
          <a:bodyPr wrap="square" rtlCol="0">
            <a:spAutoFit/>
          </a:bodyPr>
          <a:lstStyle/>
          <a:p>
            <a:r>
              <a:rPr lang="en-US" sz="2400">
                <a:solidFill>
                  <a:schemeClr val="tx1">
                    <a:lumMod val="85000"/>
                    <a:lumOff val="15000"/>
                  </a:schemeClr>
                </a:solidFill>
              </a:rPr>
              <a:t>Even outside of SDN context, it is now quite common to use the name switches to refer to a generic network device. </a:t>
            </a:r>
          </a:p>
        </p:txBody>
      </p:sp>
    </p:spTree>
    <p:extLst>
      <p:ext uri="{BB962C8B-B14F-4D97-AF65-F5344CB8AC3E}">
        <p14:creationId xmlns:p14="http://schemas.microsoft.com/office/powerpoint/2010/main" val="53599290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E7EA7E7F-E81B-3B41-414E-1EDB4BFD3866}"/>
              </a:ext>
            </a:extLst>
          </p:cNvPr>
          <p:cNvSpPr>
            <a:spLocks noGrp="1"/>
          </p:cNvSpPr>
          <p:nvPr>
            <p:ph idx="1"/>
          </p:nvPr>
        </p:nvSpPr>
        <p:spPr/>
        <p:txBody>
          <a:bodyPr/>
          <a:lstStyle/>
          <a:p>
            <a:r>
              <a:rPr lang="en-US" dirty="0"/>
              <a:t>The routing protocols we had learned about so far were </a:t>
            </a:r>
            <a:r>
              <a:rPr lang="en-US" dirty="0">
                <a:solidFill>
                  <a:srgbClr val="0000A8"/>
                </a:solidFill>
              </a:rPr>
              <a:t>distributed</a:t>
            </a:r>
          </a:p>
          <a:p>
            <a:pPr lvl="1"/>
            <a:r>
              <a:rPr lang="en-US" dirty="0"/>
              <a:t>Every router runs an instance of the protocol</a:t>
            </a:r>
          </a:p>
          <a:p>
            <a:pPr lvl="1"/>
            <a:r>
              <a:rPr lang="en-US" dirty="0"/>
              <a:t>They communicate to figure out the best forwarding paths based on costs</a:t>
            </a:r>
          </a:p>
          <a:p>
            <a:pPr>
              <a:spcBef>
                <a:spcPts val="1600"/>
              </a:spcBef>
            </a:pPr>
            <a:r>
              <a:rPr lang="en-US" dirty="0"/>
              <a:t>They were also designed </a:t>
            </a:r>
            <a:r>
              <a:rPr lang="en-US" dirty="0">
                <a:solidFill>
                  <a:srgbClr val="0000A8"/>
                </a:solidFill>
              </a:rPr>
              <a:t>with destination-based forwarding in mind</a:t>
            </a:r>
            <a:r>
              <a:rPr lang="en-US" dirty="0"/>
              <a:t>.</a:t>
            </a:r>
          </a:p>
          <a:p>
            <a:pPr>
              <a:spcBef>
                <a:spcPts val="1600"/>
              </a:spcBef>
            </a:pPr>
            <a:r>
              <a:rPr lang="en-US" dirty="0"/>
              <a:t>Software-Defined Networking takes a different approach…</a:t>
            </a:r>
          </a:p>
          <a:p>
            <a:pPr>
              <a:spcBef>
                <a:spcPts val="1600"/>
              </a:spcBef>
            </a:pPr>
            <a:endParaRPr lang="en-US" dirty="0"/>
          </a:p>
          <a:p>
            <a:pPr lvl="1"/>
            <a:endParaRPr lang="en-US" dirty="0"/>
          </a:p>
          <a:p>
            <a:endParaRPr lang="en-US" dirty="0"/>
          </a:p>
        </p:txBody>
      </p:sp>
      <p:sp>
        <p:nvSpPr>
          <p:cNvPr id="3" name="Title 2">
            <a:extLst>
              <a:ext uri="{FF2B5EF4-FFF2-40B4-BE49-F238E27FC236}">
                <a16:creationId xmlns:a16="http://schemas.microsoft.com/office/drawing/2014/main" id="{8DF57FB1-5B29-D5A2-6D96-E0A4DDB2C486}"/>
              </a:ext>
            </a:extLst>
          </p:cNvPr>
          <p:cNvSpPr>
            <a:spLocks noGrp="1"/>
          </p:cNvSpPr>
          <p:nvPr>
            <p:ph type="title"/>
          </p:nvPr>
        </p:nvSpPr>
        <p:spPr>
          <a:xfrm>
            <a:off x="838200" y="451820"/>
            <a:ext cx="10515600" cy="1148379"/>
          </a:xfrm>
        </p:spPr>
        <p:txBody>
          <a:bodyPr>
            <a:normAutofit fontScale="90000"/>
          </a:bodyPr>
          <a:lstStyle/>
          <a:p>
            <a:r>
              <a:rPr lang="en-US" dirty="0"/>
              <a:t>How does routing work in this generalized forwarding model?</a:t>
            </a:r>
          </a:p>
        </p:txBody>
      </p:sp>
    </p:spTree>
    <p:extLst>
      <p:ext uri="{BB962C8B-B14F-4D97-AF65-F5344CB8AC3E}">
        <p14:creationId xmlns:p14="http://schemas.microsoft.com/office/powerpoint/2010/main" val="1104323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534"/>
        <p:cNvGrpSpPr/>
        <p:nvPr/>
      </p:nvGrpSpPr>
      <p:grpSpPr>
        <a:xfrm>
          <a:off x="0" y="0"/>
          <a:ext cx="0" cy="0"/>
          <a:chOff x="0" y="0"/>
          <a:chExt cx="0" cy="0"/>
        </a:xfrm>
      </p:grpSpPr>
      <p:sp>
        <p:nvSpPr>
          <p:cNvPr id="1535" name="Google Shape;1535;p44"/>
          <p:cNvSpPr txBox="1">
            <a:spLocks noGrp="1"/>
          </p:cNvSpPr>
          <p:nvPr>
            <p:ph type="title"/>
          </p:nvPr>
        </p:nvSpPr>
        <p:spPr>
          <a:xfrm>
            <a:off x="415600" y="377067"/>
            <a:ext cx="11360800" cy="763600"/>
          </a:xfrm>
          <a:prstGeom prst="rect">
            <a:avLst/>
          </a:prstGeom>
        </p:spPr>
        <p:txBody>
          <a:bodyPr spcFirstLastPara="1" vert="horz" wrap="square" lIns="121900" tIns="121900" rIns="121900" bIns="121900" rtlCol="0" anchor="t" anchorCtr="0">
            <a:normAutofit fontScale="90000"/>
          </a:bodyPr>
          <a:lstStyle/>
          <a:p>
            <a:r>
              <a:rPr lang="en"/>
              <a:t>Software-Defined Networking (SDN)</a:t>
            </a:r>
            <a:endParaRPr/>
          </a:p>
        </p:txBody>
      </p:sp>
      <p:grpSp>
        <p:nvGrpSpPr>
          <p:cNvPr id="1536" name="Google Shape;1536;p44"/>
          <p:cNvGrpSpPr/>
          <p:nvPr/>
        </p:nvGrpSpPr>
        <p:grpSpPr>
          <a:xfrm>
            <a:off x="4618232" y="4792216"/>
            <a:ext cx="821904" cy="417105"/>
            <a:chOff x="1457325" y="1610325"/>
            <a:chExt cx="1062075" cy="523125"/>
          </a:xfrm>
        </p:grpSpPr>
        <p:sp>
          <p:nvSpPr>
            <p:cNvPr id="1537" name="Google Shape;1537;p44"/>
            <p:cNvSpPr/>
            <p:nvPr/>
          </p:nvSpPr>
          <p:spPr>
            <a:xfrm>
              <a:off x="1457325" y="1764750"/>
              <a:ext cx="1062000" cy="368700"/>
            </a:xfrm>
            <a:prstGeom prst="ellipse">
              <a:avLst/>
            </a:prstGeom>
            <a:solidFill>
              <a:srgbClr val="A64D79"/>
            </a:solidFill>
            <a:ln>
              <a:noFill/>
            </a:ln>
          </p:spPr>
          <p:txBody>
            <a:bodyPr spcFirstLastPara="1" wrap="square" lIns="121900" tIns="121900" rIns="121900" bIns="121900" anchor="ctr" anchorCtr="0">
              <a:noAutofit/>
            </a:bodyPr>
            <a:lstStyle/>
            <a:p>
              <a:endParaRPr sz="2400"/>
            </a:p>
          </p:txBody>
        </p:sp>
        <p:sp>
          <p:nvSpPr>
            <p:cNvPr id="1538" name="Google Shape;1538;p44"/>
            <p:cNvSpPr/>
            <p:nvPr/>
          </p:nvSpPr>
          <p:spPr>
            <a:xfrm>
              <a:off x="1457400" y="1794775"/>
              <a:ext cx="1062000" cy="184200"/>
            </a:xfrm>
            <a:prstGeom prst="roundRect">
              <a:avLst>
                <a:gd name="adj" fmla="val 16667"/>
              </a:avLst>
            </a:prstGeom>
            <a:solidFill>
              <a:srgbClr val="A64D79"/>
            </a:solidFill>
            <a:ln>
              <a:noFill/>
            </a:ln>
          </p:spPr>
          <p:txBody>
            <a:bodyPr spcFirstLastPara="1" wrap="square" lIns="121900" tIns="121900" rIns="121900" bIns="121900" anchor="ctr" anchorCtr="0">
              <a:noAutofit/>
            </a:bodyPr>
            <a:lstStyle/>
            <a:p>
              <a:endParaRPr sz="2400"/>
            </a:p>
          </p:txBody>
        </p:sp>
        <p:sp>
          <p:nvSpPr>
            <p:cNvPr id="1539" name="Google Shape;1539;p44"/>
            <p:cNvSpPr/>
            <p:nvPr/>
          </p:nvSpPr>
          <p:spPr>
            <a:xfrm>
              <a:off x="1457325" y="1610325"/>
              <a:ext cx="1062000" cy="368700"/>
            </a:xfrm>
            <a:prstGeom prst="ellipse">
              <a:avLst/>
            </a:prstGeom>
            <a:solidFill>
              <a:srgbClr val="A64D79"/>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1540" name="Google Shape;1540;p44"/>
            <p:cNvCxnSpPr/>
            <p:nvPr/>
          </p:nvCxnSpPr>
          <p:spPr>
            <a:xfrm rot="10800000">
              <a:off x="1672638" y="1665994"/>
              <a:ext cx="656400" cy="240300"/>
            </a:xfrm>
            <a:prstGeom prst="straightConnector1">
              <a:avLst/>
            </a:prstGeom>
            <a:noFill/>
            <a:ln w="19050" cap="flat" cmpd="sng">
              <a:solidFill>
                <a:srgbClr val="FFFFFF"/>
              </a:solidFill>
              <a:prstDash val="solid"/>
              <a:round/>
              <a:headEnd type="stealth" w="med" len="med"/>
              <a:tailEnd type="stealth" w="med" len="med"/>
            </a:ln>
          </p:spPr>
        </p:cxnSp>
        <p:cxnSp>
          <p:nvCxnSpPr>
            <p:cNvPr id="1541" name="Google Shape;1541;p44"/>
            <p:cNvCxnSpPr/>
            <p:nvPr/>
          </p:nvCxnSpPr>
          <p:spPr>
            <a:xfrm flipH="1">
              <a:off x="1664202" y="1687538"/>
              <a:ext cx="634800" cy="201600"/>
            </a:xfrm>
            <a:prstGeom prst="straightConnector1">
              <a:avLst/>
            </a:prstGeom>
            <a:noFill/>
            <a:ln w="19050" cap="flat" cmpd="sng">
              <a:solidFill>
                <a:srgbClr val="FFFFFF"/>
              </a:solidFill>
              <a:prstDash val="solid"/>
              <a:round/>
              <a:headEnd type="stealth" w="med" len="med"/>
              <a:tailEnd type="stealth" w="med" len="med"/>
            </a:ln>
          </p:spPr>
        </p:cxnSp>
      </p:grpSp>
      <p:grpSp>
        <p:nvGrpSpPr>
          <p:cNvPr id="1542" name="Google Shape;1542;p44"/>
          <p:cNvGrpSpPr/>
          <p:nvPr/>
        </p:nvGrpSpPr>
        <p:grpSpPr>
          <a:xfrm>
            <a:off x="5847295" y="4250768"/>
            <a:ext cx="821904" cy="417105"/>
            <a:chOff x="1457325" y="1610325"/>
            <a:chExt cx="1062075" cy="523125"/>
          </a:xfrm>
        </p:grpSpPr>
        <p:sp>
          <p:nvSpPr>
            <p:cNvPr id="1543" name="Google Shape;1543;p44"/>
            <p:cNvSpPr/>
            <p:nvPr/>
          </p:nvSpPr>
          <p:spPr>
            <a:xfrm>
              <a:off x="1457325" y="1764750"/>
              <a:ext cx="1062000" cy="368700"/>
            </a:xfrm>
            <a:prstGeom prst="ellipse">
              <a:avLst/>
            </a:prstGeom>
            <a:solidFill>
              <a:srgbClr val="A64D79"/>
            </a:solidFill>
            <a:ln>
              <a:noFill/>
            </a:ln>
          </p:spPr>
          <p:txBody>
            <a:bodyPr spcFirstLastPara="1" wrap="square" lIns="121900" tIns="121900" rIns="121900" bIns="121900" anchor="ctr" anchorCtr="0">
              <a:noAutofit/>
            </a:bodyPr>
            <a:lstStyle/>
            <a:p>
              <a:endParaRPr sz="2400"/>
            </a:p>
          </p:txBody>
        </p:sp>
        <p:sp>
          <p:nvSpPr>
            <p:cNvPr id="1544" name="Google Shape;1544;p44"/>
            <p:cNvSpPr/>
            <p:nvPr/>
          </p:nvSpPr>
          <p:spPr>
            <a:xfrm>
              <a:off x="1457400" y="1794775"/>
              <a:ext cx="1062000" cy="184200"/>
            </a:xfrm>
            <a:prstGeom prst="roundRect">
              <a:avLst>
                <a:gd name="adj" fmla="val 16667"/>
              </a:avLst>
            </a:prstGeom>
            <a:solidFill>
              <a:srgbClr val="A64D79"/>
            </a:solidFill>
            <a:ln>
              <a:noFill/>
            </a:ln>
          </p:spPr>
          <p:txBody>
            <a:bodyPr spcFirstLastPara="1" wrap="square" lIns="121900" tIns="121900" rIns="121900" bIns="121900" anchor="ctr" anchorCtr="0">
              <a:noAutofit/>
            </a:bodyPr>
            <a:lstStyle/>
            <a:p>
              <a:endParaRPr sz="2400"/>
            </a:p>
          </p:txBody>
        </p:sp>
        <p:sp>
          <p:nvSpPr>
            <p:cNvPr id="1545" name="Google Shape;1545;p44"/>
            <p:cNvSpPr/>
            <p:nvPr/>
          </p:nvSpPr>
          <p:spPr>
            <a:xfrm>
              <a:off x="1457325" y="1610325"/>
              <a:ext cx="1062000" cy="368700"/>
            </a:xfrm>
            <a:prstGeom prst="ellipse">
              <a:avLst/>
            </a:prstGeom>
            <a:solidFill>
              <a:srgbClr val="A64D79"/>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1546" name="Google Shape;1546;p44"/>
            <p:cNvCxnSpPr/>
            <p:nvPr/>
          </p:nvCxnSpPr>
          <p:spPr>
            <a:xfrm rot="10800000">
              <a:off x="1672638" y="1665994"/>
              <a:ext cx="656400" cy="240300"/>
            </a:xfrm>
            <a:prstGeom prst="straightConnector1">
              <a:avLst/>
            </a:prstGeom>
            <a:noFill/>
            <a:ln w="19050" cap="flat" cmpd="sng">
              <a:solidFill>
                <a:srgbClr val="FFFFFF"/>
              </a:solidFill>
              <a:prstDash val="solid"/>
              <a:round/>
              <a:headEnd type="stealth" w="med" len="med"/>
              <a:tailEnd type="stealth" w="med" len="med"/>
            </a:ln>
          </p:spPr>
        </p:cxnSp>
        <p:cxnSp>
          <p:nvCxnSpPr>
            <p:cNvPr id="1547" name="Google Shape;1547;p44"/>
            <p:cNvCxnSpPr/>
            <p:nvPr/>
          </p:nvCxnSpPr>
          <p:spPr>
            <a:xfrm flipH="1">
              <a:off x="1664202" y="1687538"/>
              <a:ext cx="634800" cy="201600"/>
            </a:xfrm>
            <a:prstGeom prst="straightConnector1">
              <a:avLst/>
            </a:prstGeom>
            <a:noFill/>
            <a:ln w="19050" cap="flat" cmpd="sng">
              <a:solidFill>
                <a:srgbClr val="FFFFFF"/>
              </a:solidFill>
              <a:prstDash val="solid"/>
              <a:round/>
              <a:headEnd type="stealth" w="med" len="med"/>
              <a:tailEnd type="stealth" w="med" len="med"/>
            </a:ln>
          </p:spPr>
        </p:cxnSp>
      </p:grpSp>
      <p:grpSp>
        <p:nvGrpSpPr>
          <p:cNvPr id="1548" name="Google Shape;1548;p44"/>
          <p:cNvGrpSpPr/>
          <p:nvPr/>
        </p:nvGrpSpPr>
        <p:grpSpPr>
          <a:xfrm>
            <a:off x="5901819" y="5402396"/>
            <a:ext cx="821904" cy="417105"/>
            <a:chOff x="1457325" y="1610325"/>
            <a:chExt cx="1062075" cy="523125"/>
          </a:xfrm>
        </p:grpSpPr>
        <p:sp>
          <p:nvSpPr>
            <p:cNvPr id="1549" name="Google Shape;1549;p44"/>
            <p:cNvSpPr/>
            <p:nvPr/>
          </p:nvSpPr>
          <p:spPr>
            <a:xfrm>
              <a:off x="1457325" y="1764750"/>
              <a:ext cx="1062000" cy="368700"/>
            </a:xfrm>
            <a:prstGeom prst="ellipse">
              <a:avLst/>
            </a:prstGeom>
            <a:solidFill>
              <a:srgbClr val="A64D79"/>
            </a:solidFill>
            <a:ln>
              <a:noFill/>
            </a:ln>
          </p:spPr>
          <p:txBody>
            <a:bodyPr spcFirstLastPara="1" wrap="square" lIns="121900" tIns="121900" rIns="121900" bIns="121900" anchor="ctr" anchorCtr="0">
              <a:noAutofit/>
            </a:bodyPr>
            <a:lstStyle/>
            <a:p>
              <a:endParaRPr sz="2400"/>
            </a:p>
          </p:txBody>
        </p:sp>
        <p:sp>
          <p:nvSpPr>
            <p:cNvPr id="1550" name="Google Shape;1550;p44"/>
            <p:cNvSpPr/>
            <p:nvPr/>
          </p:nvSpPr>
          <p:spPr>
            <a:xfrm>
              <a:off x="1457400" y="1794775"/>
              <a:ext cx="1062000" cy="184200"/>
            </a:xfrm>
            <a:prstGeom prst="roundRect">
              <a:avLst>
                <a:gd name="adj" fmla="val 16667"/>
              </a:avLst>
            </a:prstGeom>
            <a:solidFill>
              <a:srgbClr val="A64D79"/>
            </a:solidFill>
            <a:ln>
              <a:noFill/>
            </a:ln>
          </p:spPr>
          <p:txBody>
            <a:bodyPr spcFirstLastPara="1" wrap="square" lIns="121900" tIns="121900" rIns="121900" bIns="121900" anchor="ctr" anchorCtr="0">
              <a:noAutofit/>
            </a:bodyPr>
            <a:lstStyle/>
            <a:p>
              <a:endParaRPr sz="2400"/>
            </a:p>
          </p:txBody>
        </p:sp>
        <p:sp>
          <p:nvSpPr>
            <p:cNvPr id="1551" name="Google Shape;1551;p44"/>
            <p:cNvSpPr/>
            <p:nvPr/>
          </p:nvSpPr>
          <p:spPr>
            <a:xfrm>
              <a:off x="1457325" y="1610325"/>
              <a:ext cx="1062000" cy="368700"/>
            </a:xfrm>
            <a:prstGeom prst="ellipse">
              <a:avLst/>
            </a:prstGeom>
            <a:solidFill>
              <a:srgbClr val="A64D79"/>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1552" name="Google Shape;1552;p44"/>
            <p:cNvCxnSpPr/>
            <p:nvPr/>
          </p:nvCxnSpPr>
          <p:spPr>
            <a:xfrm rot="10800000">
              <a:off x="1672638" y="1665994"/>
              <a:ext cx="656400" cy="240300"/>
            </a:xfrm>
            <a:prstGeom prst="straightConnector1">
              <a:avLst/>
            </a:prstGeom>
            <a:noFill/>
            <a:ln w="19050" cap="flat" cmpd="sng">
              <a:solidFill>
                <a:srgbClr val="FFFFFF"/>
              </a:solidFill>
              <a:prstDash val="solid"/>
              <a:round/>
              <a:headEnd type="stealth" w="med" len="med"/>
              <a:tailEnd type="stealth" w="med" len="med"/>
            </a:ln>
          </p:spPr>
        </p:cxnSp>
        <p:cxnSp>
          <p:nvCxnSpPr>
            <p:cNvPr id="1553" name="Google Shape;1553;p44"/>
            <p:cNvCxnSpPr/>
            <p:nvPr/>
          </p:nvCxnSpPr>
          <p:spPr>
            <a:xfrm flipH="1">
              <a:off x="1664202" y="1687538"/>
              <a:ext cx="634800" cy="201600"/>
            </a:xfrm>
            <a:prstGeom prst="straightConnector1">
              <a:avLst/>
            </a:prstGeom>
            <a:noFill/>
            <a:ln w="19050" cap="flat" cmpd="sng">
              <a:solidFill>
                <a:srgbClr val="FFFFFF"/>
              </a:solidFill>
              <a:prstDash val="solid"/>
              <a:round/>
              <a:headEnd type="stealth" w="med" len="med"/>
              <a:tailEnd type="stealth" w="med" len="med"/>
            </a:ln>
          </p:spPr>
        </p:cxnSp>
      </p:grpSp>
      <p:grpSp>
        <p:nvGrpSpPr>
          <p:cNvPr id="1554" name="Google Shape;1554;p44"/>
          <p:cNvGrpSpPr/>
          <p:nvPr/>
        </p:nvGrpSpPr>
        <p:grpSpPr>
          <a:xfrm>
            <a:off x="7164816" y="4792216"/>
            <a:ext cx="821904" cy="417105"/>
            <a:chOff x="1457325" y="1610325"/>
            <a:chExt cx="1062075" cy="523125"/>
          </a:xfrm>
        </p:grpSpPr>
        <p:sp>
          <p:nvSpPr>
            <p:cNvPr id="1555" name="Google Shape;1555;p44"/>
            <p:cNvSpPr/>
            <p:nvPr/>
          </p:nvSpPr>
          <p:spPr>
            <a:xfrm>
              <a:off x="1457325" y="1764750"/>
              <a:ext cx="1062000" cy="368700"/>
            </a:xfrm>
            <a:prstGeom prst="ellipse">
              <a:avLst/>
            </a:prstGeom>
            <a:solidFill>
              <a:srgbClr val="A64D79"/>
            </a:solidFill>
            <a:ln>
              <a:noFill/>
            </a:ln>
          </p:spPr>
          <p:txBody>
            <a:bodyPr spcFirstLastPara="1" wrap="square" lIns="121900" tIns="121900" rIns="121900" bIns="121900" anchor="ctr" anchorCtr="0">
              <a:noAutofit/>
            </a:bodyPr>
            <a:lstStyle/>
            <a:p>
              <a:endParaRPr sz="2400"/>
            </a:p>
          </p:txBody>
        </p:sp>
        <p:sp>
          <p:nvSpPr>
            <p:cNvPr id="1556" name="Google Shape;1556;p44"/>
            <p:cNvSpPr/>
            <p:nvPr/>
          </p:nvSpPr>
          <p:spPr>
            <a:xfrm>
              <a:off x="1457400" y="1794775"/>
              <a:ext cx="1062000" cy="184200"/>
            </a:xfrm>
            <a:prstGeom prst="roundRect">
              <a:avLst>
                <a:gd name="adj" fmla="val 16667"/>
              </a:avLst>
            </a:prstGeom>
            <a:solidFill>
              <a:srgbClr val="A64D79"/>
            </a:solidFill>
            <a:ln>
              <a:noFill/>
            </a:ln>
          </p:spPr>
          <p:txBody>
            <a:bodyPr spcFirstLastPara="1" wrap="square" lIns="121900" tIns="121900" rIns="121900" bIns="121900" anchor="ctr" anchorCtr="0">
              <a:noAutofit/>
            </a:bodyPr>
            <a:lstStyle/>
            <a:p>
              <a:endParaRPr sz="2400"/>
            </a:p>
          </p:txBody>
        </p:sp>
        <p:sp>
          <p:nvSpPr>
            <p:cNvPr id="1557" name="Google Shape;1557;p44"/>
            <p:cNvSpPr/>
            <p:nvPr/>
          </p:nvSpPr>
          <p:spPr>
            <a:xfrm>
              <a:off x="1457325" y="1610325"/>
              <a:ext cx="1062000" cy="368700"/>
            </a:xfrm>
            <a:prstGeom prst="ellipse">
              <a:avLst/>
            </a:prstGeom>
            <a:solidFill>
              <a:srgbClr val="A64D79"/>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1558" name="Google Shape;1558;p44"/>
            <p:cNvCxnSpPr/>
            <p:nvPr/>
          </p:nvCxnSpPr>
          <p:spPr>
            <a:xfrm rot="10800000">
              <a:off x="1672638" y="1665994"/>
              <a:ext cx="656400" cy="240300"/>
            </a:xfrm>
            <a:prstGeom prst="straightConnector1">
              <a:avLst/>
            </a:prstGeom>
            <a:noFill/>
            <a:ln w="19050" cap="flat" cmpd="sng">
              <a:solidFill>
                <a:srgbClr val="FFFFFF"/>
              </a:solidFill>
              <a:prstDash val="solid"/>
              <a:round/>
              <a:headEnd type="stealth" w="med" len="med"/>
              <a:tailEnd type="stealth" w="med" len="med"/>
            </a:ln>
          </p:spPr>
        </p:cxnSp>
        <p:cxnSp>
          <p:nvCxnSpPr>
            <p:cNvPr id="1559" name="Google Shape;1559;p44"/>
            <p:cNvCxnSpPr/>
            <p:nvPr/>
          </p:nvCxnSpPr>
          <p:spPr>
            <a:xfrm flipH="1">
              <a:off x="1664202" y="1687538"/>
              <a:ext cx="634800" cy="201600"/>
            </a:xfrm>
            <a:prstGeom prst="straightConnector1">
              <a:avLst/>
            </a:prstGeom>
            <a:noFill/>
            <a:ln w="19050" cap="flat" cmpd="sng">
              <a:solidFill>
                <a:srgbClr val="FFFFFF"/>
              </a:solidFill>
              <a:prstDash val="solid"/>
              <a:round/>
              <a:headEnd type="stealth" w="med" len="med"/>
              <a:tailEnd type="stealth" w="med" len="med"/>
            </a:ln>
          </p:spPr>
        </p:cxnSp>
      </p:grpSp>
      <p:grpSp>
        <p:nvGrpSpPr>
          <p:cNvPr id="1560" name="Google Shape;1560;p44"/>
          <p:cNvGrpSpPr/>
          <p:nvPr/>
        </p:nvGrpSpPr>
        <p:grpSpPr>
          <a:xfrm>
            <a:off x="3211499" y="4792216"/>
            <a:ext cx="821904" cy="417105"/>
            <a:chOff x="1457325" y="1610325"/>
            <a:chExt cx="1062075" cy="523125"/>
          </a:xfrm>
        </p:grpSpPr>
        <p:sp>
          <p:nvSpPr>
            <p:cNvPr id="1561" name="Google Shape;1561;p44"/>
            <p:cNvSpPr/>
            <p:nvPr/>
          </p:nvSpPr>
          <p:spPr>
            <a:xfrm>
              <a:off x="1457325" y="1764750"/>
              <a:ext cx="1062000" cy="368700"/>
            </a:xfrm>
            <a:prstGeom prst="ellipse">
              <a:avLst/>
            </a:prstGeom>
            <a:solidFill>
              <a:srgbClr val="A64D79"/>
            </a:solidFill>
            <a:ln>
              <a:noFill/>
            </a:ln>
          </p:spPr>
          <p:txBody>
            <a:bodyPr spcFirstLastPara="1" wrap="square" lIns="121900" tIns="121900" rIns="121900" bIns="121900" anchor="ctr" anchorCtr="0">
              <a:noAutofit/>
            </a:bodyPr>
            <a:lstStyle/>
            <a:p>
              <a:endParaRPr sz="2400"/>
            </a:p>
          </p:txBody>
        </p:sp>
        <p:sp>
          <p:nvSpPr>
            <p:cNvPr id="1562" name="Google Shape;1562;p44"/>
            <p:cNvSpPr/>
            <p:nvPr/>
          </p:nvSpPr>
          <p:spPr>
            <a:xfrm>
              <a:off x="1457400" y="1794775"/>
              <a:ext cx="1062000" cy="184200"/>
            </a:xfrm>
            <a:prstGeom prst="roundRect">
              <a:avLst>
                <a:gd name="adj" fmla="val 16667"/>
              </a:avLst>
            </a:prstGeom>
            <a:solidFill>
              <a:srgbClr val="A64D79"/>
            </a:solidFill>
            <a:ln>
              <a:noFill/>
            </a:ln>
          </p:spPr>
          <p:txBody>
            <a:bodyPr spcFirstLastPara="1" wrap="square" lIns="121900" tIns="121900" rIns="121900" bIns="121900" anchor="ctr" anchorCtr="0">
              <a:noAutofit/>
            </a:bodyPr>
            <a:lstStyle/>
            <a:p>
              <a:endParaRPr sz="2400"/>
            </a:p>
          </p:txBody>
        </p:sp>
        <p:sp>
          <p:nvSpPr>
            <p:cNvPr id="1563" name="Google Shape;1563;p44"/>
            <p:cNvSpPr/>
            <p:nvPr/>
          </p:nvSpPr>
          <p:spPr>
            <a:xfrm>
              <a:off x="1457325" y="1610325"/>
              <a:ext cx="1062000" cy="368700"/>
            </a:xfrm>
            <a:prstGeom prst="ellipse">
              <a:avLst/>
            </a:prstGeom>
            <a:solidFill>
              <a:srgbClr val="A64D79"/>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1564" name="Google Shape;1564;p44"/>
            <p:cNvCxnSpPr/>
            <p:nvPr/>
          </p:nvCxnSpPr>
          <p:spPr>
            <a:xfrm rot="10800000">
              <a:off x="1672638" y="1665994"/>
              <a:ext cx="656400" cy="240300"/>
            </a:xfrm>
            <a:prstGeom prst="straightConnector1">
              <a:avLst/>
            </a:prstGeom>
            <a:noFill/>
            <a:ln w="19050" cap="flat" cmpd="sng">
              <a:solidFill>
                <a:srgbClr val="FFFFFF"/>
              </a:solidFill>
              <a:prstDash val="solid"/>
              <a:round/>
              <a:headEnd type="stealth" w="med" len="med"/>
              <a:tailEnd type="stealth" w="med" len="med"/>
            </a:ln>
          </p:spPr>
        </p:cxnSp>
        <p:cxnSp>
          <p:nvCxnSpPr>
            <p:cNvPr id="1565" name="Google Shape;1565;p44"/>
            <p:cNvCxnSpPr/>
            <p:nvPr/>
          </p:nvCxnSpPr>
          <p:spPr>
            <a:xfrm flipH="1">
              <a:off x="1664202" y="1687538"/>
              <a:ext cx="634800" cy="201600"/>
            </a:xfrm>
            <a:prstGeom prst="straightConnector1">
              <a:avLst/>
            </a:prstGeom>
            <a:noFill/>
            <a:ln w="19050" cap="flat" cmpd="sng">
              <a:solidFill>
                <a:srgbClr val="FFFFFF"/>
              </a:solidFill>
              <a:prstDash val="solid"/>
              <a:round/>
              <a:headEnd type="stealth" w="med" len="med"/>
              <a:tailEnd type="stealth" w="med" len="med"/>
            </a:ln>
          </p:spPr>
        </p:cxnSp>
      </p:grpSp>
      <p:cxnSp>
        <p:nvCxnSpPr>
          <p:cNvPr id="1566" name="Google Shape;1566;p44"/>
          <p:cNvCxnSpPr>
            <a:stCxn id="1563" idx="6"/>
            <a:endCxn id="1539" idx="2"/>
          </p:cNvCxnSpPr>
          <p:nvPr/>
        </p:nvCxnSpPr>
        <p:spPr>
          <a:xfrm>
            <a:off x="4033345" y="4939203"/>
            <a:ext cx="584800" cy="0"/>
          </a:xfrm>
          <a:prstGeom prst="straightConnector1">
            <a:avLst/>
          </a:prstGeom>
          <a:noFill/>
          <a:ln w="19050" cap="flat" cmpd="sng">
            <a:solidFill>
              <a:srgbClr val="595959"/>
            </a:solidFill>
            <a:prstDash val="solid"/>
            <a:round/>
            <a:headEnd type="none" w="med" len="med"/>
            <a:tailEnd type="none" w="med" len="med"/>
          </a:ln>
        </p:spPr>
      </p:cxnSp>
      <p:cxnSp>
        <p:nvCxnSpPr>
          <p:cNvPr id="1567" name="Google Shape;1567;p44"/>
          <p:cNvCxnSpPr>
            <a:stCxn id="1539" idx="6"/>
            <a:endCxn id="1543" idx="3"/>
          </p:cNvCxnSpPr>
          <p:nvPr/>
        </p:nvCxnSpPr>
        <p:spPr>
          <a:xfrm rot="10800000" flipH="1">
            <a:off x="5440077" y="4624803"/>
            <a:ext cx="527600" cy="314400"/>
          </a:xfrm>
          <a:prstGeom prst="straightConnector1">
            <a:avLst/>
          </a:prstGeom>
          <a:noFill/>
          <a:ln w="19050" cap="flat" cmpd="sng">
            <a:solidFill>
              <a:srgbClr val="595959"/>
            </a:solidFill>
            <a:prstDash val="solid"/>
            <a:round/>
            <a:headEnd type="none" w="med" len="med"/>
            <a:tailEnd type="none" w="med" len="med"/>
          </a:ln>
        </p:spPr>
      </p:cxnSp>
      <p:cxnSp>
        <p:nvCxnSpPr>
          <p:cNvPr id="1568" name="Google Shape;1568;p44"/>
          <p:cNvCxnSpPr/>
          <p:nvPr/>
        </p:nvCxnSpPr>
        <p:spPr>
          <a:xfrm rot="10800000">
            <a:off x="5440308" y="5113739"/>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569" name="Google Shape;1569;p44"/>
          <p:cNvCxnSpPr/>
          <p:nvPr/>
        </p:nvCxnSpPr>
        <p:spPr>
          <a:xfrm rot="10800000">
            <a:off x="6637619" y="4599088"/>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570" name="Google Shape;1570;p44"/>
          <p:cNvCxnSpPr/>
          <p:nvPr/>
        </p:nvCxnSpPr>
        <p:spPr>
          <a:xfrm rot="10800000" flipH="1">
            <a:off x="6637385" y="5088023"/>
            <a:ext cx="527200" cy="314400"/>
          </a:xfrm>
          <a:prstGeom prst="straightConnector1">
            <a:avLst/>
          </a:prstGeom>
          <a:noFill/>
          <a:ln w="19050" cap="flat" cmpd="sng">
            <a:solidFill>
              <a:srgbClr val="595959"/>
            </a:solidFill>
            <a:prstDash val="solid"/>
            <a:round/>
            <a:headEnd type="none" w="med" len="med"/>
            <a:tailEnd type="none" w="med" len="med"/>
          </a:ln>
        </p:spPr>
      </p:cxnSp>
      <p:grpSp>
        <p:nvGrpSpPr>
          <p:cNvPr id="1571" name="Google Shape;1571;p44"/>
          <p:cNvGrpSpPr/>
          <p:nvPr/>
        </p:nvGrpSpPr>
        <p:grpSpPr>
          <a:xfrm>
            <a:off x="2023865" y="4678545"/>
            <a:ext cx="821952" cy="521332"/>
            <a:chOff x="1452425" y="1381125"/>
            <a:chExt cx="840900" cy="533350"/>
          </a:xfrm>
        </p:grpSpPr>
        <p:sp>
          <p:nvSpPr>
            <p:cNvPr id="1572" name="Google Shape;1572;p44"/>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573" name="Google Shape;1573;p44"/>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574" name="Google Shape;1574;p44"/>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575" name="Google Shape;1575;p44"/>
          <p:cNvGrpSpPr/>
          <p:nvPr/>
        </p:nvGrpSpPr>
        <p:grpSpPr>
          <a:xfrm>
            <a:off x="5847265" y="3442527"/>
            <a:ext cx="821952" cy="521332"/>
            <a:chOff x="1452425" y="1381125"/>
            <a:chExt cx="840900" cy="533350"/>
          </a:xfrm>
        </p:grpSpPr>
        <p:sp>
          <p:nvSpPr>
            <p:cNvPr id="1576" name="Google Shape;1576;p44"/>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577" name="Google Shape;1577;p44"/>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578" name="Google Shape;1578;p44"/>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579" name="Google Shape;1579;p44"/>
          <p:cNvGrpSpPr/>
          <p:nvPr/>
        </p:nvGrpSpPr>
        <p:grpSpPr>
          <a:xfrm>
            <a:off x="8348465" y="4740111"/>
            <a:ext cx="821952" cy="521332"/>
            <a:chOff x="1452425" y="1381125"/>
            <a:chExt cx="840900" cy="533350"/>
          </a:xfrm>
        </p:grpSpPr>
        <p:sp>
          <p:nvSpPr>
            <p:cNvPr id="1580" name="Google Shape;1580;p44"/>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581" name="Google Shape;1581;p44"/>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582" name="Google Shape;1582;p44"/>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cxnSp>
        <p:nvCxnSpPr>
          <p:cNvPr id="1583" name="Google Shape;1583;p44"/>
          <p:cNvCxnSpPr/>
          <p:nvPr/>
        </p:nvCxnSpPr>
        <p:spPr>
          <a:xfrm>
            <a:off x="2760108" y="5000772"/>
            <a:ext cx="429200" cy="0"/>
          </a:xfrm>
          <a:prstGeom prst="straightConnector1">
            <a:avLst/>
          </a:prstGeom>
          <a:noFill/>
          <a:ln w="19050" cap="flat" cmpd="sng">
            <a:solidFill>
              <a:srgbClr val="595959"/>
            </a:solidFill>
            <a:prstDash val="solid"/>
            <a:round/>
            <a:headEnd type="none" w="med" len="med"/>
            <a:tailEnd type="none" w="med" len="med"/>
          </a:ln>
        </p:spPr>
      </p:cxnSp>
      <p:cxnSp>
        <p:nvCxnSpPr>
          <p:cNvPr id="1584" name="Google Shape;1584;p44"/>
          <p:cNvCxnSpPr/>
          <p:nvPr/>
        </p:nvCxnSpPr>
        <p:spPr>
          <a:xfrm>
            <a:off x="6258257" y="3963859"/>
            <a:ext cx="0" cy="308000"/>
          </a:xfrm>
          <a:prstGeom prst="straightConnector1">
            <a:avLst/>
          </a:prstGeom>
          <a:noFill/>
          <a:ln w="19050" cap="flat" cmpd="sng">
            <a:solidFill>
              <a:srgbClr val="595959"/>
            </a:solidFill>
            <a:prstDash val="solid"/>
            <a:round/>
            <a:headEnd type="none" w="med" len="med"/>
            <a:tailEnd type="none" w="med" len="med"/>
          </a:ln>
        </p:spPr>
      </p:cxnSp>
      <p:cxnSp>
        <p:nvCxnSpPr>
          <p:cNvPr id="1585" name="Google Shape;1585;p44"/>
          <p:cNvCxnSpPr/>
          <p:nvPr/>
        </p:nvCxnSpPr>
        <p:spPr>
          <a:xfrm>
            <a:off x="7986741" y="5000772"/>
            <a:ext cx="429200" cy="0"/>
          </a:xfrm>
          <a:prstGeom prst="straightConnector1">
            <a:avLst/>
          </a:prstGeom>
          <a:noFill/>
          <a:ln w="19050" cap="flat" cmpd="sng">
            <a:solidFill>
              <a:srgbClr val="595959"/>
            </a:solidFill>
            <a:prstDash val="solid"/>
            <a:round/>
            <a:headEnd type="none" w="med" len="med"/>
            <a:tailEnd type="none" w="med" len="med"/>
          </a:ln>
        </p:spPr>
      </p:cxn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1589"/>
        <p:cNvGrpSpPr/>
        <p:nvPr/>
      </p:nvGrpSpPr>
      <p:grpSpPr>
        <a:xfrm>
          <a:off x="0" y="0"/>
          <a:ext cx="0" cy="0"/>
          <a:chOff x="0" y="0"/>
          <a:chExt cx="0" cy="0"/>
        </a:xfrm>
      </p:grpSpPr>
      <p:sp>
        <p:nvSpPr>
          <p:cNvPr id="1590" name="Google Shape;1590;p45"/>
          <p:cNvSpPr txBox="1">
            <a:spLocks noGrp="1"/>
          </p:cNvSpPr>
          <p:nvPr>
            <p:ph type="title"/>
          </p:nvPr>
        </p:nvSpPr>
        <p:spPr>
          <a:xfrm>
            <a:off x="415600" y="377067"/>
            <a:ext cx="11360800" cy="763600"/>
          </a:xfrm>
          <a:prstGeom prst="rect">
            <a:avLst/>
          </a:prstGeom>
        </p:spPr>
        <p:txBody>
          <a:bodyPr spcFirstLastPara="1" vert="horz" wrap="square" lIns="121900" tIns="121900" rIns="121900" bIns="121900" rtlCol="0" anchor="t" anchorCtr="0">
            <a:normAutofit fontScale="90000"/>
          </a:bodyPr>
          <a:lstStyle/>
          <a:p>
            <a:r>
              <a:rPr lang="en"/>
              <a:t>Software-Defined Networking (SDN)</a:t>
            </a:r>
            <a:endParaRPr/>
          </a:p>
        </p:txBody>
      </p:sp>
      <p:cxnSp>
        <p:nvCxnSpPr>
          <p:cNvPr id="1591" name="Google Shape;1591;p45"/>
          <p:cNvCxnSpPr>
            <a:stCxn id="1592" idx="6"/>
            <a:endCxn id="1593" idx="2"/>
          </p:cNvCxnSpPr>
          <p:nvPr/>
        </p:nvCxnSpPr>
        <p:spPr>
          <a:xfrm>
            <a:off x="4033345" y="4939203"/>
            <a:ext cx="584800" cy="0"/>
          </a:xfrm>
          <a:prstGeom prst="straightConnector1">
            <a:avLst/>
          </a:prstGeom>
          <a:noFill/>
          <a:ln w="19050" cap="flat" cmpd="sng">
            <a:solidFill>
              <a:srgbClr val="595959"/>
            </a:solidFill>
            <a:prstDash val="solid"/>
            <a:round/>
            <a:headEnd type="none" w="med" len="med"/>
            <a:tailEnd type="none" w="med" len="med"/>
          </a:ln>
        </p:spPr>
      </p:cxnSp>
      <p:cxnSp>
        <p:nvCxnSpPr>
          <p:cNvPr id="1594" name="Google Shape;1594;p45"/>
          <p:cNvCxnSpPr>
            <a:stCxn id="1593" idx="6"/>
            <a:endCxn id="1595" idx="3"/>
          </p:cNvCxnSpPr>
          <p:nvPr/>
        </p:nvCxnSpPr>
        <p:spPr>
          <a:xfrm rot="10800000" flipH="1">
            <a:off x="5440077" y="4624803"/>
            <a:ext cx="527600" cy="314400"/>
          </a:xfrm>
          <a:prstGeom prst="straightConnector1">
            <a:avLst/>
          </a:prstGeom>
          <a:noFill/>
          <a:ln w="19050" cap="flat" cmpd="sng">
            <a:solidFill>
              <a:srgbClr val="595959"/>
            </a:solidFill>
            <a:prstDash val="solid"/>
            <a:round/>
            <a:headEnd type="none" w="med" len="med"/>
            <a:tailEnd type="none" w="med" len="med"/>
          </a:ln>
        </p:spPr>
      </p:cxnSp>
      <p:cxnSp>
        <p:nvCxnSpPr>
          <p:cNvPr id="1596" name="Google Shape;1596;p45"/>
          <p:cNvCxnSpPr/>
          <p:nvPr/>
        </p:nvCxnSpPr>
        <p:spPr>
          <a:xfrm rot="10800000">
            <a:off x="5440308" y="5113739"/>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597" name="Google Shape;1597;p45"/>
          <p:cNvCxnSpPr/>
          <p:nvPr/>
        </p:nvCxnSpPr>
        <p:spPr>
          <a:xfrm rot="10800000">
            <a:off x="6637619" y="4599088"/>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598" name="Google Shape;1598;p45"/>
          <p:cNvCxnSpPr/>
          <p:nvPr/>
        </p:nvCxnSpPr>
        <p:spPr>
          <a:xfrm rot="10800000" flipH="1">
            <a:off x="6637385" y="5088023"/>
            <a:ext cx="527200" cy="314400"/>
          </a:xfrm>
          <a:prstGeom prst="straightConnector1">
            <a:avLst/>
          </a:prstGeom>
          <a:noFill/>
          <a:ln w="19050" cap="flat" cmpd="sng">
            <a:solidFill>
              <a:srgbClr val="595959"/>
            </a:solidFill>
            <a:prstDash val="solid"/>
            <a:round/>
            <a:headEnd type="none" w="med" len="med"/>
            <a:tailEnd type="none" w="med" len="med"/>
          </a:ln>
        </p:spPr>
      </p:cxnSp>
      <p:grpSp>
        <p:nvGrpSpPr>
          <p:cNvPr id="1599" name="Google Shape;1599;p45"/>
          <p:cNvGrpSpPr/>
          <p:nvPr/>
        </p:nvGrpSpPr>
        <p:grpSpPr>
          <a:xfrm>
            <a:off x="2023865" y="4678545"/>
            <a:ext cx="821952" cy="521332"/>
            <a:chOff x="1452425" y="1381125"/>
            <a:chExt cx="840900" cy="533350"/>
          </a:xfrm>
        </p:grpSpPr>
        <p:sp>
          <p:nvSpPr>
            <p:cNvPr id="1600" name="Google Shape;1600;p45"/>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01" name="Google Shape;1601;p45"/>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02" name="Google Shape;1602;p45"/>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603" name="Google Shape;1603;p45"/>
          <p:cNvGrpSpPr/>
          <p:nvPr/>
        </p:nvGrpSpPr>
        <p:grpSpPr>
          <a:xfrm>
            <a:off x="5847265" y="3442527"/>
            <a:ext cx="821952" cy="521332"/>
            <a:chOff x="1452425" y="1381125"/>
            <a:chExt cx="840900" cy="533350"/>
          </a:xfrm>
        </p:grpSpPr>
        <p:sp>
          <p:nvSpPr>
            <p:cNvPr id="1604" name="Google Shape;1604;p45"/>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05" name="Google Shape;1605;p45"/>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06" name="Google Shape;1606;p45"/>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607" name="Google Shape;1607;p45"/>
          <p:cNvGrpSpPr/>
          <p:nvPr/>
        </p:nvGrpSpPr>
        <p:grpSpPr>
          <a:xfrm>
            <a:off x="8348465" y="4740111"/>
            <a:ext cx="821952" cy="521332"/>
            <a:chOff x="1452425" y="1381125"/>
            <a:chExt cx="840900" cy="533350"/>
          </a:xfrm>
        </p:grpSpPr>
        <p:sp>
          <p:nvSpPr>
            <p:cNvPr id="1608" name="Google Shape;1608;p45"/>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09" name="Google Shape;1609;p45"/>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10" name="Google Shape;1610;p45"/>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cxnSp>
        <p:nvCxnSpPr>
          <p:cNvPr id="1611" name="Google Shape;1611;p45"/>
          <p:cNvCxnSpPr/>
          <p:nvPr/>
        </p:nvCxnSpPr>
        <p:spPr>
          <a:xfrm>
            <a:off x="2760108" y="5000772"/>
            <a:ext cx="429200" cy="0"/>
          </a:xfrm>
          <a:prstGeom prst="straightConnector1">
            <a:avLst/>
          </a:prstGeom>
          <a:noFill/>
          <a:ln w="19050" cap="flat" cmpd="sng">
            <a:solidFill>
              <a:srgbClr val="595959"/>
            </a:solidFill>
            <a:prstDash val="solid"/>
            <a:round/>
            <a:headEnd type="none" w="med" len="med"/>
            <a:tailEnd type="none" w="med" len="med"/>
          </a:ln>
        </p:spPr>
      </p:cxnSp>
      <p:cxnSp>
        <p:nvCxnSpPr>
          <p:cNvPr id="1612" name="Google Shape;1612;p45"/>
          <p:cNvCxnSpPr/>
          <p:nvPr/>
        </p:nvCxnSpPr>
        <p:spPr>
          <a:xfrm>
            <a:off x="6258257" y="3963859"/>
            <a:ext cx="0" cy="308000"/>
          </a:xfrm>
          <a:prstGeom prst="straightConnector1">
            <a:avLst/>
          </a:prstGeom>
          <a:noFill/>
          <a:ln w="19050" cap="flat" cmpd="sng">
            <a:solidFill>
              <a:srgbClr val="595959"/>
            </a:solidFill>
            <a:prstDash val="solid"/>
            <a:round/>
            <a:headEnd type="none" w="med" len="med"/>
            <a:tailEnd type="none" w="med" len="med"/>
          </a:ln>
        </p:spPr>
      </p:cxnSp>
      <p:cxnSp>
        <p:nvCxnSpPr>
          <p:cNvPr id="1613" name="Google Shape;1613;p45"/>
          <p:cNvCxnSpPr/>
          <p:nvPr/>
        </p:nvCxnSpPr>
        <p:spPr>
          <a:xfrm>
            <a:off x="7986741" y="5000772"/>
            <a:ext cx="429200" cy="0"/>
          </a:xfrm>
          <a:prstGeom prst="straightConnector1">
            <a:avLst/>
          </a:prstGeom>
          <a:noFill/>
          <a:ln w="19050" cap="flat" cmpd="sng">
            <a:solidFill>
              <a:srgbClr val="595959"/>
            </a:solidFill>
            <a:prstDash val="solid"/>
            <a:round/>
            <a:headEnd type="none" w="med" len="med"/>
            <a:tailEnd type="none" w="med" len="med"/>
          </a:ln>
        </p:spPr>
      </p:cxnSp>
      <p:grpSp>
        <p:nvGrpSpPr>
          <p:cNvPr id="1614" name="Google Shape;1614;p45"/>
          <p:cNvGrpSpPr/>
          <p:nvPr/>
        </p:nvGrpSpPr>
        <p:grpSpPr>
          <a:xfrm>
            <a:off x="3252517" y="4455283"/>
            <a:ext cx="717600" cy="763688"/>
            <a:chOff x="1342125" y="2388775"/>
            <a:chExt cx="538200" cy="572766"/>
          </a:xfrm>
        </p:grpSpPr>
        <p:sp>
          <p:nvSpPr>
            <p:cNvPr id="1615" name="Google Shape;1615;p45"/>
            <p:cNvSpPr/>
            <p:nvPr/>
          </p:nvSpPr>
          <p:spPr>
            <a:xfrm>
              <a:off x="1342125" y="2698141"/>
              <a:ext cx="538200" cy="2634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616" name="Google Shape;1616;p45"/>
            <p:cNvSpPr/>
            <p:nvPr/>
          </p:nvSpPr>
          <p:spPr>
            <a:xfrm>
              <a:off x="1342125" y="2388775"/>
              <a:ext cx="538200" cy="2634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r>
                <a:rPr lang="en" sz="2400" b="1"/>
                <a:t>CP</a:t>
              </a:r>
              <a:endParaRPr sz="1600"/>
            </a:p>
          </p:txBody>
        </p:sp>
      </p:grpSp>
      <p:grpSp>
        <p:nvGrpSpPr>
          <p:cNvPr id="1617" name="Google Shape;1617;p45"/>
          <p:cNvGrpSpPr/>
          <p:nvPr/>
        </p:nvGrpSpPr>
        <p:grpSpPr>
          <a:xfrm>
            <a:off x="4670284" y="4455283"/>
            <a:ext cx="717600" cy="763688"/>
            <a:chOff x="1342125" y="2388775"/>
            <a:chExt cx="538200" cy="572766"/>
          </a:xfrm>
        </p:grpSpPr>
        <p:sp>
          <p:nvSpPr>
            <p:cNvPr id="1618" name="Google Shape;1618;p45"/>
            <p:cNvSpPr/>
            <p:nvPr/>
          </p:nvSpPr>
          <p:spPr>
            <a:xfrm>
              <a:off x="1342125" y="2698141"/>
              <a:ext cx="538200" cy="2634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619" name="Google Shape;1619;p45"/>
            <p:cNvSpPr/>
            <p:nvPr/>
          </p:nvSpPr>
          <p:spPr>
            <a:xfrm>
              <a:off x="1342125" y="2388775"/>
              <a:ext cx="538200" cy="2634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r>
                <a:rPr lang="en" sz="2400" b="1"/>
                <a:t>CP</a:t>
              </a:r>
              <a:endParaRPr sz="1600"/>
            </a:p>
          </p:txBody>
        </p:sp>
      </p:grpSp>
      <p:grpSp>
        <p:nvGrpSpPr>
          <p:cNvPr id="1620" name="Google Shape;1620;p45"/>
          <p:cNvGrpSpPr/>
          <p:nvPr/>
        </p:nvGrpSpPr>
        <p:grpSpPr>
          <a:xfrm>
            <a:off x="5917533" y="4077483"/>
            <a:ext cx="717600" cy="763688"/>
            <a:chOff x="1342125" y="2388775"/>
            <a:chExt cx="538200" cy="572766"/>
          </a:xfrm>
        </p:grpSpPr>
        <p:sp>
          <p:nvSpPr>
            <p:cNvPr id="1621" name="Google Shape;1621;p45"/>
            <p:cNvSpPr/>
            <p:nvPr/>
          </p:nvSpPr>
          <p:spPr>
            <a:xfrm>
              <a:off x="1342125" y="2698141"/>
              <a:ext cx="538200" cy="2634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622" name="Google Shape;1622;p45"/>
            <p:cNvSpPr/>
            <p:nvPr/>
          </p:nvSpPr>
          <p:spPr>
            <a:xfrm>
              <a:off x="1342125" y="2388775"/>
              <a:ext cx="538200" cy="2634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r>
                <a:rPr lang="en" sz="2400" b="1"/>
                <a:t>CP</a:t>
              </a:r>
              <a:endParaRPr sz="1600"/>
            </a:p>
          </p:txBody>
        </p:sp>
      </p:grpSp>
      <p:grpSp>
        <p:nvGrpSpPr>
          <p:cNvPr id="1623" name="Google Shape;1623;p45"/>
          <p:cNvGrpSpPr/>
          <p:nvPr/>
        </p:nvGrpSpPr>
        <p:grpSpPr>
          <a:xfrm>
            <a:off x="5941400" y="5218983"/>
            <a:ext cx="717600" cy="763688"/>
            <a:chOff x="1342125" y="2388775"/>
            <a:chExt cx="538200" cy="572766"/>
          </a:xfrm>
        </p:grpSpPr>
        <p:sp>
          <p:nvSpPr>
            <p:cNvPr id="1624" name="Google Shape;1624;p45"/>
            <p:cNvSpPr/>
            <p:nvPr/>
          </p:nvSpPr>
          <p:spPr>
            <a:xfrm>
              <a:off x="1342125" y="2698141"/>
              <a:ext cx="538200" cy="2634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625" name="Google Shape;1625;p45"/>
            <p:cNvSpPr/>
            <p:nvPr/>
          </p:nvSpPr>
          <p:spPr>
            <a:xfrm>
              <a:off x="1342125" y="2388775"/>
              <a:ext cx="538200" cy="2634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r>
                <a:rPr lang="en" sz="2400" b="1"/>
                <a:t>CP</a:t>
              </a:r>
              <a:endParaRPr sz="1600"/>
            </a:p>
          </p:txBody>
        </p:sp>
      </p:grpSp>
      <p:grpSp>
        <p:nvGrpSpPr>
          <p:cNvPr id="1626" name="Google Shape;1626;p45"/>
          <p:cNvGrpSpPr/>
          <p:nvPr/>
        </p:nvGrpSpPr>
        <p:grpSpPr>
          <a:xfrm>
            <a:off x="7216967" y="4557367"/>
            <a:ext cx="717600" cy="763688"/>
            <a:chOff x="1342125" y="2388775"/>
            <a:chExt cx="538200" cy="572766"/>
          </a:xfrm>
        </p:grpSpPr>
        <p:sp>
          <p:nvSpPr>
            <p:cNvPr id="1627" name="Google Shape;1627;p45"/>
            <p:cNvSpPr/>
            <p:nvPr/>
          </p:nvSpPr>
          <p:spPr>
            <a:xfrm>
              <a:off x="1342125" y="2698141"/>
              <a:ext cx="538200" cy="2634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628" name="Google Shape;1628;p45"/>
            <p:cNvSpPr/>
            <p:nvPr/>
          </p:nvSpPr>
          <p:spPr>
            <a:xfrm>
              <a:off x="1342125" y="2388775"/>
              <a:ext cx="538200" cy="2634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r>
                <a:rPr lang="en" sz="2400" b="1"/>
                <a:t>CP</a:t>
              </a:r>
              <a:endParaRPr sz="1600"/>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1632"/>
        <p:cNvGrpSpPr/>
        <p:nvPr/>
      </p:nvGrpSpPr>
      <p:grpSpPr>
        <a:xfrm>
          <a:off x="0" y="0"/>
          <a:ext cx="0" cy="0"/>
          <a:chOff x="0" y="0"/>
          <a:chExt cx="0" cy="0"/>
        </a:xfrm>
      </p:grpSpPr>
      <p:sp>
        <p:nvSpPr>
          <p:cNvPr id="1633" name="Google Shape;1633;p46"/>
          <p:cNvSpPr txBox="1">
            <a:spLocks noGrp="1"/>
          </p:cNvSpPr>
          <p:nvPr>
            <p:ph type="title"/>
          </p:nvPr>
        </p:nvSpPr>
        <p:spPr>
          <a:xfrm>
            <a:off x="415600" y="377067"/>
            <a:ext cx="11360800" cy="763600"/>
          </a:xfrm>
          <a:prstGeom prst="rect">
            <a:avLst/>
          </a:prstGeom>
        </p:spPr>
        <p:txBody>
          <a:bodyPr spcFirstLastPara="1" vert="horz" wrap="square" lIns="121900" tIns="121900" rIns="121900" bIns="121900" rtlCol="0" anchor="t" anchorCtr="0">
            <a:normAutofit fontScale="90000"/>
          </a:bodyPr>
          <a:lstStyle/>
          <a:p>
            <a:r>
              <a:rPr lang="en"/>
              <a:t>Software-Defined Networking (SDN)</a:t>
            </a:r>
            <a:endParaRPr/>
          </a:p>
        </p:txBody>
      </p:sp>
      <p:cxnSp>
        <p:nvCxnSpPr>
          <p:cNvPr id="1634" name="Google Shape;1634;p46"/>
          <p:cNvCxnSpPr>
            <a:stCxn id="1635" idx="6"/>
            <a:endCxn id="1636" idx="2"/>
          </p:cNvCxnSpPr>
          <p:nvPr/>
        </p:nvCxnSpPr>
        <p:spPr>
          <a:xfrm>
            <a:off x="4033345" y="4939203"/>
            <a:ext cx="584800" cy="0"/>
          </a:xfrm>
          <a:prstGeom prst="straightConnector1">
            <a:avLst/>
          </a:prstGeom>
          <a:noFill/>
          <a:ln w="19050" cap="flat" cmpd="sng">
            <a:solidFill>
              <a:srgbClr val="595959"/>
            </a:solidFill>
            <a:prstDash val="solid"/>
            <a:round/>
            <a:headEnd type="none" w="med" len="med"/>
            <a:tailEnd type="none" w="med" len="med"/>
          </a:ln>
        </p:spPr>
      </p:cxnSp>
      <p:cxnSp>
        <p:nvCxnSpPr>
          <p:cNvPr id="1637" name="Google Shape;1637;p46"/>
          <p:cNvCxnSpPr>
            <a:stCxn id="1636" idx="6"/>
            <a:endCxn id="1638" idx="3"/>
          </p:cNvCxnSpPr>
          <p:nvPr/>
        </p:nvCxnSpPr>
        <p:spPr>
          <a:xfrm rot="10800000" flipH="1">
            <a:off x="5440077" y="4624803"/>
            <a:ext cx="527600" cy="314400"/>
          </a:xfrm>
          <a:prstGeom prst="straightConnector1">
            <a:avLst/>
          </a:prstGeom>
          <a:noFill/>
          <a:ln w="19050" cap="flat" cmpd="sng">
            <a:solidFill>
              <a:srgbClr val="595959"/>
            </a:solidFill>
            <a:prstDash val="solid"/>
            <a:round/>
            <a:headEnd type="none" w="med" len="med"/>
            <a:tailEnd type="none" w="med" len="med"/>
          </a:ln>
        </p:spPr>
      </p:cxnSp>
      <p:cxnSp>
        <p:nvCxnSpPr>
          <p:cNvPr id="1639" name="Google Shape;1639;p46"/>
          <p:cNvCxnSpPr/>
          <p:nvPr/>
        </p:nvCxnSpPr>
        <p:spPr>
          <a:xfrm rot="10800000">
            <a:off x="5440308" y="5113739"/>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640" name="Google Shape;1640;p46"/>
          <p:cNvCxnSpPr/>
          <p:nvPr/>
        </p:nvCxnSpPr>
        <p:spPr>
          <a:xfrm rot="10800000">
            <a:off x="6637619" y="4599088"/>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641" name="Google Shape;1641;p46"/>
          <p:cNvCxnSpPr/>
          <p:nvPr/>
        </p:nvCxnSpPr>
        <p:spPr>
          <a:xfrm rot="10800000" flipH="1">
            <a:off x="6637385" y="5088023"/>
            <a:ext cx="527200" cy="314400"/>
          </a:xfrm>
          <a:prstGeom prst="straightConnector1">
            <a:avLst/>
          </a:prstGeom>
          <a:noFill/>
          <a:ln w="19050" cap="flat" cmpd="sng">
            <a:solidFill>
              <a:srgbClr val="595959"/>
            </a:solidFill>
            <a:prstDash val="solid"/>
            <a:round/>
            <a:headEnd type="none" w="med" len="med"/>
            <a:tailEnd type="none" w="med" len="med"/>
          </a:ln>
        </p:spPr>
      </p:cxnSp>
      <p:grpSp>
        <p:nvGrpSpPr>
          <p:cNvPr id="1642" name="Google Shape;1642;p46"/>
          <p:cNvGrpSpPr/>
          <p:nvPr/>
        </p:nvGrpSpPr>
        <p:grpSpPr>
          <a:xfrm>
            <a:off x="2023865" y="4678545"/>
            <a:ext cx="821952" cy="521332"/>
            <a:chOff x="1452425" y="1381125"/>
            <a:chExt cx="840900" cy="533350"/>
          </a:xfrm>
        </p:grpSpPr>
        <p:sp>
          <p:nvSpPr>
            <p:cNvPr id="1643" name="Google Shape;1643;p46"/>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44" name="Google Shape;1644;p46"/>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45" name="Google Shape;1645;p46"/>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646" name="Google Shape;1646;p46"/>
          <p:cNvGrpSpPr/>
          <p:nvPr/>
        </p:nvGrpSpPr>
        <p:grpSpPr>
          <a:xfrm>
            <a:off x="5847265" y="3442527"/>
            <a:ext cx="821952" cy="521332"/>
            <a:chOff x="1452425" y="1381125"/>
            <a:chExt cx="840900" cy="533350"/>
          </a:xfrm>
        </p:grpSpPr>
        <p:sp>
          <p:nvSpPr>
            <p:cNvPr id="1647" name="Google Shape;1647;p46"/>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48" name="Google Shape;1648;p46"/>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49" name="Google Shape;1649;p46"/>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650" name="Google Shape;1650;p46"/>
          <p:cNvGrpSpPr/>
          <p:nvPr/>
        </p:nvGrpSpPr>
        <p:grpSpPr>
          <a:xfrm>
            <a:off x="8348465" y="4740111"/>
            <a:ext cx="821952" cy="521332"/>
            <a:chOff x="1452425" y="1381125"/>
            <a:chExt cx="840900" cy="533350"/>
          </a:xfrm>
        </p:grpSpPr>
        <p:sp>
          <p:nvSpPr>
            <p:cNvPr id="1651" name="Google Shape;1651;p46"/>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52" name="Google Shape;1652;p46"/>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53" name="Google Shape;1653;p46"/>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cxnSp>
        <p:nvCxnSpPr>
          <p:cNvPr id="1654" name="Google Shape;1654;p46"/>
          <p:cNvCxnSpPr/>
          <p:nvPr/>
        </p:nvCxnSpPr>
        <p:spPr>
          <a:xfrm>
            <a:off x="2760108" y="5000772"/>
            <a:ext cx="429200" cy="0"/>
          </a:xfrm>
          <a:prstGeom prst="straightConnector1">
            <a:avLst/>
          </a:prstGeom>
          <a:noFill/>
          <a:ln w="19050" cap="flat" cmpd="sng">
            <a:solidFill>
              <a:srgbClr val="595959"/>
            </a:solidFill>
            <a:prstDash val="solid"/>
            <a:round/>
            <a:headEnd type="none" w="med" len="med"/>
            <a:tailEnd type="none" w="med" len="med"/>
          </a:ln>
        </p:spPr>
      </p:cxnSp>
      <p:cxnSp>
        <p:nvCxnSpPr>
          <p:cNvPr id="1655" name="Google Shape;1655;p46"/>
          <p:cNvCxnSpPr/>
          <p:nvPr/>
        </p:nvCxnSpPr>
        <p:spPr>
          <a:xfrm>
            <a:off x="6258257" y="3963859"/>
            <a:ext cx="0" cy="308000"/>
          </a:xfrm>
          <a:prstGeom prst="straightConnector1">
            <a:avLst/>
          </a:prstGeom>
          <a:noFill/>
          <a:ln w="19050" cap="flat" cmpd="sng">
            <a:solidFill>
              <a:srgbClr val="595959"/>
            </a:solidFill>
            <a:prstDash val="solid"/>
            <a:round/>
            <a:headEnd type="none" w="med" len="med"/>
            <a:tailEnd type="none" w="med" len="med"/>
          </a:ln>
        </p:spPr>
      </p:cxnSp>
      <p:cxnSp>
        <p:nvCxnSpPr>
          <p:cNvPr id="1656" name="Google Shape;1656;p46"/>
          <p:cNvCxnSpPr/>
          <p:nvPr/>
        </p:nvCxnSpPr>
        <p:spPr>
          <a:xfrm>
            <a:off x="7986741" y="5000772"/>
            <a:ext cx="429200" cy="0"/>
          </a:xfrm>
          <a:prstGeom prst="straightConnector1">
            <a:avLst/>
          </a:prstGeom>
          <a:noFill/>
          <a:ln w="19050" cap="flat" cmpd="sng">
            <a:solidFill>
              <a:srgbClr val="595959"/>
            </a:solidFill>
            <a:prstDash val="solid"/>
            <a:round/>
            <a:headEnd type="none" w="med" len="med"/>
            <a:tailEnd type="none" w="med" len="med"/>
          </a:ln>
        </p:spPr>
      </p:cxnSp>
      <p:grpSp>
        <p:nvGrpSpPr>
          <p:cNvPr id="1657" name="Google Shape;1657;p46"/>
          <p:cNvGrpSpPr/>
          <p:nvPr/>
        </p:nvGrpSpPr>
        <p:grpSpPr>
          <a:xfrm>
            <a:off x="3252517" y="4455283"/>
            <a:ext cx="717600" cy="763688"/>
            <a:chOff x="1342125" y="2388775"/>
            <a:chExt cx="538200" cy="572766"/>
          </a:xfrm>
        </p:grpSpPr>
        <p:sp>
          <p:nvSpPr>
            <p:cNvPr id="1658" name="Google Shape;1658;p46"/>
            <p:cNvSpPr/>
            <p:nvPr/>
          </p:nvSpPr>
          <p:spPr>
            <a:xfrm>
              <a:off x="1342125" y="2698141"/>
              <a:ext cx="538200" cy="2634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659" name="Google Shape;1659;p46"/>
            <p:cNvSpPr/>
            <p:nvPr/>
          </p:nvSpPr>
          <p:spPr>
            <a:xfrm>
              <a:off x="1342125" y="2388775"/>
              <a:ext cx="538200" cy="2634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r>
                <a:rPr lang="en" sz="2400" b="1"/>
                <a:t>CP</a:t>
              </a:r>
              <a:endParaRPr sz="1600"/>
            </a:p>
          </p:txBody>
        </p:sp>
      </p:grpSp>
      <p:grpSp>
        <p:nvGrpSpPr>
          <p:cNvPr id="1660" name="Google Shape;1660;p46"/>
          <p:cNvGrpSpPr/>
          <p:nvPr/>
        </p:nvGrpSpPr>
        <p:grpSpPr>
          <a:xfrm>
            <a:off x="4670284" y="4455283"/>
            <a:ext cx="717600" cy="763688"/>
            <a:chOff x="1342125" y="2388775"/>
            <a:chExt cx="538200" cy="572766"/>
          </a:xfrm>
        </p:grpSpPr>
        <p:sp>
          <p:nvSpPr>
            <p:cNvPr id="1661" name="Google Shape;1661;p46"/>
            <p:cNvSpPr/>
            <p:nvPr/>
          </p:nvSpPr>
          <p:spPr>
            <a:xfrm>
              <a:off x="1342125" y="2698141"/>
              <a:ext cx="538200" cy="2634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662" name="Google Shape;1662;p46"/>
            <p:cNvSpPr/>
            <p:nvPr/>
          </p:nvSpPr>
          <p:spPr>
            <a:xfrm>
              <a:off x="1342125" y="2388775"/>
              <a:ext cx="538200" cy="2634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r>
                <a:rPr lang="en" sz="2400" b="1"/>
                <a:t>CP</a:t>
              </a:r>
              <a:endParaRPr sz="1600"/>
            </a:p>
          </p:txBody>
        </p:sp>
      </p:grpSp>
      <p:grpSp>
        <p:nvGrpSpPr>
          <p:cNvPr id="1663" name="Google Shape;1663;p46"/>
          <p:cNvGrpSpPr/>
          <p:nvPr/>
        </p:nvGrpSpPr>
        <p:grpSpPr>
          <a:xfrm>
            <a:off x="5917533" y="4077483"/>
            <a:ext cx="717600" cy="763688"/>
            <a:chOff x="1342125" y="2388775"/>
            <a:chExt cx="538200" cy="572766"/>
          </a:xfrm>
        </p:grpSpPr>
        <p:sp>
          <p:nvSpPr>
            <p:cNvPr id="1664" name="Google Shape;1664;p46"/>
            <p:cNvSpPr/>
            <p:nvPr/>
          </p:nvSpPr>
          <p:spPr>
            <a:xfrm>
              <a:off x="1342125" y="2698141"/>
              <a:ext cx="538200" cy="2634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665" name="Google Shape;1665;p46"/>
            <p:cNvSpPr/>
            <p:nvPr/>
          </p:nvSpPr>
          <p:spPr>
            <a:xfrm>
              <a:off x="1342125" y="2388775"/>
              <a:ext cx="538200" cy="2634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r>
                <a:rPr lang="en" sz="2400" b="1"/>
                <a:t>CP</a:t>
              </a:r>
              <a:endParaRPr sz="1600"/>
            </a:p>
          </p:txBody>
        </p:sp>
      </p:grpSp>
      <p:grpSp>
        <p:nvGrpSpPr>
          <p:cNvPr id="1666" name="Google Shape;1666;p46"/>
          <p:cNvGrpSpPr/>
          <p:nvPr/>
        </p:nvGrpSpPr>
        <p:grpSpPr>
          <a:xfrm>
            <a:off x="5941400" y="5218983"/>
            <a:ext cx="717600" cy="763688"/>
            <a:chOff x="1342125" y="2388775"/>
            <a:chExt cx="538200" cy="572766"/>
          </a:xfrm>
        </p:grpSpPr>
        <p:sp>
          <p:nvSpPr>
            <p:cNvPr id="1667" name="Google Shape;1667;p46"/>
            <p:cNvSpPr/>
            <p:nvPr/>
          </p:nvSpPr>
          <p:spPr>
            <a:xfrm>
              <a:off x="1342125" y="2698141"/>
              <a:ext cx="538200" cy="2634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668" name="Google Shape;1668;p46"/>
            <p:cNvSpPr/>
            <p:nvPr/>
          </p:nvSpPr>
          <p:spPr>
            <a:xfrm>
              <a:off x="1342125" y="2388775"/>
              <a:ext cx="538200" cy="2634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r>
                <a:rPr lang="en" sz="2400" b="1"/>
                <a:t>CP</a:t>
              </a:r>
              <a:endParaRPr sz="1600"/>
            </a:p>
          </p:txBody>
        </p:sp>
      </p:grpSp>
      <p:grpSp>
        <p:nvGrpSpPr>
          <p:cNvPr id="1669" name="Google Shape;1669;p46"/>
          <p:cNvGrpSpPr/>
          <p:nvPr/>
        </p:nvGrpSpPr>
        <p:grpSpPr>
          <a:xfrm>
            <a:off x="7216967" y="4557367"/>
            <a:ext cx="717600" cy="763688"/>
            <a:chOff x="1342125" y="2388775"/>
            <a:chExt cx="538200" cy="572766"/>
          </a:xfrm>
        </p:grpSpPr>
        <p:sp>
          <p:nvSpPr>
            <p:cNvPr id="1670" name="Google Shape;1670;p46"/>
            <p:cNvSpPr/>
            <p:nvPr/>
          </p:nvSpPr>
          <p:spPr>
            <a:xfrm>
              <a:off x="1342125" y="2698141"/>
              <a:ext cx="538200" cy="2634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671" name="Google Shape;1671;p46"/>
            <p:cNvSpPr/>
            <p:nvPr/>
          </p:nvSpPr>
          <p:spPr>
            <a:xfrm>
              <a:off x="1342125" y="2388775"/>
              <a:ext cx="538200" cy="2634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r>
                <a:rPr lang="en" sz="2400" b="1"/>
                <a:t>CP</a:t>
              </a:r>
              <a:endParaRPr sz="1600"/>
            </a:p>
          </p:txBody>
        </p:sp>
      </p:grpSp>
      <p:sp>
        <p:nvSpPr>
          <p:cNvPr id="1672" name="Google Shape;1672;p46"/>
          <p:cNvSpPr txBox="1"/>
          <p:nvPr/>
        </p:nvSpPr>
        <p:spPr>
          <a:xfrm>
            <a:off x="823733" y="1645034"/>
            <a:ext cx="3566000" cy="1354176"/>
          </a:xfrm>
          <a:prstGeom prst="rect">
            <a:avLst/>
          </a:prstGeom>
          <a:noFill/>
          <a:ln>
            <a:noFill/>
          </a:ln>
        </p:spPr>
        <p:txBody>
          <a:bodyPr spcFirstLastPara="1" wrap="square" lIns="121900" tIns="121900" rIns="121900" bIns="121900" anchor="t" anchorCtr="0">
            <a:spAutoFit/>
          </a:bodyPr>
          <a:lstStyle/>
          <a:p>
            <a:r>
              <a:rPr lang="en" sz="2400" dirty="0"/>
              <a:t>Instead of running distributed control-plane algorithms here …</a:t>
            </a:r>
            <a:endParaRPr sz="2400" dirty="0"/>
          </a:p>
        </p:txBody>
      </p:sp>
      <p:sp>
        <p:nvSpPr>
          <p:cNvPr id="1673" name="Google Shape;1673;p46"/>
          <p:cNvSpPr/>
          <p:nvPr/>
        </p:nvSpPr>
        <p:spPr>
          <a:xfrm>
            <a:off x="4255867" y="2237367"/>
            <a:ext cx="3125000" cy="2261667"/>
          </a:xfrm>
          <a:custGeom>
            <a:avLst/>
            <a:gdLst/>
            <a:ahLst/>
            <a:cxnLst/>
            <a:rect l="l" t="t" r="r" b="b"/>
            <a:pathLst>
              <a:path w="93750" h="67850" extrusionOk="0">
                <a:moveTo>
                  <a:pt x="0" y="0"/>
                </a:moveTo>
                <a:cubicBezTo>
                  <a:pt x="27495" y="0"/>
                  <a:pt x="59016" y="11197"/>
                  <a:pt x="75510" y="33195"/>
                </a:cubicBezTo>
                <a:cubicBezTo>
                  <a:pt x="83341" y="43639"/>
                  <a:pt x="87906" y="56177"/>
                  <a:pt x="93750" y="67850"/>
                </a:cubicBezTo>
              </a:path>
            </a:pathLst>
          </a:custGeom>
          <a:noFill/>
          <a:ln w="19050" cap="flat" cmpd="sng">
            <a:solidFill>
              <a:schemeClr val="dk2"/>
            </a:solidFill>
            <a:prstDash val="solid"/>
            <a:round/>
            <a:headEnd type="none" w="med" len="med"/>
            <a:tailEnd type="triangle" w="med" len="med"/>
          </a:ln>
        </p:spPr>
        <p:txBody>
          <a:bodyPr/>
          <a:lstStyle/>
          <a:p>
            <a:endParaRPr lang="en-US" sz="2400"/>
          </a:p>
        </p:txBody>
      </p:sp>
      <p:sp>
        <p:nvSpPr>
          <p:cNvPr id="1674" name="Google Shape;1674;p46"/>
          <p:cNvSpPr/>
          <p:nvPr/>
        </p:nvSpPr>
        <p:spPr>
          <a:xfrm>
            <a:off x="4182900" y="2456234"/>
            <a:ext cx="1702333" cy="1702333"/>
          </a:xfrm>
          <a:custGeom>
            <a:avLst/>
            <a:gdLst/>
            <a:ahLst/>
            <a:cxnLst/>
            <a:rect l="l" t="t" r="r" b="b"/>
            <a:pathLst>
              <a:path w="51070" h="51070" extrusionOk="0">
                <a:moveTo>
                  <a:pt x="0" y="0"/>
                </a:moveTo>
                <a:cubicBezTo>
                  <a:pt x="20646" y="12383"/>
                  <a:pt x="29537" y="40303"/>
                  <a:pt x="51070" y="51070"/>
                </a:cubicBezTo>
              </a:path>
            </a:pathLst>
          </a:custGeom>
          <a:noFill/>
          <a:ln w="19050" cap="flat" cmpd="sng">
            <a:solidFill>
              <a:schemeClr val="dk2"/>
            </a:solidFill>
            <a:prstDash val="solid"/>
            <a:round/>
            <a:headEnd type="none" w="med" len="med"/>
            <a:tailEnd type="triangle" w="med" len="med"/>
          </a:ln>
        </p:spPr>
        <p:txBody>
          <a:bodyPr/>
          <a:lstStyle/>
          <a:p>
            <a:endParaRPr lang="en-US" sz="2400"/>
          </a:p>
        </p:txBody>
      </p:sp>
      <p:sp>
        <p:nvSpPr>
          <p:cNvPr id="1675" name="Google Shape;1675;p46"/>
          <p:cNvSpPr/>
          <p:nvPr/>
        </p:nvSpPr>
        <p:spPr>
          <a:xfrm>
            <a:off x="4170734" y="2650801"/>
            <a:ext cx="1823933" cy="2577833"/>
          </a:xfrm>
          <a:custGeom>
            <a:avLst/>
            <a:gdLst/>
            <a:ahLst/>
            <a:cxnLst/>
            <a:rect l="l" t="t" r="r" b="b"/>
            <a:pathLst>
              <a:path w="54718" h="77335" extrusionOk="0">
                <a:moveTo>
                  <a:pt x="0" y="0"/>
                </a:moveTo>
                <a:cubicBezTo>
                  <a:pt x="15608" y="10403"/>
                  <a:pt x="29194" y="24825"/>
                  <a:pt x="38303" y="41221"/>
                </a:cubicBezTo>
                <a:cubicBezTo>
                  <a:pt x="44725" y="52780"/>
                  <a:pt x="48804" y="65508"/>
                  <a:pt x="54718" y="77335"/>
                </a:cubicBezTo>
              </a:path>
            </a:pathLst>
          </a:custGeom>
          <a:noFill/>
          <a:ln w="19050" cap="flat" cmpd="sng">
            <a:solidFill>
              <a:schemeClr val="dk2"/>
            </a:solidFill>
            <a:prstDash val="solid"/>
            <a:round/>
            <a:headEnd type="none" w="med" len="med"/>
            <a:tailEnd type="triangle" w="med" len="med"/>
          </a:ln>
        </p:spPr>
        <p:txBody>
          <a:bodyPr/>
          <a:lstStyle/>
          <a:p>
            <a:endParaRPr lang="en-US" sz="2400"/>
          </a:p>
        </p:txBody>
      </p:sp>
      <p:sp>
        <p:nvSpPr>
          <p:cNvPr id="1676" name="Google Shape;1676;p46"/>
          <p:cNvSpPr/>
          <p:nvPr/>
        </p:nvSpPr>
        <p:spPr>
          <a:xfrm>
            <a:off x="3769468" y="2723733"/>
            <a:ext cx="1070033" cy="1811800"/>
          </a:xfrm>
          <a:custGeom>
            <a:avLst/>
            <a:gdLst/>
            <a:ahLst/>
            <a:cxnLst/>
            <a:rect l="l" t="t" r="r" b="b"/>
            <a:pathLst>
              <a:path w="32101" h="54354" extrusionOk="0">
                <a:moveTo>
                  <a:pt x="0" y="0"/>
                </a:moveTo>
                <a:cubicBezTo>
                  <a:pt x="4930" y="7397"/>
                  <a:pt x="11812" y="13316"/>
                  <a:pt x="17145" y="20428"/>
                </a:cubicBezTo>
                <a:cubicBezTo>
                  <a:pt x="24559" y="30316"/>
                  <a:pt x="28202" y="42626"/>
                  <a:pt x="32101" y="54354"/>
                </a:cubicBezTo>
              </a:path>
            </a:pathLst>
          </a:custGeom>
          <a:noFill/>
          <a:ln w="19050" cap="flat" cmpd="sng">
            <a:solidFill>
              <a:schemeClr val="dk2"/>
            </a:solidFill>
            <a:prstDash val="solid"/>
            <a:round/>
            <a:headEnd type="none" w="med" len="med"/>
            <a:tailEnd type="triangle" w="med" len="med"/>
          </a:ln>
        </p:spPr>
        <p:txBody>
          <a:bodyPr/>
          <a:lstStyle/>
          <a:p>
            <a:endParaRPr lang="en-US" sz="2400"/>
          </a:p>
        </p:txBody>
      </p:sp>
      <p:sp>
        <p:nvSpPr>
          <p:cNvPr id="1677" name="Google Shape;1677;p46"/>
          <p:cNvSpPr/>
          <p:nvPr/>
        </p:nvSpPr>
        <p:spPr>
          <a:xfrm>
            <a:off x="3039901" y="2638634"/>
            <a:ext cx="425567" cy="1884733"/>
          </a:xfrm>
          <a:custGeom>
            <a:avLst/>
            <a:gdLst/>
            <a:ahLst/>
            <a:cxnLst/>
            <a:rect l="l" t="t" r="r" b="b"/>
            <a:pathLst>
              <a:path w="12767" h="56542" extrusionOk="0">
                <a:moveTo>
                  <a:pt x="0" y="0"/>
                </a:moveTo>
                <a:cubicBezTo>
                  <a:pt x="0" y="7922"/>
                  <a:pt x="4487" y="15210"/>
                  <a:pt x="7296" y="22617"/>
                </a:cubicBezTo>
                <a:cubicBezTo>
                  <a:pt x="11358" y="33327"/>
                  <a:pt x="12767" y="45088"/>
                  <a:pt x="12767" y="56542"/>
                </a:cubicBezTo>
              </a:path>
            </a:pathLst>
          </a:custGeom>
          <a:noFill/>
          <a:ln w="19050" cap="flat" cmpd="sng">
            <a:solidFill>
              <a:schemeClr val="dk2"/>
            </a:solidFill>
            <a:prstDash val="solid"/>
            <a:round/>
            <a:headEnd type="none" w="med" len="med"/>
            <a:tailEnd type="triangle" w="med" len="med"/>
          </a:ln>
        </p:spPr>
        <p:txBody>
          <a:bodyPr/>
          <a:lstStyle/>
          <a:p>
            <a:endParaRPr lang="en-US" sz="2400"/>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1681"/>
        <p:cNvGrpSpPr/>
        <p:nvPr/>
      </p:nvGrpSpPr>
      <p:grpSpPr>
        <a:xfrm>
          <a:off x="0" y="0"/>
          <a:ext cx="0" cy="0"/>
          <a:chOff x="0" y="0"/>
          <a:chExt cx="0" cy="0"/>
        </a:xfrm>
      </p:grpSpPr>
      <p:sp>
        <p:nvSpPr>
          <p:cNvPr id="1682" name="Google Shape;1682;p47"/>
          <p:cNvSpPr txBox="1">
            <a:spLocks noGrp="1"/>
          </p:cNvSpPr>
          <p:nvPr>
            <p:ph type="title"/>
          </p:nvPr>
        </p:nvSpPr>
        <p:spPr>
          <a:xfrm>
            <a:off x="415600" y="377067"/>
            <a:ext cx="11360800" cy="763600"/>
          </a:xfrm>
          <a:prstGeom prst="rect">
            <a:avLst/>
          </a:prstGeom>
        </p:spPr>
        <p:txBody>
          <a:bodyPr spcFirstLastPara="1" vert="horz" wrap="square" lIns="121900" tIns="121900" rIns="121900" bIns="121900" rtlCol="0" anchor="t" anchorCtr="0">
            <a:normAutofit fontScale="90000"/>
          </a:bodyPr>
          <a:lstStyle/>
          <a:p>
            <a:r>
              <a:rPr lang="en"/>
              <a:t>Software-Defined Networking (SDN)</a:t>
            </a:r>
            <a:endParaRPr/>
          </a:p>
        </p:txBody>
      </p:sp>
      <p:cxnSp>
        <p:nvCxnSpPr>
          <p:cNvPr id="1683" name="Google Shape;1683;p47"/>
          <p:cNvCxnSpPr>
            <a:stCxn id="1684" idx="6"/>
            <a:endCxn id="1685" idx="2"/>
          </p:cNvCxnSpPr>
          <p:nvPr/>
        </p:nvCxnSpPr>
        <p:spPr>
          <a:xfrm>
            <a:off x="4033345" y="4939203"/>
            <a:ext cx="584800" cy="0"/>
          </a:xfrm>
          <a:prstGeom prst="straightConnector1">
            <a:avLst/>
          </a:prstGeom>
          <a:noFill/>
          <a:ln w="19050" cap="flat" cmpd="sng">
            <a:solidFill>
              <a:srgbClr val="595959"/>
            </a:solidFill>
            <a:prstDash val="solid"/>
            <a:round/>
            <a:headEnd type="none" w="med" len="med"/>
            <a:tailEnd type="none" w="med" len="med"/>
          </a:ln>
        </p:spPr>
      </p:cxnSp>
      <p:cxnSp>
        <p:nvCxnSpPr>
          <p:cNvPr id="1686" name="Google Shape;1686;p47"/>
          <p:cNvCxnSpPr>
            <a:stCxn id="1685" idx="6"/>
            <a:endCxn id="1687" idx="3"/>
          </p:cNvCxnSpPr>
          <p:nvPr/>
        </p:nvCxnSpPr>
        <p:spPr>
          <a:xfrm rot="10800000" flipH="1">
            <a:off x="5440077" y="4624803"/>
            <a:ext cx="527600" cy="314400"/>
          </a:xfrm>
          <a:prstGeom prst="straightConnector1">
            <a:avLst/>
          </a:prstGeom>
          <a:noFill/>
          <a:ln w="19050" cap="flat" cmpd="sng">
            <a:solidFill>
              <a:srgbClr val="595959"/>
            </a:solidFill>
            <a:prstDash val="solid"/>
            <a:round/>
            <a:headEnd type="none" w="med" len="med"/>
            <a:tailEnd type="none" w="med" len="med"/>
          </a:ln>
        </p:spPr>
      </p:cxnSp>
      <p:cxnSp>
        <p:nvCxnSpPr>
          <p:cNvPr id="1688" name="Google Shape;1688;p47"/>
          <p:cNvCxnSpPr/>
          <p:nvPr/>
        </p:nvCxnSpPr>
        <p:spPr>
          <a:xfrm rot="10800000">
            <a:off x="5440308" y="5113739"/>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689" name="Google Shape;1689;p47"/>
          <p:cNvCxnSpPr/>
          <p:nvPr/>
        </p:nvCxnSpPr>
        <p:spPr>
          <a:xfrm rot="10800000">
            <a:off x="6637619" y="4599088"/>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690" name="Google Shape;1690;p47"/>
          <p:cNvCxnSpPr/>
          <p:nvPr/>
        </p:nvCxnSpPr>
        <p:spPr>
          <a:xfrm rot="10800000" flipH="1">
            <a:off x="6637385" y="5088023"/>
            <a:ext cx="527200" cy="314400"/>
          </a:xfrm>
          <a:prstGeom prst="straightConnector1">
            <a:avLst/>
          </a:prstGeom>
          <a:noFill/>
          <a:ln w="19050" cap="flat" cmpd="sng">
            <a:solidFill>
              <a:srgbClr val="595959"/>
            </a:solidFill>
            <a:prstDash val="solid"/>
            <a:round/>
            <a:headEnd type="none" w="med" len="med"/>
            <a:tailEnd type="none" w="med" len="med"/>
          </a:ln>
        </p:spPr>
      </p:cxnSp>
      <p:grpSp>
        <p:nvGrpSpPr>
          <p:cNvPr id="1691" name="Google Shape;1691;p47"/>
          <p:cNvGrpSpPr/>
          <p:nvPr/>
        </p:nvGrpSpPr>
        <p:grpSpPr>
          <a:xfrm>
            <a:off x="2023865" y="4678545"/>
            <a:ext cx="821952" cy="521332"/>
            <a:chOff x="1452425" y="1381125"/>
            <a:chExt cx="840900" cy="533350"/>
          </a:xfrm>
        </p:grpSpPr>
        <p:sp>
          <p:nvSpPr>
            <p:cNvPr id="1692" name="Google Shape;1692;p47"/>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93" name="Google Shape;1693;p47"/>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94" name="Google Shape;1694;p47"/>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695" name="Google Shape;1695;p47"/>
          <p:cNvGrpSpPr/>
          <p:nvPr/>
        </p:nvGrpSpPr>
        <p:grpSpPr>
          <a:xfrm>
            <a:off x="5847265" y="3442527"/>
            <a:ext cx="821952" cy="521332"/>
            <a:chOff x="1452425" y="1381125"/>
            <a:chExt cx="840900" cy="533350"/>
          </a:xfrm>
        </p:grpSpPr>
        <p:sp>
          <p:nvSpPr>
            <p:cNvPr id="1696" name="Google Shape;1696;p47"/>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97" name="Google Shape;1697;p47"/>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698" name="Google Shape;1698;p47"/>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699" name="Google Shape;1699;p47"/>
          <p:cNvGrpSpPr/>
          <p:nvPr/>
        </p:nvGrpSpPr>
        <p:grpSpPr>
          <a:xfrm>
            <a:off x="8348465" y="4740111"/>
            <a:ext cx="821952" cy="521332"/>
            <a:chOff x="1452425" y="1381125"/>
            <a:chExt cx="840900" cy="533350"/>
          </a:xfrm>
        </p:grpSpPr>
        <p:sp>
          <p:nvSpPr>
            <p:cNvPr id="1700" name="Google Shape;1700;p47"/>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01" name="Google Shape;1701;p47"/>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02" name="Google Shape;1702;p47"/>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cxnSp>
        <p:nvCxnSpPr>
          <p:cNvPr id="1703" name="Google Shape;1703;p47"/>
          <p:cNvCxnSpPr/>
          <p:nvPr/>
        </p:nvCxnSpPr>
        <p:spPr>
          <a:xfrm>
            <a:off x="2760108" y="5000772"/>
            <a:ext cx="429200" cy="0"/>
          </a:xfrm>
          <a:prstGeom prst="straightConnector1">
            <a:avLst/>
          </a:prstGeom>
          <a:noFill/>
          <a:ln w="19050" cap="flat" cmpd="sng">
            <a:solidFill>
              <a:srgbClr val="595959"/>
            </a:solidFill>
            <a:prstDash val="solid"/>
            <a:round/>
            <a:headEnd type="none" w="med" len="med"/>
            <a:tailEnd type="none" w="med" len="med"/>
          </a:ln>
        </p:spPr>
      </p:cxnSp>
      <p:cxnSp>
        <p:nvCxnSpPr>
          <p:cNvPr id="1704" name="Google Shape;1704;p47"/>
          <p:cNvCxnSpPr/>
          <p:nvPr/>
        </p:nvCxnSpPr>
        <p:spPr>
          <a:xfrm>
            <a:off x="6258257" y="3963859"/>
            <a:ext cx="0" cy="308000"/>
          </a:xfrm>
          <a:prstGeom prst="straightConnector1">
            <a:avLst/>
          </a:prstGeom>
          <a:noFill/>
          <a:ln w="19050" cap="flat" cmpd="sng">
            <a:solidFill>
              <a:srgbClr val="595959"/>
            </a:solidFill>
            <a:prstDash val="solid"/>
            <a:round/>
            <a:headEnd type="none" w="med" len="med"/>
            <a:tailEnd type="none" w="med" len="med"/>
          </a:ln>
        </p:spPr>
      </p:cxnSp>
      <p:cxnSp>
        <p:nvCxnSpPr>
          <p:cNvPr id="1705" name="Google Shape;1705;p47"/>
          <p:cNvCxnSpPr/>
          <p:nvPr/>
        </p:nvCxnSpPr>
        <p:spPr>
          <a:xfrm>
            <a:off x="7986741" y="5000772"/>
            <a:ext cx="429200" cy="0"/>
          </a:xfrm>
          <a:prstGeom prst="straightConnector1">
            <a:avLst/>
          </a:prstGeom>
          <a:noFill/>
          <a:ln w="19050" cap="flat" cmpd="sng">
            <a:solidFill>
              <a:srgbClr val="595959"/>
            </a:solidFill>
            <a:prstDash val="solid"/>
            <a:round/>
            <a:headEnd type="none" w="med" len="med"/>
            <a:tailEnd type="none" w="med" len="med"/>
          </a:ln>
        </p:spPr>
      </p:cxnSp>
      <p:sp>
        <p:nvSpPr>
          <p:cNvPr id="1706" name="Google Shape;1706;p47"/>
          <p:cNvSpPr/>
          <p:nvPr/>
        </p:nvSpPr>
        <p:spPr>
          <a:xfrm>
            <a:off x="3252517" y="48677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07" name="Google Shape;1707;p47"/>
          <p:cNvSpPr/>
          <p:nvPr/>
        </p:nvSpPr>
        <p:spPr>
          <a:xfrm>
            <a:off x="3252533" y="4678536"/>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533"/>
          </a:p>
        </p:txBody>
      </p:sp>
      <p:sp>
        <p:nvSpPr>
          <p:cNvPr id="1708" name="Google Shape;1708;p47"/>
          <p:cNvSpPr/>
          <p:nvPr/>
        </p:nvSpPr>
        <p:spPr>
          <a:xfrm>
            <a:off x="4670284" y="48677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09" name="Google Shape;1709;p47"/>
          <p:cNvSpPr/>
          <p:nvPr/>
        </p:nvSpPr>
        <p:spPr>
          <a:xfrm>
            <a:off x="5917533" y="44899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10" name="Google Shape;1710;p47"/>
          <p:cNvSpPr/>
          <p:nvPr/>
        </p:nvSpPr>
        <p:spPr>
          <a:xfrm>
            <a:off x="5941400" y="56314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11" name="Google Shape;1711;p47"/>
          <p:cNvSpPr/>
          <p:nvPr/>
        </p:nvSpPr>
        <p:spPr>
          <a:xfrm>
            <a:off x="7216967" y="4969855"/>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12" name="Google Shape;1712;p47"/>
          <p:cNvSpPr/>
          <p:nvPr/>
        </p:nvSpPr>
        <p:spPr>
          <a:xfrm>
            <a:off x="4568133" y="1732300"/>
            <a:ext cx="3416400" cy="814800"/>
          </a:xfrm>
          <a:prstGeom prst="rect">
            <a:avLst/>
          </a:prstGeom>
          <a:solidFill>
            <a:srgbClr val="D9D2E9"/>
          </a:solidFill>
          <a:ln w="28575" cap="flat" cmpd="sng">
            <a:solidFill>
              <a:srgbClr val="674EA7"/>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Logically Centralized Control-Plane</a:t>
            </a:r>
            <a:endParaRPr sz="2400" b="1"/>
          </a:p>
        </p:txBody>
      </p:sp>
      <p:sp>
        <p:nvSpPr>
          <p:cNvPr id="1713" name="Google Shape;1713;p47"/>
          <p:cNvSpPr/>
          <p:nvPr/>
        </p:nvSpPr>
        <p:spPr>
          <a:xfrm>
            <a:off x="4672600" y="4678703"/>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714" name="Google Shape;1714;p47"/>
          <p:cNvSpPr/>
          <p:nvPr/>
        </p:nvSpPr>
        <p:spPr>
          <a:xfrm>
            <a:off x="5917533" y="4296969"/>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715" name="Google Shape;1715;p47"/>
          <p:cNvSpPr/>
          <p:nvPr/>
        </p:nvSpPr>
        <p:spPr>
          <a:xfrm>
            <a:off x="7216967" y="4785903"/>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716" name="Google Shape;1716;p47"/>
          <p:cNvSpPr/>
          <p:nvPr/>
        </p:nvSpPr>
        <p:spPr>
          <a:xfrm>
            <a:off x="5941400" y="5446869"/>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717" name="Google Shape;1717;p47"/>
          <p:cNvSpPr txBox="1"/>
          <p:nvPr/>
        </p:nvSpPr>
        <p:spPr>
          <a:xfrm>
            <a:off x="467333" y="1585501"/>
            <a:ext cx="3566000" cy="1723508"/>
          </a:xfrm>
          <a:prstGeom prst="rect">
            <a:avLst/>
          </a:prstGeom>
          <a:noFill/>
          <a:ln>
            <a:noFill/>
          </a:ln>
        </p:spPr>
        <p:txBody>
          <a:bodyPr spcFirstLastPara="1" wrap="square" lIns="121900" tIns="121900" rIns="121900" bIns="121900" anchor="t" anchorCtr="0">
            <a:spAutoFit/>
          </a:bodyPr>
          <a:lstStyle/>
          <a:p>
            <a:r>
              <a:rPr lang="en" sz="2400"/>
              <a:t>Run them here, and directly tell the router data plane how to forward traffic.</a:t>
            </a:r>
            <a:endParaRPr sz="2400"/>
          </a:p>
        </p:txBody>
      </p:sp>
      <p:cxnSp>
        <p:nvCxnSpPr>
          <p:cNvPr id="1718" name="Google Shape;1718;p47"/>
          <p:cNvCxnSpPr>
            <a:stCxn id="1717" idx="3"/>
            <a:endCxn id="1712" idx="1"/>
          </p:cNvCxnSpPr>
          <p:nvPr/>
        </p:nvCxnSpPr>
        <p:spPr>
          <a:xfrm flipV="1">
            <a:off x="4033333" y="2139700"/>
            <a:ext cx="534800" cy="307555"/>
          </a:xfrm>
          <a:prstGeom prst="straightConnector1">
            <a:avLst/>
          </a:prstGeom>
          <a:noFill/>
          <a:ln w="19050" cap="flat" cmpd="sng">
            <a:solidFill>
              <a:schemeClr val="dk2"/>
            </a:solidFill>
            <a:prstDash val="solid"/>
            <a:round/>
            <a:headEnd type="none" w="med" len="med"/>
            <a:tailEnd type="triangle" w="med" len="med"/>
          </a:ln>
        </p:spPr>
      </p:cxn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1722"/>
        <p:cNvGrpSpPr/>
        <p:nvPr/>
      </p:nvGrpSpPr>
      <p:grpSpPr>
        <a:xfrm>
          <a:off x="0" y="0"/>
          <a:ext cx="0" cy="0"/>
          <a:chOff x="0" y="0"/>
          <a:chExt cx="0" cy="0"/>
        </a:xfrm>
      </p:grpSpPr>
      <p:sp>
        <p:nvSpPr>
          <p:cNvPr id="1723" name="Google Shape;1723;p48"/>
          <p:cNvSpPr txBox="1">
            <a:spLocks noGrp="1"/>
          </p:cNvSpPr>
          <p:nvPr>
            <p:ph type="title"/>
          </p:nvPr>
        </p:nvSpPr>
        <p:spPr>
          <a:xfrm>
            <a:off x="415600" y="377067"/>
            <a:ext cx="11360800" cy="763600"/>
          </a:xfrm>
          <a:prstGeom prst="rect">
            <a:avLst/>
          </a:prstGeom>
        </p:spPr>
        <p:txBody>
          <a:bodyPr spcFirstLastPara="1" vert="horz" wrap="square" lIns="121900" tIns="121900" rIns="121900" bIns="121900" rtlCol="0" anchor="t" anchorCtr="0">
            <a:normAutofit fontScale="90000"/>
          </a:bodyPr>
          <a:lstStyle/>
          <a:p>
            <a:r>
              <a:rPr lang="en"/>
              <a:t>Software-Defined Networking (SDN)</a:t>
            </a:r>
            <a:endParaRPr/>
          </a:p>
        </p:txBody>
      </p:sp>
      <p:cxnSp>
        <p:nvCxnSpPr>
          <p:cNvPr id="1724" name="Google Shape;1724;p48"/>
          <p:cNvCxnSpPr>
            <a:stCxn id="1725" idx="6"/>
            <a:endCxn id="1726" idx="2"/>
          </p:cNvCxnSpPr>
          <p:nvPr/>
        </p:nvCxnSpPr>
        <p:spPr>
          <a:xfrm>
            <a:off x="4033345" y="4939203"/>
            <a:ext cx="584800" cy="0"/>
          </a:xfrm>
          <a:prstGeom prst="straightConnector1">
            <a:avLst/>
          </a:prstGeom>
          <a:noFill/>
          <a:ln w="19050" cap="flat" cmpd="sng">
            <a:solidFill>
              <a:srgbClr val="595959"/>
            </a:solidFill>
            <a:prstDash val="solid"/>
            <a:round/>
            <a:headEnd type="none" w="med" len="med"/>
            <a:tailEnd type="none" w="med" len="med"/>
          </a:ln>
        </p:spPr>
      </p:cxnSp>
      <p:cxnSp>
        <p:nvCxnSpPr>
          <p:cNvPr id="1727" name="Google Shape;1727;p48"/>
          <p:cNvCxnSpPr>
            <a:stCxn id="1726" idx="6"/>
            <a:endCxn id="1728" idx="3"/>
          </p:cNvCxnSpPr>
          <p:nvPr/>
        </p:nvCxnSpPr>
        <p:spPr>
          <a:xfrm rot="10800000" flipH="1">
            <a:off x="5440077" y="4624803"/>
            <a:ext cx="527600" cy="314400"/>
          </a:xfrm>
          <a:prstGeom prst="straightConnector1">
            <a:avLst/>
          </a:prstGeom>
          <a:noFill/>
          <a:ln w="19050" cap="flat" cmpd="sng">
            <a:solidFill>
              <a:srgbClr val="595959"/>
            </a:solidFill>
            <a:prstDash val="solid"/>
            <a:round/>
            <a:headEnd type="none" w="med" len="med"/>
            <a:tailEnd type="none" w="med" len="med"/>
          </a:ln>
        </p:spPr>
      </p:cxnSp>
      <p:cxnSp>
        <p:nvCxnSpPr>
          <p:cNvPr id="1729" name="Google Shape;1729;p48"/>
          <p:cNvCxnSpPr/>
          <p:nvPr/>
        </p:nvCxnSpPr>
        <p:spPr>
          <a:xfrm rot="10800000">
            <a:off x="5440308" y="5113739"/>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730" name="Google Shape;1730;p48"/>
          <p:cNvCxnSpPr/>
          <p:nvPr/>
        </p:nvCxnSpPr>
        <p:spPr>
          <a:xfrm rot="10800000">
            <a:off x="6637619" y="4599088"/>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731" name="Google Shape;1731;p48"/>
          <p:cNvCxnSpPr/>
          <p:nvPr/>
        </p:nvCxnSpPr>
        <p:spPr>
          <a:xfrm rot="10800000" flipH="1">
            <a:off x="6637385" y="5088023"/>
            <a:ext cx="527200" cy="314400"/>
          </a:xfrm>
          <a:prstGeom prst="straightConnector1">
            <a:avLst/>
          </a:prstGeom>
          <a:noFill/>
          <a:ln w="19050" cap="flat" cmpd="sng">
            <a:solidFill>
              <a:srgbClr val="595959"/>
            </a:solidFill>
            <a:prstDash val="solid"/>
            <a:round/>
            <a:headEnd type="none" w="med" len="med"/>
            <a:tailEnd type="none" w="med" len="med"/>
          </a:ln>
        </p:spPr>
      </p:cxnSp>
      <p:grpSp>
        <p:nvGrpSpPr>
          <p:cNvPr id="1732" name="Google Shape;1732;p48"/>
          <p:cNvGrpSpPr/>
          <p:nvPr/>
        </p:nvGrpSpPr>
        <p:grpSpPr>
          <a:xfrm>
            <a:off x="2023865" y="4678545"/>
            <a:ext cx="821952" cy="521332"/>
            <a:chOff x="1452425" y="1381125"/>
            <a:chExt cx="840900" cy="533350"/>
          </a:xfrm>
        </p:grpSpPr>
        <p:sp>
          <p:nvSpPr>
            <p:cNvPr id="1733" name="Google Shape;1733;p48"/>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34" name="Google Shape;1734;p48"/>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35" name="Google Shape;1735;p48"/>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736" name="Google Shape;1736;p48"/>
          <p:cNvGrpSpPr/>
          <p:nvPr/>
        </p:nvGrpSpPr>
        <p:grpSpPr>
          <a:xfrm>
            <a:off x="5847265" y="3442527"/>
            <a:ext cx="821952" cy="521332"/>
            <a:chOff x="1452425" y="1381125"/>
            <a:chExt cx="840900" cy="533350"/>
          </a:xfrm>
        </p:grpSpPr>
        <p:sp>
          <p:nvSpPr>
            <p:cNvPr id="1737" name="Google Shape;1737;p48"/>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38" name="Google Shape;1738;p48"/>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39" name="Google Shape;1739;p48"/>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740" name="Google Shape;1740;p48"/>
          <p:cNvGrpSpPr/>
          <p:nvPr/>
        </p:nvGrpSpPr>
        <p:grpSpPr>
          <a:xfrm>
            <a:off x="8348465" y="4740111"/>
            <a:ext cx="821952" cy="521332"/>
            <a:chOff x="1452425" y="1381125"/>
            <a:chExt cx="840900" cy="533350"/>
          </a:xfrm>
        </p:grpSpPr>
        <p:sp>
          <p:nvSpPr>
            <p:cNvPr id="1741" name="Google Shape;1741;p48"/>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42" name="Google Shape;1742;p48"/>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43" name="Google Shape;1743;p48"/>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cxnSp>
        <p:nvCxnSpPr>
          <p:cNvPr id="1744" name="Google Shape;1744;p48"/>
          <p:cNvCxnSpPr/>
          <p:nvPr/>
        </p:nvCxnSpPr>
        <p:spPr>
          <a:xfrm>
            <a:off x="2760108" y="5000772"/>
            <a:ext cx="429200" cy="0"/>
          </a:xfrm>
          <a:prstGeom prst="straightConnector1">
            <a:avLst/>
          </a:prstGeom>
          <a:noFill/>
          <a:ln w="19050" cap="flat" cmpd="sng">
            <a:solidFill>
              <a:srgbClr val="595959"/>
            </a:solidFill>
            <a:prstDash val="solid"/>
            <a:round/>
            <a:headEnd type="none" w="med" len="med"/>
            <a:tailEnd type="none" w="med" len="med"/>
          </a:ln>
        </p:spPr>
      </p:cxnSp>
      <p:cxnSp>
        <p:nvCxnSpPr>
          <p:cNvPr id="1745" name="Google Shape;1745;p48"/>
          <p:cNvCxnSpPr/>
          <p:nvPr/>
        </p:nvCxnSpPr>
        <p:spPr>
          <a:xfrm>
            <a:off x="6258257" y="3963859"/>
            <a:ext cx="0" cy="308000"/>
          </a:xfrm>
          <a:prstGeom prst="straightConnector1">
            <a:avLst/>
          </a:prstGeom>
          <a:noFill/>
          <a:ln w="19050" cap="flat" cmpd="sng">
            <a:solidFill>
              <a:srgbClr val="595959"/>
            </a:solidFill>
            <a:prstDash val="solid"/>
            <a:round/>
            <a:headEnd type="none" w="med" len="med"/>
            <a:tailEnd type="none" w="med" len="med"/>
          </a:ln>
        </p:spPr>
      </p:cxnSp>
      <p:cxnSp>
        <p:nvCxnSpPr>
          <p:cNvPr id="1746" name="Google Shape;1746;p48"/>
          <p:cNvCxnSpPr/>
          <p:nvPr/>
        </p:nvCxnSpPr>
        <p:spPr>
          <a:xfrm>
            <a:off x="7986741" y="5000772"/>
            <a:ext cx="429200" cy="0"/>
          </a:xfrm>
          <a:prstGeom prst="straightConnector1">
            <a:avLst/>
          </a:prstGeom>
          <a:noFill/>
          <a:ln w="19050" cap="flat" cmpd="sng">
            <a:solidFill>
              <a:srgbClr val="595959"/>
            </a:solidFill>
            <a:prstDash val="solid"/>
            <a:round/>
            <a:headEnd type="none" w="med" len="med"/>
            <a:tailEnd type="none" w="med" len="med"/>
          </a:ln>
        </p:spPr>
      </p:cxnSp>
      <p:sp>
        <p:nvSpPr>
          <p:cNvPr id="1747" name="Google Shape;1747;p48"/>
          <p:cNvSpPr/>
          <p:nvPr/>
        </p:nvSpPr>
        <p:spPr>
          <a:xfrm>
            <a:off x="3252517" y="48677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48" name="Google Shape;1748;p48"/>
          <p:cNvSpPr/>
          <p:nvPr/>
        </p:nvSpPr>
        <p:spPr>
          <a:xfrm>
            <a:off x="3252533" y="4678536"/>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533"/>
          </a:p>
        </p:txBody>
      </p:sp>
      <p:sp>
        <p:nvSpPr>
          <p:cNvPr id="1749" name="Google Shape;1749;p48"/>
          <p:cNvSpPr/>
          <p:nvPr/>
        </p:nvSpPr>
        <p:spPr>
          <a:xfrm>
            <a:off x="4670284" y="48677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50" name="Google Shape;1750;p48"/>
          <p:cNvSpPr/>
          <p:nvPr/>
        </p:nvSpPr>
        <p:spPr>
          <a:xfrm>
            <a:off x="5917533" y="44899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51" name="Google Shape;1751;p48"/>
          <p:cNvSpPr/>
          <p:nvPr/>
        </p:nvSpPr>
        <p:spPr>
          <a:xfrm>
            <a:off x="5941400" y="56314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52" name="Google Shape;1752;p48"/>
          <p:cNvSpPr/>
          <p:nvPr/>
        </p:nvSpPr>
        <p:spPr>
          <a:xfrm>
            <a:off x="7216967" y="4969855"/>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53" name="Google Shape;1753;p48"/>
          <p:cNvSpPr/>
          <p:nvPr/>
        </p:nvSpPr>
        <p:spPr>
          <a:xfrm>
            <a:off x="4568133" y="1732300"/>
            <a:ext cx="3416400" cy="814800"/>
          </a:xfrm>
          <a:prstGeom prst="rect">
            <a:avLst/>
          </a:prstGeom>
          <a:solidFill>
            <a:srgbClr val="D9D2E9"/>
          </a:solidFill>
          <a:ln w="28575" cap="flat" cmpd="sng">
            <a:solidFill>
              <a:srgbClr val="674EA7"/>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Logically Centralized Control-Plane</a:t>
            </a:r>
            <a:endParaRPr sz="2400" b="1"/>
          </a:p>
        </p:txBody>
      </p:sp>
      <p:sp>
        <p:nvSpPr>
          <p:cNvPr id="1754" name="Google Shape;1754;p48"/>
          <p:cNvSpPr/>
          <p:nvPr/>
        </p:nvSpPr>
        <p:spPr>
          <a:xfrm>
            <a:off x="4672600" y="4678703"/>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755" name="Google Shape;1755;p48"/>
          <p:cNvSpPr/>
          <p:nvPr/>
        </p:nvSpPr>
        <p:spPr>
          <a:xfrm>
            <a:off x="5917533" y="4296969"/>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756" name="Google Shape;1756;p48"/>
          <p:cNvSpPr/>
          <p:nvPr/>
        </p:nvSpPr>
        <p:spPr>
          <a:xfrm>
            <a:off x="7216967" y="4785903"/>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757" name="Google Shape;1757;p48"/>
          <p:cNvSpPr/>
          <p:nvPr/>
        </p:nvSpPr>
        <p:spPr>
          <a:xfrm>
            <a:off x="5941400" y="5446869"/>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759" name="Google Shape;1759;p48"/>
          <p:cNvSpPr/>
          <p:nvPr/>
        </p:nvSpPr>
        <p:spPr>
          <a:xfrm>
            <a:off x="3623567" y="2152234"/>
            <a:ext cx="887639" cy="2615173"/>
          </a:xfrm>
          <a:custGeom>
            <a:avLst/>
            <a:gdLst/>
            <a:ahLst/>
            <a:cxnLst/>
            <a:rect l="l" t="t" r="r" b="b"/>
            <a:pathLst>
              <a:path w="44868" h="78794" extrusionOk="0">
                <a:moveTo>
                  <a:pt x="44868" y="0"/>
                </a:moveTo>
                <a:cubicBezTo>
                  <a:pt x="33846" y="1379"/>
                  <a:pt x="26731" y="13368"/>
                  <a:pt x="20063" y="22252"/>
                </a:cubicBezTo>
                <a:cubicBezTo>
                  <a:pt x="13689" y="30744"/>
                  <a:pt x="11022" y="41493"/>
                  <a:pt x="7295" y="51435"/>
                </a:cubicBezTo>
                <a:cubicBezTo>
                  <a:pt x="3982" y="60273"/>
                  <a:pt x="0" y="69356"/>
                  <a:pt x="0" y="78794"/>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760" name="Google Shape;1760;p48"/>
          <p:cNvSpPr/>
          <p:nvPr/>
        </p:nvSpPr>
        <p:spPr>
          <a:xfrm>
            <a:off x="4891304" y="2578634"/>
            <a:ext cx="434600" cy="2213033"/>
          </a:xfrm>
          <a:custGeom>
            <a:avLst/>
            <a:gdLst/>
            <a:ahLst/>
            <a:cxnLst/>
            <a:rect l="l" t="t" r="r" b="b"/>
            <a:pathLst>
              <a:path w="13038" h="66391" extrusionOk="0">
                <a:moveTo>
                  <a:pt x="13038" y="0"/>
                </a:moveTo>
                <a:cubicBezTo>
                  <a:pt x="-2897" y="15935"/>
                  <a:pt x="270" y="43855"/>
                  <a:pt x="270" y="66391"/>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761" name="Google Shape;1761;p48"/>
          <p:cNvSpPr/>
          <p:nvPr/>
        </p:nvSpPr>
        <p:spPr>
          <a:xfrm>
            <a:off x="5533631" y="2602968"/>
            <a:ext cx="363767" cy="1848233"/>
          </a:xfrm>
          <a:custGeom>
            <a:avLst/>
            <a:gdLst/>
            <a:ahLst/>
            <a:cxnLst/>
            <a:rect l="l" t="t" r="r" b="b"/>
            <a:pathLst>
              <a:path w="10913" h="55447" extrusionOk="0">
                <a:moveTo>
                  <a:pt x="3982" y="0"/>
                </a:moveTo>
                <a:cubicBezTo>
                  <a:pt x="-1482" y="13661"/>
                  <a:pt x="-1038" y="30181"/>
                  <a:pt x="3617" y="44139"/>
                </a:cubicBezTo>
                <a:cubicBezTo>
                  <a:pt x="5036" y="48394"/>
                  <a:pt x="6427" y="55447"/>
                  <a:pt x="10913" y="55447"/>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762" name="Google Shape;1762;p48"/>
          <p:cNvSpPr/>
          <p:nvPr/>
        </p:nvSpPr>
        <p:spPr>
          <a:xfrm>
            <a:off x="6529701" y="2602967"/>
            <a:ext cx="407033" cy="2821000"/>
          </a:xfrm>
          <a:custGeom>
            <a:avLst/>
            <a:gdLst/>
            <a:ahLst/>
            <a:cxnLst/>
            <a:rect l="l" t="t" r="r" b="b"/>
            <a:pathLst>
              <a:path w="12211" h="84630" extrusionOk="0">
                <a:moveTo>
                  <a:pt x="2553" y="0"/>
                </a:moveTo>
                <a:cubicBezTo>
                  <a:pt x="4605" y="10257"/>
                  <a:pt x="11235" y="19483"/>
                  <a:pt x="12038" y="29912"/>
                </a:cubicBezTo>
                <a:cubicBezTo>
                  <a:pt x="12731" y="38913"/>
                  <a:pt x="9849" y="47879"/>
                  <a:pt x="9849" y="56907"/>
                </a:cubicBezTo>
                <a:cubicBezTo>
                  <a:pt x="9849" y="66714"/>
                  <a:pt x="8774" y="80249"/>
                  <a:pt x="0" y="84630"/>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763" name="Google Shape;1763;p48"/>
          <p:cNvSpPr/>
          <p:nvPr/>
        </p:nvSpPr>
        <p:spPr>
          <a:xfrm>
            <a:off x="7133334" y="2547100"/>
            <a:ext cx="527185" cy="2256707"/>
          </a:xfrm>
          <a:custGeom>
            <a:avLst/>
            <a:gdLst/>
            <a:ahLst/>
            <a:cxnLst/>
            <a:rect l="l" t="t" r="r" b="b"/>
            <a:pathLst>
              <a:path w="26630" h="83171" extrusionOk="0">
                <a:moveTo>
                  <a:pt x="0" y="0"/>
                </a:moveTo>
                <a:cubicBezTo>
                  <a:pt x="3517" y="7032"/>
                  <a:pt x="8357" y="13321"/>
                  <a:pt x="12403" y="20063"/>
                </a:cubicBezTo>
                <a:cubicBezTo>
                  <a:pt x="23499" y="38553"/>
                  <a:pt x="26630" y="61607"/>
                  <a:pt x="26630" y="83171"/>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2" name="Google Shape;1803;p49">
            <a:extLst>
              <a:ext uri="{FF2B5EF4-FFF2-40B4-BE49-F238E27FC236}">
                <a16:creationId xmlns:a16="http://schemas.microsoft.com/office/drawing/2014/main" id="{8F7EC3F9-A3A1-BFD5-9E1C-7CA7DD9B61F6}"/>
              </a:ext>
            </a:extLst>
          </p:cNvPr>
          <p:cNvSpPr/>
          <p:nvPr/>
        </p:nvSpPr>
        <p:spPr>
          <a:xfrm>
            <a:off x="8645467" y="1445467"/>
            <a:ext cx="3210000" cy="1997060"/>
          </a:xfrm>
          <a:prstGeom prst="wedgeRoundRectCallout">
            <a:avLst>
              <a:gd name="adj1" fmla="val -67047"/>
              <a:gd name="adj2" fmla="val -8187"/>
              <a:gd name="adj3" fmla="val 0"/>
            </a:avLst>
          </a:prstGeom>
          <a:solidFill>
            <a:schemeClr val="lt1"/>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r>
              <a:rPr lang="en" sz="2400"/>
              <a:t>Has a global view of the network</a:t>
            </a:r>
            <a:endParaRPr sz="2400"/>
          </a:p>
          <a:p>
            <a:endParaRPr sz="2400"/>
          </a:p>
          <a:p>
            <a:r>
              <a:rPr lang="en" sz="2400"/>
              <a:t>Has direct control over the routers</a:t>
            </a:r>
            <a:endParaRPr sz="2400"/>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1767"/>
        <p:cNvGrpSpPr/>
        <p:nvPr/>
      </p:nvGrpSpPr>
      <p:grpSpPr>
        <a:xfrm>
          <a:off x="0" y="0"/>
          <a:ext cx="0" cy="0"/>
          <a:chOff x="0" y="0"/>
          <a:chExt cx="0" cy="0"/>
        </a:xfrm>
      </p:grpSpPr>
      <p:sp>
        <p:nvSpPr>
          <p:cNvPr id="1768" name="Google Shape;1768;p49"/>
          <p:cNvSpPr txBox="1">
            <a:spLocks noGrp="1"/>
          </p:cNvSpPr>
          <p:nvPr>
            <p:ph type="title"/>
          </p:nvPr>
        </p:nvSpPr>
        <p:spPr>
          <a:xfrm>
            <a:off x="415600" y="377067"/>
            <a:ext cx="11360800" cy="763600"/>
          </a:xfrm>
          <a:prstGeom prst="rect">
            <a:avLst/>
          </a:prstGeom>
        </p:spPr>
        <p:txBody>
          <a:bodyPr spcFirstLastPara="1" vert="horz" wrap="square" lIns="121900" tIns="121900" rIns="121900" bIns="121900" rtlCol="0" anchor="t" anchorCtr="0">
            <a:normAutofit fontScale="90000"/>
          </a:bodyPr>
          <a:lstStyle/>
          <a:p>
            <a:r>
              <a:rPr lang="en"/>
              <a:t>Software-Defined Networking (SDN)</a:t>
            </a:r>
            <a:endParaRPr/>
          </a:p>
        </p:txBody>
      </p:sp>
      <p:cxnSp>
        <p:nvCxnSpPr>
          <p:cNvPr id="1769" name="Google Shape;1769;p49"/>
          <p:cNvCxnSpPr>
            <a:stCxn id="1770" idx="6"/>
            <a:endCxn id="1771" idx="2"/>
          </p:cNvCxnSpPr>
          <p:nvPr/>
        </p:nvCxnSpPr>
        <p:spPr>
          <a:xfrm>
            <a:off x="4033345" y="4939203"/>
            <a:ext cx="584800" cy="0"/>
          </a:xfrm>
          <a:prstGeom prst="straightConnector1">
            <a:avLst/>
          </a:prstGeom>
          <a:noFill/>
          <a:ln w="19050" cap="flat" cmpd="sng">
            <a:solidFill>
              <a:srgbClr val="595959"/>
            </a:solidFill>
            <a:prstDash val="solid"/>
            <a:round/>
            <a:headEnd type="none" w="med" len="med"/>
            <a:tailEnd type="none" w="med" len="med"/>
          </a:ln>
        </p:spPr>
      </p:cxnSp>
      <p:cxnSp>
        <p:nvCxnSpPr>
          <p:cNvPr id="1772" name="Google Shape;1772;p49"/>
          <p:cNvCxnSpPr>
            <a:stCxn id="1771" idx="6"/>
            <a:endCxn id="1773" idx="3"/>
          </p:cNvCxnSpPr>
          <p:nvPr/>
        </p:nvCxnSpPr>
        <p:spPr>
          <a:xfrm rot="10800000" flipH="1">
            <a:off x="5440077" y="4624803"/>
            <a:ext cx="527600" cy="314400"/>
          </a:xfrm>
          <a:prstGeom prst="straightConnector1">
            <a:avLst/>
          </a:prstGeom>
          <a:noFill/>
          <a:ln w="19050" cap="flat" cmpd="sng">
            <a:solidFill>
              <a:srgbClr val="595959"/>
            </a:solidFill>
            <a:prstDash val="solid"/>
            <a:round/>
            <a:headEnd type="none" w="med" len="med"/>
            <a:tailEnd type="none" w="med" len="med"/>
          </a:ln>
        </p:spPr>
      </p:cxnSp>
      <p:cxnSp>
        <p:nvCxnSpPr>
          <p:cNvPr id="1774" name="Google Shape;1774;p49"/>
          <p:cNvCxnSpPr/>
          <p:nvPr/>
        </p:nvCxnSpPr>
        <p:spPr>
          <a:xfrm rot="10800000">
            <a:off x="5440308" y="5113739"/>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775" name="Google Shape;1775;p49"/>
          <p:cNvCxnSpPr/>
          <p:nvPr/>
        </p:nvCxnSpPr>
        <p:spPr>
          <a:xfrm rot="10800000">
            <a:off x="6637619" y="4599088"/>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776" name="Google Shape;1776;p49"/>
          <p:cNvCxnSpPr/>
          <p:nvPr/>
        </p:nvCxnSpPr>
        <p:spPr>
          <a:xfrm rot="10800000" flipH="1">
            <a:off x="6637385" y="5088023"/>
            <a:ext cx="527200" cy="314400"/>
          </a:xfrm>
          <a:prstGeom prst="straightConnector1">
            <a:avLst/>
          </a:prstGeom>
          <a:noFill/>
          <a:ln w="19050" cap="flat" cmpd="sng">
            <a:solidFill>
              <a:srgbClr val="595959"/>
            </a:solidFill>
            <a:prstDash val="solid"/>
            <a:round/>
            <a:headEnd type="none" w="med" len="med"/>
            <a:tailEnd type="none" w="med" len="med"/>
          </a:ln>
        </p:spPr>
      </p:cxnSp>
      <p:grpSp>
        <p:nvGrpSpPr>
          <p:cNvPr id="1777" name="Google Shape;1777;p49"/>
          <p:cNvGrpSpPr/>
          <p:nvPr/>
        </p:nvGrpSpPr>
        <p:grpSpPr>
          <a:xfrm>
            <a:off x="2023865" y="4678545"/>
            <a:ext cx="821952" cy="521332"/>
            <a:chOff x="1452425" y="1381125"/>
            <a:chExt cx="840900" cy="533350"/>
          </a:xfrm>
        </p:grpSpPr>
        <p:sp>
          <p:nvSpPr>
            <p:cNvPr id="1778" name="Google Shape;1778;p49"/>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79" name="Google Shape;1779;p49"/>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80" name="Google Shape;1780;p49"/>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781" name="Google Shape;1781;p49"/>
          <p:cNvGrpSpPr/>
          <p:nvPr/>
        </p:nvGrpSpPr>
        <p:grpSpPr>
          <a:xfrm>
            <a:off x="5847265" y="3442527"/>
            <a:ext cx="821952" cy="521332"/>
            <a:chOff x="1452425" y="1381125"/>
            <a:chExt cx="840900" cy="533350"/>
          </a:xfrm>
        </p:grpSpPr>
        <p:sp>
          <p:nvSpPr>
            <p:cNvPr id="1782" name="Google Shape;1782;p49"/>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83" name="Google Shape;1783;p49"/>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84" name="Google Shape;1784;p49"/>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785" name="Google Shape;1785;p49"/>
          <p:cNvGrpSpPr/>
          <p:nvPr/>
        </p:nvGrpSpPr>
        <p:grpSpPr>
          <a:xfrm>
            <a:off x="8348465" y="4740111"/>
            <a:ext cx="821952" cy="521332"/>
            <a:chOff x="1452425" y="1381125"/>
            <a:chExt cx="840900" cy="533350"/>
          </a:xfrm>
        </p:grpSpPr>
        <p:sp>
          <p:nvSpPr>
            <p:cNvPr id="1786" name="Google Shape;1786;p49"/>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87" name="Google Shape;1787;p49"/>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88" name="Google Shape;1788;p49"/>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cxnSp>
        <p:nvCxnSpPr>
          <p:cNvPr id="1789" name="Google Shape;1789;p49"/>
          <p:cNvCxnSpPr/>
          <p:nvPr/>
        </p:nvCxnSpPr>
        <p:spPr>
          <a:xfrm>
            <a:off x="2760108" y="5000772"/>
            <a:ext cx="429200" cy="0"/>
          </a:xfrm>
          <a:prstGeom prst="straightConnector1">
            <a:avLst/>
          </a:prstGeom>
          <a:noFill/>
          <a:ln w="19050" cap="flat" cmpd="sng">
            <a:solidFill>
              <a:srgbClr val="595959"/>
            </a:solidFill>
            <a:prstDash val="solid"/>
            <a:round/>
            <a:headEnd type="none" w="med" len="med"/>
            <a:tailEnd type="none" w="med" len="med"/>
          </a:ln>
        </p:spPr>
      </p:cxnSp>
      <p:cxnSp>
        <p:nvCxnSpPr>
          <p:cNvPr id="1790" name="Google Shape;1790;p49"/>
          <p:cNvCxnSpPr/>
          <p:nvPr/>
        </p:nvCxnSpPr>
        <p:spPr>
          <a:xfrm>
            <a:off x="6258257" y="3963859"/>
            <a:ext cx="0" cy="308000"/>
          </a:xfrm>
          <a:prstGeom prst="straightConnector1">
            <a:avLst/>
          </a:prstGeom>
          <a:noFill/>
          <a:ln w="19050" cap="flat" cmpd="sng">
            <a:solidFill>
              <a:srgbClr val="595959"/>
            </a:solidFill>
            <a:prstDash val="solid"/>
            <a:round/>
            <a:headEnd type="none" w="med" len="med"/>
            <a:tailEnd type="none" w="med" len="med"/>
          </a:ln>
        </p:spPr>
      </p:cxnSp>
      <p:cxnSp>
        <p:nvCxnSpPr>
          <p:cNvPr id="1791" name="Google Shape;1791;p49"/>
          <p:cNvCxnSpPr/>
          <p:nvPr/>
        </p:nvCxnSpPr>
        <p:spPr>
          <a:xfrm>
            <a:off x="7986741" y="5000772"/>
            <a:ext cx="429200" cy="0"/>
          </a:xfrm>
          <a:prstGeom prst="straightConnector1">
            <a:avLst/>
          </a:prstGeom>
          <a:noFill/>
          <a:ln w="19050" cap="flat" cmpd="sng">
            <a:solidFill>
              <a:srgbClr val="595959"/>
            </a:solidFill>
            <a:prstDash val="solid"/>
            <a:round/>
            <a:headEnd type="none" w="med" len="med"/>
            <a:tailEnd type="none" w="med" len="med"/>
          </a:ln>
        </p:spPr>
      </p:cxnSp>
      <p:sp>
        <p:nvSpPr>
          <p:cNvPr id="1792" name="Google Shape;1792;p49"/>
          <p:cNvSpPr/>
          <p:nvPr/>
        </p:nvSpPr>
        <p:spPr>
          <a:xfrm>
            <a:off x="3252517" y="48677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93" name="Google Shape;1793;p49"/>
          <p:cNvSpPr/>
          <p:nvPr/>
        </p:nvSpPr>
        <p:spPr>
          <a:xfrm>
            <a:off x="3252533" y="4678536"/>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533"/>
          </a:p>
        </p:txBody>
      </p:sp>
      <p:sp>
        <p:nvSpPr>
          <p:cNvPr id="1794" name="Google Shape;1794;p49"/>
          <p:cNvSpPr/>
          <p:nvPr/>
        </p:nvSpPr>
        <p:spPr>
          <a:xfrm>
            <a:off x="4670284" y="48677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95" name="Google Shape;1795;p49"/>
          <p:cNvSpPr/>
          <p:nvPr/>
        </p:nvSpPr>
        <p:spPr>
          <a:xfrm>
            <a:off x="5917533" y="44899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96" name="Google Shape;1796;p49"/>
          <p:cNvSpPr/>
          <p:nvPr/>
        </p:nvSpPr>
        <p:spPr>
          <a:xfrm>
            <a:off x="5941400" y="56314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97" name="Google Shape;1797;p49"/>
          <p:cNvSpPr/>
          <p:nvPr/>
        </p:nvSpPr>
        <p:spPr>
          <a:xfrm>
            <a:off x="7216967" y="4969855"/>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98" name="Google Shape;1798;p49"/>
          <p:cNvSpPr/>
          <p:nvPr/>
        </p:nvSpPr>
        <p:spPr>
          <a:xfrm>
            <a:off x="4568133" y="1732300"/>
            <a:ext cx="3416400" cy="814800"/>
          </a:xfrm>
          <a:prstGeom prst="rect">
            <a:avLst/>
          </a:prstGeom>
          <a:solidFill>
            <a:srgbClr val="D9D2E9"/>
          </a:solidFill>
          <a:ln w="28575" cap="flat" cmpd="sng">
            <a:solidFill>
              <a:srgbClr val="674EA7"/>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Logically Centralized Control-Plane</a:t>
            </a:r>
            <a:endParaRPr sz="2400" b="1"/>
          </a:p>
        </p:txBody>
      </p:sp>
      <p:sp>
        <p:nvSpPr>
          <p:cNvPr id="1799" name="Google Shape;1799;p49"/>
          <p:cNvSpPr/>
          <p:nvPr/>
        </p:nvSpPr>
        <p:spPr>
          <a:xfrm>
            <a:off x="4672600" y="4678703"/>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800" name="Google Shape;1800;p49"/>
          <p:cNvSpPr/>
          <p:nvPr/>
        </p:nvSpPr>
        <p:spPr>
          <a:xfrm>
            <a:off x="5917533" y="4296969"/>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801" name="Google Shape;1801;p49"/>
          <p:cNvSpPr/>
          <p:nvPr/>
        </p:nvSpPr>
        <p:spPr>
          <a:xfrm>
            <a:off x="7216967" y="4785903"/>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802" name="Google Shape;1802;p49"/>
          <p:cNvSpPr/>
          <p:nvPr/>
        </p:nvSpPr>
        <p:spPr>
          <a:xfrm>
            <a:off x="5941400" y="5446869"/>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803" name="Google Shape;1803;p49"/>
          <p:cNvSpPr/>
          <p:nvPr/>
        </p:nvSpPr>
        <p:spPr>
          <a:xfrm>
            <a:off x="8645467" y="1445467"/>
            <a:ext cx="3210000" cy="1997060"/>
          </a:xfrm>
          <a:prstGeom prst="wedgeRoundRectCallout">
            <a:avLst>
              <a:gd name="adj1" fmla="val -67047"/>
              <a:gd name="adj2" fmla="val -8187"/>
              <a:gd name="adj3" fmla="val 0"/>
            </a:avLst>
          </a:prstGeom>
          <a:solidFill>
            <a:schemeClr val="lt1"/>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r>
              <a:rPr lang="en" sz="2400"/>
              <a:t>Has a global view of the network</a:t>
            </a:r>
            <a:endParaRPr sz="2400"/>
          </a:p>
          <a:p>
            <a:endParaRPr sz="2400"/>
          </a:p>
          <a:p>
            <a:r>
              <a:rPr lang="en" sz="2400"/>
              <a:t>Has direct control over the routers</a:t>
            </a:r>
            <a:endParaRPr sz="2400"/>
          </a:p>
        </p:txBody>
      </p:sp>
      <p:sp>
        <p:nvSpPr>
          <p:cNvPr id="1804" name="Google Shape;1804;p49"/>
          <p:cNvSpPr/>
          <p:nvPr/>
        </p:nvSpPr>
        <p:spPr>
          <a:xfrm>
            <a:off x="3623567" y="2152234"/>
            <a:ext cx="887639" cy="2615173"/>
          </a:xfrm>
          <a:custGeom>
            <a:avLst/>
            <a:gdLst/>
            <a:ahLst/>
            <a:cxnLst/>
            <a:rect l="l" t="t" r="r" b="b"/>
            <a:pathLst>
              <a:path w="44868" h="78794" extrusionOk="0">
                <a:moveTo>
                  <a:pt x="44868" y="0"/>
                </a:moveTo>
                <a:cubicBezTo>
                  <a:pt x="33846" y="1379"/>
                  <a:pt x="26731" y="13368"/>
                  <a:pt x="20063" y="22252"/>
                </a:cubicBezTo>
                <a:cubicBezTo>
                  <a:pt x="13689" y="30744"/>
                  <a:pt x="11022" y="41493"/>
                  <a:pt x="7295" y="51435"/>
                </a:cubicBezTo>
                <a:cubicBezTo>
                  <a:pt x="3982" y="60273"/>
                  <a:pt x="0" y="69356"/>
                  <a:pt x="0" y="78794"/>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805" name="Google Shape;1805;p49"/>
          <p:cNvSpPr/>
          <p:nvPr/>
        </p:nvSpPr>
        <p:spPr>
          <a:xfrm>
            <a:off x="4891304" y="2578634"/>
            <a:ext cx="434600" cy="2213033"/>
          </a:xfrm>
          <a:custGeom>
            <a:avLst/>
            <a:gdLst/>
            <a:ahLst/>
            <a:cxnLst/>
            <a:rect l="l" t="t" r="r" b="b"/>
            <a:pathLst>
              <a:path w="13038" h="66391" extrusionOk="0">
                <a:moveTo>
                  <a:pt x="13038" y="0"/>
                </a:moveTo>
                <a:cubicBezTo>
                  <a:pt x="-2897" y="15935"/>
                  <a:pt x="270" y="43855"/>
                  <a:pt x="270" y="66391"/>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806" name="Google Shape;1806;p49"/>
          <p:cNvSpPr/>
          <p:nvPr/>
        </p:nvSpPr>
        <p:spPr>
          <a:xfrm>
            <a:off x="5533631" y="2602968"/>
            <a:ext cx="363767" cy="1848233"/>
          </a:xfrm>
          <a:custGeom>
            <a:avLst/>
            <a:gdLst/>
            <a:ahLst/>
            <a:cxnLst/>
            <a:rect l="l" t="t" r="r" b="b"/>
            <a:pathLst>
              <a:path w="10913" h="55447" extrusionOk="0">
                <a:moveTo>
                  <a:pt x="3982" y="0"/>
                </a:moveTo>
                <a:cubicBezTo>
                  <a:pt x="-1482" y="13661"/>
                  <a:pt x="-1038" y="30181"/>
                  <a:pt x="3617" y="44139"/>
                </a:cubicBezTo>
                <a:cubicBezTo>
                  <a:pt x="5036" y="48394"/>
                  <a:pt x="6427" y="55447"/>
                  <a:pt x="10913" y="55447"/>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807" name="Google Shape;1807;p49"/>
          <p:cNvSpPr/>
          <p:nvPr/>
        </p:nvSpPr>
        <p:spPr>
          <a:xfrm>
            <a:off x="6529701" y="2602967"/>
            <a:ext cx="407033" cy="2821000"/>
          </a:xfrm>
          <a:custGeom>
            <a:avLst/>
            <a:gdLst/>
            <a:ahLst/>
            <a:cxnLst/>
            <a:rect l="l" t="t" r="r" b="b"/>
            <a:pathLst>
              <a:path w="12211" h="84630" extrusionOk="0">
                <a:moveTo>
                  <a:pt x="2553" y="0"/>
                </a:moveTo>
                <a:cubicBezTo>
                  <a:pt x="4605" y="10257"/>
                  <a:pt x="11235" y="19483"/>
                  <a:pt x="12038" y="29912"/>
                </a:cubicBezTo>
                <a:cubicBezTo>
                  <a:pt x="12731" y="38913"/>
                  <a:pt x="9849" y="47879"/>
                  <a:pt x="9849" y="56907"/>
                </a:cubicBezTo>
                <a:cubicBezTo>
                  <a:pt x="9849" y="66714"/>
                  <a:pt x="8774" y="80249"/>
                  <a:pt x="0" y="84630"/>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808" name="Google Shape;1808;p49"/>
          <p:cNvSpPr/>
          <p:nvPr/>
        </p:nvSpPr>
        <p:spPr>
          <a:xfrm>
            <a:off x="7133334" y="2547100"/>
            <a:ext cx="527185" cy="2256707"/>
          </a:xfrm>
          <a:custGeom>
            <a:avLst/>
            <a:gdLst/>
            <a:ahLst/>
            <a:cxnLst/>
            <a:rect l="l" t="t" r="r" b="b"/>
            <a:pathLst>
              <a:path w="26630" h="83171" extrusionOk="0">
                <a:moveTo>
                  <a:pt x="0" y="0"/>
                </a:moveTo>
                <a:cubicBezTo>
                  <a:pt x="3517" y="7032"/>
                  <a:pt x="8357" y="13321"/>
                  <a:pt x="12403" y="20063"/>
                </a:cubicBezTo>
                <a:cubicBezTo>
                  <a:pt x="23499" y="38553"/>
                  <a:pt x="26630" y="61607"/>
                  <a:pt x="26630" y="83171"/>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809" name="Google Shape;1809;p49"/>
          <p:cNvSpPr/>
          <p:nvPr/>
        </p:nvSpPr>
        <p:spPr>
          <a:xfrm>
            <a:off x="415599" y="3138733"/>
            <a:ext cx="5107651" cy="919634"/>
          </a:xfrm>
          <a:prstGeom prst="wedgeRoundRectCallout">
            <a:avLst>
              <a:gd name="adj1" fmla="val 13004"/>
              <a:gd name="adj2" fmla="val 109909"/>
              <a:gd name="adj3" fmla="val 0"/>
            </a:avLst>
          </a:prstGeom>
          <a:solidFill>
            <a:schemeClr val="lt1"/>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r>
              <a:rPr lang="en" sz="2200"/>
              <a:t>A control layer for local control tasks, e.g., communicating with the SDN controller.</a:t>
            </a:r>
            <a:endParaRPr sz="2200"/>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1767"/>
        <p:cNvGrpSpPr/>
        <p:nvPr/>
      </p:nvGrpSpPr>
      <p:grpSpPr>
        <a:xfrm>
          <a:off x="0" y="0"/>
          <a:ext cx="0" cy="0"/>
          <a:chOff x="0" y="0"/>
          <a:chExt cx="0" cy="0"/>
        </a:xfrm>
      </p:grpSpPr>
      <p:sp>
        <p:nvSpPr>
          <p:cNvPr id="1768" name="Google Shape;1768;p49"/>
          <p:cNvSpPr txBox="1">
            <a:spLocks noGrp="1"/>
          </p:cNvSpPr>
          <p:nvPr>
            <p:ph type="title"/>
          </p:nvPr>
        </p:nvSpPr>
        <p:spPr>
          <a:xfrm>
            <a:off x="415600" y="377067"/>
            <a:ext cx="11360800" cy="763600"/>
          </a:xfrm>
          <a:prstGeom prst="rect">
            <a:avLst/>
          </a:prstGeom>
        </p:spPr>
        <p:txBody>
          <a:bodyPr spcFirstLastPara="1" vert="horz" wrap="square" lIns="121900" tIns="121900" rIns="121900" bIns="121900" rtlCol="0" anchor="t" anchorCtr="0">
            <a:normAutofit fontScale="90000"/>
          </a:bodyPr>
          <a:lstStyle/>
          <a:p>
            <a:r>
              <a:rPr lang="en"/>
              <a:t>Software-Defined Networking (SDN)</a:t>
            </a:r>
            <a:endParaRPr/>
          </a:p>
        </p:txBody>
      </p:sp>
      <p:cxnSp>
        <p:nvCxnSpPr>
          <p:cNvPr id="1769" name="Google Shape;1769;p49"/>
          <p:cNvCxnSpPr>
            <a:stCxn id="1770" idx="6"/>
            <a:endCxn id="1771" idx="2"/>
          </p:cNvCxnSpPr>
          <p:nvPr/>
        </p:nvCxnSpPr>
        <p:spPr>
          <a:xfrm>
            <a:off x="4033345" y="4939203"/>
            <a:ext cx="584800" cy="0"/>
          </a:xfrm>
          <a:prstGeom prst="straightConnector1">
            <a:avLst/>
          </a:prstGeom>
          <a:noFill/>
          <a:ln w="19050" cap="flat" cmpd="sng">
            <a:solidFill>
              <a:srgbClr val="595959"/>
            </a:solidFill>
            <a:prstDash val="solid"/>
            <a:round/>
            <a:headEnd type="none" w="med" len="med"/>
            <a:tailEnd type="none" w="med" len="med"/>
          </a:ln>
        </p:spPr>
      </p:cxnSp>
      <p:cxnSp>
        <p:nvCxnSpPr>
          <p:cNvPr id="1772" name="Google Shape;1772;p49"/>
          <p:cNvCxnSpPr>
            <a:stCxn id="1771" idx="6"/>
            <a:endCxn id="1773" idx="3"/>
          </p:cNvCxnSpPr>
          <p:nvPr/>
        </p:nvCxnSpPr>
        <p:spPr>
          <a:xfrm rot="10800000" flipH="1">
            <a:off x="5440077" y="4624803"/>
            <a:ext cx="527600" cy="314400"/>
          </a:xfrm>
          <a:prstGeom prst="straightConnector1">
            <a:avLst/>
          </a:prstGeom>
          <a:noFill/>
          <a:ln w="19050" cap="flat" cmpd="sng">
            <a:solidFill>
              <a:srgbClr val="595959"/>
            </a:solidFill>
            <a:prstDash val="solid"/>
            <a:round/>
            <a:headEnd type="none" w="med" len="med"/>
            <a:tailEnd type="none" w="med" len="med"/>
          </a:ln>
        </p:spPr>
      </p:cxnSp>
      <p:cxnSp>
        <p:nvCxnSpPr>
          <p:cNvPr id="1774" name="Google Shape;1774;p49"/>
          <p:cNvCxnSpPr/>
          <p:nvPr/>
        </p:nvCxnSpPr>
        <p:spPr>
          <a:xfrm rot="10800000">
            <a:off x="5440308" y="5113739"/>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775" name="Google Shape;1775;p49"/>
          <p:cNvCxnSpPr/>
          <p:nvPr/>
        </p:nvCxnSpPr>
        <p:spPr>
          <a:xfrm rot="10800000">
            <a:off x="6637619" y="4599088"/>
            <a:ext cx="527200" cy="314400"/>
          </a:xfrm>
          <a:prstGeom prst="straightConnector1">
            <a:avLst/>
          </a:prstGeom>
          <a:noFill/>
          <a:ln w="19050" cap="flat" cmpd="sng">
            <a:solidFill>
              <a:srgbClr val="595959"/>
            </a:solidFill>
            <a:prstDash val="solid"/>
            <a:round/>
            <a:headEnd type="none" w="med" len="med"/>
            <a:tailEnd type="none" w="med" len="med"/>
          </a:ln>
        </p:spPr>
      </p:cxnSp>
      <p:cxnSp>
        <p:nvCxnSpPr>
          <p:cNvPr id="1776" name="Google Shape;1776;p49"/>
          <p:cNvCxnSpPr/>
          <p:nvPr/>
        </p:nvCxnSpPr>
        <p:spPr>
          <a:xfrm rot="10800000" flipH="1">
            <a:off x="6637385" y="5088023"/>
            <a:ext cx="527200" cy="314400"/>
          </a:xfrm>
          <a:prstGeom prst="straightConnector1">
            <a:avLst/>
          </a:prstGeom>
          <a:noFill/>
          <a:ln w="19050" cap="flat" cmpd="sng">
            <a:solidFill>
              <a:srgbClr val="595959"/>
            </a:solidFill>
            <a:prstDash val="solid"/>
            <a:round/>
            <a:headEnd type="none" w="med" len="med"/>
            <a:tailEnd type="none" w="med" len="med"/>
          </a:ln>
        </p:spPr>
      </p:cxnSp>
      <p:grpSp>
        <p:nvGrpSpPr>
          <p:cNvPr id="1777" name="Google Shape;1777;p49"/>
          <p:cNvGrpSpPr/>
          <p:nvPr/>
        </p:nvGrpSpPr>
        <p:grpSpPr>
          <a:xfrm>
            <a:off x="2023865" y="4678545"/>
            <a:ext cx="821952" cy="521332"/>
            <a:chOff x="1452425" y="1381125"/>
            <a:chExt cx="840900" cy="533350"/>
          </a:xfrm>
        </p:grpSpPr>
        <p:sp>
          <p:nvSpPr>
            <p:cNvPr id="1778" name="Google Shape;1778;p49"/>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79" name="Google Shape;1779;p49"/>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80" name="Google Shape;1780;p49"/>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781" name="Google Shape;1781;p49"/>
          <p:cNvGrpSpPr/>
          <p:nvPr/>
        </p:nvGrpSpPr>
        <p:grpSpPr>
          <a:xfrm>
            <a:off x="5847265" y="3442527"/>
            <a:ext cx="821952" cy="521332"/>
            <a:chOff x="1452425" y="1381125"/>
            <a:chExt cx="840900" cy="533350"/>
          </a:xfrm>
        </p:grpSpPr>
        <p:sp>
          <p:nvSpPr>
            <p:cNvPr id="1782" name="Google Shape;1782;p49"/>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83" name="Google Shape;1783;p49"/>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84" name="Google Shape;1784;p49"/>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1785" name="Google Shape;1785;p49"/>
          <p:cNvGrpSpPr/>
          <p:nvPr/>
        </p:nvGrpSpPr>
        <p:grpSpPr>
          <a:xfrm>
            <a:off x="8348465" y="4740111"/>
            <a:ext cx="821952" cy="521332"/>
            <a:chOff x="1452425" y="1381125"/>
            <a:chExt cx="840900" cy="533350"/>
          </a:xfrm>
        </p:grpSpPr>
        <p:sp>
          <p:nvSpPr>
            <p:cNvPr id="1786" name="Google Shape;1786;p49"/>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87" name="Google Shape;1787;p49"/>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1788" name="Google Shape;1788;p49"/>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cxnSp>
        <p:nvCxnSpPr>
          <p:cNvPr id="1789" name="Google Shape;1789;p49"/>
          <p:cNvCxnSpPr/>
          <p:nvPr/>
        </p:nvCxnSpPr>
        <p:spPr>
          <a:xfrm>
            <a:off x="2760108" y="5000772"/>
            <a:ext cx="429200" cy="0"/>
          </a:xfrm>
          <a:prstGeom prst="straightConnector1">
            <a:avLst/>
          </a:prstGeom>
          <a:noFill/>
          <a:ln w="19050" cap="flat" cmpd="sng">
            <a:solidFill>
              <a:srgbClr val="595959"/>
            </a:solidFill>
            <a:prstDash val="solid"/>
            <a:round/>
            <a:headEnd type="none" w="med" len="med"/>
            <a:tailEnd type="none" w="med" len="med"/>
          </a:ln>
        </p:spPr>
      </p:cxnSp>
      <p:cxnSp>
        <p:nvCxnSpPr>
          <p:cNvPr id="1790" name="Google Shape;1790;p49"/>
          <p:cNvCxnSpPr/>
          <p:nvPr/>
        </p:nvCxnSpPr>
        <p:spPr>
          <a:xfrm>
            <a:off x="6258257" y="3963859"/>
            <a:ext cx="0" cy="308000"/>
          </a:xfrm>
          <a:prstGeom prst="straightConnector1">
            <a:avLst/>
          </a:prstGeom>
          <a:noFill/>
          <a:ln w="19050" cap="flat" cmpd="sng">
            <a:solidFill>
              <a:srgbClr val="595959"/>
            </a:solidFill>
            <a:prstDash val="solid"/>
            <a:round/>
            <a:headEnd type="none" w="med" len="med"/>
            <a:tailEnd type="none" w="med" len="med"/>
          </a:ln>
        </p:spPr>
      </p:cxnSp>
      <p:cxnSp>
        <p:nvCxnSpPr>
          <p:cNvPr id="1791" name="Google Shape;1791;p49"/>
          <p:cNvCxnSpPr/>
          <p:nvPr/>
        </p:nvCxnSpPr>
        <p:spPr>
          <a:xfrm>
            <a:off x="7986741" y="5000772"/>
            <a:ext cx="429200" cy="0"/>
          </a:xfrm>
          <a:prstGeom prst="straightConnector1">
            <a:avLst/>
          </a:prstGeom>
          <a:noFill/>
          <a:ln w="19050" cap="flat" cmpd="sng">
            <a:solidFill>
              <a:srgbClr val="595959"/>
            </a:solidFill>
            <a:prstDash val="solid"/>
            <a:round/>
            <a:headEnd type="none" w="med" len="med"/>
            <a:tailEnd type="none" w="med" len="med"/>
          </a:ln>
        </p:spPr>
      </p:cxnSp>
      <p:sp>
        <p:nvSpPr>
          <p:cNvPr id="1792" name="Google Shape;1792;p49"/>
          <p:cNvSpPr/>
          <p:nvPr/>
        </p:nvSpPr>
        <p:spPr>
          <a:xfrm>
            <a:off x="3252517" y="48677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93" name="Google Shape;1793;p49"/>
          <p:cNvSpPr/>
          <p:nvPr/>
        </p:nvSpPr>
        <p:spPr>
          <a:xfrm>
            <a:off x="3252533" y="4678536"/>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533"/>
          </a:p>
        </p:txBody>
      </p:sp>
      <p:sp>
        <p:nvSpPr>
          <p:cNvPr id="1794" name="Google Shape;1794;p49"/>
          <p:cNvSpPr/>
          <p:nvPr/>
        </p:nvSpPr>
        <p:spPr>
          <a:xfrm>
            <a:off x="4670284" y="48677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95" name="Google Shape;1795;p49"/>
          <p:cNvSpPr/>
          <p:nvPr/>
        </p:nvSpPr>
        <p:spPr>
          <a:xfrm>
            <a:off x="5917533" y="44899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96" name="Google Shape;1796;p49"/>
          <p:cNvSpPr/>
          <p:nvPr/>
        </p:nvSpPr>
        <p:spPr>
          <a:xfrm>
            <a:off x="5941400" y="5631471"/>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97" name="Google Shape;1797;p49"/>
          <p:cNvSpPr/>
          <p:nvPr/>
        </p:nvSpPr>
        <p:spPr>
          <a:xfrm>
            <a:off x="7216967" y="4969855"/>
            <a:ext cx="717600" cy="351200"/>
          </a:xfrm>
          <a:prstGeom prst="rect">
            <a:avLst/>
          </a:prstGeom>
          <a:solidFill>
            <a:srgbClr val="F4CCCC"/>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DP</a:t>
            </a:r>
            <a:endParaRPr sz="2400" b="1"/>
          </a:p>
        </p:txBody>
      </p:sp>
      <p:sp>
        <p:nvSpPr>
          <p:cNvPr id="1798" name="Google Shape;1798;p49"/>
          <p:cNvSpPr/>
          <p:nvPr/>
        </p:nvSpPr>
        <p:spPr>
          <a:xfrm>
            <a:off x="4568133" y="1732300"/>
            <a:ext cx="3416400" cy="814800"/>
          </a:xfrm>
          <a:prstGeom prst="rect">
            <a:avLst/>
          </a:prstGeom>
          <a:solidFill>
            <a:srgbClr val="D9D2E9"/>
          </a:solidFill>
          <a:ln w="28575" cap="flat" cmpd="sng">
            <a:solidFill>
              <a:srgbClr val="674EA7"/>
            </a:solidFill>
            <a:prstDash val="solid"/>
            <a:round/>
            <a:headEnd type="none" w="sm" len="sm"/>
            <a:tailEnd type="none" w="sm" len="sm"/>
          </a:ln>
        </p:spPr>
        <p:txBody>
          <a:bodyPr spcFirstLastPara="1" wrap="square" lIns="121900" tIns="121900" rIns="121900" bIns="121900" anchor="ctr" anchorCtr="0">
            <a:noAutofit/>
          </a:bodyPr>
          <a:lstStyle/>
          <a:p>
            <a:pPr algn="ctr"/>
            <a:r>
              <a:rPr lang="en" sz="2400" b="1"/>
              <a:t>Logically Centralized Control-Plane</a:t>
            </a:r>
            <a:endParaRPr sz="2400" b="1"/>
          </a:p>
        </p:txBody>
      </p:sp>
      <p:sp>
        <p:nvSpPr>
          <p:cNvPr id="1799" name="Google Shape;1799;p49"/>
          <p:cNvSpPr/>
          <p:nvPr/>
        </p:nvSpPr>
        <p:spPr>
          <a:xfrm>
            <a:off x="4672600" y="4678703"/>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800" name="Google Shape;1800;p49"/>
          <p:cNvSpPr/>
          <p:nvPr/>
        </p:nvSpPr>
        <p:spPr>
          <a:xfrm>
            <a:off x="5917533" y="4296969"/>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801" name="Google Shape;1801;p49"/>
          <p:cNvSpPr/>
          <p:nvPr/>
        </p:nvSpPr>
        <p:spPr>
          <a:xfrm>
            <a:off x="7216967" y="4785903"/>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802" name="Google Shape;1802;p49"/>
          <p:cNvSpPr/>
          <p:nvPr/>
        </p:nvSpPr>
        <p:spPr>
          <a:xfrm>
            <a:off x="5941400" y="5446869"/>
            <a:ext cx="717600" cy="127600"/>
          </a:xfrm>
          <a:prstGeom prst="rect">
            <a:avLst/>
          </a:prstGeom>
          <a:solidFill>
            <a:srgbClr val="CFE2F3"/>
          </a:solidFill>
          <a:ln w="19050" cap="flat" cmpd="sng">
            <a:solidFill>
              <a:srgbClr val="0B5394"/>
            </a:solidFill>
            <a:prstDash val="solid"/>
            <a:round/>
            <a:headEnd type="none" w="sm" len="sm"/>
            <a:tailEnd type="none" w="sm" len="sm"/>
          </a:ln>
        </p:spPr>
        <p:txBody>
          <a:bodyPr spcFirstLastPara="1" wrap="square" lIns="121900" tIns="121900" rIns="121900" bIns="121900" anchor="ctr" anchorCtr="0">
            <a:noAutofit/>
          </a:bodyPr>
          <a:lstStyle/>
          <a:p>
            <a:pPr algn="ctr">
              <a:lnSpc>
                <a:spcPct val="115000"/>
              </a:lnSpc>
            </a:pPr>
            <a:endParaRPr sz="933"/>
          </a:p>
        </p:txBody>
      </p:sp>
      <p:sp>
        <p:nvSpPr>
          <p:cNvPr id="1803" name="Google Shape;1803;p49"/>
          <p:cNvSpPr/>
          <p:nvPr/>
        </p:nvSpPr>
        <p:spPr>
          <a:xfrm>
            <a:off x="8645467" y="1445467"/>
            <a:ext cx="3210000" cy="1997060"/>
          </a:xfrm>
          <a:prstGeom prst="wedgeRoundRectCallout">
            <a:avLst>
              <a:gd name="adj1" fmla="val -67047"/>
              <a:gd name="adj2" fmla="val -8187"/>
              <a:gd name="adj3" fmla="val 0"/>
            </a:avLst>
          </a:prstGeom>
          <a:solidFill>
            <a:schemeClr val="lt1"/>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r>
              <a:rPr lang="en" sz="2400"/>
              <a:t>Has a global view of the network</a:t>
            </a:r>
            <a:endParaRPr sz="2400"/>
          </a:p>
          <a:p>
            <a:endParaRPr sz="2400"/>
          </a:p>
          <a:p>
            <a:r>
              <a:rPr lang="en" sz="2400"/>
              <a:t>Has direct control over the routers</a:t>
            </a:r>
            <a:endParaRPr sz="2400"/>
          </a:p>
        </p:txBody>
      </p:sp>
      <p:sp>
        <p:nvSpPr>
          <p:cNvPr id="1804" name="Google Shape;1804;p49"/>
          <p:cNvSpPr/>
          <p:nvPr/>
        </p:nvSpPr>
        <p:spPr>
          <a:xfrm>
            <a:off x="3623567" y="2152234"/>
            <a:ext cx="887639" cy="2615173"/>
          </a:xfrm>
          <a:custGeom>
            <a:avLst/>
            <a:gdLst/>
            <a:ahLst/>
            <a:cxnLst/>
            <a:rect l="l" t="t" r="r" b="b"/>
            <a:pathLst>
              <a:path w="44868" h="78794" extrusionOk="0">
                <a:moveTo>
                  <a:pt x="44868" y="0"/>
                </a:moveTo>
                <a:cubicBezTo>
                  <a:pt x="33846" y="1379"/>
                  <a:pt x="26731" y="13368"/>
                  <a:pt x="20063" y="22252"/>
                </a:cubicBezTo>
                <a:cubicBezTo>
                  <a:pt x="13689" y="30744"/>
                  <a:pt x="11022" y="41493"/>
                  <a:pt x="7295" y="51435"/>
                </a:cubicBezTo>
                <a:cubicBezTo>
                  <a:pt x="3982" y="60273"/>
                  <a:pt x="0" y="69356"/>
                  <a:pt x="0" y="78794"/>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805" name="Google Shape;1805;p49"/>
          <p:cNvSpPr/>
          <p:nvPr/>
        </p:nvSpPr>
        <p:spPr>
          <a:xfrm>
            <a:off x="4891304" y="2578634"/>
            <a:ext cx="434600" cy="2213033"/>
          </a:xfrm>
          <a:custGeom>
            <a:avLst/>
            <a:gdLst/>
            <a:ahLst/>
            <a:cxnLst/>
            <a:rect l="l" t="t" r="r" b="b"/>
            <a:pathLst>
              <a:path w="13038" h="66391" extrusionOk="0">
                <a:moveTo>
                  <a:pt x="13038" y="0"/>
                </a:moveTo>
                <a:cubicBezTo>
                  <a:pt x="-2897" y="15935"/>
                  <a:pt x="270" y="43855"/>
                  <a:pt x="270" y="66391"/>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806" name="Google Shape;1806;p49"/>
          <p:cNvSpPr/>
          <p:nvPr/>
        </p:nvSpPr>
        <p:spPr>
          <a:xfrm>
            <a:off x="5533631" y="2602968"/>
            <a:ext cx="363767" cy="1848233"/>
          </a:xfrm>
          <a:custGeom>
            <a:avLst/>
            <a:gdLst/>
            <a:ahLst/>
            <a:cxnLst/>
            <a:rect l="l" t="t" r="r" b="b"/>
            <a:pathLst>
              <a:path w="10913" h="55447" extrusionOk="0">
                <a:moveTo>
                  <a:pt x="3982" y="0"/>
                </a:moveTo>
                <a:cubicBezTo>
                  <a:pt x="-1482" y="13661"/>
                  <a:pt x="-1038" y="30181"/>
                  <a:pt x="3617" y="44139"/>
                </a:cubicBezTo>
                <a:cubicBezTo>
                  <a:pt x="5036" y="48394"/>
                  <a:pt x="6427" y="55447"/>
                  <a:pt x="10913" y="55447"/>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807" name="Google Shape;1807;p49"/>
          <p:cNvSpPr/>
          <p:nvPr/>
        </p:nvSpPr>
        <p:spPr>
          <a:xfrm>
            <a:off x="6529701" y="2602967"/>
            <a:ext cx="407033" cy="2821000"/>
          </a:xfrm>
          <a:custGeom>
            <a:avLst/>
            <a:gdLst/>
            <a:ahLst/>
            <a:cxnLst/>
            <a:rect l="l" t="t" r="r" b="b"/>
            <a:pathLst>
              <a:path w="12211" h="84630" extrusionOk="0">
                <a:moveTo>
                  <a:pt x="2553" y="0"/>
                </a:moveTo>
                <a:cubicBezTo>
                  <a:pt x="4605" y="10257"/>
                  <a:pt x="11235" y="19483"/>
                  <a:pt x="12038" y="29912"/>
                </a:cubicBezTo>
                <a:cubicBezTo>
                  <a:pt x="12731" y="38913"/>
                  <a:pt x="9849" y="47879"/>
                  <a:pt x="9849" y="56907"/>
                </a:cubicBezTo>
                <a:cubicBezTo>
                  <a:pt x="9849" y="66714"/>
                  <a:pt x="8774" y="80249"/>
                  <a:pt x="0" y="84630"/>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808" name="Google Shape;1808;p49"/>
          <p:cNvSpPr/>
          <p:nvPr/>
        </p:nvSpPr>
        <p:spPr>
          <a:xfrm>
            <a:off x="7133334" y="2547100"/>
            <a:ext cx="527185" cy="2256707"/>
          </a:xfrm>
          <a:custGeom>
            <a:avLst/>
            <a:gdLst/>
            <a:ahLst/>
            <a:cxnLst/>
            <a:rect l="l" t="t" r="r" b="b"/>
            <a:pathLst>
              <a:path w="26630" h="83171" extrusionOk="0">
                <a:moveTo>
                  <a:pt x="0" y="0"/>
                </a:moveTo>
                <a:cubicBezTo>
                  <a:pt x="3517" y="7032"/>
                  <a:pt x="8357" y="13321"/>
                  <a:pt x="12403" y="20063"/>
                </a:cubicBezTo>
                <a:cubicBezTo>
                  <a:pt x="23499" y="38553"/>
                  <a:pt x="26630" y="61607"/>
                  <a:pt x="26630" y="83171"/>
                </a:cubicBezTo>
              </a:path>
            </a:pathLst>
          </a:custGeom>
          <a:noFill/>
          <a:ln w="19050" cap="flat" cmpd="sng">
            <a:solidFill>
              <a:srgbClr val="674EA7"/>
            </a:solidFill>
            <a:prstDash val="dash"/>
            <a:round/>
            <a:headEnd type="triangle" w="med" len="med"/>
            <a:tailEnd type="triangle" w="med" len="med"/>
          </a:ln>
        </p:spPr>
        <p:txBody>
          <a:bodyPr/>
          <a:lstStyle/>
          <a:p>
            <a:endParaRPr lang="en-US" sz="2400"/>
          </a:p>
        </p:txBody>
      </p:sp>
      <p:sp>
        <p:nvSpPr>
          <p:cNvPr id="1809" name="Google Shape;1809;p49"/>
          <p:cNvSpPr/>
          <p:nvPr/>
        </p:nvSpPr>
        <p:spPr>
          <a:xfrm>
            <a:off x="415599" y="3138733"/>
            <a:ext cx="5107651" cy="919634"/>
          </a:xfrm>
          <a:prstGeom prst="wedgeRoundRectCallout">
            <a:avLst>
              <a:gd name="adj1" fmla="val 13004"/>
              <a:gd name="adj2" fmla="val 109909"/>
              <a:gd name="adj3" fmla="val 0"/>
            </a:avLst>
          </a:prstGeom>
          <a:solidFill>
            <a:schemeClr val="lt1"/>
          </a:solidFill>
          <a:ln w="19050" cap="flat" cmpd="sng">
            <a:solidFill>
              <a:srgbClr val="CC0000"/>
            </a:solidFill>
            <a:prstDash val="solid"/>
            <a:round/>
            <a:headEnd type="none" w="sm" len="sm"/>
            <a:tailEnd type="none" w="sm" len="sm"/>
          </a:ln>
        </p:spPr>
        <p:txBody>
          <a:bodyPr spcFirstLastPara="1" wrap="square" lIns="121900" tIns="121900" rIns="121900" bIns="121900" anchor="ctr" anchorCtr="0">
            <a:noAutofit/>
          </a:bodyPr>
          <a:lstStyle/>
          <a:p>
            <a:r>
              <a:rPr lang="en" sz="2200"/>
              <a:t>A control layer for local control tasks, e.g., communicating with the SDN controller.</a:t>
            </a:r>
            <a:endParaRPr sz="2200"/>
          </a:p>
        </p:txBody>
      </p:sp>
      <p:sp>
        <p:nvSpPr>
          <p:cNvPr id="3" name="Rectangle 2">
            <a:extLst>
              <a:ext uri="{FF2B5EF4-FFF2-40B4-BE49-F238E27FC236}">
                <a16:creationId xmlns:a16="http://schemas.microsoft.com/office/drawing/2014/main" id="{676BDECD-464F-46CC-8375-9BD5681340E2}"/>
              </a:ext>
            </a:extLst>
          </p:cNvPr>
          <p:cNvSpPr/>
          <p:nvPr/>
        </p:nvSpPr>
        <p:spPr>
          <a:xfrm>
            <a:off x="9301047" y="4624803"/>
            <a:ext cx="1779855" cy="1357868"/>
          </a:xfrm>
          <a:prstGeom prst="rect">
            <a:avLst/>
          </a:prstGeom>
          <a:noFill/>
          <a:ln w="28575">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20CD5571-22E2-5F96-8856-770449CDC86B}"/>
              </a:ext>
            </a:extLst>
          </p:cNvPr>
          <p:cNvSpPr txBox="1"/>
          <p:nvPr/>
        </p:nvSpPr>
        <p:spPr>
          <a:xfrm>
            <a:off x="9374829" y="4752683"/>
            <a:ext cx="1619230" cy="1107996"/>
          </a:xfrm>
          <a:prstGeom prst="rect">
            <a:avLst/>
          </a:prstGeom>
          <a:noFill/>
        </p:spPr>
        <p:txBody>
          <a:bodyPr wrap="square" rtlCol="0">
            <a:spAutoFit/>
          </a:bodyPr>
          <a:lstStyle/>
          <a:p>
            <a:r>
              <a:rPr lang="en-US" sz="2200"/>
              <a:t>Generalized forwarding tables</a:t>
            </a:r>
          </a:p>
        </p:txBody>
      </p:sp>
      <p:cxnSp>
        <p:nvCxnSpPr>
          <p:cNvPr id="6" name="Straight Arrow Connector 5">
            <a:extLst>
              <a:ext uri="{FF2B5EF4-FFF2-40B4-BE49-F238E27FC236}">
                <a16:creationId xmlns:a16="http://schemas.microsoft.com/office/drawing/2014/main" id="{C189C110-3064-4D43-D623-84E0869585C5}"/>
              </a:ext>
            </a:extLst>
          </p:cNvPr>
          <p:cNvCxnSpPr>
            <a:cxnSpLocks/>
          </p:cNvCxnSpPr>
          <p:nvPr/>
        </p:nvCxnSpPr>
        <p:spPr>
          <a:xfrm flipH="1" flipV="1">
            <a:off x="7984533" y="5342915"/>
            <a:ext cx="1295702" cy="325355"/>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415591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program the network with OpenFlow</a:t>
            </a:r>
            <a:r>
              <a:rPr kumimoji="0" lang="en-US" altLang="en-US" sz="2800" b="0" i="0" u="none" strike="noStrike" kern="1200" cap="none" spc="0" normalizeH="0" noProof="0">
                <a:ln>
                  <a:noFill/>
                </a:ln>
                <a:solidFill>
                  <a:prstClr val="black"/>
                </a:solidFill>
                <a:effectLst/>
                <a:uLnTx/>
                <a:uFillTx/>
                <a:latin typeface="Calibri" panose="020F0502020204030204" pitchFamily="34" charset="0"/>
                <a:ea typeface="ＭＳ Ｐゴシック" panose="020B0600070205080204" pitchFamily="34" charset="-128"/>
                <a:cs typeface="+mn-cs"/>
              </a:rPr>
              <a:t> rules</a:t>
            </a:r>
            <a:endParaRPr kumimoji="0" lang="en-US" altLang="en-US" sz="2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3429619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1813"/>
        <p:cNvGrpSpPr/>
        <p:nvPr/>
      </p:nvGrpSpPr>
      <p:grpSpPr>
        <a:xfrm>
          <a:off x="0" y="0"/>
          <a:ext cx="0" cy="0"/>
          <a:chOff x="0" y="0"/>
          <a:chExt cx="0" cy="0"/>
        </a:xfrm>
      </p:grpSpPr>
      <p:sp>
        <p:nvSpPr>
          <p:cNvPr id="1814" name="Google Shape;1814;p50"/>
          <p:cNvSpPr txBox="1">
            <a:spLocks noGrp="1"/>
          </p:cNvSpPr>
          <p:nvPr>
            <p:ph type="title"/>
          </p:nvPr>
        </p:nvSpPr>
        <p:spPr>
          <a:xfrm>
            <a:off x="415600" y="377067"/>
            <a:ext cx="11360800" cy="763600"/>
          </a:xfrm>
          <a:prstGeom prst="rect">
            <a:avLst/>
          </a:prstGeom>
        </p:spPr>
        <p:txBody>
          <a:bodyPr spcFirstLastPara="1" vert="horz" wrap="square" lIns="121900" tIns="121900" rIns="121900" bIns="121900" rtlCol="0" anchor="t" anchorCtr="0">
            <a:normAutofit fontScale="90000"/>
          </a:bodyPr>
          <a:lstStyle/>
          <a:p>
            <a:r>
              <a:rPr lang="en" dirty="0"/>
              <a:t>Remarks on Software-Defined Networking (SDN)</a:t>
            </a:r>
            <a:endParaRPr dirty="0"/>
          </a:p>
        </p:txBody>
      </p:sp>
      <p:sp>
        <p:nvSpPr>
          <p:cNvPr id="1815" name="Google Shape;1815;p50"/>
          <p:cNvSpPr txBox="1">
            <a:spLocks noGrp="1"/>
          </p:cNvSpPr>
          <p:nvPr>
            <p:ph type="body" idx="1"/>
          </p:nvPr>
        </p:nvSpPr>
        <p:spPr>
          <a:xfrm>
            <a:off x="415600" y="1536633"/>
            <a:ext cx="11360800" cy="4555200"/>
          </a:xfrm>
          <a:prstGeom prst="rect">
            <a:avLst/>
          </a:prstGeom>
        </p:spPr>
        <p:txBody>
          <a:bodyPr spcFirstLastPara="1" vert="horz" wrap="square" lIns="121900" tIns="121900" rIns="121900" bIns="121900" rtlCol="0" anchor="t" anchorCtr="0">
            <a:normAutofit/>
          </a:bodyPr>
          <a:lstStyle/>
          <a:p>
            <a:pPr>
              <a:buFont typeface="Wingdings" panose="05000000000000000000" pitchFamily="2" charset="2"/>
              <a:buChar char="§"/>
            </a:pPr>
            <a:r>
              <a:rPr lang="en" dirty="0"/>
              <a:t>SDN provides global visibility and direct control</a:t>
            </a:r>
          </a:p>
          <a:p>
            <a:pPr>
              <a:spcBef>
                <a:spcPts val="600"/>
              </a:spcBef>
              <a:buFont typeface="Wingdings" panose="05000000000000000000" pitchFamily="2" charset="2"/>
              <a:buChar char="§"/>
            </a:pPr>
            <a:r>
              <a:rPr lang="en" dirty="0"/>
              <a:t>Generalized forwarding model is one of the enablers</a:t>
            </a:r>
          </a:p>
          <a:p>
            <a:pPr>
              <a:spcBef>
                <a:spcPts val="1333"/>
              </a:spcBef>
              <a:buFont typeface="Wingdings" panose="05000000000000000000" pitchFamily="2" charset="2"/>
              <a:buChar char="§"/>
            </a:pPr>
            <a:r>
              <a:rPr lang="en" dirty="0"/>
              <a:t>Why software-defined? </a:t>
            </a:r>
            <a:endParaRPr dirty="0"/>
          </a:p>
          <a:p>
            <a:pPr>
              <a:spcBef>
                <a:spcPts val="1600"/>
              </a:spcBef>
              <a:buFont typeface="Wingdings" panose="05000000000000000000" pitchFamily="2" charset="2"/>
              <a:buChar char="§"/>
            </a:pPr>
            <a:r>
              <a:rPr lang="en" dirty="0"/>
              <a:t>Because the "software" running on the SDN controller will "define" the behavior of the network</a:t>
            </a:r>
            <a:endParaRPr dirty="0"/>
          </a:p>
          <a:p>
            <a:pPr lvl="1">
              <a:spcBef>
                <a:spcPts val="1600"/>
              </a:spcBef>
              <a:spcAft>
                <a:spcPts val="1600"/>
              </a:spcAft>
              <a:buFont typeface="Wingdings" panose="05000000000000000000" pitchFamily="2" charset="2"/>
              <a:buChar char="§"/>
            </a:pPr>
            <a:r>
              <a:rPr lang="en" dirty="0"/>
              <a:t>As opposed to the interactions of several instances of a distributed protocol. </a:t>
            </a:r>
            <a:endParaRPr dirty="0"/>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F60557-1F67-0C39-A34B-1CAF24E8E180}"/>
              </a:ext>
            </a:extLst>
          </p:cNvPr>
          <p:cNvSpPr>
            <a:spLocks noGrp="1"/>
          </p:cNvSpPr>
          <p:nvPr>
            <p:ph type="title"/>
          </p:nvPr>
        </p:nvSpPr>
        <p:spPr/>
        <p:txBody>
          <a:bodyPr/>
          <a:lstStyle/>
          <a:p>
            <a:r>
              <a:rPr lang="en-US"/>
              <a:t>Make sure you know</a:t>
            </a:r>
          </a:p>
        </p:txBody>
      </p:sp>
      <p:sp>
        <p:nvSpPr>
          <p:cNvPr id="3" name="Content Placeholder 2">
            <a:extLst>
              <a:ext uri="{FF2B5EF4-FFF2-40B4-BE49-F238E27FC236}">
                <a16:creationId xmlns:a16="http://schemas.microsoft.com/office/drawing/2014/main" id="{C7A632DE-1F96-A811-E7EE-C04A0C5215D8}"/>
              </a:ext>
            </a:extLst>
          </p:cNvPr>
          <p:cNvSpPr>
            <a:spLocks noGrp="1"/>
          </p:cNvSpPr>
          <p:nvPr>
            <p:ph sz="half" idx="1"/>
          </p:nvPr>
        </p:nvSpPr>
        <p:spPr>
          <a:xfrm>
            <a:off x="838199" y="1825625"/>
            <a:ext cx="10761618" cy="4351338"/>
          </a:xfrm>
        </p:spPr>
        <p:txBody>
          <a:bodyPr/>
          <a:lstStyle/>
          <a:p>
            <a:r>
              <a:rPr lang="en-US"/>
              <a:t>What generalized forwarding mean </a:t>
            </a:r>
          </a:p>
          <a:p>
            <a:pPr lvl="1"/>
            <a:r>
              <a:rPr lang="en-US"/>
              <a:t>In contrast with (traditional) destination-based forwarding</a:t>
            </a:r>
          </a:p>
          <a:p>
            <a:r>
              <a:rPr lang="en-US"/>
              <a:t>What an OpenFlow flow table looks like and how it is used to process incoming packets</a:t>
            </a:r>
          </a:p>
          <a:p>
            <a:r>
              <a:rPr lang="en-US"/>
              <a:t>How a controller can setup rules in flow tables to determine how packets are processed in the network</a:t>
            </a:r>
          </a:p>
          <a:p>
            <a:r>
              <a:rPr lang="en-US"/>
              <a:t>E.g., given a set of paths for different traffic flows, you should be able to write down the entries in each switch flow table.</a:t>
            </a:r>
          </a:p>
        </p:txBody>
      </p:sp>
    </p:spTree>
    <p:extLst>
      <p:ext uri="{BB962C8B-B14F-4D97-AF65-F5344CB8AC3E}">
        <p14:creationId xmlns:p14="http://schemas.microsoft.com/office/powerpoint/2010/main" val="426242636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87448A-7F3E-C07D-A4E6-5C4BDD43D812}"/>
              </a:ext>
            </a:extLst>
          </p:cNvPr>
          <p:cNvSpPr>
            <a:spLocks noGrp="1"/>
          </p:cNvSpPr>
          <p:nvPr>
            <p:ph type="title"/>
          </p:nvPr>
        </p:nvSpPr>
        <p:spPr>
          <a:xfrm>
            <a:off x="560700" y="55915"/>
            <a:ext cx="10515600" cy="894622"/>
          </a:xfrm>
        </p:spPr>
        <p:txBody>
          <a:bodyPr/>
          <a:lstStyle/>
          <a:p>
            <a:r>
              <a:rPr lang="en-US"/>
              <a:t>SDN/OpenFlow Exercise</a:t>
            </a:r>
          </a:p>
        </p:txBody>
      </p:sp>
      <p:grpSp>
        <p:nvGrpSpPr>
          <p:cNvPr id="5" name="Google Shape;1554;p44">
            <a:extLst>
              <a:ext uri="{FF2B5EF4-FFF2-40B4-BE49-F238E27FC236}">
                <a16:creationId xmlns:a16="http://schemas.microsoft.com/office/drawing/2014/main" id="{E51328C4-FCDD-0C8B-3250-1367A53B07EB}"/>
              </a:ext>
            </a:extLst>
          </p:cNvPr>
          <p:cNvGrpSpPr/>
          <p:nvPr/>
        </p:nvGrpSpPr>
        <p:grpSpPr>
          <a:xfrm>
            <a:off x="9661015" y="3011895"/>
            <a:ext cx="821904" cy="417105"/>
            <a:chOff x="1457325" y="1610325"/>
            <a:chExt cx="1062075" cy="523125"/>
          </a:xfrm>
        </p:grpSpPr>
        <p:sp>
          <p:nvSpPr>
            <p:cNvPr id="6" name="Google Shape;1555;p44">
              <a:extLst>
                <a:ext uri="{FF2B5EF4-FFF2-40B4-BE49-F238E27FC236}">
                  <a16:creationId xmlns:a16="http://schemas.microsoft.com/office/drawing/2014/main" id="{80C07602-43F2-D80B-E35D-E43507183BD0}"/>
                </a:ext>
              </a:extLst>
            </p:cNvPr>
            <p:cNvSpPr/>
            <p:nvPr/>
          </p:nvSpPr>
          <p:spPr>
            <a:xfrm>
              <a:off x="1457325" y="1764750"/>
              <a:ext cx="1062000" cy="368700"/>
            </a:xfrm>
            <a:prstGeom prst="ellipse">
              <a:avLst/>
            </a:prstGeom>
            <a:solidFill>
              <a:srgbClr val="A64D79"/>
            </a:solidFill>
            <a:ln>
              <a:noFill/>
            </a:ln>
          </p:spPr>
          <p:txBody>
            <a:bodyPr spcFirstLastPara="1" wrap="square" lIns="121900" tIns="121900" rIns="121900" bIns="121900" anchor="ctr" anchorCtr="0">
              <a:noAutofit/>
            </a:bodyPr>
            <a:lstStyle/>
            <a:p>
              <a:endParaRPr sz="2400"/>
            </a:p>
          </p:txBody>
        </p:sp>
        <p:sp>
          <p:nvSpPr>
            <p:cNvPr id="7" name="Google Shape;1556;p44">
              <a:extLst>
                <a:ext uri="{FF2B5EF4-FFF2-40B4-BE49-F238E27FC236}">
                  <a16:creationId xmlns:a16="http://schemas.microsoft.com/office/drawing/2014/main" id="{B9E985C9-184C-64C1-D60E-15580343CAEC}"/>
                </a:ext>
              </a:extLst>
            </p:cNvPr>
            <p:cNvSpPr/>
            <p:nvPr/>
          </p:nvSpPr>
          <p:spPr>
            <a:xfrm>
              <a:off x="1457400" y="1794775"/>
              <a:ext cx="1062000" cy="184200"/>
            </a:xfrm>
            <a:prstGeom prst="roundRect">
              <a:avLst>
                <a:gd name="adj" fmla="val 16667"/>
              </a:avLst>
            </a:prstGeom>
            <a:solidFill>
              <a:srgbClr val="A64D79"/>
            </a:solidFill>
            <a:ln>
              <a:noFill/>
            </a:ln>
          </p:spPr>
          <p:txBody>
            <a:bodyPr spcFirstLastPara="1" wrap="square" lIns="121900" tIns="121900" rIns="121900" bIns="121900" anchor="ctr" anchorCtr="0">
              <a:noAutofit/>
            </a:bodyPr>
            <a:lstStyle/>
            <a:p>
              <a:endParaRPr sz="2400"/>
            </a:p>
          </p:txBody>
        </p:sp>
        <p:sp>
          <p:nvSpPr>
            <p:cNvPr id="8" name="Google Shape;1557;p44">
              <a:extLst>
                <a:ext uri="{FF2B5EF4-FFF2-40B4-BE49-F238E27FC236}">
                  <a16:creationId xmlns:a16="http://schemas.microsoft.com/office/drawing/2014/main" id="{8E147404-A94D-038C-9F3B-C24AA6B30EFB}"/>
                </a:ext>
              </a:extLst>
            </p:cNvPr>
            <p:cNvSpPr/>
            <p:nvPr/>
          </p:nvSpPr>
          <p:spPr>
            <a:xfrm>
              <a:off x="1457325" y="1610325"/>
              <a:ext cx="1062000" cy="368700"/>
            </a:xfrm>
            <a:prstGeom prst="ellipse">
              <a:avLst/>
            </a:prstGeom>
            <a:solidFill>
              <a:srgbClr val="A64D79"/>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 name="Google Shape;1558;p44">
              <a:extLst>
                <a:ext uri="{FF2B5EF4-FFF2-40B4-BE49-F238E27FC236}">
                  <a16:creationId xmlns:a16="http://schemas.microsoft.com/office/drawing/2014/main" id="{6FBA5693-AED5-E2D3-9444-8F34B16AFBAB}"/>
                </a:ext>
              </a:extLst>
            </p:cNvPr>
            <p:cNvCxnSpPr/>
            <p:nvPr/>
          </p:nvCxnSpPr>
          <p:spPr>
            <a:xfrm rot="10800000">
              <a:off x="1672638" y="1665994"/>
              <a:ext cx="656400" cy="240300"/>
            </a:xfrm>
            <a:prstGeom prst="straightConnector1">
              <a:avLst/>
            </a:prstGeom>
            <a:noFill/>
            <a:ln w="19050" cap="flat" cmpd="sng">
              <a:solidFill>
                <a:srgbClr val="FFFFFF"/>
              </a:solidFill>
              <a:prstDash val="solid"/>
              <a:round/>
              <a:headEnd type="stealth" w="med" len="med"/>
              <a:tailEnd type="stealth" w="med" len="med"/>
            </a:ln>
          </p:spPr>
        </p:cxnSp>
        <p:cxnSp>
          <p:nvCxnSpPr>
            <p:cNvPr id="10" name="Google Shape;1559;p44">
              <a:extLst>
                <a:ext uri="{FF2B5EF4-FFF2-40B4-BE49-F238E27FC236}">
                  <a16:creationId xmlns:a16="http://schemas.microsoft.com/office/drawing/2014/main" id="{E14FF2C5-A6CC-CF4E-16C1-8B61C3B9BB34}"/>
                </a:ext>
              </a:extLst>
            </p:cNvPr>
            <p:cNvCxnSpPr/>
            <p:nvPr/>
          </p:nvCxnSpPr>
          <p:spPr>
            <a:xfrm flipH="1">
              <a:off x="1664202" y="1687538"/>
              <a:ext cx="634800" cy="201600"/>
            </a:xfrm>
            <a:prstGeom prst="straightConnector1">
              <a:avLst/>
            </a:prstGeom>
            <a:noFill/>
            <a:ln w="19050" cap="flat" cmpd="sng">
              <a:solidFill>
                <a:srgbClr val="FFFFFF"/>
              </a:solidFill>
              <a:prstDash val="solid"/>
              <a:round/>
              <a:headEnd type="stealth" w="med" len="med"/>
              <a:tailEnd type="stealth" w="med" len="med"/>
            </a:ln>
          </p:spPr>
        </p:cxnSp>
      </p:grpSp>
      <p:grpSp>
        <p:nvGrpSpPr>
          <p:cNvPr id="11" name="Google Shape;1554;p44">
            <a:extLst>
              <a:ext uri="{FF2B5EF4-FFF2-40B4-BE49-F238E27FC236}">
                <a16:creationId xmlns:a16="http://schemas.microsoft.com/office/drawing/2014/main" id="{C0954363-07F2-17F3-D31A-F0C4B0A5CBB3}"/>
              </a:ext>
            </a:extLst>
          </p:cNvPr>
          <p:cNvGrpSpPr/>
          <p:nvPr/>
        </p:nvGrpSpPr>
        <p:grpSpPr>
          <a:xfrm>
            <a:off x="5848730" y="3043191"/>
            <a:ext cx="821904" cy="417105"/>
            <a:chOff x="1457325" y="1610325"/>
            <a:chExt cx="1062075" cy="523125"/>
          </a:xfrm>
        </p:grpSpPr>
        <p:sp>
          <p:nvSpPr>
            <p:cNvPr id="12" name="Google Shape;1555;p44">
              <a:extLst>
                <a:ext uri="{FF2B5EF4-FFF2-40B4-BE49-F238E27FC236}">
                  <a16:creationId xmlns:a16="http://schemas.microsoft.com/office/drawing/2014/main" id="{1008E675-DB28-7322-2CCB-212CA1A78186}"/>
                </a:ext>
              </a:extLst>
            </p:cNvPr>
            <p:cNvSpPr/>
            <p:nvPr/>
          </p:nvSpPr>
          <p:spPr>
            <a:xfrm>
              <a:off x="1457325" y="1764750"/>
              <a:ext cx="1062000" cy="368700"/>
            </a:xfrm>
            <a:prstGeom prst="ellipse">
              <a:avLst/>
            </a:prstGeom>
            <a:solidFill>
              <a:srgbClr val="A64D79"/>
            </a:solidFill>
            <a:ln>
              <a:noFill/>
            </a:ln>
          </p:spPr>
          <p:txBody>
            <a:bodyPr spcFirstLastPara="1" wrap="square" lIns="121900" tIns="121900" rIns="121900" bIns="121900" anchor="ctr" anchorCtr="0">
              <a:noAutofit/>
            </a:bodyPr>
            <a:lstStyle/>
            <a:p>
              <a:endParaRPr sz="2400"/>
            </a:p>
          </p:txBody>
        </p:sp>
        <p:sp>
          <p:nvSpPr>
            <p:cNvPr id="13" name="Google Shape;1556;p44">
              <a:extLst>
                <a:ext uri="{FF2B5EF4-FFF2-40B4-BE49-F238E27FC236}">
                  <a16:creationId xmlns:a16="http://schemas.microsoft.com/office/drawing/2014/main" id="{2F326323-78FB-B6AA-075F-F8BAF819C54E}"/>
                </a:ext>
              </a:extLst>
            </p:cNvPr>
            <p:cNvSpPr/>
            <p:nvPr/>
          </p:nvSpPr>
          <p:spPr>
            <a:xfrm>
              <a:off x="1457400" y="1794775"/>
              <a:ext cx="1062000" cy="184200"/>
            </a:xfrm>
            <a:prstGeom prst="roundRect">
              <a:avLst>
                <a:gd name="adj" fmla="val 16667"/>
              </a:avLst>
            </a:prstGeom>
            <a:solidFill>
              <a:srgbClr val="A64D79"/>
            </a:solidFill>
            <a:ln>
              <a:noFill/>
            </a:ln>
          </p:spPr>
          <p:txBody>
            <a:bodyPr spcFirstLastPara="1" wrap="square" lIns="121900" tIns="121900" rIns="121900" bIns="121900" anchor="ctr" anchorCtr="0">
              <a:noAutofit/>
            </a:bodyPr>
            <a:lstStyle/>
            <a:p>
              <a:endParaRPr sz="2400"/>
            </a:p>
          </p:txBody>
        </p:sp>
        <p:sp>
          <p:nvSpPr>
            <p:cNvPr id="14" name="Google Shape;1557;p44">
              <a:extLst>
                <a:ext uri="{FF2B5EF4-FFF2-40B4-BE49-F238E27FC236}">
                  <a16:creationId xmlns:a16="http://schemas.microsoft.com/office/drawing/2014/main" id="{3FA3D2EF-EA8E-51AC-F8EE-2FCC3EF2F1AD}"/>
                </a:ext>
              </a:extLst>
            </p:cNvPr>
            <p:cNvSpPr/>
            <p:nvPr/>
          </p:nvSpPr>
          <p:spPr>
            <a:xfrm>
              <a:off x="1457325" y="1610325"/>
              <a:ext cx="1062000" cy="368700"/>
            </a:xfrm>
            <a:prstGeom prst="ellipse">
              <a:avLst/>
            </a:prstGeom>
            <a:solidFill>
              <a:srgbClr val="A64D79"/>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15" name="Google Shape;1558;p44">
              <a:extLst>
                <a:ext uri="{FF2B5EF4-FFF2-40B4-BE49-F238E27FC236}">
                  <a16:creationId xmlns:a16="http://schemas.microsoft.com/office/drawing/2014/main" id="{0E1465EB-69CA-98AE-A04B-11B8C3F16FAB}"/>
                </a:ext>
              </a:extLst>
            </p:cNvPr>
            <p:cNvCxnSpPr/>
            <p:nvPr/>
          </p:nvCxnSpPr>
          <p:spPr>
            <a:xfrm rot="10800000">
              <a:off x="1672638" y="1665994"/>
              <a:ext cx="656400" cy="240300"/>
            </a:xfrm>
            <a:prstGeom prst="straightConnector1">
              <a:avLst/>
            </a:prstGeom>
            <a:noFill/>
            <a:ln w="19050" cap="flat" cmpd="sng">
              <a:solidFill>
                <a:srgbClr val="FFFFFF"/>
              </a:solidFill>
              <a:prstDash val="solid"/>
              <a:round/>
              <a:headEnd type="stealth" w="med" len="med"/>
              <a:tailEnd type="stealth" w="med" len="med"/>
            </a:ln>
          </p:spPr>
        </p:cxnSp>
        <p:cxnSp>
          <p:nvCxnSpPr>
            <p:cNvPr id="16" name="Google Shape;1559;p44">
              <a:extLst>
                <a:ext uri="{FF2B5EF4-FFF2-40B4-BE49-F238E27FC236}">
                  <a16:creationId xmlns:a16="http://schemas.microsoft.com/office/drawing/2014/main" id="{E5712356-50BE-5CA9-A456-964742D0412B}"/>
                </a:ext>
              </a:extLst>
            </p:cNvPr>
            <p:cNvCxnSpPr/>
            <p:nvPr/>
          </p:nvCxnSpPr>
          <p:spPr>
            <a:xfrm flipH="1">
              <a:off x="1664202" y="1687538"/>
              <a:ext cx="634800" cy="201600"/>
            </a:xfrm>
            <a:prstGeom prst="straightConnector1">
              <a:avLst/>
            </a:prstGeom>
            <a:noFill/>
            <a:ln w="19050" cap="flat" cmpd="sng">
              <a:solidFill>
                <a:srgbClr val="FFFFFF"/>
              </a:solidFill>
              <a:prstDash val="solid"/>
              <a:round/>
              <a:headEnd type="stealth" w="med" len="med"/>
              <a:tailEnd type="stealth" w="med" len="med"/>
            </a:ln>
          </p:spPr>
        </p:cxnSp>
      </p:grpSp>
      <p:grpSp>
        <p:nvGrpSpPr>
          <p:cNvPr id="17" name="Google Shape;1554;p44">
            <a:extLst>
              <a:ext uri="{FF2B5EF4-FFF2-40B4-BE49-F238E27FC236}">
                <a16:creationId xmlns:a16="http://schemas.microsoft.com/office/drawing/2014/main" id="{2CDD8BC1-30C8-1664-07B1-6D2224BF5E73}"/>
              </a:ext>
            </a:extLst>
          </p:cNvPr>
          <p:cNvGrpSpPr/>
          <p:nvPr/>
        </p:nvGrpSpPr>
        <p:grpSpPr>
          <a:xfrm>
            <a:off x="7779498" y="4033955"/>
            <a:ext cx="821904" cy="417105"/>
            <a:chOff x="1457325" y="1610325"/>
            <a:chExt cx="1062075" cy="523125"/>
          </a:xfrm>
        </p:grpSpPr>
        <p:sp>
          <p:nvSpPr>
            <p:cNvPr id="18" name="Google Shape;1555;p44">
              <a:extLst>
                <a:ext uri="{FF2B5EF4-FFF2-40B4-BE49-F238E27FC236}">
                  <a16:creationId xmlns:a16="http://schemas.microsoft.com/office/drawing/2014/main" id="{A8DE713D-F023-1AE7-B3EE-8271EF5A0172}"/>
                </a:ext>
              </a:extLst>
            </p:cNvPr>
            <p:cNvSpPr/>
            <p:nvPr/>
          </p:nvSpPr>
          <p:spPr>
            <a:xfrm>
              <a:off x="1457325" y="1764750"/>
              <a:ext cx="1062000" cy="368700"/>
            </a:xfrm>
            <a:prstGeom prst="ellipse">
              <a:avLst/>
            </a:prstGeom>
            <a:solidFill>
              <a:srgbClr val="A64D79"/>
            </a:solidFill>
            <a:ln>
              <a:noFill/>
            </a:ln>
          </p:spPr>
          <p:txBody>
            <a:bodyPr spcFirstLastPara="1" wrap="square" lIns="121900" tIns="121900" rIns="121900" bIns="121900" anchor="ctr" anchorCtr="0">
              <a:noAutofit/>
            </a:bodyPr>
            <a:lstStyle/>
            <a:p>
              <a:endParaRPr sz="2400"/>
            </a:p>
          </p:txBody>
        </p:sp>
        <p:sp>
          <p:nvSpPr>
            <p:cNvPr id="19" name="Google Shape;1556;p44">
              <a:extLst>
                <a:ext uri="{FF2B5EF4-FFF2-40B4-BE49-F238E27FC236}">
                  <a16:creationId xmlns:a16="http://schemas.microsoft.com/office/drawing/2014/main" id="{FA4154BA-91DF-77CB-0BD5-105753510245}"/>
                </a:ext>
              </a:extLst>
            </p:cNvPr>
            <p:cNvSpPr/>
            <p:nvPr/>
          </p:nvSpPr>
          <p:spPr>
            <a:xfrm>
              <a:off x="1457400" y="1794775"/>
              <a:ext cx="1062000" cy="184200"/>
            </a:xfrm>
            <a:prstGeom prst="roundRect">
              <a:avLst>
                <a:gd name="adj" fmla="val 16667"/>
              </a:avLst>
            </a:prstGeom>
            <a:solidFill>
              <a:srgbClr val="A64D79"/>
            </a:solidFill>
            <a:ln>
              <a:noFill/>
            </a:ln>
          </p:spPr>
          <p:txBody>
            <a:bodyPr spcFirstLastPara="1" wrap="square" lIns="121900" tIns="121900" rIns="121900" bIns="121900" anchor="ctr" anchorCtr="0">
              <a:noAutofit/>
            </a:bodyPr>
            <a:lstStyle/>
            <a:p>
              <a:endParaRPr sz="2400"/>
            </a:p>
          </p:txBody>
        </p:sp>
        <p:sp>
          <p:nvSpPr>
            <p:cNvPr id="20" name="Google Shape;1557;p44">
              <a:extLst>
                <a:ext uri="{FF2B5EF4-FFF2-40B4-BE49-F238E27FC236}">
                  <a16:creationId xmlns:a16="http://schemas.microsoft.com/office/drawing/2014/main" id="{B0E914D5-2FA2-7C6A-7BB3-5BAFEE025C3B}"/>
                </a:ext>
              </a:extLst>
            </p:cNvPr>
            <p:cNvSpPr/>
            <p:nvPr/>
          </p:nvSpPr>
          <p:spPr>
            <a:xfrm>
              <a:off x="1457325" y="1610325"/>
              <a:ext cx="1062000" cy="368700"/>
            </a:xfrm>
            <a:prstGeom prst="ellipse">
              <a:avLst/>
            </a:prstGeom>
            <a:solidFill>
              <a:srgbClr val="A64D79"/>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21" name="Google Shape;1558;p44">
              <a:extLst>
                <a:ext uri="{FF2B5EF4-FFF2-40B4-BE49-F238E27FC236}">
                  <a16:creationId xmlns:a16="http://schemas.microsoft.com/office/drawing/2014/main" id="{450B9ADF-3A1F-FE69-987F-C3512039514B}"/>
                </a:ext>
              </a:extLst>
            </p:cNvPr>
            <p:cNvCxnSpPr/>
            <p:nvPr/>
          </p:nvCxnSpPr>
          <p:spPr>
            <a:xfrm rot="10800000">
              <a:off x="1672638" y="1665994"/>
              <a:ext cx="656400" cy="240300"/>
            </a:xfrm>
            <a:prstGeom prst="straightConnector1">
              <a:avLst/>
            </a:prstGeom>
            <a:noFill/>
            <a:ln w="19050" cap="flat" cmpd="sng">
              <a:solidFill>
                <a:srgbClr val="FFFFFF"/>
              </a:solidFill>
              <a:prstDash val="solid"/>
              <a:round/>
              <a:headEnd type="stealth" w="med" len="med"/>
              <a:tailEnd type="stealth" w="med" len="med"/>
            </a:ln>
          </p:spPr>
        </p:cxnSp>
        <p:cxnSp>
          <p:nvCxnSpPr>
            <p:cNvPr id="22" name="Google Shape;1559;p44">
              <a:extLst>
                <a:ext uri="{FF2B5EF4-FFF2-40B4-BE49-F238E27FC236}">
                  <a16:creationId xmlns:a16="http://schemas.microsoft.com/office/drawing/2014/main" id="{95C10131-EE23-0E2D-14AF-461714837676}"/>
                </a:ext>
              </a:extLst>
            </p:cNvPr>
            <p:cNvCxnSpPr/>
            <p:nvPr/>
          </p:nvCxnSpPr>
          <p:spPr>
            <a:xfrm flipH="1">
              <a:off x="1664202" y="1687538"/>
              <a:ext cx="634800" cy="201600"/>
            </a:xfrm>
            <a:prstGeom prst="straightConnector1">
              <a:avLst/>
            </a:prstGeom>
            <a:noFill/>
            <a:ln w="19050" cap="flat" cmpd="sng">
              <a:solidFill>
                <a:srgbClr val="FFFFFF"/>
              </a:solidFill>
              <a:prstDash val="solid"/>
              <a:round/>
              <a:headEnd type="stealth" w="med" len="med"/>
              <a:tailEnd type="stealth" w="med" len="med"/>
            </a:ln>
          </p:spPr>
        </p:cxnSp>
      </p:grpSp>
      <p:grpSp>
        <p:nvGrpSpPr>
          <p:cNvPr id="23" name="Google Shape;1554;p44">
            <a:extLst>
              <a:ext uri="{FF2B5EF4-FFF2-40B4-BE49-F238E27FC236}">
                <a16:creationId xmlns:a16="http://schemas.microsoft.com/office/drawing/2014/main" id="{B9E73B6E-578D-7724-88F3-E63AB4A8C656}"/>
              </a:ext>
            </a:extLst>
          </p:cNvPr>
          <p:cNvGrpSpPr/>
          <p:nvPr/>
        </p:nvGrpSpPr>
        <p:grpSpPr>
          <a:xfrm>
            <a:off x="7780714" y="1994212"/>
            <a:ext cx="821904" cy="417105"/>
            <a:chOff x="1457325" y="1610325"/>
            <a:chExt cx="1062075" cy="523125"/>
          </a:xfrm>
        </p:grpSpPr>
        <p:sp>
          <p:nvSpPr>
            <p:cNvPr id="24" name="Google Shape;1555;p44">
              <a:extLst>
                <a:ext uri="{FF2B5EF4-FFF2-40B4-BE49-F238E27FC236}">
                  <a16:creationId xmlns:a16="http://schemas.microsoft.com/office/drawing/2014/main" id="{1232B494-60B9-E812-286C-1AC4F16768FE}"/>
                </a:ext>
              </a:extLst>
            </p:cNvPr>
            <p:cNvSpPr/>
            <p:nvPr/>
          </p:nvSpPr>
          <p:spPr>
            <a:xfrm>
              <a:off x="1457325" y="1764750"/>
              <a:ext cx="1062000" cy="368700"/>
            </a:xfrm>
            <a:prstGeom prst="ellipse">
              <a:avLst/>
            </a:prstGeom>
            <a:solidFill>
              <a:srgbClr val="A64D79"/>
            </a:solidFill>
            <a:ln>
              <a:noFill/>
            </a:ln>
          </p:spPr>
          <p:txBody>
            <a:bodyPr spcFirstLastPara="1" wrap="square" lIns="121900" tIns="121900" rIns="121900" bIns="121900" anchor="ctr" anchorCtr="0">
              <a:noAutofit/>
            </a:bodyPr>
            <a:lstStyle/>
            <a:p>
              <a:endParaRPr sz="2400"/>
            </a:p>
          </p:txBody>
        </p:sp>
        <p:sp>
          <p:nvSpPr>
            <p:cNvPr id="25" name="Google Shape;1556;p44">
              <a:extLst>
                <a:ext uri="{FF2B5EF4-FFF2-40B4-BE49-F238E27FC236}">
                  <a16:creationId xmlns:a16="http://schemas.microsoft.com/office/drawing/2014/main" id="{D79E5BDD-2087-3DDB-2932-29173B442568}"/>
                </a:ext>
              </a:extLst>
            </p:cNvPr>
            <p:cNvSpPr/>
            <p:nvPr/>
          </p:nvSpPr>
          <p:spPr>
            <a:xfrm>
              <a:off x="1457400" y="1794775"/>
              <a:ext cx="1062000" cy="184200"/>
            </a:xfrm>
            <a:prstGeom prst="roundRect">
              <a:avLst>
                <a:gd name="adj" fmla="val 16667"/>
              </a:avLst>
            </a:prstGeom>
            <a:solidFill>
              <a:srgbClr val="A64D79"/>
            </a:solidFill>
            <a:ln>
              <a:noFill/>
            </a:ln>
          </p:spPr>
          <p:txBody>
            <a:bodyPr spcFirstLastPara="1" wrap="square" lIns="121900" tIns="121900" rIns="121900" bIns="121900" anchor="ctr" anchorCtr="0">
              <a:noAutofit/>
            </a:bodyPr>
            <a:lstStyle/>
            <a:p>
              <a:endParaRPr sz="2400"/>
            </a:p>
          </p:txBody>
        </p:sp>
        <p:sp>
          <p:nvSpPr>
            <p:cNvPr id="26" name="Google Shape;1557;p44">
              <a:extLst>
                <a:ext uri="{FF2B5EF4-FFF2-40B4-BE49-F238E27FC236}">
                  <a16:creationId xmlns:a16="http://schemas.microsoft.com/office/drawing/2014/main" id="{CF4DEE30-AE3A-5C20-6B44-5DEF89893E9F}"/>
                </a:ext>
              </a:extLst>
            </p:cNvPr>
            <p:cNvSpPr/>
            <p:nvPr/>
          </p:nvSpPr>
          <p:spPr>
            <a:xfrm>
              <a:off x="1457325" y="1610325"/>
              <a:ext cx="1062000" cy="368700"/>
            </a:xfrm>
            <a:prstGeom prst="ellipse">
              <a:avLst/>
            </a:prstGeom>
            <a:solidFill>
              <a:srgbClr val="A64D79"/>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27" name="Google Shape;1558;p44">
              <a:extLst>
                <a:ext uri="{FF2B5EF4-FFF2-40B4-BE49-F238E27FC236}">
                  <a16:creationId xmlns:a16="http://schemas.microsoft.com/office/drawing/2014/main" id="{65D8F576-124E-AC09-CA0C-95CDFD2D26AA}"/>
                </a:ext>
              </a:extLst>
            </p:cNvPr>
            <p:cNvCxnSpPr/>
            <p:nvPr/>
          </p:nvCxnSpPr>
          <p:spPr>
            <a:xfrm rot="10800000">
              <a:off x="1672638" y="1665994"/>
              <a:ext cx="656400" cy="240300"/>
            </a:xfrm>
            <a:prstGeom prst="straightConnector1">
              <a:avLst/>
            </a:prstGeom>
            <a:noFill/>
            <a:ln w="19050" cap="flat" cmpd="sng">
              <a:solidFill>
                <a:srgbClr val="FFFFFF"/>
              </a:solidFill>
              <a:prstDash val="solid"/>
              <a:round/>
              <a:headEnd type="stealth" w="med" len="med"/>
              <a:tailEnd type="stealth" w="med" len="med"/>
            </a:ln>
          </p:spPr>
        </p:cxnSp>
        <p:cxnSp>
          <p:nvCxnSpPr>
            <p:cNvPr id="28" name="Google Shape;1559;p44">
              <a:extLst>
                <a:ext uri="{FF2B5EF4-FFF2-40B4-BE49-F238E27FC236}">
                  <a16:creationId xmlns:a16="http://schemas.microsoft.com/office/drawing/2014/main" id="{4D7A682E-0C2E-8E61-692E-D09425C52AFE}"/>
                </a:ext>
              </a:extLst>
            </p:cNvPr>
            <p:cNvCxnSpPr/>
            <p:nvPr/>
          </p:nvCxnSpPr>
          <p:spPr>
            <a:xfrm flipH="1">
              <a:off x="1664202" y="1687538"/>
              <a:ext cx="634800" cy="201600"/>
            </a:xfrm>
            <a:prstGeom prst="straightConnector1">
              <a:avLst/>
            </a:prstGeom>
            <a:noFill/>
            <a:ln w="19050" cap="flat" cmpd="sng">
              <a:solidFill>
                <a:srgbClr val="FFFFFF"/>
              </a:solidFill>
              <a:prstDash val="solid"/>
              <a:round/>
              <a:headEnd type="stealth" w="med" len="med"/>
              <a:tailEnd type="stealth" w="med" len="med"/>
            </a:ln>
          </p:spPr>
        </p:cxnSp>
      </p:grpSp>
      <p:grpSp>
        <p:nvGrpSpPr>
          <p:cNvPr id="29" name="Google Shape;1554;p44">
            <a:extLst>
              <a:ext uri="{FF2B5EF4-FFF2-40B4-BE49-F238E27FC236}">
                <a16:creationId xmlns:a16="http://schemas.microsoft.com/office/drawing/2014/main" id="{676E3483-6287-8427-D2A4-B408D42597D9}"/>
              </a:ext>
            </a:extLst>
          </p:cNvPr>
          <p:cNvGrpSpPr/>
          <p:nvPr/>
        </p:nvGrpSpPr>
        <p:grpSpPr>
          <a:xfrm>
            <a:off x="7773222" y="3027060"/>
            <a:ext cx="821904" cy="417105"/>
            <a:chOff x="1457325" y="1610325"/>
            <a:chExt cx="1062075" cy="523125"/>
          </a:xfrm>
        </p:grpSpPr>
        <p:sp>
          <p:nvSpPr>
            <p:cNvPr id="30" name="Google Shape;1555;p44">
              <a:extLst>
                <a:ext uri="{FF2B5EF4-FFF2-40B4-BE49-F238E27FC236}">
                  <a16:creationId xmlns:a16="http://schemas.microsoft.com/office/drawing/2014/main" id="{20D146CA-66AA-35B6-78A8-B92F6663856C}"/>
                </a:ext>
              </a:extLst>
            </p:cNvPr>
            <p:cNvSpPr/>
            <p:nvPr/>
          </p:nvSpPr>
          <p:spPr>
            <a:xfrm>
              <a:off x="1457325" y="1764750"/>
              <a:ext cx="1062000" cy="368700"/>
            </a:xfrm>
            <a:prstGeom prst="ellipse">
              <a:avLst/>
            </a:prstGeom>
            <a:solidFill>
              <a:srgbClr val="A64D79"/>
            </a:solidFill>
            <a:ln>
              <a:noFill/>
            </a:ln>
          </p:spPr>
          <p:txBody>
            <a:bodyPr spcFirstLastPara="1" wrap="square" lIns="121900" tIns="121900" rIns="121900" bIns="121900" anchor="ctr" anchorCtr="0">
              <a:noAutofit/>
            </a:bodyPr>
            <a:lstStyle/>
            <a:p>
              <a:endParaRPr sz="2400"/>
            </a:p>
          </p:txBody>
        </p:sp>
        <p:sp>
          <p:nvSpPr>
            <p:cNvPr id="31" name="Google Shape;1556;p44">
              <a:extLst>
                <a:ext uri="{FF2B5EF4-FFF2-40B4-BE49-F238E27FC236}">
                  <a16:creationId xmlns:a16="http://schemas.microsoft.com/office/drawing/2014/main" id="{8CC63E13-A12A-713A-2C74-2D7813432C18}"/>
                </a:ext>
              </a:extLst>
            </p:cNvPr>
            <p:cNvSpPr/>
            <p:nvPr/>
          </p:nvSpPr>
          <p:spPr>
            <a:xfrm>
              <a:off x="1457400" y="1794775"/>
              <a:ext cx="1062000" cy="184200"/>
            </a:xfrm>
            <a:prstGeom prst="roundRect">
              <a:avLst>
                <a:gd name="adj" fmla="val 16667"/>
              </a:avLst>
            </a:prstGeom>
            <a:solidFill>
              <a:srgbClr val="A64D79"/>
            </a:solidFill>
            <a:ln>
              <a:noFill/>
            </a:ln>
          </p:spPr>
          <p:txBody>
            <a:bodyPr spcFirstLastPara="1" wrap="square" lIns="121900" tIns="121900" rIns="121900" bIns="121900" anchor="ctr" anchorCtr="0">
              <a:noAutofit/>
            </a:bodyPr>
            <a:lstStyle/>
            <a:p>
              <a:endParaRPr sz="2400"/>
            </a:p>
          </p:txBody>
        </p:sp>
        <p:sp>
          <p:nvSpPr>
            <p:cNvPr id="32" name="Google Shape;1557;p44">
              <a:extLst>
                <a:ext uri="{FF2B5EF4-FFF2-40B4-BE49-F238E27FC236}">
                  <a16:creationId xmlns:a16="http://schemas.microsoft.com/office/drawing/2014/main" id="{DA768854-2FED-3D8E-DA79-1CE701FAF53A}"/>
                </a:ext>
              </a:extLst>
            </p:cNvPr>
            <p:cNvSpPr/>
            <p:nvPr/>
          </p:nvSpPr>
          <p:spPr>
            <a:xfrm>
              <a:off x="1457325" y="1610325"/>
              <a:ext cx="1062000" cy="368700"/>
            </a:xfrm>
            <a:prstGeom prst="ellipse">
              <a:avLst/>
            </a:prstGeom>
            <a:solidFill>
              <a:srgbClr val="A64D79"/>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33" name="Google Shape;1558;p44">
              <a:extLst>
                <a:ext uri="{FF2B5EF4-FFF2-40B4-BE49-F238E27FC236}">
                  <a16:creationId xmlns:a16="http://schemas.microsoft.com/office/drawing/2014/main" id="{7A66526F-83E1-9974-4914-933C7DCEB7E2}"/>
                </a:ext>
              </a:extLst>
            </p:cNvPr>
            <p:cNvCxnSpPr/>
            <p:nvPr/>
          </p:nvCxnSpPr>
          <p:spPr>
            <a:xfrm rot="10800000">
              <a:off x="1672638" y="1665994"/>
              <a:ext cx="656400" cy="240300"/>
            </a:xfrm>
            <a:prstGeom prst="straightConnector1">
              <a:avLst/>
            </a:prstGeom>
            <a:noFill/>
            <a:ln w="19050" cap="flat" cmpd="sng">
              <a:solidFill>
                <a:srgbClr val="FFFFFF"/>
              </a:solidFill>
              <a:prstDash val="solid"/>
              <a:round/>
              <a:headEnd type="stealth" w="med" len="med"/>
              <a:tailEnd type="stealth" w="med" len="med"/>
            </a:ln>
          </p:spPr>
        </p:cxnSp>
        <p:cxnSp>
          <p:nvCxnSpPr>
            <p:cNvPr id="34" name="Google Shape;1559;p44">
              <a:extLst>
                <a:ext uri="{FF2B5EF4-FFF2-40B4-BE49-F238E27FC236}">
                  <a16:creationId xmlns:a16="http://schemas.microsoft.com/office/drawing/2014/main" id="{D104E214-D196-B0B9-A625-6DB88E7AAE18}"/>
                </a:ext>
              </a:extLst>
            </p:cNvPr>
            <p:cNvCxnSpPr/>
            <p:nvPr/>
          </p:nvCxnSpPr>
          <p:spPr>
            <a:xfrm flipH="1">
              <a:off x="1664202" y="1687537"/>
              <a:ext cx="634800" cy="201599"/>
            </a:xfrm>
            <a:prstGeom prst="straightConnector1">
              <a:avLst/>
            </a:prstGeom>
            <a:noFill/>
            <a:ln w="19050" cap="flat" cmpd="sng">
              <a:solidFill>
                <a:srgbClr val="FFFFFF"/>
              </a:solidFill>
              <a:prstDash val="solid"/>
              <a:round/>
              <a:headEnd type="stealth" w="med" len="med"/>
              <a:tailEnd type="stealth" w="med" len="med"/>
            </a:ln>
          </p:spPr>
        </p:cxnSp>
      </p:grpSp>
      <p:cxnSp>
        <p:nvCxnSpPr>
          <p:cNvPr id="36" name="Straight Connector 35">
            <a:extLst>
              <a:ext uri="{FF2B5EF4-FFF2-40B4-BE49-F238E27FC236}">
                <a16:creationId xmlns:a16="http://schemas.microsoft.com/office/drawing/2014/main" id="{511FAC75-DC1B-6C07-2E39-B65341C5C0D6}"/>
              </a:ext>
            </a:extLst>
          </p:cNvPr>
          <p:cNvCxnSpPr>
            <a:stCxn id="24" idx="2"/>
            <a:endCxn id="14" idx="7"/>
          </p:cNvCxnSpPr>
          <p:nvPr/>
        </p:nvCxnSpPr>
        <p:spPr>
          <a:xfrm flipH="1">
            <a:off x="6550219" y="2264329"/>
            <a:ext cx="1230495" cy="821914"/>
          </a:xfrm>
          <a:prstGeom prst="line">
            <a:avLst/>
          </a:prstGeom>
          <a:ln w="28575"/>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F6CA3252-FA71-D51E-FDB0-5C598E80A2E7}"/>
              </a:ext>
            </a:extLst>
          </p:cNvPr>
          <p:cNvCxnSpPr>
            <a:cxnSpLocks/>
            <a:stCxn id="20" idx="2"/>
            <a:endCxn id="12" idx="5"/>
          </p:cNvCxnSpPr>
          <p:nvPr/>
        </p:nvCxnSpPr>
        <p:spPr>
          <a:xfrm flipH="1" flipV="1">
            <a:off x="6550219" y="3417244"/>
            <a:ext cx="1229279" cy="763700"/>
          </a:xfrm>
          <a:prstGeom prst="line">
            <a:avLst/>
          </a:prstGeom>
          <a:ln w="28575"/>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10079DE5-1DF2-65F0-C81D-AA5739A1649D}"/>
              </a:ext>
            </a:extLst>
          </p:cNvPr>
          <p:cNvCxnSpPr>
            <a:cxnSpLocks/>
            <a:stCxn id="6" idx="4"/>
            <a:endCxn id="20" idx="6"/>
          </p:cNvCxnSpPr>
          <p:nvPr/>
        </p:nvCxnSpPr>
        <p:spPr>
          <a:xfrm flipH="1">
            <a:off x="8601344" y="3429000"/>
            <a:ext cx="1470594" cy="751944"/>
          </a:xfrm>
          <a:prstGeom prst="line">
            <a:avLst/>
          </a:prstGeom>
          <a:ln w="28575"/>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D5829FE6-4B6C-0835-F445-BEB874B2F394}"/>
              </a:ext>
            </a:extLst>
          </p:cNvPr>
          <p:cNvCxnSpPr>
            <a:cxnSpLocks/>
            <a:stCxn id="8" idx="1"/>
          </p:cNvCxnSpPr>
          <p:nvPr/>
        </p:nvCxnSpPr>
        <p:spPr>
          <a:xfrm flipH="1" flipV="1">
            <a:off x="8585187" y="2257925"/>
            <a:ext cx="1196185" cy="797022"/>
          </a:xfrm>
          <a:prstGeom prst="line">
            <a:avLst/>
          </a:prstGeom>
          <a:ln w="28575"/>
        </p:spPr>
        <p:style>
          <a:lnRef idx="1">
            <a:schemeClr val="dk1"/>
          </a:lnRef>
          <a:fillRef idx="0">
            <a:schemeClr val="dk1"/>
          </a:fillRef>
          <a:effectRef idx="0">
            <a:schemeClr val="dk1"/>
          </a:effectRef>
          <a:fontRef idx="minor">
            <a:schemeClr val="tx1"/>
          </a:fontRef>
        </p:style>
      </p:cxnSp>
      <p:cxnSp>
        <p:nvCxnSpPr>
          <p:cNvPr id="44" name="Straight Connector 43">
            <a:extLst>
              <a:ext uri="{FF2B5EF4-FFF2-40B4-BE49-F238E27FC236}">
                <a16:creationId xmlns:a16="http://schemas.microsoft.com/office/drawing/2014/main" id="{B882F906-9030-26C4-FA54-D4296C3BEC95}"/>
              </a:ext>
            </a:extLst>
          </p:cNvPr>
          <p:cNvCxnSpPr>
            <a:cxnSpLocks/>
            <a:stCxn id="24" idx="4"/>
            <a:endCxn id="32" idx="0"/>
          </p:cNvCxnSpPr>
          <p:nvPr/>
        </p:nvCxnSpPr>
        <p:spPr>
          <a:xfrm flipH="1">
            <a:off x="8184145" y="2411317"/>
            <a:ext cx="7492" cy="615743"/>
          </a:xfrm>
          <a:prstGeom prst="line">
            <a:avLst/>
          </a:prstGeom>
          <a:ln w="28575"/>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BF8E8605-ED96-4C71-9FB2-6E3C9298298B}"/>
              </a:ext>
            </a:extLst>
          </p:cNvPr>
          <p:cNvCxnSpPr>
            <a:cxnSpLocks/>
            <a:stCxn id="30" idx="4"/>
            <a:endCxn id="20" idx="0"/>
          </p:cNvCxnSpPr>
          <p:nvPr/>
        </p:nvCxnSpPr>
        <p:spPr>
          <a:xfrm>
            <a:off x="8184145" y="3444165"/>
            <a:ext cx="6276" cy="589790"/>
          </a:xfrm>
          <a:prstGeom prst="line">
            <a:avLst/>
          </a:prstGeom>
          <a:ln w="28575"/>
        </p:spPr>
        <p:style>
          <a:lnRef idx="1">
            <a:schemeClr val="dk1"/>
          </a:lnRef>
          <a:fillRef idx="0">
            <a:schemeClr val="dk1"/>
          </a:fillRef>
          <a:effectRef idx="0">
            <a:schemeClr val="dk1"/>
          </a:effectRef>
          <a:fontRef idx="minor">
            <a:schemeClr val="tx1"/>
          </a:fontRef>
        </p:style>
      </p:cxnSp>
      <p:grpSp>
        <p:nvGrpSpPr>
          <p:cNvPr id="51" name="Google Shape;1777;p49">
            <a:extLst>
              <a:ext uri="{FF2B5EF4-FFF2-40B4-BE49-F238E27FC236}">
                <a16:creationId xmlns:a16="http://schemas.microsoft.com/office/drawing/2014/main" id="{22929EC6-4E23-5D6B-CCD6-0A6C15B1E544}"/>
              </a:ext>
            </a:extLst>
          </p:cNvPr>
          <p:cNvGrpSpPr/>
          <p:nvPr/>
        </p:nvGrpSpPr>
        <p:grpSpPr>
          <a:xfrm>
            <a:off x="4623347" y="2889522"/>
            <a:ext cx="821952" cy="521332"/>
            <a:chOff x="1452425" y="1381125"/>
            <a:chExt cx="840900" cy="533350"/>
          </a:xfrm>
        </p:grpSpPr>
        <p:sp>
          <p:nvSpPr>
            <p:cNvPr id="52" name="Google Shape;1778;p49">
              <a:extLst>
                <a:ext uri="{FF2B5EF4-FFF2-40B4-BE49-F238E27FC236}">
                  <a16:creationId xmlns:a16="http://schemas.microsoft.com/office/drawing/2014/main" id="{55BF4785-C3BC-9019-618B-F124E319A805}"/>
                </a:ext>
              </a:extLst>
            </p:cNvPr>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53" name="Google Shape;1779;p49">
              <a:extLst>
                <a:ext uri="{FF2B5EF4-FFF2-40B4-BE49-F238E27FC236}">
                  <a16:creationId xmlns:a16="http://schemas.microsoft.com/office/drawing/2014/main" id="{024A0DAB-F417-CE01-90C7-94C3441DAA25}"/>
                </a:ext>
              </a:extLst>
            </p:cNvPr>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54" name="Google Shape;1780;p49">
              <a:extLst>
                <a:ext uri="{FF2B5EF4-FFF2-40B4-BE49-F238E27FC236}">
                  <a16:creationId xmlns:a16="http://schemas.microsoft.com/office/drawing/2014/main" id="{5F059540-6D82-32A9-FB86-53C347F7EC5B}"/>
                </a:ext>
              </a:extLst>
            </p:cNvPr>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55" name="Google Shape;1777;p49">
            <a:extLst>
              <a:ext uri="{FF2B5EF4-FFF2-40B4-BE49-F238E27FC236}">
                <a16:creationId xmlns:a16="http://schemas.microsoft.com/office/drawing/2014/main" id="{6BF5ED5A-F21A-1FC3-56B5-935F918079BC}"/>
              </a:ext>
            </a:extLst>
          </p:cNvPr>
          <p:cNvGrpSpPr/>
          <p:nvPr/>
        </p:nvGrpSpPr>
        <p:grpSpPr>
          <a:xfrm>
            <a:off x="10966482" y="2943541"/>
            <a:ext cx="821952" cy="521332"/>
            <a:chOff x="1452425" y="1381125"/>
            <a:chExt cx="840900" cy="533350"/>
          </a:xfrm>
        </p:grpSpPr>
        <p:sp>
          <p:nvSpPr>
            <p:cNvPr id="56" name="Google Shape;1778;p49">
              <a:extLst>
                <a:ext uri="{FF2B5EF4-FFF2-40B4-BE49-F238E27FC236}">
                  <a16:creationId xmlns:a16="http://schemas.microsoft.com/office/drawing/2014/main" id="{45BD0269-F08C-F923-8698-C528F917321D}"/>
                </a:ext>
              </a:extLst>
            </p:cNvPr>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57" name="Google Shape;1779;p49">
              <a:extLst>
                <a:ext uri="{FF2B5EF4-FFF2-40B4-BE49-F238E27FC236}">
                  <a16:creationId xmlns:a16="http://schemas.microsoft.com/office/drawing/2014/main" id="{25C16CFC-6640-95D8-DD8F-424BCFBF8C4C}"/>
                </a:ext>
              </a:extLst>
            </p:cNvPr>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58" name="Google Shape;1780;p49">
              <a:extLst>
                <a:ext uri="{FF2B5EF4-FFF2-40B4-BE49-F238E27FC236}">
                  <a16:creationId xmlns:a16="http://schemas.microsoft.com/office/drawing/2014/main" id="{E1B9010D-8585-EB6C-90E8-3CE0A58FC3B3}"/>
                </a:ext>
              </a:extLst>
            </p:cNvPr>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59" name="Google Shape;1777;p49">
            <a:extLst>
              <a:ext uri="{FF2B5EF4-FFF2-40B4-BE49-F238E27FC236}">
                <a16:creationId xmlns:a16="http://schemas.microsoft.com/office/drawing/2014/main" id="{A1478AE1-4F41-6E3E-FAD9-7A0A09E7CE88}"/>
              </a:ext>
            </a:extLst>
          </p:cNvPr>
          <p:cNvGrpSpPr/>
          <p:nvPr/>
        </p:nvGrpSpPr>
        <p:grpSpPr>
          <a:xfrm>
            <a:off x="7777147" y="1064975"/>
            <a:ext cx="821952" cy="521332"/>
            <a:chOff x="1452425" y="1381125"/>
            <a:chExt cx="840900" cy="533350"/>
          </a:xfrm>
        </p:grpSpPr>
        <p:sp>
          <p:nvSpPr>
            <p:cNvPr id="60" name="Google Shape;1778;p49">
              <a:extLst>
                <a:ext uri="{FF2B5EF4-FFF2-40B4-BE49-F238E27FC236}">
                  <a16:creationId xmlns:a16="http://schemas.microsoft.com/office/drawing/2014/main" id="{0A206B13-38E9-183A-BB68-6EDDC04FD855}"/>
                </a:ext>
              </a:extLst>
            </p:cNvPr>
            <p:cNvSpPr/>
            <p:nvPr/>
          </p:nvSpPr>
          <p:spPr>
            <a:xfrm>
              <a:off x="1452425" y="1464475"/>
              <a:ext cx="840900" cy="450000"/>
            </a:xfrm>
            <a:prstGeom prst="triangle">
              <a:avLst>
                <a:gd name="adj" fmla="val 50000"/>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61" name="Google Shape;1779;p49">
              <a:extLst>
                <a:ext uri="{FF2B5EF4-FFF2-40B4-BE49-F238E27FC236}">
                  <a16:creationId xmlns:a16="http://schemas.microsoft.com/office/drawing/2014/main" id="{65EEF5A9-91B5-024B-4B1F-0EAB52E63B5D}"/>
                </a:ext>
              </a:extLst>
            </p:cNvPr>
            <p:cNvSpPr/>
            <p:nvPr/>
          </p:nvSpPr>
          <p:spPr>
            <a:xfrm>
              <a:off x="1564775" y="1381125"/>
              <a:ext cx="616500" cy="409500"/>
            </a:xfrm>
            <a:prstGeom prst="rect">
              <a:avLst/>
            </a:prstGeom>
            <a:solidFill>
              <a:srgbClr val="EEEEEE"/>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62" name="Google Shape;1780;p49">
              <a:extLst>
                <a:ext uri="{FF2B5EF4-FFF2-40B4-BE49-F238E27FC236}">
                  <a16:creationId xmlns:a16="http://schemas.microsoft.com/office/drawing/2014/main" id="{564917DD-C8AE-ECBC-C3A5-1F51B4CEF872}"/>
                </a:ext>
              </a:extLst>
            </p:cNvPr>
            <p:cNvSpPr/>
            <p:nvPr/>
          </p:nvSpPr>
          <p:spPr>
            <a:xfrm>
              <a:off x="1604975" y="1419225"/>
              <a:ext cx="535800" cy="333300"/>
            </a:xfrm>
            <a:prstGeom prst="rect">
              <a:avLst/>
            </a:prstGeom>
            <a:solidFill>
              <a:srgbClr val="CFE2F3"/>
            </a:solidFill>
            <a:ln w="9525" cap="flat" cmpd="sng">
              <a:solidFill>
                <a:srgbClr val="595959"/>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cxnSp>
        <p:nvCxnSpPr>
          <p:cNvPr id="63" name="Straight Connector 62">
            <a:extLst>
              <a:ext uri="{FF2B5EF4-FFF2-40B4-BE49-F238E27FC236}">
                <a16:creationId xmlns:a16="http://schemas.microsoft.com/office/drawing/2014/main" id="{58789B25-0018-E588-4C36-8274BBBFFC0D}"/>
              </a:ext>
            </a:extLst>
          </p:cNvPr>
          <p:cNvCxnSpPr>
            <a:cxnSpLocks/>
            <a:stCxn id="13" idx="1"/>
          </p:cNvCxnSpPr>
          <p:nvPr/>
        </p:nvCxnSpPr>
        <p:spPr>
          <a:xfrm flipH="1" flipV="1">
            <a:off x="5335773" y="3263693"/>
            <a:ext cx="513015" cy="1"/>
          </a:xfrm>
          <a:prstGeom prst="line">
            <a:avLst/>
          </a:prstGeom>
          <a:ln w="28575"/>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6477D1AC-E301-0BFF-D4D1-F08D3778C4C5}"/>
              </a:ext>
            </a:extLst>
          </p:cNvPr>
          <p:cNvCxnSpPr>
            <a:cxnSpLocks/>
            <a:stCxn id="26" idx="0"/>
            <a:endCxn id="60" idx="3"/>
          </p:cNvCxnSpPr>
          <p:nvPr/>
        </p:nvCxnSpPr>
        <p:spPr>
          <a:xfrm flipH="1" flipV="1">
            <a:off x="8188123" y="1586307"/>
            <a:ext cx="3514" cy="407905"/>
          </a:xfrm>
          <a:prstGeom prst="line">
            <a:avLst/>
          </a:prstGeom>
          <a:ln w="28575"/>
        </p:spPr>
        <p:style>
          <a:lnRef idx="1">
            <a:schemeClr val="dk1"/>
          </a:lnRef>
          <a:fillRef idx="0">
            <a:schemeClr val="dk1"/>
          </a:fillRef>
          <a:effectRef idx="0">
            <a:schemeClr val="dk1"/>
          </a:effectRef>
          <a:fontRef idx="minor">
            <a:schemeClr val="tx1"/>
          </a:fontRef>
        </p:style>
      </p:cxnSp>
      <p:cxnSp>
        <p:nvCxnSpPr>
          <p:cNvPr id="73" name="Straight Connector 72">
            <a:extLst>
              <a:ext uri="{FF2B5EF4-FFF2-40B4-BE49-F238E27FC236}">
                <a16:creationId xmlns:a16="http://schemas.microsoft.com/office/drawing/2014/main" id="{AC8814E0-FC38-F0CE-205F-BD23D8BCEFD3}"/>
              </a:ext>
            </a:extLst>
          </p:cNvPr>
          <p:cNvCxnSpPr>
            <a:cxnSpLocks/>
            <a:stCxn id="8" idx="6"/>
            <a:endCxn id="58" idx="1"/>
          </p:cNvCxnSpPr>
          <p:nvPr/>
        </p:nvCxnSpPr>
        <p:spPr>
          <a:xfrm flipV="1">
            <a:off x="10482861" y="3143677"/>
            <a:ext cx="632734" cy="15207"/>
          </a:xfrm>
          <a:prstGeom prst="line">
            <a:avLst/>
          </a:prstGeom>
          <a:ln w="28575"/>
        </p:spPr>
        <p:style>
          <a:lnRef idx="1">
            <a:schemeClr val="dk1"/>
          </a:lnRef>
          <a:fillRef idx="0">
            <a:schemeClr val="dk1"/>
          </a:fillRef>
          <a:effectRef idx="0">
            <a:schemeClr val="dk1"/>
          </a:effectRef>
          <a:fontRef idx="minor">
            <a:schemeClr val="tx1"/>
          </a:fontRef>
        </p:style>
      </p:cxnSp>
      <p:sp>
        <p:nvSpPr>
          <p:cNvPr id="76" name="Google Shape;1383;p41">
            <a:extLst>
              <a:ext uri="{FF2B5EF4-FFF2-40B4-BE49-F238E27FC236}">
                <a16:creationId xmlns:a16="http://schemas.microsoft.com/office/drawing/2014/main" id="{9355AF1B-58CE-4115-4667-FED640D5681F}"/>
              </a:ext>
            </a:extLst>
          </p:cNvPr>
          <p:cNvSpPr txBox="1"/>
          <p:nvPr/>
        </p:nvSpPr>
        <p:spPr>
          <a:xfrm>
            <a:off x="5873058" y="3345573"/>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S1</a:t>
            </a:r>
            <a:endParaRPr sz="2400" b="1" dirty="0"/>
          </a:p>
        </p:txBody>
      </p:sp>
      <p:sp>
        <p:nvSpPr>
          <p:cNvPr id="77" name="Google Shape;1383;p41">
            <a:extLst>
              <a:ext uri="{FF2B5EF4-FFF2-40B4-BE49-F238E27FC236}">
                <a16:creationId xmlns:a16="http://schemas.microsoft.com/office/drawing/2014/main" id="{D055F60D-742E-0A7C-8B43-690445224DE6}"/>
              </a:ext>
            </a:extLst>
          </p:cNvPr>
          <p:cNvSpPr txBox="1"/>
          <p:nvPr/>
        </p:nvSpPr>
        <p:spPr>
          <a:xfrm>
            <a:off x="7215717" y="1826641"/>
            <a:ext cx="717600" cy="615513"/>
          </a:xfrm>
          <a:prstGeom prst="rect">
            <a:avLst/>
          </a:prstGeom>
          <a:noFill/>
          <a:ln>
            <a:noFill/>
          </a:ln>
        </p:spPr>
        <p:txBody>
          <a:bodyPr spcFirstLastPara="1" wrap="square" lIns="121900" tIns="121900" rIns="121900" bIns="121900" anchor="t" anchorCtr="0">
            <a:spAutoFit/>
          </a:bodyPr>
          <a:lstStyle/>
          <a:p>
            <a:pPr algn="ctr"/>
            <a:r>
              <a:rPr lang="en" sz="2400" b="1"/>
              <a:t>S2</a:t>
            </a:r>
            <a:endParaRPr sz="2400" b="1"/>
          </a:p>
        </p:txBody>
      </p:sp>
      <p:sp>
        <p:nvSpPr>
          <p:cNvPr id="78" name="Google Shape;1383;p41">
            <a:extLst>
              <a:ext uri="{FF2B5EF4-FFF2-40B4-BE49-F238E27FC236}">
                <a16:creationId xmlns:a16="http://schemas.microsoft.com/office/drawing/2014/main" id="{D1861DD3-627D-C36A-EEDD-9FE47F9AD538}"/>
              </a:ext>
            </a:extLst>
          </p:cNvPr>
          <p:cNvSpPr txBox="1"/>
          <p:nvPr/>
        </p:nvSpPr>
        <p:spPr>
          <a:xfrm>
            <a:off x="7268576" y="3124347"/>
            <a:ext cx="717600" cy="615513"/>
          </a:xfrm>
          <a:prstGeom prst="rect">
            <a:avLst/>
          </a:prstGeom>
          <a:noFill/>
          <a:ln>
            <a:noFill/>
          </a:ln>
        </p:spPr>
        <p:txBody>
          <a:bodyPr spcFirstLastPara="1" wrap="square" lIns="121900" tIns="121900" rIns="121900" bIns="121900" anchor="t" anchorCtr="0">
            <a:spAutoFit/>
          </a:bodyPr>
          <a:lstStyle/>
          <a:p>
            <a:pPr algn="ctr"/>
            <a:r>
              <a:rPr lang="en" sz="2400" b="1"/>
              <a:t>S3</a:t>
            </a:r>
            <a:endParaRPr sz="2400" b="1"/>
          </a:p>
        </p:txBody>
      </p:sp>
      <p:sp>
        <p:nvSpPr>
          <p:cNvPr id="79" name="Google Shape;1383;p41">
            <a:extLst>
              <a:ext uri="{FF2B5EF4-FFF2-40B4-BE49-F238E27FC236}">
                <a16:creationId xmlns:a16="http://schemas.microsoft.com/office/drawing/2014/main" id="{7428534E-07B8-A9EB-0C99-68D4D5E99FB5}"/>
              </a:ext>
            </a:extLst>
          </p:cNvPr>
          <p:cNvSpPr txBox="1"/>
          <p:nvPr/>
        </p:nvSpPr>
        <p:spPr>
          <a:xfrm>
            <a:off x="8402581" y="4198121"/>
            <a:ext cx="717600" cy="615513"/>
          </a:xfrm>
          <a:prstGeom prst="rect">
            <a:avLst/>
          </a:prstGeom>
          <a:noFill/>
          <a:ln>
            <a:noFill/>
          </a:ln>
        </p:spPr>
        <p:txBody>
          <a:bodyPr spcFirstLastPara="1" wrap="square" lIns="121900" tIns="121900" rIns="121900" bIns="121900" anchor="t" anchorCtr="0">
            <a:spAutoFit/>
          </a:bodyPr>
          <a:lstStyle/>
          <a:p>
            <a:pPr algn="ctr"/>
            <a:r>
              <a:rPr lang="en" sz="2400" b="1"/>
              <a:t>S4</a:t>
            </a:r>
            <a:endParaRPr sz="2400" b="1"/>
          </a:p>
        </p:txBody>
      </p:sp>
      <p:sp>
        <p:nvSpPr>
          <p:cNvPr id="80" name="Google Shape;1383;p41">
            <a:extLst>
              <a:ext uri="{FF2B5EF4-FFF2-40B4-BE49-F238E27FC236}">
                <a16:creationId xmlns:a16="http://schemas.microsoft.com/office/drawing/2014/main" id="{A78DC9F7-8CCD-4FD4-8814-91918BF9DB15}"/>
              </a:ext>
            </a:extLst>
          </p:cNvPr>
          <p:cNvSpPr txBox="1"/>
          <p:nvPr/>
        </p:nvSpPr>
        <p:spPr>
          <a:xfrm>
            <a:off x="10103355" y="3273237"/>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S5</a:t>
            </a:r>
            <a:endParaRPr sz="2400" b="1" dirty="0"/>
          </a:p>
        </p:txBody>
      </p:sp>
      <p:sp>
        <p:nvSpPr>
          <p:cNvPr id="81" name="Google Shape;1383;p41">
            <a:extLst>
              <a:ext uri="{FF2B5EF4-FFF2-40B4-BE49-F238E27FC236}">
                <a16:creationId xmlns:a16="http://schemas.microsoft.com/office/drawing/2014/main" id="{5FE53E25-8BE8-F746-49B7-4CD31A8FFEDA}"/>
              </a:ext>
            </a:extLst>
          </p:cNvPr>
          <p:cNvSpPr txBox="1"/>
          <p:nvPr/>
        </p:nvSpPr>
        <p:spPr>
          <a:xfrm>
            <a:off x="4201837" y="1957141"/>
            <a:ext cx="1960902" cy="984845"/>
          </a:xfrm>
          <a:prstGeom prst="rect">
            <a:avLst/>
          </a:prstGeom>
          <a:noFill/>
          <a:ln>
            <a:noFill/>
          </a:ln>
        </p:spPr>
        <p:txBody>
          <a:bodyPr spcFirstLastPara="1" wrap="square" lIns="121900" tIns="121900" rIns="121900" bIns="121900" anchor="t" anchorCtr="0">
            <a:spAutoFit/>
          </a:bodyPr>
          <a:lstStyle/>
          <a:p>
            <a:pPr algn="ctr"/>
            <a:r>
              <a:rPr lang="en" sz="2400" b="1"/>
              <a:t>H1</a:t>
            </a:r>
          </a:p>
          <a:p>
            <a:pPr algn="ctr"/>
            <a:r>
              <a:rPr lang="en" sz="2400" b="1"/>
              <a:t>72.68.3.2</a:t>
            </a:r>
            <a:endParaRPr sz="2400" b="1"/>
          </a:p>
        </p:txBody>
      </p:sp>
      <p:sp>
        <p:nvSpPr>
          <p:cNvPr id="84" name="Content Placeholder 2">
            <a:extLst>
              <a:ext uri="{FF2B5EF4-FFF2-40B4-BE49-F238E27FC236}">
                <a16:creationId xmlns:a16="http://schemas.microsoft.com/office/drawing/2014/main" id="{DB22F168-A881-220A-3EE1-1D9083E6820C}"/>
              </a:ext>
            </a:extLst>
          </p:cNvPr>
          <p:cNvSpPr>
            <a:spLocks noGrp="1"/>
          </p:cNvSpPr>
          <p:nvPr>
            <p:ph sz="half" idx="1"/>
          </p:nvPr>
        </p:nvSpPr>
        <p:spPr>
          <a:xfrm>
            <a:off x="478789" y="1114125"/>
            <a:ext cx="3804006" cy="5274317"/>
          </a:xfrm>
        </p:spPr>
        <p:txBody>
          <a:bodyPr>
            <a:normAutofit/>
          </a:bodyPr>
          <a:lstStyle/>
          <a:p>
            <a:r>
              <a:rPr lang="en-US" sz="2000" dirty="0"/>
              <a:t>Switches should not drop any packets destined to H1, H2, or H3 unless specified by the network policy.</a:t>
            </a:r>
          </a:p>
          <a:p>
            <a:r>
              <a:rPr lang="en-US" sz="2000" dirty="0"/>
              <a:t>Web traffic between H1 and H3 should pass S3 (suppose the webserver is running on port 80).</a:t>
            </a:r>
          </a:p>
          <a:p>
            <a:r>
              <a:rPr lang="en-US" sz="2000" dirty="0"/>
              <a:t>H2 should not be able to send packets to H1</a:t>
            </a:r>
          </a:p>
          <a:p>
            <a:r>
              <a:rPr lang="en-US" sz="2000" dirty="0"/>
              <a:t>Traffic between H2 and H3 should not have any links in common with traffic between H1 and H3 (except for S5 – H3). </a:t>
            </a:r>
          </a:p>
          <a:p>
            <a:r>
              <a:rPr lang="en-US" sz="2000" dirty="0"/>
              <a:t>What do the OpenFlow rules on the switches look like?</a:t>
            </a:r>
          </a:p>
          <a:p>
            <a:endParaRPr lang="en-US" sz="2000" dirty="0"/>
          </a:p>
        </p:txBody>
      </p:sp>
      <p:sp>
        <p:nvSpPr>
          <p:cNvPr id="85" name="Google Shape;1383;p41">
            <a:extLst>
              <a:ext uri="{FF2B5EF4-FFF2-40B4-BE49-F238E27FC236}">
                <a16:creationId xmlns:a16="http://schemas.microsoft.com/office/drawing/2014/main" id="{9B73142F-EE19-82D1-7A62-CD7CDC85891B}"/>
              </a:ext>
            </a:extLst>
          </p:cNvPr>
          <p:cNvSpPr txBox="1"/>
          <p:nvPr/>
        </p:nvSpPr>
        <p:spPr>
          <a:xfrm>
            <a:off x="7159279" y="181705"/>
            <a:ext cx="1960902" cy="984845"/>
          </a:xfrm>
          <a:prstGeom prst="rect">
            <a:avLst/>
          </a:prstGeom>
          <a:noFill/>
          <a:ln>
            <a:noFill/>
          </a:ln>
        </p:spPr>
        <p:txBody>
          <a:bodyPr spcFirstLastPara="1" wrap="square" lIns="121900" tIns="121900" rIns="121900" bIns="121900" anchor="t" anchorCtr="0">
            <a:spAutoFit/>
          </a:bodyPr>
          <a:lstStyle/>
          <a:p>
            <a:pPr algn="ctr"/>
            <a:r>
              <a:rPr lang="en" sz="2400" b="1"/>
              <a:t>H2</a:t>
            </a:r>
          </a:p>
          <a:p>
            <a:pPr algn="ctr"/>
            <a:r>
              <a:rPr lang="en" sz="2400" b="1"/>
              <a:t>30.53.0.5</a:t>
            </a:r>
            <a:endParaRPr sz="2400" b="1"/>
          </a:p>
        </p:txBody>
      </p:sp>
      <p:sp>
        <p:nvSpPr>
          <p:cNvPr id="86" name="Google Shape;1383;p41">
            <a:extLst>
              <a:ext uri="{FF2B5EF4-FFF2-40B4-BE49-F238E27FC236}">
                <a16:creationId xmlns:a16="http://schemas.microsoft.com/office/drawing/2014/main" id="{F3043ADF-9B64-A4E3-0778-DC8244CCE74E}"/>
              </a:ext>
            </a:extLst>
          </p:cNvPr>
          <p:cNvSpPr txBox="1"/>
          <p:nvPr/>
        </p:nvSpPr>
        <p:spPr>
          <a:xfrm>
            <a:off x="10312360" y="1987348"/>
            <a:ext cx="1960902" cy="984845"/>
          </a:xfrm>
          <a:prstGeom prst="rect">
            <a:avLst/>
          </a:prstGeom>
          <a:noFill/>
          <a:ln>
            <a:noFill/>
          </a:ln>
        </p:spPr>
        <p:txBody>
          <a:bodyPr spcFirstLastPara="1" wrap="square" lIns="121900" tIns="121900" rIns="121900" bIns="121900" anchor="t" anchorCtr="0">
            <a:spAutoFit/>
          </a:bodyPr>
          <a:lstStyle/>
          <a:p>
            <a:pPr algn="ctr"/>
            <a:r>
              <a:rPr lang="en" sz="2400" b="1"/>
              <a:t>H3</a:t>
            </a:r>
          </a:p>
          <a:p>
            <a:pPr algn="ctr"/>
            <a:r>
              <a:rPr lang="en" sz="2400" b="1"/>
              <a:t>12.15.63.3</a:t>
            </a:r>
            <a:endParaRPr sz="2400" b="1"/>
          </a:p>
        </p:txBody>
      </p:sp>
      <p:sp>
        <p:nvSpPr>
          <p:cNvPr id="3" name="Google Shape;1383;p41">
            <a:extLst>
              <a:ext uri="{FF2B5EF4-FFF2-40B4-BE49-F238E27FC236}">
                <a16:creationId xmlns:a16="http://schemas.microsoft.com/office/drawing/2014/main" id="{40F16349-2915-C110-EBFB-433D733FF31A}"/>
              </a:ext>
            </a:extLst>
          </p:cNvPr>
          <p:cNvSpPr txBox="1"/>
          <p:nvPr/>
        </p:nvSpPr>
        <p:spPr>
          <a:xfrm>
            <a:off x="6161068" y="2548917"/>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1</a:t>
            </a:r>
            <a:endParaRPr sz="2400" b="1" dirty="0"/>
          </a:p>
        </p:txBody>
      </p:sp>
      <p:sp>
        <p:nvSpPr>
          <p:cNvPr id="4" name="Google Shape;1383;p41">
            <a:extLst>
              <a:ext uri="{FF2B5EF4-FFF2-40B4-BE49-F238E27FC236}">
                <a16:creationId xmlns:a16="http://schemas.microsoft.com/office/drawing/2014/main" id="{0304C679-6690-F6B3-8BF2-F6792C0121FC}"/>
              </a:ext>
            </a:extLst>
          </p:cNvPr>
          <p:cNvSpPr txBox="1"/>
          <p:nvPr/>
        </p:nvSpPr>
        <p:spPr>
          <a:xfrm>
            <a:off x="6302038" y="3444267"/>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2</a:t>
            </a:r>
            <a:endParaRPr sz="2400" b="1" dirty="0"/>
          </a:p>
        </p:txBody>
      </p:sp>
      <p:sp>
        <p:nvSpPr>
          <p:cNvPr id="35" name="Google Shape;1383;p41">
            <a:extLst>
              <a:ext uri="{FF2B5EF4-FFF2-40B4-BE49-F238E27FC236}">
                <a16:creationId xmlns:a16="http://schemas.microsoft.com/office/drawing/2014/main" id="{CE9C32D4-427D-CD0B-AF88-79384A204193}"/>
              </a:ext>
            </a:extLst>
          </p:cNvPr>
          <p:cNvSpPr txBox="1"/>
          <p:nvPr/>
        </p:nvSpPr>
        <p:spPr>
          <a:xfrm>
            <a:off x="7378792" y="2175837"/>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1</a:t>
            </a:r>
            <a:endParaRPr sz="2400" b="1" dirty="0"/>
          </a:p>
        </p:txBody>
      </p:sp>
      <p:sp>
        <p:nvSpPr>
          <p:cNvPr id="40" name="Google Shape;1383;p41">
            <a:extLst>
              <a:ext uri="{FF2B5EF4-FFF2-40B4-BE49-F238E27FC236}">
                <a16:creationId xmlns:a16="http://schemas.microsoft.com/office/drawing/2014/main" id="{635517C0-6596-68AB-79A7-F60952B6C154}"/>
              </a:ext>
            </a:extLst>
          </p:cNvPr>
          <p:cNvSpPr txBox="1"/>
          <p:nvPr/>
        </p:nvSpPr>
        <p:spPr>
          <a:xfrm>
            <a:off x="7976439" y="2284848"/>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2</a:t>
            </a:r>
            <a:endParaRPr sz="2400" b="1" dirty="0"/>
          </a:p>
        </p:txBody>
      </p:sp>
      <p:sp>
        <p:nvSpPr>
          <p:cNvPr id="41" name="Google Shape;1383;p41">
            <a:extLst>
              <a:ext uri="{FF2B5EF4-FFF2-40B4-BE49-F238E27FC236}">
                <a16:creationId xmlns:a16="http://schemas.microsoft.com/office/drawing/2014/main" id="{A230CDC5-E719-7964-4697-E1A940BFA17D}"/>
              </a:ext>
            </a:extLst>
          </p:cNvPr>
          <p:cNvSpPr txBox="1"/>
          <p:nvPr/>
        </p:nvSpPr>
        <p:spPr>
          <a:xfrm>
            <a:off x="8378361" y="1802644"/>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3</a:t>
            </a:r>
            <a:endParaRPr sz="2400" b="1" dirty="0"/>
          </a:p>
        </p:txBody>
      </p:sp>
      <p:sp>
        <p:nvSpPr>
          <p:cNvPr id="42" name="Google Shape;1383;p41">
            <a:extLst>
              <a:ext uri="{FF2B5EF4-FFF2-40B4-BE49-F238E27FC236}">
                <a16:creationId xmlns:a16="http://schemas.microsoft.com/office/drawing/2014/main" id="{0F40923B-D25B-5B0E-1F98-5D9A6E3DEC5A}"/>
              </a:ext>
            </a:extLst>
          </p:cNvPr>
          <p:cNvSpPr txBox="1"/>
          <p:nvPr/>
        </p:nvSpPr>
        <p:spPr>
          <a:xfrm>
            <a:off x="7931301" y="2623779"/>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1</a:t>
            </a:r>
            <a:endParaRPr sz="2400" b="1" dirty="0"/>
          </a:p>
        </p:txBody>
      </p:sp>
      <p:sp>
        <p:nvSpPr>
          <p:cNvPr id="43" name="Google Shape;1383;p41">
            <a:extLst>
              <a:ext uri="{FF2B5EF4-FFF2-40B4-BE49-F238E27FC236}">
                <a16:creationId xmlns:a16="http://schemas.microsoft.com/office/drawing/2014/main" id="{F55E7796-0FBA-5841-F636-69B80D699CE8}"/>
              </a:ext>
            </a:extLst>
          </p:cNvPr>
          <p:cNvSpPr txBox="1"/>
          <p:nvPr/>
        </p:nvSpPr>
        <p:spPr>
          <a:xfrm>
            <a:off x="7990177" y="3278256"/>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2</a:t>
            </a:r>
            <a:endParaRPr sz="2400" b="1" dirty="0"/>
          </a:p>
        </p:txBody>
      </p:sp>
      <p:sp>
        <p:nvSpPr>
          <p:cNvPr id="45" name="Google Shape;1383;p41">
            <a:extLst>
              <a:ext uri="{FF2B5EF4-FFF2-40B4-BE49-F238E27FC236}">
                <a16:creationId xmlns:a16="http://schemas.microsoft.com/office/drawing/2014/main" id="{D6544CC4-11ED-8F6D-624A-157CB5F346AA}"/>
              </a:ext>
            </a:extLst>
          </p:cNvPr>
          <p:cNvSpPr txBox="1"/>
          <p:nvPr/>
        </p:nvSpPr>
        <p:spPr>
          <a:xfrm>
            <a:off x="7272577" y="3962184"/>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1</a:t>
            </a:r>
            <a:endParaRPr sz="2400" b="1" dirty="0"/>
          </a:p>
        </p:txBody>
      </p:sp>
      <p:sp>
        <p:nvSpPr>
          <p:cNvPr id="46" name="Google Shape;1383;p41">
            <a:extLst>
              <a:ext uri="{FF2B5EF4-FFF2-40B4-BE49-F238E27FC236}">
                <a16:creationId xmlns:a16="http://schemas.microsoft.com/office/drawing/2014/main" id="{F668655B-5520-026E-236B-C8BC83D35BED}"/>
              </a:ext>
            </a:extLst>
          </p:cNvPr>
          <p:cNvSpPr txBox="1"/>
          <p:nvPr/>
        </p:nvSpPr>
        <p:spPr>
          <a:xfrm>
            <a:off x="7980628" y="3633846"/>
            <a:ext cx="717600" cy="615513"/>
          </a:xfrm>
          <a:prstGeom prst="rect">
            <a:avLst/>
          </a:prstGeom>
          <a:noFill/>
          <a:ln>
            <a:noFill/>
          </a:ln>
        </p:spPr>
        <p:txBody>
          <a:bodyPr spcFirstLastPara="1" wrap="square" lIns="121900" tIns="121900" rIns="121900" bIns="121900" anchor="t" anchorCtr="0">
            <a:spAutoFit/>
          </a:bodyPr>
          <a:lstStyle/>
          <a:p>
            <a:pPr algn="ctr"/>
            <a:r>
              <a:rPr lang="en-US" sz="2400" b="1" dirty="0"/>
              <a:t>2</a:t>
            </a:r>
            <a:endParaRPr sz="2400" b="1" dirty="0"/>
          </a:p>
        </p:txBody>
      </p:sp>
      <p:sp>
        <p:nvSpPr>
          <p:cNvPr id="48" name="Google Shape;1383;p41">
            <a:extLst>
              <a:ext uri="{FF2B5EF4-FFF2-40B4-BE49-F238E27FC236}">
                <a16:creationId xmlns:a16="http://schemas.microsoft.com/office/drawing/2014/main" id="{254E5B35-2340-7BC4-61D6-5FAADDD4FBEE}"/>
              </a:ext>
            </a:extLst>
          </p:cNvPr>
          <p:cNvSpPr txBox="1"/>
          <p:nvPr/>
        </p:nvSpPr>
        <p:spPr>
          <a:xfrm>
            <a:off x="8533396" y="3915983"/>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3</a:t>
            </a:r>
            <a:endParaRPr sz="2400" b="1" dirty="0"/>
          </a:p>
        </p:txBody>
      </p:sp>
      <p:sp>
        <p:nvSpPr>
          <p:cNvPr id="49" name="Google Shape;1383;p41">
            <a:extLst>
              <a:ext uri="{FF2B5EF4-FFF2-40B4-BE49-F238E27FC236}">
                <a16:creationId xmlns:a16="http://schemas.microsoft.com/office/drawing/2014/main" id="{0D4F770B-14A0-A9D2-6D8E-53BDDD83C596}"/>
              </a:ext>
            </a:extLst>
          </p:cNvPr>
          <p:cNvSpPr txBox="1"/>
          <p:nvPr/>
        </p:nvSpPr>
        <p:spPr>
          <a:xfrm>
            <a:off x="9475403" y="2526273"/>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1</a:t>
            </a:r>
            <a:endParaRPr sz="2400" b="1" dirty="0"/>
          </a:p>
        </p:txBody>
      </p:sp>
      <p:sp>
        <p:nvSpPr>
          <p:cNvPr id="50" name="Google Shape;1383;p41">
            <a:extLst>
              <a:ext uri="{FF2B5EF4-FFF2-40B4-BE49-F238E27FC236}">
                <a16:creationId xmlns:a16="http://schemas.microsoft.com/office/drawing/2014/main" id="{5563CC29-0BAC-AC52-B1AD-E6399387A2E3}"/>
              </a:ext>
            </a:extLst>
          </p:cNvPr>
          <p:cNvSpPr txBox="1"/>
          <p:nvPr/>
        </p:nvSpPr>
        <p:spPr>
          <a:xfrm>
            <a:off x="9573825" y="3381200"/>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2</a:t>
            </a:r>
            <a:endParaRPr sz="2400" b="1" dirty="0"/>
          </a:p>
        </p:txBody>
      </p:sp>
      <p:sp>
        <p:nvSpPr>
          <p:cNvPr id="64" name="Google Shape;1383;p41">
            <a:extLst>
              <a:ext uri="{FF2B5EF4-FFF2-40B4-BE49-F238E27FC236}">
                <a16:creationId xmlns:a16="http://schemas.microsoft.com/office/drawing/2014/main" id="{341EDC76-3643-7006-7D19-47CACCEE1A62}"/>
              </a:ext>
            </a:extLst>
          </p:cNvPr>
          <p:cNvSpPr txBox="1"/>
          <p:nvPr/>
        </p:nvSpPr>
        <p:spPr>
          <a:xfrm>
            <a:off x="5363421" y="2804070"/>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3</a:t>
            </a:r>
            <a:endParaRPr sz="2400" b="1" dirty="0"/>
          </a:p>
        </p:txBody>
      </p:sp>
      <p:sp>
        <p:nvSpPr>
          <p:cNvPr id="65" name="Google Shape;1383;p41">
            <a:extLst>
              <a:ext uri="{FF2B5EF4-FFF2-40B4-BE49-F238E27FC236}">
                <a16:creationId xmlns:a16="http://schemas.microsoft.com/office/drawing/2014/main" id="{A01EC82D-0D1A-D4AA-FC34-89A35828BF9B}"/>
              </a:ext>
            </a:extLst>
          </p:cNvPr>
          <p:cNvSpPr txBox="1"/>
          <p:nvPr/>
        </p:nvSpPr>
        <p:spPr>
          <a:xfrm>
            <a:off x="7959883" y="1547187"/>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4</a:t>
            </a:r>
            <a:endParaRPr sz="2400" b="1" dirty="0"/>
          </a:p>
        </p:txBody>
      </p:sp>
      <p:sp>
        <p:nvSpPr>
          <p:cNvPr id="67" name="Google Shape;1383;p41">
            <a:extLst>
              <a:ext uri="{FF2B5EF4-FFF2-40B4-BE49-F238E27FC236}">
                <a16:creationId xmlns:a16="http://schemas.microsoft.com/office/drawing/2014/main" id="{25BCFA90-871C-4895-1095-7CDE6283A110}"/>
              </a:ext>
            </a:extLst>
          </p:cNvPr>
          <p:cNvSpPr txBox="1"/>
          <p:nvPr/>
        </p:nvSpPr>
        <p:spPr>
          <a:xfrm>
            <a:off x="10174922" y="2703381"/>
            <a:ext cx="717600" cy="615513"/>
          </a:xfrm>
          <a:prstGeom prst="rect">
            <a:avLst/>
          </a:prstGeom>
          <a:noFill/>
          <a:ln>
            <a:noFill/>
          </a:ln>
        </p:spPr>
        <p:txBody>
          <a:bodyPr spcFirstLastPara="1" wrap="square" lIns="121900" tIns="121900" rIns="121900" bIns="121900" anchor="t" anchorCtr="0">
            <a:spAutoFit/>
          </a:bodyPr>
          <a:lstStyle/>
          <a:p>
            <a:pPr algn="ctr"/>
            <a:r>
              <a:rPr lang="en" sz="2400" b="1" dirty="0"/>
              <a:t>3</a:t>
            </a:r>
            <a:endParaRPr sz="2400" b="1" dirty="0"/>
          </a:p>
        </p:txBody>
      </p:sp>
    </p:spTree>
    <p:extLst>
      <p:ext uri="{BB962C8B-B14F-4D97-AF65-F5344CB8AC3E}">
        <p14:creationId xmlns:p14="http://schemas.microsoft.com/office/powerpoint/2010/main" val="360389085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4F5F2A-8CE8-AD3E-B054-C689B7943F1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FF4F4E1-3E88-E5F2-DCF4-EABDB7DBB7F2}"/>
              </a:ext>
            </a:extLst>
          </p:cNvPr>
          <p:cNvSpPr>
            <a:spLocks noGrp="1"/>
          </p:cNvSpPr>
          <p:nvPr>
            <p:ph type="title"/>
          </p:nvPr>
        </p:nvSpPr>
        <p:spPr/>
        <p:txBody>
          <a:bodyPr/>
          <a:lstStyle/>
          <a:p>
            <a:r>
              <a:rPr lang="en-US" altLang="zh-CN"/>
              <a:t>One Potential Answer</a:t>
            </a:r>
            <a:endParaRPr lang="en-US" dirty="0"/>
          </a:p>
        </p:txBody>
      </p:sp>
      <p:sp>
        <p:nvSpPr>
          <p:cNvPr id="43" name="Content Placeholder 2">
            <a:extLst>
              <a:ext uri="{FF2B5EF4-FFF2-40B4-BE49-F238E27FC236}">
                <a16:creationId xmlns:a16="http://schemas.microsoft.com/office/drawing/2014/main" id="{E0F59136-5712-3140-6FDA-B27DF7AC876A}"/>
              </a:ext>
            </a:extLst>
          </p:cNvPr>
          <p:cNvSpPr>
            <a:spLocks noGrp="1"/>
          </p:cNvSpPr>
          <p:nvPr>
            <p:ph sz="half" idx="1"/>
          </p:nvPr>
        </p:nvSpPr>
        <p:spPr>
          <a:xfrm>
            <a:off x="838200" y="1346442"/>
            <a:ext cx="10761618" cy="5424009"/>
          </a:xfrm>
        </p:spPr>
        <p:txBody>
          <a:bodyPr>
            <a:normAutofit fontScale="85000" lnSpcReduction="20000"/>
          </a:bodyPr>
          <a:lstStyle/>
          <a:p>
            <a:r>
              <a:rPr lang="en-US" dirty="0"/>
              <a:t>There exist multiple solutions to this exercise. To fill out the flow tables, first determine the flow path sets based on the requirements, and then figure out the generalized forwarding rules in the flow tables. Here are two possible path sets:   </a:t>
            </a:r>
          </a:p>
          <a:p>
            <a:r>
              <a:rPr lang="en-US" dirty="0"/>
              <a:t>Flow Path Set 1 (all traffic between H1 and H3 traverses the same path)</a:t>
            </a:r>
          </a:p>
          <a:p>
            <a:pPr lvl="1"/>
            <a:r>
              <a:rPr lang="en-US" dirty="0"/>
              <a:t>H2 -&gt; S2 -&gt; S5 -&gt; H3 </a:t>
            </a:r>
          </a:p>
          <a:p>
            <a:pPr lvl="1"/>
            <a:r>
              <a:rPr lang="en-US" dirty="0"/>
              <a:t>H1 -&gt; S1 -&gt; S2 -&gt; S3 -&gt; S4 -&gt; S5 -&gt;H3</a:t>
            </a:r>
          </a:p>
          <a:p>
            <a:pPr lvl="1"/>
            <a:r>
              <a:rPr lang="en-US" dirty="0"/>
              <a:t>H3 -&gt; S5 -&gt; S2 -&gt; H2</a:t>
            </a:r>
          </a:p>
          <a:p>
            <a:pPr lvl="1"/>
            <a:r>
              <a:rPr lang="en-US" dirty="0"/>
              <a:t>H1 -&gt; S1 -&gt; S2 -&gt; H2</a:t>
            </a:r>
          </a:p>
          <a:p>
            <a:pPr lvl="1"/>
            <a:r>
              <a:rPr lang="en-US" dirty="0"/>
              <a:t>H3 -&gt; S5 -&gt; S4 -&gt; S3 -&gt; S2 -&gt; S1 -&gt; H1</a:t>
            </a:r>
          </a:p>
          <a:p>
            <a:r>
              <a:rPr lang="en-US" dirty="0"/>
              <a:t>Flow Path Set 2 (web traffic between H1 and H3 traverses one path and non-web-traffic traverses an alternative path)</a:t>
            </a:r>
          </a:p>
          <a:p>
            <a:pPr lvl="1"/>
            <a:r>
              <a:rPr lang="en-US" dirty="0"/>
              <a:t>H2 -&gt; S2 -&gt; S5 -&gt; H3 </a:t>
            </a:r>
          </a:p>
          <a:p>
            <a:pPr lvl="1"/>
            <a:r>
              <a:rPr lang="en-US" dirty="0"/>
              <a:t>H1 -&gt; S1 -&gt; S2 -&gt; S3 -&gt; S4 -&gt; S5 -&gt;H3 (web traffic)</a:t>
            </a:r>
          </a:p>
          <a:p>
            <a:pPr lvl="1"/>
            <a:r>
              <a:rPr lang="en-US" dirty="0"/>
              <a:t>H1 -&gt; S1 -&gt; S4 -&gt; S5 -&gt;H3 (non-web traffic)</a:t>
            </a:r>
          </a:p>
          <a:p>
            <a:pPr lvl="1"/>
            <a:r>
              <a:rPr lang="en-US" dirty="0"/>
              <a:t>H3 -&gt; S5 -&gt; S2 -&gt; H2</a:t>
            </a:r>
          </a:p>
          <a:p>
            <a:pPr lvl="1"/>
            <a:r>
              <a:rPr lang="en-US" dirty="0"/>
              <a:t>H1 -&gt; S1 -&gt; S2 -&gt; H2</a:t>
            </a:r>
          </a:p>
          <a:p>
            <a:pPr lvl="1"/>
            <a:r>
              <a:rPr lang="en-US" dirty="0"/>
              <a:t>H3 -&gt; S5 -&gt; S4 -&gt; S3 -&gt; S2 -&gt; S1 -&gt; H1 (web traffic)</a:t>
            </a:r>
          </a:p>
          <a:p>
            <a:pPr lvl="1"/>
            <a:r>
              <a:rPr lang="en-US" dirty="0"/>
              <a:t>H3 -&gt; S5 -&gt; S4 -&gt; S1 -&gt; H1 (non-web traffic)</a:t>
            </a:r>
          </a:p>
        </p:txBody>
      </p:sp>
    </p:spTree>
    <p:extLst>
      <p:ext uri="{BB962C8B-B14F-4D97-AF65-F5344CB8AC3E}">
        <p14:creationId xmlns:p14="http://schemas.microsoft.com/office/powerpoint/2010/main" val="266835297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5D23C2-6435-F3A1-30C4-DEEFCCBA27AF}"/>
            </a:ext>
          </a:extLst>
        </p:cNvPr>
        <p:cNvGrpSpPr/>
        <p:nvPr/>
      </p:nvGrpSpPr>
      <p:grpSpPr>
        <a:xfrm>
          <a:off x="0" y="0"/>
          <a:ext cx="0" cy="0"/>
          <a:chOff x="0" y="0"/>
          <a:chExt cx="0" cy="0"/>
        </a:xfrm>
      </p:grpSpPr>
      <p:pic>
        <p:nvPicPr>
          <p:cNvPr id="12" name="Picture 11">
            <a:extLst>
              <a:ext uri="{FF2B5EF4-FFF2-40B4-BE49-F238E27FC236}">
                <a16:creationId xmlns:a16="http://schemas.microsoft.com/office/drawing/2014/main" id="{B7B84CC5-2C41-FFFE-4F10-38B8F226B265}"/>
              </a:ext>
            </a:extLst>
          </p:cNvPr>
          <p:cNvPicPr>
            <a:picLocks noChangeAspect="1"/>
          </p:cNvPicPr>
          <p:nvPr/>
        </p:nvPicPr>
        <p:blipFill>
          <a:blip r:embed="rId2"/>
          <a:stretch>
            <a:fillRect/>
          </a:stretch>
        </p:blipFill>
        <p:spPr>
          <a:xfrm>
            <a:off x="5973560" y="4620832"/>
            <a:ext cx="3523913" cy="2104421"/>
          </a:xfrm>
          <a:prstGeom prst="rect">
            <a:avLst/>
          </a:prstGeom>
        </p:spPr>
      </p:pic>
      <p:pic>
        <p:nvPicPr>
          <p:cNvPr id="10" name="Picture 9">
            <a:extLst>
              <a:ext uri="{FF2B5EF4-FFF2-40B4-BE49-F238E27FC236}">
                <a16:creationId xmlns:a16="http://schemas.microsoft.com/office/drawing/2014/main" id="{AE2C3532-5144-26E5-2D50-4D2F4C9814C9}"/>
              </a:ext>
            </a:extLst>
          </p:cNvPr>
          <p:cNvPicPr>
            <a:picLocks noChangeAspect="1"/>
          </p:cNvPicPr>
          <p:nvPr/>
        </p:nvPicPr>
        <p:blipFill>
          <a:blip r:embed="rId3"/>
          <a:stretch>
            <a:fillRect/>
          </a:stretch>
        </p:blipFill>
        <p:spPr>
          <a:xfrm>
            <a:off x="116963" y="4499887"/>
            <a:ext cx="3321776" cy="2104421"/>
          </a:xfrm>
          <a:prstGeom prst="rect">
            <a:avLst/>
          </a:prstGeom>
        </p:spPr>
      </p:pic>
      <p:sp>
        <p:nvSpPr>
          <p:cNvPr id="2" name="Title 1">
            <a:extLst>
              <a:ext uri="{FF2B5EF4-FFF2-40B4-BE49-F238E27FC236}">
                <a16:creationId xmlns:a16="http://schemas.microsoft.com/office/drawing/2014/main" id="{07F7D22E-E5D1-7A25-5D9F-A15D9F524F0F}"/>
              </a:ext>
            </a:extLst>
          </p:cNvPr>
          <p:cNvSpPr>
            <a:spLocks noGrp="1"/>
          </p:cNvSpPr>
          <p:nvPr>
            <p:ph type="title"/>
          </p:nvPr>
        </p:nvSpPr>
        <p:spPr>
          <a:xfrm>
            <a:off x="546394" y="483699"/>
            <a:ext cx="3259238" cy="894622"/>
          </a:xfrm>
        </p:spPr>
        <p:txBody>
          <a:bodyPr>
            <a:normAutofit fontScale="90000"/>
          </a:bodyPr>
          <a:lstStyle/>
          <a:p>
            <a:r>
              <a:rPr lang="en-US" dirty="0"/>
              <a:t>Flow tables for Path Set 1</a:t>
            </a:r>
          </a:p>
        </p:txBody>
      </p:sp>
      <p:pic>
        <p:nvPicPr>
          <p:cNvPr id="4" name="Picture 3">
            <a:extLst>
              <a:ext uri="{FF2B5EF4-FFF2-40B4-BE49-F238E27FC236}">
                <a16:creationId xmlns:a16="http://schemas.microsoft.com/office/drawing/2014/main" id="{B9FE1158-CFE5-D0A0-EAEB-C62E9D4310E2}"/>
              </a:ext>
            </a:extLst>
          </p:cNvPr>
          <p:cNvPicPr>
            <a:picLocks noChangeAspect="1"/>
          </p:cNvPicPr>
          <p:nvPr/>
        </p:nvPicPr>
        <p:blipFill>
          <a:blip r:embed="rId4"/>
          <a:stretch>
            <a:fillRect/>
          </a:stretch>
        </p:blipFill>
        <p:spPr>
          <a:xfrm>
            <a:off x="1738312" y="1713226"/>
            <a:ext cx="6817684" cy="3959817"/>
          </a:xfrm>
          <a:prstGeom prst="rect">
            <a:avLst/>
          </a:prstGeom>
        </p:spPr>
      </p:pic>
      <p:pic>
        <p:nvPicPr>
          <p:cNvPr id="3" name="Picture 2">
            <a:extLst>
              <a:ext uri="{FF2B5EF4-FFF2-40B4-BE49-F238E27FC236}">
                <a16:creationId xmlns:a16="http://schemas.microsoft.com/office/drawing/2014/main" id="{58E34DFE-79F6-BF28-A3FF-8CE3F1974E2C}"/>
              </a:ext>
            </a:extLst>
          </p:cNvPr>
          <p:cNvPicPr>
            <a:picLocks noChangeAspect="1"/>
          </p:cNvPicPr>
          <p:nvPr/>
        </p:nvPicPr>
        <p:blipFill>
          <a:blip r:embed="rId5"/>
          <a:stretch>
            <a:fillRect/>
          </a:stretch>
        </p:blipFill>
        <p:spPr>
          <a:xfrm>
            <a:off x="326571" y="1423425"/>
            <a:ext cx="3321776" cy="2167199"/>
          </a:xfrm>
          <a:prstGeom prst="rect">
            <a:avLst/>
          </a:prstGeom>
        </p:spPr>
      </p:pic>
      <p:pic>
        <p:nvPicPr>
          <p:cNvPr id="9" name="Picture 8">
            <a:extLst>
              <a:ext uri="{FF2B5EF4-FFF2-40B4-BE49-F238E27FC236}">
                <a16:creationId xmlns:a16="http://schemas.microsoft.com/office/drawing/2014/main" id="{42092127-E680-D04D-48C9-F53672A722B5}"/>
              </a:ext>
            </a:extLst>
          </p:cNvPr>
          <p:cNvPicPr>
            <a:picLocks noChangeAspect="1"/>
          </p:cNvPicPr>
          <p:nvPr/>
        </p:nvPicPr>
        <p:blipFill>
          <a:blip r:embed="rId6"/>
          <a:stretch>
            <a:fillRect/>
          </a:stretch>
        </p:blipFill>
        <p:spPr>
          <a:xfrm>
            <a:off x="5798468" y="39716"/>
            <a:ext cx="2918129" cy="3347019"/>
          </a:xfrm>
          <a:prstGeom prst="rect">
            <a:avLst/>
          </a:prstGeom>
        </p:spPr>
      </p:pic>
      <p:pic>
        <p:nvPicPr>
          <p:cNvPr id="13" name="Picture 12">
            <a:extLst>
              <a:ext uri="{FF2B5EF4-FFF2-40B4-BE49-F238E27FC236}">
                <a16:creationId xmlns:a16="http://schemas.microsoft.com/office/drawing/2014/main" id="{AD65AF75-C56F-201E-4B9E-74159BF2C74B}"/>
              </a:ext>
            </a:extLst>
          </p:cNvPr>
          <p:cNvPicPr>
            <a:picLocks noChangeAspect="1"/>
          </p:cNvPicPr>
          <p:nvPr/>
        </p:nvPicPr>
        <p:blipFill>
          <a:blip r:embed="rId7"/>
          <a:stretch>
            <a:fillRect/>
          </a:stretch>
        </p:blipFill>
        <p:spPr>
          <a:xfrm>
            <a:off x="8893689" y="2468880"/>
            <a:ext cx="3119997" cy="2441296"/>
          </a:xfrm>
          <a:prstGeom prst="rect">
            <a:avLst/>
          </a:prstGeom>
        </p:spPr>
      </p:pic>
    </p:spTree>
    <p:extLst>
      <p:ext uri="{BB962C8B-B14F-4D97-AF65-F5344CB8AC3E}">
        <p14:creationId xmlns:p14="http://schemas.microsoft.com/office/powerpoint/2010/main" val="83295506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BD35A6-727D-D12B-2B15-52F31EC846C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6C21BDB-4B9E-0E8E-17C2-1D3B6E68735A}"/>
              </a:ext>
            </a:extLst>
          </p:cNvPr>
          <p:cNvSpPr>
            <a:spLocks noGrp="1"/>
          </p:cNvSpPr>
          <p:nvPr>
            <p:ph type="title"/>
          </p:nvPr>
        </p:nvSpPr>
        <p:spPr/>
        <p:txBody>
          <a:bodyPr/>
          <a:lstStyle/>
          <a:p>
            <a:r>
              <a:rPr lang="en-US">
                <a:cs typeface="Calibri" panose="020F0502020204030204" pitchFamily="34" charset="0"/>
              </a:rPr>
              <a:t>Network Layer in the Internet</a:t>
            </a:r>
            <a:endParaRPr lang="en-US"/>
          </a:p>
        </p:txBody>
      </p:sp>
      <p:sp>
        <p:nvSpPr>
          <p:cNvPr id="4" name="Content Placeholder 2">
            <a:extLst>
              <a:ext uri="{FF2B5EF4-FFF2-40B4-BE49-F238E27FC236}">
                <a16:creationId xmlns:a16="http://schemas.microsoft.com/office/drawing/2014/main" id="{602EA77E-F8C9-6273-2E86-F6A34B76DA28}"/>
              </a:ext>
            </a:extLst>
          </p:cNvPr>
          <p:cNvSpPr txBox="1">
            <a:spLocks/>
          </p:cNvSpPr>
          <p:nvPr/>
        </p:nvSpPr>
        <p:spPr>
          <a:xfrm>
            <a:off x="6386467" y="1572571"/>
            <a:ext cx="5736124" cy="44827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212725">
              <a:buFont typeface="Wingdings" charset="2"/>
              <a:buChar char="§"/>
              <a:defRPr/>
            </a:pPr>
            <a:r>
              <a:rPr lang="en-US" sz="3200" dirty="0">
                <a:solidFill>
                  <a:schemeClr val="bg1">
                    <a:lumMod val="50000"/>
                  </a:schemeClr>
                </a:solidFill>
              </a:rPr>
              <a:t>Beyond destination-based routing and forwarding</a:t>
            </a:r>
          </a:p>
          <a:p>
            <a:pPr lvl="1">
              <a:defRPr/>
            </a:pPr>
            <a:r>
              <a:rPr lang="en-US" altLang="en-US" sz="2800" dirty="0">
                <a:solidFill>
                  <a:schemeClr val="bg1">
                    <a:lumMod val="50000"/>
                  </a:schemeClr>
                </a:solidFill>
                <a:ea typeface="ＭＳ Ｐゴシック" panose="020B0600070205080204" pitchFamily="34" charset="-128"/>
                <a:cs typeface="Arial" panose="020B0604020202020204" pitchFamily="34" charset="0"/>
              </a:rPr>
              <a:t>The end-to-end argument</a:t>
            </a:r>
          </a:p>
          <a:p>
            <a:pPr lvl="1">
              <a:defRPr/>
            </a:pPr>
            <a:r>
              <a:rPr lang="en-US" altLang="en-US" sz="2800" dirty="0">
                <a:solidFill>
                  <a:schemeClr val="bg1">
                    <a:lumMod val="50000"/>
                  </a:schemeClr>
                </a:solidFill>
                <a:ea typeface="ＭＳ Ｐゴシック" panose="020B0600070205080204" pitchFamily="34" charset="-128"/>
                <a:cs typeface="Arial" panose="020B0604020202020204" pitchFamily="34" charset="0"/>
              </a:rPr>
              <a:t>Middleboxes</a:t>
            </a:r>
          </a:p>
          <a:p>
            <a:pPr lvl="1">
              <a:defRPr/>
            </a:pPr>
            <a:r>
              <a:rPr lang="en-US" sz="2800" dirty="0">
                <a:solidFill>
                  <a:schemeClr val="bg1">
                    <a:lumMod val="50000"/>
                  </a:schemeClr>
                </a:solidFill>
                <a:ea typeface="ＭＳ Ｐゴシック" panose="020B0600070205080204" pitchFamily="34" charset="-128"/>
                <a:cs typeface="Arial" panose="020B0604020202020204" pitchFamily="34" charset="0"/>
              </a:rPr>
              <a:t>Software-defined network (SDNs)</a:t>
            </a:r>
          </a:p>
          <a:p>
            <a:pPr lvl="1">
              <a:defRPr/>
            </a:pPr>
            <a:endParaRPr lang="en-US" altLang="en-US" sz="2800" dirty="0">
              <a:solidFill>
                <a:schemeClr val="bg1">
                  <a:lumMod val="50000"/>
                </a:schemeClr>
              </a:solidFill>
              <a:ea typeface="ＭＳ Ｐゴシック" panose="020B0600070205080204" pitchFamily="34" charset="-128"/>
              <a:cs typeface="Arial" panose="020B0604020202020204" pitchFamily="34" charset="0"/>
            </a:endParaRPr>
          </a:p>
          <a:p>
            <a:pPr lvl="1">
              <a:defRPr/>
            </a:pPr>
            <a:endParaRPr lang="en-US" altLang="en-US" sz="2800" dirty="0">
              <a:solidFill>
                <a:schemeClr val="bg2">
                  <a:lumMod val="50000"/>
                </a:schemeClr>
              </a:solidFill>
              <a:ea typeface="ＭＳ Ｐゴシック" panose="020B0600070205080204" pitchFamily="34" charset="-128"/>
              <a:cs typeface="Arial" panose="020B0604020202020204" pitchFamily="34" charset="0"/>
            </a:endParaRPr>
          </a:p>
        </p:txBody>
      </p:sp>
      <p:sp>
        <p:nvSpPr>
          <p:cNvPr id="7" name="Content Placeholder 2">
            <a:extLst>
              <a:ext uri="{FF2B5EF4-FFF2-40B4-BE49-F238E27FC236}">
                <a16:creationId xmlns:a16="http://schemas.microsoft.com/office/drawing/2014/main" id="{96C56EF7-4A02-30D7-B325-52004A4540A8}"/>
              </a:ext>
            </a:extLst>
          </p:cNvPr>
          <p:cNvSpPr>
            <a:spLocks noGrp="1"/>
          </p:cNvSpPr>
          <p:nvPr>
            <p:ph sz="half" idx="1"/>
          </p:nvPr>
        </p:nvSpPr>
        <p:spPr>
          <a:xfrm>
            <a:off x="838201" y="1572572"/>
            <a:ext cx="5257800" cy="4482787"/>
          </a:xfrm>
        </p:spPr>
        <p:txBody>
          <a:bodyPr>
            <a:normAutofit/>
          </a:bodyPr>
          <a:lstStyle/>
          <a:p>
            <a:pPr marL="342900" indent="-212725">
              <a:buFont typeface="Wingdings" charset="2"/>
              <a:buChar char="§"/>
              <a:defRPr/>
            </a:pPr>
            <a:r>
              <a:rPr lang="en-US" sz="3200" dirty="0">
                <a:solidFill>
                  <a:schemeClr val="bg1">
                    <a:lumMod val="50000"/>
                  </a:schemeClr>
                </a:solidFill>
              </a:rPr>
              <a:t>The Internet Protocol (IP)</a:t>
            </a:r>
          </a:p>
          <a:p>
            <a:pPr>
              <a:defRPr/>
            </a:pPr>
            <a:r>
              <a:rPr lang="en-US" sz="3200" dirty="0">
                <a:solidFill>
                  <a:schemeClr val="bg2">
                    <a:lumMod val="50000"/>
                  </a:schemeClr>
                </a:solidFill>
              </a:rPr>
              <a:t>Internet Routing</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Hierarchical routing </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Intra-ISP routing: </a:t>
            </a:r>
            <a:r>
              <a:rPr lang="en-US" sz="2800" dirty="0">
                <a:solidFill>
                  <a:schemeClr val="bg2">
                    <a:lumMod val="50000"/>
                  </a:schemeClr>
                </a:solidFill>
              </a:rPr>
              <a:t>OSPF</a:t>
            </a:r>
          </a:p>
          <a:p>
            <a:pPr lvl="1">
              <a:defRPr/>
            </a:pPr>
            <a:r>
              <a:rPr lang="en-US" altLang="en-US" sz="2800" dirty="0">
                <a:solidFill>
                  <a:schemeClr val="bg2">
                    <a:lumMod val="50000"/>
                  </a:schemeClr>
                </a:solidFill>
                <a:ea typeface="ＭＳ Ｐゴシック" panose="020B0600070205080204" pitchFamily="34" charset="-128"/>
                <a:cs typeface="Arial" panose="020B0604020202020204" pitchFamily="34" charset="0"/>
              </a:rPr>
              <a:t>Inter-ISP routing: </a:t>
            </a:r>
            <a:r>
              <a:rPr lang="en-US" sz="2800" dirty="0">
                <a:solidFill>
                  <a:schemeClr val="bg2">
                    <a:lumMod val="50000"/>
                  </a:schemeClr>
                </a:solidFill>
              </a:rPr>
              <a:t>BGP</a:t>
            </a:r>
          </a:p>
          <a:p>
            <a:pPr>
              <a:defRPr/>
            </a:pPr>
            <a:r>
              <a:rPr lang="en-US" sz="3200" dirty="0">
                <a:solidFill>
                  <a:schemeClr val="bg1">
                    <a:lumMod val="50000"/>
                  </a:schemeClr>
                </a:solidFill>
              </a:rPr>
              <a:t>Internet Forwarding</a:t>
            </a:r>
          </a:p>
          <a:p>
            <a:pPr lvl="1">
              <a:spcBef>
                <a:spcPts val="400"/>
              </a:spcBef>
            </a:pPr>
            <a:r>
              <a:rPr lang="en-US" altLang="en-US" sz="2800" dirty="0">
                <a:solidFill>
                  <a:schemeClr val="bg1">
                    <a:lumMod val="50000"/>
                  </a:schemeClr>
                </a:solidFill>
                <a:ea typeface="ＭＳ Ｐゴシック" panose="020B0600070205080204" pitchFamily="34" charset="-128"/>
                <a:cs typeface="Arial" panose="020B0604020202020204" pitchFamily="34" charset="0"/>
              </a:rPr>
              <a:t>Destination-based forwarding</a:t>
            </a:r>
          </a:p>
          <a:p>
            <a:pPr>
              <a:spcBef>
                <a:spcPts val="400"/>
              </a:spcBef>
            </a:pPr>
            <a:r>
              <a:rPr lang="en-US" altLang="en-US" sz="3200" dirty="0">
                <a:solidFill>
                  <a:schemeClr val="bg1">
                    <a:lumMod val="50000"/>
                  </a:schemeClr>
                </a:solidFill>
                <a:ea typeface="ＭＳ Ｐゴシック" panose="020B0600070205080204" pitchFamily="34" charset="-128"/>
                <a:cs typeface="Arial" panose="020B0604020202020204" pitchFamily="34" charset="0"/>
              </a:rPr>
              <a:t>ICMP</a:t>
            </a:r>
          </a:p>
          <a:p>
            <a:pPr>
              <a:spcBef>
                <a:spcPts val="400"/>
              </a:spcBef>
            </a:pPr>
            <a:endParaRPr lang="en-US" altLang="en-US" sz="3200" dirty="0">
              <a:solidFill>
                <a:schemeClr val="bg1">
                  <a:lumMod val="50000"/>
                </a:schemeClr>
              </a:solidFill>
              <a:ea typeface="ＭＳ Ｐゴシック" panose="020B0600070205080204" pitchFamily="34" charset="-128"/>
              <a:cs typeface="Arial" panose="020B0604020202020204" pitchFamily="34" charset="0"/>
            </a:endParaRPr>
          </a:p>
        </p:txBody>
      </p:sp>
      <p:sp>
        <p:nvSpPr>
          <p:cNvPr id="3" name="Rectangle 2">
            <a:extLst>
              <a:ext uri="{FF2B5EF4-FFF2-40B4-BE49-F238E27FC236}">
                <a16:creationId xmlns:a16="http://schemas.microsoft.com/office/drawing/2014/main" id="{774AD776-35AB-6FD8-C926-B7AE5EF4FAF9}"/>
              </a:ext>
            </a:extLst>
          </p:cNvPr>
          <p:cNvSpPr/>
          <p:nvPr/>
        </p:nvSpPr>
        <p:spPr>
          <a:xfrm>
            <a:off x="1935126" y="1722474"/>
            <a:ext cx="8229600" cy="4167963"/>
          </a:xfrm>
          <a:prstGeom prst="rect">
            <a:avLst/>
          </a:prstGeom>
          <a:ln w="57150">
            <a:solidFill>
              <a:srgbClr val="C00000"/>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4000" dirty="0"/>
              <a:t>We are done with the network layer!</a:t>
            </a:r>
          </a:p>
          <a:p>
            <a:pPr algn="ctr"/>
            <a:r>
              <a:rPr lang="en-US" sz="4000" dirty="0">
                <a:solidFill>
                  <a:srgbClr val="C00000"/>
                </a:solidFill>
              </a:rPr>
              <a:t>Next Up:</a:t>
            </a:r>
            <a:r>
              <a:rPr lang="en-US" sz="4000" dirty="0"/>
              <a:t> Link Layer and Local Area Networks (LANs)</a:t>
            </a:r>
          </a:p>
        </p:txBody>
      </p:sp>
    </p:spTree>
    <p:extLst>
      <p:ext uri="{BB962C8B-B14F-4D97-AF65-F5344CB8AC3E}">
        <p14:creationId xmlns:p14="http://schemas.microsoft.com/office/powerpoint/2010/main" val="2356807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Metadata/LabelInfo.xml><?xml version="1.0" encoding="utf-8"?>
<clbl:labelList xmlns:clbl="http://schemas.microsoft.com/office/2020/mipLabelMetadata">
  <clbl:label id="{a9ee03e0-b78c-4998-8bf4-79b266b85105}" enabled="1" method="Standard" siteId="{723a5a87-f39a-4a22-9247-3fc240c01396}" removed="0"/>
</clbl:labelList>
</file>

<file path=docProps/app.xml><?xml version="1.0" encoding="utf-8"?>
<Properties xmlns="http://schemas.openxmlformats.org/officeDocument/2006/extended-properties" xmlns:vt="http://schemas.openxmlformats.org/officeDocument/2006/docPropsVTypes">
  <TotalTime>1138</TotalTime>
  <Words>4406</Words>
  <Application>Microsoft Macintosh PowerPoint</Application>
  <PresentationFormat>Widescreen</PresentationFormat>
  <Paragraphs>1201</Paragraphs>
  <Slides>62</Slides>
  <Notes>42</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62</vt:i4>
      </vt:variant>
    </vt:vector>
  </HeadingPairs>
  <TitlesOfParts>
    <vt:vector size="69" baseType="lpstr">
      <vt:lpstr>ＭＳ Ｐゴシック</vt:lpstr>
      <vt:lpstr>Arial</vt:lpstr>
      <vt:lpstr>Calibri</vt:lpstr>
      <vt:lpstr>Calibri Light</vt:lpstr>
      <vt:lpstr>Gill Sans MT</vt:lpstr>
      <vt:lpstr>Wingdings</vt:lpstr>
      <vt:lpstr>Office Theme</vt:lpstr>
      <vt:lpstr>CS 456/656 Computer Networks</vt:lpstr>
      <vt:lpstr>A note on the slides</vt:lpstr>
      <vt:lpstr>Network Layer in the Internet</vt:lpstr>
      <vt:lpstr>Network Layer in the Internet</vt:lpstr>
      <vt:lpstr>Destination-based forwarding</vt:lpstr>
      <vt:lpstr>Destination-based forwarding</vt:lpstr>
      <vt:lpstr>How do overlapping entries happen?</vt:lpstr>
      <vt:lpstr>Destination-based forwarding</vt:lpstr>
      <vt:lpstr>Destination-based forwarding</vt:lpstr>
      <vt:lpstr>Make sure you know</vt:lpstr>
      <vt:lpstr>Network Layer in the Internet</vt:lpstr>
      <vt:lpstr>The Internet needs error reporting and testing</vt:lpstr>
      <vt:lpstr>ICMP: internet control message protocol</vt:lpstr>
      <vt:lpstr>Traceroute and ICMP</vt:lpstr>
      <vt:lpstr>Traceroute and ICMP</vt:lpstr>
      <vt:lpstr>Network Layer in the Internet</vt:lpstr>
      <vt:lpstr>Network Layer in the Internet</vt:lpstr>
      <vt:lpstr>Architectural Principles of the Internet</vt:lpstr>
      <vt:lpstr>Architectural Principles of the Internet</vt:lpstr>
      <vt:lpstr>The end-to-end argument</vt:lpstr>
      <vt:lpstr>The end-to-end argument</vt:lpstr>
      <vt:lpstr>The end-to-end argument</vt:lpstr>
      <vt:lpstr>The end-to-end argument</vt:lpstr>
      <vt:lpstr>The end-to-end argument</vt:lpstr>
      <vt:lpstr>The IP hourglass</vt:lpstr>
      <vt:lpstr>Side note: end-to-end argument is not set in stone</vt:lpstr>
      <vt:lpstr>Make sure you know</vt:lpstr>
      <vt:lpstr>Network Layer in the Internet</vt:lpstr>
      <vt:lpstr>What if we need to do more in the network?</vt:lpstr>
      <vt:lpstr>Middleboxes</vt:lpstr>
      <vt:lpstr>Middleboxes everywhere!</vt:lpstr>
      <vt:lpstr>Middleboxes (or Network Functions)</vt:lpstr>
      <vt:lpstr>The (more realistic) IP hourglass</vt:lpstr>
      <vt:lpstr>What if we need to do more in the network?</vt:lpstr>
      <vt:lpstr>Make sure you know</vt:lpstr>
      <vt:lpstr>Network Layer in the Internet</vt:lpstr>
      <vt:lpstr>A more general packet processing model</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abstraction</vt:lpstr>
      <vt:lpstr>How does routing work in this generalized forwarding model?</vt:lpstr>
      <vt:lpstr>Software-Defined Networking (SDN)</vt:lpstr>
      <vt:lpstr>Software-Defined Networking (SDN)</vt:lpstr>
      <vt:lpstr>Software-Defined Networking (SDN)</vt:lpstr>
      <vt:lpstr>Software-Defined Networking (SDN)</vt:lpstr>
      <vt:lpstr>Software-Defined Networking (SDN)</vt:lpstr>
      <vt:lpstr>Software-Defined Networking (SDN)</vt:lpstr>
      <vt:lpstr>Software-Defined Networking (SDN)</vt:lpstr>
      <vt:lpstr>OpenFlow example</vt:lpstr>
      <vt:lpstr>OpenFlow example</vt:lpstr>
      <vt:lpstr>Generalized forwarding: summary</vt:lpstr>
      <vt:lpstr>Remarks on Software-Defined Networking (SDN)</vt:lpstr>
      <vt:lpstr>Make sure you know</vt:lpstr>
      <vt:lpstr>SDN/OpenFlow Exercise</vt:lpstr>
      <vt:lpstr>One Potential Answer</vt:lpstr>
      <vt:lpstr>Flow tables for Path Set 1</vt:lpstr>
      <vt:lpstr>Network Layer in the Internet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Mina Tahmasbi Arashloo</cp:lastModifiedBy>
  <cp:revision>4</cp:revision>
  <cp:lastPrinted>2025-11-10T14:22:59Z</cp:lastPrinted>
  <dcterms:created xsi:type="dcterms:W3CDTF">2020-01-18T07:24:59Z</dcterms:created>
  <dcterms:modified xsi:type="dcterms:W3CDTF">2025-12-17T17:16:35Z</dcterms:modified>
</cp:coreProperties>
</file>