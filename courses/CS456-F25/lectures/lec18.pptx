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1254" r:id="rId2"/>
    <p:sldId id="2634" r:id="rId3"/>
    <p:sldId id="2688" r:id="rId4"/>
    <p:sldId id="2682" r:id="rId5"/>
    <p:sldId id="2689" r:id="rId6"/>
    <p:sldId id="1239" r:id="rId7"/>
    <p:sldId id="1055" r:id="rId8"/>
    <p:sldId id="1238" r:id="rId9"/>
    <p:sldId id="2638" r:id="rId10"/>
    <p:sldId id="1066" r:id="rId11"/>
    <p:sldId id="2639" r:id="rId12"/>
    <p:sldId id="2640" r:id="rId13"/>
    <p:sldId id="2641" r:id="rId14"/>
    <p:sldId id="2684" r:id="rId15"/>
    <p:sldId id="2645" r:id="rId16"/>
    <p:sldId id="2686" r:id="rId17"/>
    <p:sldId id="2649" r:id="rId18"/>
    <p:sldId id="2650" r:id="rId19"/>
    <p:sldId id="2652" r:id="rId20"/>
    <p:sldId id="2653" r:id="rId21"/>
    <p:sldId id="2654" r:id="rId22"/>
    <p:sldId id="2668" r:id="rId23"/>
    <p:sldId id="2687" r:id="rId24"/>
    <p:sldId id="2669" r:id="rId25"/>
    <p:sldId id="2670" r:id="rId26"/>
    <p:sldId id="2671" r:id="rId27"/>
    <p:sldId id="2672" r:id="rId28"/>
    <p:sldId id="2673" r:id="rId29"/>
    <p:sldId id="2691" r:id="rId30"/>
    <p:sldId id="2690" r:id="rId31"/>
    <p:sldId id="2647" r:id="rId32"/>
    <p:sldId id="2648" r:id="rId33"/>
    <p:sldId id="2655" r:id="rId34"/>
    <p:sldId id="2656" r:id="rId35"/>
    <p:sldId id="2657" r:id="rId36"/>
    <p:sldId id="2658" r:id="rId37"/>
    <p:sldId id="2659" r:id="rId38"/>
    <p:sldId id="2660" r:id="rId39"/>
    <p:sldId id="2662" r:id="rId40"/>
    <p:sldId id="2665" r:id="rId41"/>
    <p:sldId id="2666" r:id="rId42"/>
    <p:sldId id="2667" r:id="rId43"/>
    <p:sldId id="1073" r:id="rId44"/>
    <p:sldId id="1074" r:id="rId45"/>
    <p:sldId id="120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440" userDrawn="1">
          <p15:clr>
            <a:srgbClr val="A4A3A4"/>
          </p15:clr>
        </p15:guide>
        <p15:guide id="3" orient="horz" pos="35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F90"/>
    <a:srgbClr val="FF0000"/>
    <a:srgbClr val="0000A8"/>
    <a:srgbClr val="B5E7FF"/>
    <a:srgbClr val="A2C1FF"/>
    <a:srgbClr val="8FAADC"/>
    <a:srgbClr val="E40000"/>
    <a:srgbClr val="FFB3D3"/>
    <a:srgbClr val="0000A3"/>
    <a:srgbClr val="9CE0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5D4E08-6BAD-4447-8F7C-A66CAA4360AE}" v="35" dt="2025-12-01T12:32:38.4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75"/>
    <p:restoredTop sz="83309" autoAdjust="0"/>
  </p:normalViewPr>
  <p:slideViewPr>
    <p:cSldViewPr snapToGrid="0" snapToObjects="1">
      <p:cViewPr varScale="1">
        <p:scale>
          <a:sx n="97" d="100"/>
          <a:sy n="97" d="100"/>
        </p:scale>
        <p:origin x="776" y="208"/>
      </p:cViewPr>
      <p:guideLst>
        <p:guide pos="1440"/>
        <p:guide orient="horz" pos="3528"/>
      </p:guideLst>
    </p:cSldViewPr>
  </p:slideViewPr>
  <p:outlineViewPr>
    <p:cViewPr>
      <p:scale>
        <a:sx n="33" d="100"/>
        <a:sy n="33" d="100"/>
      </p:scale>
      <p:origin x="0" y="-2574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4760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Green box is a physical layer responsible for receiving bit level transmission.  Copper, fiber wireless.</a:t>
            </a:r>
          </a:p>
          <a:p>
            <a:r>
              <a:rPr lang="en-US"/>
              <a:t>Link layer in blue – bit assemble into Ethernet frame.   We will discuss this in details in chapter 6.  </a:t>
            </a:r>
          </a:p>
          <a:p>
            <a:r>
              <a:rPr lang="en-US"/>
              <a:t>But most critical one, is here.  Lookup, forwarding function.    Lookup and forward is “Match plus action” behavior.  </a:t>
            </a:r>
          </a:p>
          <a:p>
            <a:r>
              <a:rPr lang="en-US"/>
              <a:t>GOAL – processing at “line speed”,  otherwise, buffer will be full and packet will be lost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518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004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5194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1651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3394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958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956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0721C-C2FE-E623-6620-ED87C45E5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150B3-C9FF-C10F-0B02-B65064CC5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16B30-5C0D-4E24-0C6F-F4C6E11CE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3B689-ED13-371E-8240-5138FF71B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475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8188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5671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2117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F7D9F-C31A-65D4-98BD-7BE60E638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4770"/>
            <a:ext cx="9144000" cy="1909763"/>
          </a:xfrm>
        </p:spPr>
        <p:txBody>
          <a:bodyPr/>
          <a:lstStyle/>
          <a:p>
            <a:r>
              <a:rPr lang="en-US" dirty="0"/>
              <a:t>CS 456/656</a:t>
            </a:r>
            <a:br>
              <a:rPr lang="en-US" dirty="0"/>
            </a:br>
            <a:r>
              <a:rPr lang="en-US" dirty="0"/>
              <a:t>Computer Networks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B9C67F7-7D16-FD6B-3FB1-428609D14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87327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/>
              <a:t>Mina Tahmasbi Arashloo and Uzma Maroof</a:t>
            </a:r>
          </a:p>
          <a:p>
            <a:r>
              <a:rPr lang="en-US" sz="3600" dirty="0"/>
              <a:t>Fall 2025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4393E2DC-BA4A-041C-1F92-F22DF46B02AE}"/>
              </a:ext>
            </a:extLst>
          </p:cNvPr>
          <p:cNvSpPr txBox="1">
            <a:spLocks/>
          </p:cNvSpPr>
          <p:nvPr/>
        </p:nvSpPr>
        <p:spPr>
          <a:xfrm>
            <a:off x="1053548" y="3429000"/>
            <a:ext cx="10084904" cy="9504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Lecture 18: Router/Switch Architecture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CD55C61-978D-BBD0-7498-E74B3BEAE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4073" y="-184913"/>
            <a:ext cx="4558145" cy="182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4CEA7-37C1-F427-084F-640DE3532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the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98C03-0047-C923-1960-8CF20F761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70864"/>
            <a:ext cx="5181600" cy="894622"/>
          </a:xfrm>
        </p:spPr>
        <p:txBody>
          <a:bodyPr/>
          <a:lstStyle/>
          <a:p>
            <a:pPr marL="130175" indent="0">
              <a:buNone/>
            </a:pPr>
            <a:r>
              <a:rPr lang="en-US" dirty="0"/>
              <a:t>Adapted from the slides that accompany this book.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238DD7-7231-CD30-6036-3E76182B3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719" y="4239526"/>
            <a:ext cx="3981504" cy="1923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pic>
        <p:nvPicPr>
          <p:cNvPr id="7" name="Picture 6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99FDFA5F-7FE6-BDE0-9734-5047AE07A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348" y="899132"/>
            <a:ext cx="2722178" cy="34027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207271-C5F3-4986-FF3F-2038913E037D}"/>
              </a:ext>
            </a:extLst>
          </p:cNvPr>
          <p:cNvSpPr txBox="1"/>
          <p:nvPr/>
        </p:nvSpPr>
        <p:spPr>
          <a:xfrm>
            <a:off x="958580" y="3429000"/>
            <a:ext cx="5754494" cy="670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2200" dirty="0">
                <a:latin typeface="+mn-lt"/>
              </a:rPr>
              <a:t>All material copyright 1996-2023</a:t>
            </a:r>
          </a:p>
          <a:p>
            <a:pPr>
              <a:lnSpc>
                <a:spcPct val="85000"/>
              </a:lnSpc>
            </a:pPr>
            <a:r>
              <a:rPr lang="en-US" altLang="en-US" sz="2200" dirty="0">
                <a:latin typeface="+mn-lt"/>
              </a:rPr>
              <a:t>J.F Kurose and K.W. Ross, All Rights Reserved</a:t>
            </a:r>
            <a:endParaRPr lang="en-US" sz="2200" dirty="0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FB51EAF9-AC71-AF3F-2442-6ABD5D772DDC}"/>
              </a:ext>
            </a:extLst>
          </p:cNvPr>
          <p:cNvCxnSpPr>
            <a:cxnSpLocks/>
          </p:cNvCxnSpPr>
          <p:nvPr/>
        </p:nvCxnSpPr>
        <p:spPr>
          <a:xfrm flipV="1">
            <a:off x="4488873" y="2050473"/>
            <a:ext cx="2753846" cy="969818"/>
          </a:xfrm>
          <a:prstGeom prst="bentConnector3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487052-A3F2-A377-A444-9C527FB3E8A6}"/>
              </a:ext>
            </a:extLst>
          </p:cNvPr>
          <p:cNvSpPr txBox="1">
            <a:spLocks/>
          </p:cNvSpPr>
          <p:nvPr/>
        </p:nvSpPr>
        <p:spPr>
          <a:xfrm>
            <a:off x="838200" y="4508085"/>
            <a:ext cx="5181600" cy="894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>
              <a:buFont typeface="Wingdings" pitchFamily="2" charset="2"/>
              <a:buNone/>
            </a:pPr>
            <a:r>
              <a:rPr lang="en-US" dirty="0"/>
              <a:t>And lecture notes from Anirudh </a:t>
            </a:r>
            <a:r>
              <a:rPr lang="en-US" dirty="0" err="1"/>
              <a:t>Sivaraman</a:t>
            </a:r>
            <a:r>
              <a:rPr lang="en-US" dirty="0"/>
              <a:t>, NYU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56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33D94-36B8-335A-C29D-73518D233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0CD89-E8CF-672D-D586-7E606F64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discussed before</a:t>
            </a:r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5F9BF9B9-5368-05BB-3DD9-E59152AF4AE3}"/>
              </a:ext>
            </a:extLst>
          </p:cNvPr>
          <p:cNvGrpSpPr/>
          <p:nvPr/>
        </p:nvGrpSpPr>
        <p:grpSpPr>
          <a:xfrm>
            <a:off x="5207069" y="1493069"/>
            <a:ext cx="6348758" cy="2587259"/>
            <a:chOff x="2061715" y="3514305"/>
            <a:chExt cx="6348758" cy="2587259"/>
          </a:xfrm>
        </p:grpSpPr>
        <p:sp>
          <p:nvSpPr>
            <p:cNvPr id="5" name="Line 53">
              <a:extLst>
                <a:ext uri="{FF2B5EF4-FFF2-40B4-BE49-F238E27FC236}">
                  <a16:creationId xmlns:a16="http://schemas.microsoft.com/office/drawing/2014/main" id="{FEF3B1DD-ED78-9ED3-EF42-A8E6AB0B37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51417" y="50496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" name="Line 33">
              <a:extLst>
                <a:ext uri="{FF2B5EF4-FFF2-40B4-BE49-F238E27FC236}">
                  <a16:creationId xmlns:a16="http://schemas.microsoft.com/office/drawing/2014/main" id="{E68A37E3-6A2F-B869-DC0F-BB0F15308D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3646" y="5241679"/>
              <a:ext cx="395409" cy="3709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C9E49B6A-9B4F-ADD6-0A0C-A84A2E21C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0934" y="4863330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D1FAF68-F956-3B9C-68D4-E20DE84D84F8}"/>
                </a:ext>
              </a:extLst>
            </p:cNvPr>
            <p:cNvGrpSpPr/>
            <p:nvPr/>
          </p:nvGrpSpPr>
          <p:grpSpPr>
            <a:xfrm>
              <a:off x="7121953" y="4837792"/>
              <a:ext cx="586768" cy="904023"/>
              <a:chOff x="10910965" y="2513124"/>
              <a:chExt cx="586768" cy="904023"/>
            </a:xfrm>
          </p:grpSpPr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4A8523F4-339B-F359-BE99-C61E01F9D34A}"/>
                  </a:ext>
                </a:extLst>
              </p:cNvPr>
              <p:cNvSpPr/>
              <p:nvPr/>
            </p:nvSpPr>
            <p:spPr>
              <a:xfrm>
                <a:off x="10916736" y="2513124"/>
                <a:ext cx="574264" cy="90402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09AD756A-F58F-C4BE-116C-2463FB4B8320}"/>
                  </a:ext>
                </a:extLst>
              </p:cNvPr>
              <p:cNvCxnSpPr/>
              <p:nvPr/>
            </p:nvCxnSpPr>
            <p:spPr>
              <a:xfrm>
                <a:off x="10910965" y="2696064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22A2E99E-E225-D85F-64D0-5C4E68F82454}"/>
                  </a:ext>
                </a:extLst>
              </p:cNvPr>
              <p:cNvCxnSpPr/>
              <p:nvPr/>
            </p:nvCxnSpPr>
            <p:spPr>
              <a:xfrm>
                <a:off x="10914332" y="288175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D7259452-6CB3-47AB-9236-0CF3375E677C}"/>
                  </a:ext>
                </a:extLst>
              </p:cNvPr>
              <p:cNvCxnSpPr/>
              <p:nvPr/>
            </p:nvCxnSpPr>
            <p:spPr>
              <a:xfrm>
                <a:off x="10923469" y="3064677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1667D685-9821-56F8-BC7F-4630B65835A4}"/>
                  </a:ext>
                </a:extLst>
              </p:cNvPr>
              <p:cNvCxnSpPr/>
              <p:nvPr/>
            </p:nvCxnSpPr>
            <p:spPr>
              <a:xfrm>
                <a:off x="10915293" y="324207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2653325-E113-160C-35C8-2AAFE44451A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087048" y="3721445"/>
              <a:ext cx="430143" cy="900469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10401 w 10401"/>
                <a:gd name="connsiteY0" fmla="*/ 9412 h 9459"/>
                <a:gd name="connsiteX1" fmla="*/ 0 w 10401"/>
                <a:gd name="connsiteY1" fmla="*/ 0 h 9459"/>
                <a:gd name="connsiteX2" fmla="*/ 401 w 10401"/>
                <a:gd name="connsiteY2" fmla="*/ 8992 h 9459"/>
                <a:gd name="connsiteX3" fmla="*/ 5483 w 10401"/>
                <a:gd name="connsiteY3" fmla="*/ 9459 h 9459"/>
                <a:gd name="connsiteX4" fmla="*/ 10401 w 10401"/>
                <a:gd name="connsiteY4" fmla="*/ 9412 h 9459"/>
                <a:gd name="connsiteX0" fmla="*/ 14206 w 14206"/>
                <a:gd name="connsiteY0" fmla="*/ 3611 h 10000"/>
                <a:gd name="connsiteX1" fmla="*/ 0 w 14206"/>
                <a:gd name="connsiteY1" fmla="*/ 0 h 10000"/>
                <a:gd name="connsiteX2" fmla="*/ 386 w 14206"/>
                <a:gd name="connsiteY2" fmla="*/ 9506 h 10000"/>
                <a:gd name="connsiteX3" fmla="*/ 5272 w 14206"/>
                <a:gd name="connsiteY3" fmla="*/ 10000 h 10000"/>
                <a:gd name="connsiteX4" fmla="*/ 14206 w 14206"/>
                <a:gd name="connsiteY4" fmla="*/ 3611 h 10000"/>
                <a:gd name="connsiteX0" fmla="*/ 14206 w 16488"/>
                <a:gd name="connsiteY0" fmla="*/ 3611 h 9506"/>
                <a:gd name="connsiteX1" fmla="*/ 0 w 16488"/>
                <a:gd name="connsiteY1" fmla="*/ 0 h 9506"/>
                <a:gd name="connsiteX2" fmla="*/ 386 w 16488"/>
                <a:gd name="connsiteY2" fmla="*/ 9506 h 9506"/>
                <a:gd name="connsiteX3" fmla="*/ 16488 w 16488"/>
                <a:gd name="connsiteY3" fmla="*/ 6207 h 9506"/>
                <a:gd name="connsiteX4" fmla="*/ 14206 w 16488"/>
                <a:gd name="connsiteY4" fmla="*/ 3611 h 9506"/>
                <a:gd name="connsiteX0" fmla="*/ 8616 w 10000"/>
                <a:gd name="connsiteY0" fmla="*/ 3799 h 10765"/>
                <a:gd name="connsiteX1" fmla="*/ 0 w 10000"/>
                <a:gd name="connsiteY1" fmla="*/ 0 h 10765"/>
                <a:gd name="connsiteX2" fmla="*/ 128 w 10000"/>
                <a:gd name="connsiteY2" fmla="*/ 10765 h 10765"/>
                <a:gd name="connsiteX3" fmla="*/ 10000 w 10000"/>
                <a:gd name="connsiteY3" fmla="*/ 6530 h 10765"/>
                <a:gd name="connsiteX4" fmla="*/ 8616 w 10000"/>
                <a:gd name="connsiteY4" fmla="*/ 3799 h 10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765">
                  <a:moveTo>
                    <a:pt x="8616" y="3799"/>
                  </a:moveTo>
                  <a:lnTo>
                    <a:pt x="0" y="0"/>
                  </a:lnTo>
                  <a:cubicBezTo>
                    <a:pt x="78" y="3333"/>
                    <a:pt x="50" y="7432"/>
                    <a:pt x="128" y="10765"/>
                  </a:cubicBezTo>
                  <a:lnTo>
                    <a:pt x="10000" y="6530"/>
                  </a:lnTo>
                  <a:lnTo>
                    <a:pt x="8616" y="3799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DDDDDD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BA6569E-9408-249A-BBB1-AA50C8A6C3D3}"/>
                </a:ext>
              </a:extLst>
            </p:cNvPr>
            <p:cNvGrpSpPr/>
            <p:nvPr/>
          </p:nvGrpSpPr>
          <p:grpSpPr>
            <a:xfrm>
              <a:off x="2626216" y="4614104"/>
              <a:ext cx="586768" cy="904023"/>
              <a:chOff x="10910965" y="2513124"/>
              <a:chExt cx="586768" cy="904023"/>
            </a:xfrm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C17B2D21-B4F1-E0E4-0A74-1884F18E6F9B}"/>
                  </a:ext>
                </a:extLst>
              </p:cNvPr>
              <p:cNvSpPr/>
              <p:nvPr/>
            </p:nvSpPr>
            <p:spPr>
              <a:xfrm>
                <a:off x="10916736" y="2513124"/>
                <a:ext cx="574264" cy="90402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C83ECC4B-85FB-6137-F968-E7444F28AEF4}"/>
                  </a:ext>
                </a:extLst>
              </p:cNvPr>
              <p:cNvCxnSpPr/>
              <p:nvPr/>
            </p:nvCxnSpPr>
            <p:spPr>
              <a:xfrm>
                <a:off x="10910965" y="2696064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79956E6F-CF67-15C3-EDBA-BF306DD3568D}"/>
                  </a:ext>
                </a:extLst>
              </p:cNvPr>
              <p:cNvCxnSpPr/>
              <p:nvPr/>
            </p:nvCxnSpPr>
            <p:spPr>
              <a:xfrm>
                <a:off x="10914332" y="288175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33AFFADC-F9BC-CFFB-CA1C-0661CB99786F}"/>
                  </a:ext>
                </a:extLst>
              </p:cNvPr>
              <p:cNvCxnSpPr/>
              <p:nvPr/>
            </p:nvCxnSpPr>
            <p:spPr>
              <a:xfrm>
                <a:off x="10923469" y="3064677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9A7973BC-4C7F-54E6-F952-3E1FEEA4DBD8}"/>
                  </a:ext>
                </a:extLst>
              </p:cNvPr>
              <p:cNvCxnSpPr/>
              <p:nvPr/>
            </p:nvCxnSpPr>
            <p:spPr>
              <a:xfrm>
                <a:off x="10915293" y="324207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6B9EDA-8BDA-0973-3C7A-B194E5A0B9AB}"/>
                </a:ext>
              </a:extLst>
            </p:cNvPr>
            <p:cNvGrpSpPr/>
            <p:nvPr/>
          </p:nvGrpSpPr>
          <p:grpSpPr>
            <a:xfrm>
              <a:off x="3502516" y="3725612"/>
              <a:ext cx="586768" cy="904023"/>
              <a:chOff x="10910965" y="2513124"/>
              <a:chExt cx="586768" cy="904023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115AE8C5-A503-2900-0E5C-F94517718A1E}"/>
                  </a:ext>
                </a:extLst>
              </p:cNvPr>
              <p:cNvSpPr/>
              <p:nvPr/>
            </p:nvSpPr>
            <p:spPr>
              <a:xfrm>
                <a:off x="10916736" y="2513124"/>
                <a:ext cx="574264" cy="90402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59B24940-9EF0-AE2F-80E8-AD560C59C8C4}"/>
                  </a:ext>
                </a:extLst>
              </p:cNvPr>
              <p:cNvCxnSpPr/>
              <p:nvPr/>
            </p:nvCxnSpPr>
            <p:spPr>
              <a:xfrm>
                <a:off x="10910965" y="2696064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CE36D952-4573-2FCA-FB0B-9F0A905DB476}"/>
                  </a:ext>
                </a:extLst>
              </p:cNvPr>
              <p:cNvCxnSpPr/>
              <p:nvPr/>
            </p:nvCxnSpPr>
            <p:spPr>
              <a:xfrm>
                <a:off x="10914332" y="288175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712F1835-35FF-6A3D-D286-C32AB3B4EA9B}"/>
                  </a:ext>
                </a:extLst>
              </p:cNvPr>
              <p:cNvCxnSpPr/>
              <p:nvPr/>
            </p:nvCxnSpPr>
            <p:spPr>
              <a:xfrm>
                <a:off x="10923469" y="3064677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7C1242F4-94AF-D0FC-C5E6-2AA95B40608A}"/>
                  </a:ext>
                </a:extLst>
              </p:cNvPr>
              <p:cNvCxnSpPr/>
              <p:nvPr/>
            </p:nvCxnSpPr>
            <p:spPr>
              <a:xfrm>
                <a:off x="10915293" y="324207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60ED959-0FBF-7154-EB52-411857DC2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7172" y="3861933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C9E48CB-636F-2EB1-8D6F-C960E6976CA6}"/>
                </a:ext>
              </a:extLst>
            </p:cNvPr>
            <p:cNvGrpSpPr/>
            <p:nvPr/>
          </p:nvGrpSpPr>
          <p:grpSpPr>
            <a:xfrm>
              <a:off x="7500494" y="3837799"/>
              <a:ext cx="586768" cy="904023"/>
              <a:chOff x="10910965" y="2513124"/>
              <a:chExt cx="586768" cy="904023"/>
            </a:xfrm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EC1C985C-B3B2-7C08-BC11-AACA3D45E2D5}"/>
                  </a:ext>
                </a:extLst>
              </p:cNvPr>
              <p:cNvSpPr/>
              <p:nvPr/>
            </p:nvSpPr>
            <p:spPr>
              <a:xfrm>
                <a:off x="10916736" y="2513124"/>
                <a:ext cx="574264" cy="90402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CAD06730-85F8-A07F-A1EA-717A3F1648FC}"/>
                  </a:ext>
                </a:extLst>
              </p:cNvPr>
              <p:cNvCxnSpPr/>
              <p:nvPr/>
            </p:nvCxnSpPr>
            <p:spPr>
              <a:xfrm>
                <a:off x="10910965" y="2696064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69D24C04-612A-7E7C-82C7-6776CBF98BD7}"/>
                  </a:ext>
                </a:extLst>
              </p:cNvPr>
              <p:cNvCxnSpPr/>
              <p:nvPr/>
            </p:nvCxnSpPr>
            <p:spPr>
              <a:xfrm>
                <a:off x="10914332" y="288175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77C9F74C-464B-9817-234E-6CC0A9F4BD86}"/>
                  </a:ext>
                </a:extLst>
              </p:cNvPr>
              <p:cNvCxnSpPr/>
              <p:nvPr/>
            </p:nvCxnSpPr>
            <p:spPr>
              <a:xfrm>
                <a:off x="10923469" y="3064677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947C0E0F-12D5-D0ED-D8E6-56169024C95C}"/>
                  </a:ext>
                </a:extLst>
              </p:cNvPr>
              <p:cNvCxnSpPr/>
              <p:nvPr/>
            </p:nvCxnSpPr>
            <p:spPr>
              <a:xfrm>
                <a:off x="10915293" y="324207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1B6FC98-84F0-0548-B84B-6C2607AF5D73}"/>
                </a:ext>
              </a:extLst>
            </p:cNvPr>
            <p:cNvGrpSpPr/>
            <p:nvPr/>
          </p:nvGrpSpPr>
          <p:grpSpPr>
            <a:xfrm>
              <a:off x="4655037" y="4881538"/>
              <a:ext cx="1047677" cy="561647"/>
              <a:chOff x="7493876" y="2774732"/>
              <a:chExt cx="1481958" cy="894621"/>
            </a:xfrm>
          </p:grpSpPr>
          <p:sp>
            <p:nvSpPr>
              <p:cNvPr id="137" name="Freeform 363">
                <a:extLst>
                  <a:ext uri="{FF2B5EF4-FFF2-40B4-BE49-F238E27FC236}">
                    <a16:creationId xmlns:a16="http://schemas.microsoft.com/office/drawing/2014/main" id="{A24C7C89-EB25-0057-27D7-49AC193974F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E15B8A35-BCDD-0C7B-7470-BF2A30641E9D}"/>
                  </a:ext>
                </a:extLst>
              </p:cNvPr>
              <p:cNvSpPr/>
              <p:nvPr/>
            </p:nvSpPr>
            <p:spPr>
              <a:xfrm>
                <a:off x="7494728" y="2774732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F8A5C611-4DD5-BC1A-D2D2-C9BDC7C7C2F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40" name="Freeform 366">
                  <a:extLst>
                    <a:ext uri="{FF2B5EF4-FFF2-40B4-BE49-F238E27FC236}">
                      <a16:creationId xmlns:a16="http://schemas.microsoft.com/office/drawing/2014/main" id="{20809900-626C-19C4-393E-E9C854B84D38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367">
                  <a:extLst>
                    <a:ext uri="{FF2B5EF4-FFF2-40B4-BE49-F238E27FC236}">
                      <a16:creationId xmlns:a16="http://schemas.microsoft.com/office/drawing/2014/main" id="{0E942649-67E3-0E37-AE21-E048B976C3B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 368">
                  <a:extLst>
                    <a:ext uri="{FF2B5EF4-FFF2-40B4-BE49-F238E27FC236}">
                      <a16:creationId xmlns:a16="http://schemas.microsoft.com/office/drawing/2014/main" id="{0FF789C7-51BB-A954-7B19-73139E5DD58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369">
                  <a:extLst>
                    <a:ext uri="{FF2B5EF4-FFF2-40B4-BE49-F238E27FC236}">
                      <a16:creationId xmlns:a16="http://schemas.microsoft.com/office/drawing/2014/main" id="{C0E95EDD-C994-3D21-13FC-84690168735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" name="Group 124">
              <a:extLst>
                <a:ext uri="{FF2B5EF4-FFF2-40B4-BE49-F238E27FC236}">
                  <a16:creationId xmlns:a16="http://schemas.microsoft.com/office/drawing/2014/main" id="{AFF37B88-DDFE-6C40-8D76-FA5015D8F3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7758" y="3997698"/>
              <a:ext cx="525463" cy="434975"/>
              <a:chOff x="-44" y="1473"/>
              <a:chExt cx="981" cy="1105"/>
            </a:xfrm>
          </p:grpSpPr>
          <p:pic>
            <p:nvPicPr>
              <p:cNvPr id="135" name="Picture 125" descr="desktop_computer_stylized_medium">
                <a:extLst>
                  <a:ext uri="{FF2B5EF4-FFF2-40B4-BE49-F238E27FC236}">
                    <a16:creationId xmlns:a16="http://schemas.microsoft.com/office/drawing/2014/main" id="{DFC4C2A9-395D-6562-C74A-B618A5726E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C317ACD7-0763-E311-B4B5-06449B18094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01384278-8893-3A59-77DC-5A80348C144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381597" y="4612505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Text Box 42">
              <a:extLst>
                <a:ext uri="{FF2B5EF4-FFF2-40B4-BE49-F238E27FC236}">
                  <a16:creationId xmlns:a16="http://schemas.microsoft.com/office/drawing/2014/main" id="{8B5C5E3C-4BF3-CDA8-3B72-A28F8126E3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1482" y="3732281"/>
              <a:ext cx="913861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A</a:t>
              </a:r>
              <a:endPara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Text Box 52">
              <a:extLst>
                <a:ext uri="{FF2B5EF4-FFF2-40B4-BE49-F238E27FC236}">
                  <a16:creationId xmlns:a16="http://schemas.microsoft.com/office/drawing/2014/main" id="{5E61249F-A979-B10D-F3B9-03F4AEEFE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7264" y="5660930"/>
              <a:ext cx="799129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13A3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B</a:t>
              </a:r>
              <a:endPara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Line 54">
              <a:extLst>
                <a:ext uri="{FF2B5EF4-FFF2-40B4-BE49-F238E27FC236}">
                  <a16:creationId xmlns:a16="http://schemas.microsoft.com/office/drawing/2014/main" id="{1D66D1F4-0CCD-F092-F3EA-CAC41EE3E7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48672" y="5145905"/>
              <a:ext cx="10924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Line 55">
              <a:extLst>
                <a:ext uri="{FF2B5EF4-FFF2-40B4-BE49-F238E27FC236}">
                  <a16:creationId xmlns:a16="http://schemas.microsoft.com/office/drawing/2014/main" id="{ED937855-2899-1B43-DBE3-6A1A0E9683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34008" y="4745855"/>
              <a:ext cx="923925" cy="866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Line 57">
              <a:extLst>
                <a:ext uri="{FF2B5EF4-FFF2-40B4-BE49-F238E27FC236}">
                  <a16:creationId xmlns:a16="http://schemas.microsoft.com/office/drawing/2014/main" id="{55F977C1-DF0C-DFB6-91FD-D9747D04C3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55904" y="4746002"/>
              <a:ext cx="4397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2" name="Group 127">
              <a:extLst>
                <a:ext uri="{FF2B5EF4-FFF2-40B4-BE49-F238E27FC236}">
                  <a16:creationId xmlns:a16="http://schemas.microsoft.com/office/drawing/2014/main" id="{FEBA91B3-0E08-6E67-8B6A-A631068B09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78697" y="4453755"/>
              <a:ext cx="231776" cy="441326"/>
              <a:chOff x="4140" y="429"/>
              <a:chExt cx="1425" cy="2396"/>
            </a:xfrm>
          </p:grpSpPr>
          <p:sp>
            <p:nvSpPr>
              <p:cNvPr id="103" name="Freeform 128">
                <a:extLst>
                  <a:ext uri="{FF2B5EF4-FFF2-40B4-BE49-F238E27FC236}">
                    <a16:creationId xmlns:a16="http://schemas.microsoft.com/office/drawing/2014/main" id="{8AAA93CC-CEBF-9FD1-528F-F34868778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4" name="Rectangle 129">
                <a:extLst>
                  <a:ext uri="{FF2B5EF4-FFF2-40B4-BE49-F238E27FC236}">
                    <a16:creationId xmlns:a16="http://schemas.microsoft.com/office/drawing/2014/main" id="{7541735E-620D-56A6-60CA-1C42823BA4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5" name="Freeform 130">
                <a:extLst>
                  <a:ext uri="{FF2B5EF4-FFF2-40B4-BE49-F238E27FC236}">
                    <a16:creationId xmlns:a16="http://schemas.microsoft.com/office/drawing/2014/main" id="{62197D73-6839-1DF9-8959-5B65B57CED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6" name="Freeform 131">
                <a:extLst>
                  <a:ext uri="{FF2B5EF4-FFF2-40B4-BE49-F238E27FC236}">
                    <a16:creationId xmlns:a16="http://schemas.microsoft.com/office/drawing/2014/main" id="{B4B7A52E-2E3C-857D-2972-739C482EDE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" name="Rectangle 132">
                <a:extLst>
                  <a:ext uri="{FF2B5EF4-FFF2-40B4-BE49-F238E27FC236}">
                    <a16:creationId xmlns:a16="http://schemas.microsoft.com/office/drawing/2014/main" id="{A4499ADD-9773-E096-BB50-DEB701815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696"/>
                <a:ext cx="595" cy="43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08" name="Group 133">
                <a:extLst>
                  <a:ext uri="{FF2B5EF4-FFF2-40B4-BE49-F238E27FC236}">
                    <a16:creationId xmlns:a16="http://schemas.microsoft.com/office/drawing/2014/main" id="{18368B61-3CBF-E0F8-4EA4-1075B2C789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5" y="669"/>
                <a:ext cx="586" cy="146"/>
                <a:chOff x="609" y="2570"/>
                <a:chExt cx="731" cy="140"/>
              </a:xfrm>
            </p:grpSpPr>
            <p:sp>
              <p:nvSpPr>
                <p:cNvPr id="133" name="AutoShape 134">
                  <a:extLst>
                    <a:ext uri="{FF2B5EF4-FFF2-40B4-BE49-F238E27FC236}">
                      <a16:creationId xmlns:a16="http://schemas.microsoft.com/office/drawing/2014/main" id="{68DC9805-9C46-16DE-E7FF-46C6781A0D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" y="2570"/>
                  <a:ext cx="73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34" name="AutoShape 135">
                  <a:extLst>
                    <a:ext uri="{FF2B5EF4-FFF2-40B4-BE49-F238E27FC236}">
                      <a16:creationId xmlns:a16="http://schemas.microsoft.com/office/drawing/2014/main" id="{695609F4-74F9-E4A8-6A8D-7B74AFCFA0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1" y="2587"/>
                  <a:ext cx="70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09" name="Rectangle 136">
                <a:extLst>
                  <a:ext uri="{FF2B5EF4-FFF2-40B4-BE49-F238E27FC236}">
                    <a16:creationId xmlns:a16="http://schemas.microsoft.com/office/drawing/2014/main" id="{38EBE2AB-D22D-AED5-AFA7-8F430F5C29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015"/>
                <a:ext cx="595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10" name="Group 137">
                <a:extLst>
                  <a:ext uri="{FF2B5EF4-FFF2-40B4-BE49-F238E27FC236}">
                    <a16:creationId xmlns:a16="http://schemas.microsoft.com/office/drawing/2014/main" id="{A21E565E-6A54-B922-A40F-C905E3A6EF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6" y="994"/>
                <a:ext cx="586" cy="129"/>
                <a:chOff x="612" y="2572"/>
                <a:chExt cx="731" cy="134"/>
              </a:xfrm>
            </p:grpSpPr>
            <p:sp>
              <p:nvSpPr>
                <p:cNvPr id="131" name="AutoShape 138">
                  <a:extLst>
                    <a:ext uri="{FF2B5EF4-FFF2-40B4-BE49-F238E27FC236}">
                      <a16:creationId xmlns:a16="http://schemas.microsoft.com/office/drawing/2014/main" id="{F9E4DF6A-2ECA-EAFA-3E59-CD0C100F56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32" name="AutoShape 139">
                  <a:extLst>
                    <a:ext uri="{FF2B5EF4-FFF2-40B4-BE49-F238E27FC236}">
                      <a16:creationId xmlns:a16="http://schemas.microsoft.com/office/drawing/2014/main" id="{E775E5EF-C3F1-81EE-E779-0F22D86D0D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06" cy="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11" name="Rectangle 140">
                <a:extLst>
                  <a:ext uri="{FF2B5EF4-FFF2-40B4-BE49-F238E27FC236}">
                    <a16:creationId xmlns:a16="http://schemas.microsoft.com/office/drawing/2014/main" id="{D2F03B0A-FED4-96B2-7A54-66739029A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5" cy="43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2" name="Rectangle 141">
                <a:extLst>
                  <a:ext uri="{FF2B5EF4-FFF2-40B4-BE49-F238E27FC236}">
                    <a16:creationId xmlns:a16="http://schemas.microsoft.com/office/drawing/2014/main" id="{F047902B-B818-34B6-D5C9-40E65FB08D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3"/>
                <a:ext cx="595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13" name="Group 142">
                <a:extLst>
                  <a:ext uri="{FF2B5EF4-FFF2-40B4-BE49-F238E27FC236}">
                    <a16:creationId xmlns:a16="http://schemas.microsoft.com/office/drawing/2014/main" id="{291C2669-3166-A9C8-C72F-A479A6C6E5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6"/>
                <a:ext cx="586" cy="215"/>
                <a:chOff x="614" y="2568"/>
                <a:chExt cx="730" cy="198"/>
              </a:xfrm>
            </p:grpSpPr>
            <p:sp>
              <p:nvSpPr>
                <p:cNvPr id="129" name="AutoShape 143">
                  <a:extLst>
                    <a:ext uri="{FF2B5EF4-FFF2-40B4-BE49-F238E27FC236}">
                      <a16:creationId xmlns:a16="http://schemas.microsoft.com/office/drawing/2014/main" id="{91BFCF3A-FA1E-3D3E-1A18-9CDE9AB7FC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30" cy="19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30" name="AutoShape 144">
                  <a:extLst>
                    <a:ext uri="{FF2B5EF4-FFF2-40B4-BE49-F238E27FC236}">
                      <a16:creationId xmlns:a16="http://schemas.microsoft.com/office/drawing/2014/main" id="{4CC55FA6-8068-CF2A-6187-9138020E85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70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14" name="Freeform 145">
                <a:extLst>
                  <a:ext uri="{FF2B5EF4-FFF2-40B4-BE49-F238E27FC236}">
                    <a16:creationId xmlns:a16="http://schemas.microsoft.com/office/drawing/2014/main" id="{F3937497-0235-9F54-682A-D63E98DADD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15" name="Group 146">
                <a:extLst>
                  <a:ext uri="{FF2B5EF4-FFF2-40B4-BE49-F238E27FC236}">
                    <a16:creationId xmlns:a16="http://schemas.microsoft.com/office/drawing/2014/main" id="{DB98E1D3-C675-8957-CBF6-773C037033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325"/>
                <a:ext cx="586" cy="138"/>
                <a:chOff x="609" y="2566"/>
                <a:chExt cx="730" cy="138"/>
              </a:xfrm>
            </p:grpSpPr>
            <p:sp>
              <p:nvSpPr>
                <p:cNvPr id="127" name="AutoShape 147">
                  <a:extLst>
                    <a:ext uri="{FF2B5EF4-FFF2-40B4-BE49-F238E27FC236}">
                      <a16:creationId xmlns:a16="http://schemas.microsoft.com/office/drawing/2014/main" id="{167C1EDA-D2CB-ECFD-5D39-8CECF88E78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" y="2566"/>
                  <a:ext cx="73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28" name="AutoShape 148">
                  <a:extLst>
                    <a:ext uri="{FF2B5EF4-FFF2-40B4-BE49-F238E27FC236}">
                      <a16:creationId xmlns:a16="http://schemas.microsoft.com/office/drawing/2014/main" id="{DF283895-83E5-D5BD-F32D-144BC0F519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2" y="2584"/>
                  <a:ext cx="705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16" name="Rectangle 149">
                <a:extLst>
                  <a:ext uri="{FF2B5EF4-FFF2-40B4-BE49-F238E27FC236}">
                    <a16:creationId xmlns:a16="http://schemas.microsoft.com/office/drawing/2014/main" id="{A4E5FE9A-5965-5B54-0AC6-89564FFAE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8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7" name="Freeform 150">
                <a:extLst>
                  <a:ext uri="{FF2B5EF4-FFF2-40B4-BE49-F238E27FC236}">
                    <a16:creationId xmlns:a16="http://schemas.microsoft.com/office/drawing/2014/main" id="{8E8F49D0-7B5A-3FFC-D75D-85204FDFE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8" name="Freeform 151">
                <a:extLst>
                  <a:ext uri="{FF2B5EF4-FFF2-40B4-BE49-F238E27FC236}">
                    <a16:creationId xmlns:a16="http://schemas.microsoft.com/office/drawing/2014/main" id="{0BD8DA4C-01D7-DE24-4869-DD1F7A20E3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9" name="Oval 152">
                <a:extLst>
                  <a:ext uri="{FF2B5EF4-FFF2-40B4-BE49-F238E27FC236}">
                    <a16:creationId xmlns:a16="http://schemas.microsoft.com/office/drawing/2014/main" id="{99023D64-C1BE-FEE3-5074-F325772060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0" name="Freeform 153">
                <a:extLst>
                  <a:ext uri="{FF2B5EF4-FFF2-40B4-BE49-F238E27FC236}">
                    <a16:creationId xmlns:a16="http://schemas.microsoft.com/office/drawing/2014/main" id="{55A1C95D-50E6-5E5F-F593-35A47B94F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1" name="AutoShape 154">
                <a:extLst>
                  <a:ext uri="{FF2B5EF4-FFF2-40B4-BE49-F238E27FC236}">
                    <a16:creationId xmlns:a16="http://schemas.microsoft.com/office/drawing/2014/main" id="{EA2161A7-862C-2050-8459-804008016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1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2" name="AutoShape 155">
                <a:extLst>
                  <a:ext uri="{FF2B5EF4-FFF2-40B4-BE49-F238E27FC236}">
                    <a16:creationId xmlns:a16="http://schemas.microsoft.com/office/drawing/2014/main" id="{C49BCC93-78DB-3DFD-626F-B4D2831FFA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4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3" name="Oval 156">
                <a:extLst>
                  <a:ext uri="{FF2B5EF4-FFF2-40B4-BE49-F238E27FC236}">
                    <a16:creationId xmlns:a16="http://schemas.microsoft.com/office/drawing/2014/main" id="{4A0194C7-5C9C-CBB7-32BE-804F2A135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6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4" name="Oval 157">
                <a:extLst>
                  <a:ext uri="{FF2B5EF4-FFF2-40B4-BE49-F238E27FC236}">
                    <a16:creationId xmlns:a16="http://schemas.microsoft.com/office/drawing/2014/main" id="{EE5B9B32-A64E-4868-DE5D-9221CFB45C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2" y="2385"/>
                <a:ext cx="166" cy="1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25" name="Oval 158">
                <a:extLst>
                  <a:ext uri="{FF2B5EF4-FFF2-40B4-BE49-F238E27FC236}">
                    <a16:creationId xmlns:a16="http://schemas.microsoft.com/office/drawing/2014/main" id="{E518A6E0-A370-FA8C-5971-BB78133D2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7" y="2377"/>
                <a:ext cx="166" cy="14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6" name="Rectangle 159">
                <a:extLst>
                  <a:ext uri="{FF2B5EF4-FFF2-40B4-BE49-F238E27FC236}">
                    <a16:creationId xmlns:a16="http://schemas.microsoft.com/office/drawing/2014/main" id="{0FCE092B-975A-B812-A555-E811632CE8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8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23" name="Group 160">
              <a:extLst>
                <a:ext uri="{FF2B5EF4-FFF2-40B4-BE49-F238E27FC236}">
                  <a16:creationId xmlns:a16="http://schemas.microsoft.com/office/drawing/2014/main" id="{BB197BEF-860F-7A6A-5681-399D51E061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1715" y="5356607"/>
              <a:ext cx="525463" cy="434975"/>
              <a:chOff x="-44" y="1473"/>
              <a:chExt cx="981" cy="1105"/>
            </a:xfrm>
          </p:grpSpPr>
          <p:pic>
            <p:nvPicPr>
              <p:cNvPr id="101" name="Picture 161" descr="desktop_computer_stylized_medium">
                <a:extLst>
                  <a:ext uri="{FF2B5EF4-FFF2-40B4-BE49-F238E27FC236}">
                    <a16:creationId xmlns:a16="http://schemas.microsoft.com/office/drawing/2014/main" id="{8CBF3DF9-5B63-49FF-5191-C2883CA2D8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" name="Freeform 162">
                <a:extLst>
                  <a:ext uri="{FF2B5EF4-FFF2-40B4-BE49-F238E27FC236}">
                    <a16:creationId xmlns:a16="http://schemas.microsoft.com/office/drawing/2014/main" id="{22408E36-9F2B-11D8-8A0D-C0D50ECF8C5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4" name="Group 163">
              <a:extLst>
                <a:ext uri="{FF2B5EF4-FFF2-40B4-BE49-F238E27FC236}">
                  <a16:creationId xmlns:a16="http://schemas.microsoft.com/office/drawing/2014/main" id="{039D961E-C999-A895-9872-8B9E5FE334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61197" y="5418955"/>
              <a:ext cx="231776" cy="441326"/>
              <a:chOff x="4140" y="429"/>
              <a:chExt cx="1425" cy="2396"/>
            </a:xfrm>
          </p:grpSpPr>
          <p:sp>
            <p:nvSpPr>
              <p:cNvPr id="69" name="Freeform 164">
                <a:extLst>
                  <a:ext uri="{FF2B5EF4-FFF2-40B4-BE49-F238E27FC236}">
                    <a16:creationId xmlns:a16="http://schemas.microsoft.com/office/drawing/2014/main" id="{D0E42B93-423A-ACA0-3823-266838D91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0" name="Rectangle 165">
                <a:extLst>
                  <a:ext uri="{FF2B5EF4-FFF2-40B4-BE49-F238E27FC236}">
                    <a16:creationId xmlns:a16="http://schemas.microsoft.com/office/drawing/2014/main" id="{F4FA049B-73E9-FC7A-7CDF-FE5A8554CF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1" name="Freeform 166">
                <a:extLst>
                  <a:ext uri="{FF2B5EF4-FFF2-40B4-BE49-F238E27FC236}">
                    <a16:creationId xmlns:a16="http://schemas.microsoft.com/office/drawing/2014/main" id="{25D3E23F-52CF-1427-5893-E0FDA72A7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2" name="Freeform 167">
                <a:extLst>
                  <a:ext uri="{FF2B5EF4-FFF2-40B4-BE49-F238E27FC236}">
                    <a16:creationId xmlns:a16="http://schemas.microsoft.com/office/drawing/2014/main" id="{7FC66D70-CDEF-BFB9-74D9-F8A0D46FCF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3" name="Rectangle 168">
                <a:extLst>
                  <a:ext uri="{FF2B5EF4-FFF2-40B4-BE49-F238E27FC236}">
                    <a16:creationId xmlns:a16="http://schemas.microsoft.com/office/drawing/2014/main" id="{F41D8843-B49B-1665-DFEB-AE5ED873D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696"/>
                <a:ext cx="595" cy="43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74" name="Group 169">
                <a:extLst>
                  <a:ext uri="{FF2B5EF4-FFF2-40B4-BE49-F238E27FC236}">
                    <a16:creationId xmlns:a16="http://schemas.microsoft.com/office/drawing/2014/main" id="{85DFD18E-7A55-5B76-13A8-F90E0A0252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5" y="669"/>
                <a:ext cx="586" cy="146"/>
                <a:chOff x="609" y="2570"/>
                <a:chExt cx="731" cy="140"/>
              </a:xfrm>
            </p:grpSpPr>
            <p:sp>
              <p:nvSpPr>
                <p:cNvPr id="99" name="AutoShape 170">
                  <a:extLst>
                    <a:ext uri="{FF2B5EF4-FFF2-40B4-BE49-F238E27FC236}">
                      <a16:creationId xmlns:a16="http://schemas.microsoft.com/office/drawing/2014/main" id="{4E75DEB0-3B2C-DDC9-FF2B-FB88E6E271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" y="2570"/>
                  <a:ext cx="73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0" name="AutoShape 171">
                  <a:extLst>
                    <a:ext uri="{FF2B5EF4-FFF2-40B4-BE49-F238E27FC236}">
                      <a16:creationId xmlns:a16="http://schemas.microsoft.com/office/drawing/2014/main" id="{F620D7FF-3149-099A-A324-938A9B55A6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1" y="2587"/>
                  <a:ext cx="70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75" name="Rectangle 172">
                <a:extLst>
                  <a:ext uri="{FF2B5EF4-FFF2-40B4-BE49-F238E27FC236}">
                    <a16:creationId xmlns:a16="http://schemas.microsoft.com/office/drawing/2014/main" id="{B70FFB6F-E989-6087-020C-32360C4145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015"/>
                <a:ext cx="595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76" name="Group 173">
                <a:extLst>
                  <a:ext uri="{FF2B5EF4-FFF2-40B4-BE49-F238E27FC236}">
                    <a16:creationId xmlns:a16="http://schemas.microsoft.com/office/drawing/2014/main" id="{87138D6A-9C22-6145-5193-3521C85B07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6" y="994"/>
                <a:ext cx="586" cy="129"/>
                <a:chOff x="612" y="2572"/>
                <a:chExt cx="731" cy="134"/>
              </a:xfrm>
            </p:grpSpPr>
            <p:sp>
              <p:nvSpPr>
                <p:cNvPr id="97" name="AutoShape 174">
                  <a:extLst>
                    <a:ext uri="{FF2B5EF4-FFF2-40B4-BE49-F238E27FC236}">
                      <a16:creationId xmlns:a16="http://schemas.microsoft.com/office/drawing/2014/main" id="{0F849CB4-98D6-D8CA-4CFC-DB1F84956D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8" name="AutoShape 175">
                  <a:extLst>
                    <a:ext uri="{FF2B5EF4-FFF2-40B4-BE49-F238E27FC236}">
                      <a16:creationId xmlns:a16="http://schemas.microsoft.com/office/drawing/2014/main" id="{F8439135-99B1-8F52-6428-01AF39C5B3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06" cy="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77" name="Rectangle 176">
                <a:extLst>
                  <a:ext uri="{FF2B5EF4-FFF2-40B4-BE49-F238E27FC236}">
                    <a16:creationId xmlns:a16="http://schemas.microsoft.com/office/drawing/2014/main" id="{4F794024-4CE4-01C2-C273-41B56AE74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5" cy="43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8" name="Rectangle 177">
                <a:extLst>
                  <a:ext uri="{FF2B5EF4-FFF2-40B4-BE49-F238E27FC236}">
                    <a16:creationId xmlns:a16="http://schemas.microsoft.com/office/drawing/2014/main" id="{921968DE-B4A5-1374-ED30-21C516CE3F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3"/>
                <a:ext cx="595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79" name="Group 178">
                <a:extLst>
                  <a:ext uri="{FF2B5EF4-FFF2-40B4-BE49-F238E27FC236}">
                    <a16:creationId xmlns:a16="http://schemas.microsoft.com/office/drawing/2014/main" id="{AB18E136-2A16-E916-980A-A18DF18464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6"/>
                <a:ext cx="586" cy="215"/>
                <a:chOff x="614" y="2568"/>
                <a:chExt cx="730" cy="198"/>
              </a:xfrm>
            </p:grpSpPr>
            <p:sp>
              <p:nvSpPr>
                <p:cNvPr id="95" name="AutoShape 179">
                  <a:extLst>
                    <a:ext uri="{FF2B5EF4-FFF2-40B4-BE49-F238E27FC236}">
                      <a16:creationId xmlns:a16="http://schemas.microsoft.com/office/drawing/2014/main" id="{8FE0A5E7-5131-7239-B10B-F46F4423F2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30" cy="19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6" name="AutoShape 180">
                  <a:extLst>
                    <a:ext uri="{FF2B5EF4-FFF2-40B4-BE49-F238E27FC236}">
                      <a16:creationId xmlns:a16="http://schemas.microsoft.com/office/drawing/2014/main" id="{C1B82244-5219-F799-6624-0729312897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70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80" name="Freeform 181">
                <a:extLst>
                  <a:ext uri="{FF2B5EF4-FFF2-40B4-BE49-F238E27FC236}">
                    <a16:creationId xmlns:a16="http://schemas.microsoft.com/office/drawing/2014/main" id="{D63D3A81-E782-E4EE-1425-7769FBC000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1" name="Group 182">
                <a:extLst>
                  <a:ext uri="{FF2B5EF4-FFF2-40B4-BE49-F238E27FC236}">
                    <a16:creationId xmlns:a16="http://schemas.microsoft.com/office/drawing/2014/main" id="{048C8CBB-686A-1FE5-7D6B-2B8EB1E88F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325"/>
                <a:ext cx="586" cy="138"/>
                <a:chOff x="609" y="2566"/>
                <a:chExt cx="730" cy="138"/>
              </a:xfrm>
            </p:grpSpPr>
            <p:sp>
              <p:nvSpPr>
                <p:cNvPr id="93" name="AutoShape 183">
                  <a:extLst>
                    <a:ext uri="{FF2B5EF4-FFF2-40B4-BE49-F238E27FC236}">
                      <a16:creationId xmlns:a16="http://schemas.microsoft.com/office/drawing/2014/main" id="{D9436D73-D862-6C9A-BD6D-C80C39DB17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" y="2566"/>
                  <a:ext cx="73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4" name="AutoShape 184">
                  <a:extLst>
                    <a:ext uri="{FF2B5EF4-FFF2-40B4-BE49-F238E27FC236}">
                      <a16:creationId xmlns:a16="http://schemas.microsoft.com/office/drawing/2014/main" id="{2EA1713B-4668-BC65-1C99-98DC91E255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2" y="2584"/>
                  <a:ext cx="705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82" name="Rectangle 185">
                <a:extLst>
                  <a:ext uri="{FF2B5EF4-FFF2-40B4-BE49-F238E27FC236}">
                    <a16:creationId xmlns:a16="http://schemas.microsoft.com/office/drawing/2014/main" id="{8A02380F-6C33-5F02-F065-B64771C364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8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3" name="Freeform 186">
                <a:extLst>
                  <a:ext uri="{FF2B5EF4-FFF2-40B4-BE49-F238E27FC236}">
                    <a16:creationId xmlns:a16="http://schemas.microsoft.com/office/drawing/2014/main" id="{D1116FE5-3186-6D35-DD39-EA661A13A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" name="Freeform 187">
                <a:extLst>
                  <a:ext uri="{FF2B5EF4-FFF2-40B4-BE49-F238E27FC236}">
                    <a16:creationId xmlns:a16="http://schemas.microsoft.com/office/drawing/2014/main" id="{1BF7799B-9EB3-AE0E-0D2C-E04CA0DBB7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" name="Oval 188">
                <a:extLst>
                  <a:ext uri="{FF2B5EF4-FFF2-40B4-BE49-F238E27FC236}">
                    <a16:creationId xmlns:a16="http://schemas.microsoft.com/office/drawing/2014/main" id="{0B418FC3-88E3-EF1C-5D1C-28F40A1ED5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6" name="Freeform 189">
                <a:extLst>
                  <a:ext uri="{FF2B5EF4-FFF2-40B4-BE49-F238E27FC236}">
                    <a16:creationId xmlns:a16="http://schemas.microsoft.com/office/drawing/2014/main" id="{D9EA6179-1C97-FB50-36F6-72B74735C7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" name="AutoShape 190">
                <a:extLst>
                  <a:ext uri="{FF2B5EF4-FFF2-40B4-BE49-F238E27FC236}">
                    <a16:creationId xmlns:a16="http://schemas.microsoft.com/office/drawing/2014/main" id="{0DDD1920-A1F3-F246-C08C-EBBC2CC056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1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8" name="AutoShape 191">
                <a:extLst>
                  <a:ext uri="{FF2B5EF4-FFF2-40B4-BE49-F238E27FC236}">
                    <a16:creationId xmlns:a16="http://schemas.microsoft.com/office/drawing/2014/main" id="{37261498-4DE7-EE5C-5B98-AB9CFEC14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4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9" name="Oval 192">
                <a:extLst>
                  <a:ext uri="{FF2B5EF4-FFF2-40B4-BE49-F238E27FC236}">
                    <a16:creationId xmlns:a16="http://schemas.microsoft.com/office/drawing/2014/main" id="{0F901335-3C43-9844-081E-7D2813248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6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" name="Oval 193">
                <a:extLst>
                  <a:ext uri="{FF2B5EF4-FFF2-40B4-BE49-F238E27FC236}">
                    <a16:creationId xmlns:a16="http://schemas.microsoft.com/office/drawing/2014/main" id="{E920EEB2-4666-18CA-3E8C-3265EE96F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2" y="2385"/>
                <a:ext cx="166" cy="1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91" name="Oval 194">
                <a:extLst>
                  <a:ext uri="{FF2B5EF4-FFF2-40B4-BE49-F238E27FC236}">
                    <a16:creationId xmlns:a16="http://schemas.microsoft.com/office/drawing/2014/main" id="{832D628A-5E48-BC3C-D45A-CED97FEEF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7" y="2377"/>
                <a:ext cx="166" cy="14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2" name="Rectangle 195">
                <a:extLst>
                  <a:ext uri="{FF2B5EF4-FFF2-40B4-BE49-F238E27FC236}">
                    <a16:creationId xmlns:a16="http://schemas.microsoft.com/office/drawing/2014/main" id="{42257322-7B49-2293-30AA-1FBA8B4513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8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" name="Line 57">
              <a:extLst>
                <a:ext uri="{FF2B5EF4-FFF2-40B4-BE49-F238E27FC236}">
                  <a16:creationId xmlns:a16="http://schemas.microsoft.com/office/drawing/2014/main" id="{C4C63DD3-E3D8-792C-3F1C-6FC0DC7645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3848" y="5611165"/>
              <a:ext cx="82220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" name="Line 57">
              <a:extLst>
                <a:ext uri="{FF2B5EF4-FFF2-40B4-BE49-F238E27FC236}">
                  <a16:creationId xmlns:a16="http://schemas.microsoft.com/office/drawing/2014/main" id="{69AD6BCE-C3DE-0A42-7F24-400AADCFD1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28566" y="4743658"/>
              <a:ext cx="4397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" name="Line 57">
              <a:extLst>
                <a:ext uri="{FF2B5EF4-FFF2-40B4-BE49-F238E27FC236}">
                  <a16:creationId xmlns:a16="http://schemas.microsoft.com/office/drawing/2014/main" id="{934A2699-D2A3-801B-26BF-5222BA51E1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7132" y="5613510"/>
              <a:ext cx="4397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D883170-BE2E-C0F9-E5A2-F18230CDBE6F}"/>
                </a:ext>
              </a:extLst>
            </p:cNvPr>
            <p:cNvSpPr txBox="1"/>
            <p:nvPr/>
          </p:nvSpPr>
          <p:spPr>
            <a:xfrm>
              <a:off x="5832982" y="4783764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83B9F4C-909B-7D1D-4DA4-C2623528FA87}"/>
                </a:ext>
              </a:extLst>
            </p:cNvPr>
            <p:cNvGrpSpPr/>
            <p:nvPr/>
          </p:nvGrpSpPr>
          <p:grpSpPr>
            <a:xfrm>
              <a:off x="4945685" y="5127241"/>
              <a:ext cx="289189" cy="57150"/>
              <a:chOff x="7677150" y="3546475"/>
              <a:chExt cx="304800" cy="5715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4166DB0B-4C7D-CF52-01B6-4DD4601D813D}"/>
                  </a:ext>
                </a:extLst>
              </p:cNvPr>
              <p:cNvSpPr/>
              <p:nvPr/>
            </p:nvSpPr>
            <p:spPr>
              <a:xfrm>
                <a:off x="7924800" y="3546475"/>
                <a:ext cx="57150" cy="5715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11C940BB-1B08-DDCA-6479-3403C981CEFD}"/>
                  </a:ext>
                </a:extLst>
              </p:cNvPr>
              <p:cNvSpPr/>
              <p:nvPr/>
            </p:nvSpPr>
            <p:spPr>
              <a:xfrm>
                <a:off x="7842250" y="3546475"/>
                <a:ext cx="57150" cy="571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A9E3239A-6BB0-BA35-3E4A-8107E7798E95}"/>
                  </a:ext>
                </a:extLst>
              </p:cNvPr>
              <p:cNvSpPr/>
              <p:nvPr/>
            </p:nvSpPr>
            <p:spPr>
              <a:xfrm>
                <a:off x="7759700" y="3546475"/>
                <a:ext cx="57150" cy="5715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2B3A7E9-A2D8-6A0E-595C-60356ABC921D}"/>
                  </a:ext>
                </a:extLst>
              </p:cNvPr>
              <p:cNvSpPr/>
              <p:nvPr/>
            </p:nvSpPr>
            <p:spPr>
              <a:xfrm>
                <a:off x="7677150" y="3546475"/>
                <a:ext cx="57150" cy="5715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546DF44-EB55-59B1-DBF5-BBF88977CD4A}"/>
                </a:ext>
              </a:extLst>
            </p:cNvPr>
            <p:cNvSpPr txBox="1"/>
            <p:nvPr/>
          </p:nvSpPr>
          <p:spPr>
            <a:xfrm>
              <a:off x="4281837" y="4348296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1" name="Line 53">
              <a:extLst>
                <a:ext uri="{FF2B5EF4-FFF2-40B4-BE49-F238E27FC236}">
                  <a16:creationId xmlns:a16="http://schemas.microsoft.com/office/drawing/2014/main" id="{63AC1520-D4B7-46B9-791A-12CF95101D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37347" y="5242141"/>
              <a:ext cx="7176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" name="Line 33">
              <a:extLst>
                <a:ext uri="{FF2B5EF4-FFF2-40B4-BE49-F238E27FC236}">
                  <a16:creationId xmlns:a16="http://schemas.microsoft.com/office/drawing/2014/main" id="{90FEAB4F-FA70-CFD0-03AC-A842816C89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1495" y="4742375"/>
              <a:ext cx="326807" cy="3065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B678F8-9500-2DF9-85BD-88B96988C037}"/>
                </a:ext>
              </a:extLst>
            </p:cNvPr>
            <p:cNvSpPr txBox="1"/>
            <p:nvPr/>
          </p:nvSpPr>
          <p:spPr>
            <a:xfrm>
              <a:off x="3527218" y="5589195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0732143-3C37-4F84-F701-E67519697283}"/>
                </a:ext>
              </a:extLst>
            </p:cNvPr>
            <p:cNvGrpSpPr/>
            <p:nvPr/>
          </p:nvGrpSpPr>
          <p:grpSpPr>
            <a:xfrm>
              <a:off x="6446205" y="5096034"/>
              <a:ext cx="355535" cy="62136"/>
              <a:chOff x="7786941" y="3054383"/>
              <a:chExt cx="897649" cy="170569"/>
            </a:xfrm>
          </p:grpSpPr>
          <p:sp>
            <p:nvSpPr>
              <p:cNvPr id="45" name="Freeform 31">
                <a:extLst>
                  <a:ext uri="{FF2B5EF4-FFF2-40B4-BE49-F238E27FC236}">
                    <a16:creationId xmlns:a16="http://schemas.microsoft.com/office/drawing/2014/main" id="{9719BB95-FDB8-0642-07FB-7CD660C15E0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Freeform 32">
                <a:extLst>
                  <a:ext uri="{FF2B5EF4-FFF2-40B4-BE49-F238E27FC236}">
                    <a16:creationId xmlns:a16="http://schemas.microsoft.com/office/drawing/2014/main" id="{BD47BB8A-D7D2-DF26-F63F-E85445555B8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0C23337-AEFF-BD28-90BB-653D1D0F3077}"/>
                </a:ext>
              </a:extLst>
            </p:cNvPr>
            <p:cNvSpPr txBox="1"/>
            <p:nvPr/>
          </p:nvSpPr>
          <p:spPr>
            <a:xfrm>
              <a:off x="6825052" y="4305786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6420505-730F-2C21-2AFE-E9EF7B1BCAB3}"/>
                </a:ext>
              </a:extLst>
            </p:cNvPr>
            <p:cNvSpPr txBox="1"/>
            <p:nvPr/>
          </p:nvSpPr>
          <p:spPr>
            <a:xfrm>
              <a:off x="6236360" y="5621230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64" name="Text Box 42">
              <a:extLst>
                <a:ext uri="{FF2B5EF4-FFF2-40B4-BE49-F238E27FC236}">
                  <a16:creationId xmlns:a16="http://schemas.microsoft.com/office/drawing/2014/main" id="{084F8E33-174B-E0F3-B372-ED29F8411F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6102" y="4497125"/>
              <a:ext cx="1059047" cy="31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Router</a:t>
              </a:r>
              <a:endParaRPr kumimoji="0" lang="en-US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6" name="Text Box 42">
              <a:extLst>
                <a:ext uri="{FF2B5EF4-FFF2-40B4-BE49-F238E27FC236}">
                  <a16:creationId xmlns:a16="http://schemas.microsoft.com/office/drawing/2014/main" id="{F7A25C57-5AE1-1BE5-B11D-B3C7847F2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3390" y="3514305"/>
              <a:ext cx="913861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C</a:t>
              </a:r>
              <a:endPara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1D8C01C0-AA14-38FD-8FFB-C2F9CA97C67E}"/>
                </a:ext>
              </a:extLst>
            </p:cNvPr>
            <p:cNvGrpSpPr/>
            <p:nvPr/>
          </p:nvGrpSpPr>
          <p:grpSpPr>
            <a:xfrm>
              <a:off x="4758954" y="4982081"/>
              <a:ext cx="821858" cy="355937"/>
              <a:chOff x="6859123" y="5156933"/>
              <a:chExt cx="456701" cy="226548"/>
            </a:xfrm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D32421BE-1097-40C6-A4FA-9232129D6FF9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23E1F3D9-6B96-BB30-740A-781498824003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24EF3474-8C69-9F0C-48E5-6CAEF9B6B762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23EA76C5-D3BA-AF04-7A6F-AA95FD619615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5E27B22F-11CF-AE84-9F97-4D8ABB0C301C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2AA7BD33-58B1-FD2E-03E3-A242A29D2914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0E6CBE4F-B275-D16A-3065-82213881F089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660B8589-66A5-9121-72FB-94BA3B8C84D5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7" name="Text Box 52">
              <a:extLst>
                <a:ext uri="{FF2B5EF4-FFF2-40B4-BE49-F238E27FC236}">
                  <a16:creationId xmlns:a16="http://schemas.microsoft.com/office/drawing/2014/main" id="{67A9D76E-FEF6-049E-055C-8001971CBA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0143" y="5843543"/>
              <a:ext cx="1020701" cy="258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13A3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D</a:t>
              </a:r>
              <a:endPara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Freeform 91">
              <a:extLst>
                <a:ext uri="{FF2B5EF4-FFF2-40B4-BE49-F238E27FC236}">
                  <a16:creationId xmlns:a16="http://schemas.microsoft.com/office/drawing/2014/main" id="{7AC4E174-5D98-EE73-68BE-E8BA63718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7496" y="3836242"/>
              <a:ext cx="3922463" cy="1276350"/>
            </a:xfrm>
            <a:custGeom>
              <a:avLst/>
              <a:gdLst>
                <a:gd name="T0" fmla="*/ 0 w 2160"/>
                <a:gd name="T1" fmla="*/ 0 h 804"/>
                <a:gd name="T2" fmla="*/ 0 w 2160"/>
                <a:gd name="T3" fmla="*/ 2147483647 h 804"/>
                <a:gd name="T4" fmla="*/ 2147483647 w 2160"/>
                <a:gd name="T5" fmla="*/ 2147483647 h 804"/>
                <a:gd name="T6" fmla="*/ 2147483647 w 2160"/>
                <a:gd name="T7" fmla="*/ 2147483647 h 804"/>
                <a:gd name="T8" fmla="*/ 2147483647 w 2160"/>
                <a:gd name="T9" fmla="*/ 2147483647 h 804"/>
                <a:gd name="T10" fmla="*/ 2147483647 w 2160"/>
                <a:gd name="T11" fmla="*/ 2147483647 h 804"/>
                <a:gd name="T12" fmla="*/ 2147483647 w 2160"/>
                <a:gd name="T13" fmla="*/ 2147483647 h 804"/>
                <a:gd name="T14" fmla="*/ 2147483647 w 2160"/>
                <a:gd name="T15" fmla="*/ 2147483647 h 8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connsiteX0" fmla="*/ 0 w 10000"/>
                <a:gd name="connsiteY0" fmla="*/ 0 h 10000"/>
                <a:gd name="connsiteX1" fmla="*/ 0 w 10000"/>
                <a:gd name="connsiteY1" fmla="*/ 7388 h 10000"/>
                <a:gd name="connsiteX2" fmla="*/ 1861 w 10000"/>
                <a:gd name="connsiteY2" fmla="*/ 7463 h 10000"/>
                <a:gd name="connsiteX3" fmla="*/ 1000 w 10000"/>
                <a:gd name="connsiteY3" fmla="*/ 10000 h 10000"/>
                <a:gd name="connsiteX4" fmla="*/ 7244 w 10000"/>
                <a:gd name="connsiteY4" fmla="*/ 10000 h 10000"/>
                <a:gd name="connsiteX5" fmla="*/ 8194 w 10000"/>
                <a:gd name="connsiteY5" fmla="*/ 6517 h 10000"/>
                <a:gd name="connsiteX6" fmla="*/ 10000 w 10000"/>
                <a:gd name="connsiteY6" fmla="*/ 6418 h 10000"/>
                <a:gd name="connsiteX7" fmla="*/ 10000 w 10000"/>
                <a:gd name="connsiteY7" fmla="*/ 597 h 10000"/>
                <a:gd name="connsiteX0" fmla="*/ 0 w 10000"/>
                <a:gd name="connsiteY0" fmla="*/ 0 h 10000"/>
                <a:gd name="connsiteX1" fmla="*/ 0 w 10000"/>
                <a:gd name="connsiteY1" fmla="*/ 7388 h 10000"/>
                <a:gd name="connsiteX2" fmla="*/ 1861 w 10000"/>
                <a:gd name="connsiteY2" fmla="*/ 7463 h 10000"/>
                <a:gd name="connsiteX3" fmla="*/ 1000 w 10000"/>
                <a:gd name="connsiteY3" fmla="*/ 10000 h 10000"/>
                <a:gd name="connsiteX4" fmla="*/ 7244 w 10000"/>
                <a:gd name="connsiteY4" fmla="*/ 10000 h 10000"/>
                <a:gd name="connsiteX5" fmla="*/ 8403 w 10000"/>
                <a:gd name="connsiteY5" fmla="*/ 6686 h 10000"/>
                <a:gd name="connsiteX6" fmla="*/ 10000 w 10000"/>
                <a:gd name="connsiteY6" fmla="*/ 6418 h 10000"/>
                <a:gd name="connsiteX7" fmla="*/ 10000 w 10000"/>
                <a:gd name="connsiteY7" fmla="*/ 597 h 10000"/>
                <a:gd name="connsiteX0" fmla="*/ 0 w 10000"/>
                <a:gd name="connsiteY0" fmla="*/ 0 h 10000"/>
                <a:gd name="connsiteX1" fmla="*/ 0 w 10000"/>
                <a:gd name="connsiteY1" fmla="*/ 7388 h 10000"/>
                <a:gd name="connsiteX2" fmla="*/ 1861 w 10000"/>
                <a:gd name="connsiteY2" fmla="*/ 7463 h 10000"/>
                <a:gd name="connsiteX3" fmla="*/ 1000 w 10000"/>
                <a:gd name="connsiteY3" fmla="*/ 10000 h 10000"/>
                <a:gd name="connsiteX4" fmla="*/ 7244 w 10000"/>
                <a:gd name="connsiteY4" fmla="*/ 10000 h 10000"/>
                <a:gd name="connsiteX5" fmla="*/ 8403 w 10000"/>
                <a:gd name="connsiteY5" fmla="*/ 6686 h 10000"/>
                <a:gd name="connsiteX6" fmla="*/ 10000 w 10000"/>
                <a:gd name="connsiteY6" fmla="*/ 6688 h 10000"/>
                <a:gd name="connsiteX7" fmla="*/ 10000 w 10000"/>
                <a:gd name="connsiteY7" fmla="*/ 597 h 10000"/>
                <a:gd name="connsiteX0" fmla="*/ 0 w 10000"/>
                <a:gd name="connsiteY0" fmla="*/ 0 h 10000"/>
                <a:gd name="connsiteX1" fmla="*/ 0 w 10000"/>
                <a:gd name="connsiteY1" fmla="*/ 7388 h 10000"/>
                <a:gd name="connsiteX2" fmla="*/ 1861 w 10000"/>
                <a:gd name="connsiteY2" fmla="*/ 7463 h 10000"/>
                <a:gd name="connsiteX3" fmla="*/ 1000 w 10000"/>
                <a:gd name="connsiteY3" fmla="*/ 10000 h 10000"/>
                <a:gd name="connsiteX4" fmla="*/ 7244 w 10000"/>
                <a:gd name="connsiteY4" fmla="*/ 10000 h 10000"/>
                <a:gd name="connsiteX5" fmla="*/ 8403 w 10000"/>
                <a:gd name="connsiteY5" fmla="*/ 6686 h 10000"/>
                <a:gd name="connsiteX6" fmla="*/ 10000 w 10000"/>
                <a:gd name="connsiteY6" fmla="*/ 6587 h 10000"/>
                <a:gd name="connsiteX7" fmla="*/ 10000 w 10000"/>
                <a:gd name="connsiteY7" fmla="*/ 597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0" y="7388"/>
                  </a:lnTo>
                  <a:lnTo>
                    <a:pt x="1861" y="7463"/>
                  </a:lnTo>
                  <a:lnTo>
                    <a:pt x="1000" y="10000"/>
                  </a:lnTo>
                  <a:lnTo>
                    <a:pt x="7244" y="10000"/>
                  </a:lnTo>
                  <a:lnTo>
                    <a:pt x="8403" y="6686"/>
                  </a:lnTo>
                  <a:lnTo>
                    <a:pt x="10000" y="6587"/>
                  </a:lnTo>
                  <a:lnTo>
                    <a:pt x="10000" y="597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2D57318-63B4-F8BE-81AE-0ECA5076CD8B}"/>
                </a:ext>
              </a:extLst>
            </p:cNvPr>
            <p:cNvGrpSpPr/>
            <p:nvPr/>
          </p:nvGrpSpPr>
          <p:grpSpPr>
            <a:xfrm>
              <a:off x="2876897" y="4660130"/>
              <a:ext cx="4591310" cy="1028700"/>
              <a:chOff x="5641439" y="2685215"/>
              <a:chExt cx="4000500" cy="1028700"/>
            </a:xfrm>
          </p:grpSpPr>
          <p:sp>
            <p:nvSpPr>
              <p:cNvPr id="39" name="Oval 73">
                <a:extLst>
                  <a:ext uri="{FF2B5EF4-FFF2-40B4-BE49-F238E27FC236}">
                    <a16:creationId xmlns:a16="http://schemas.microsoft.com/office/drawing/2014/main" id="{4F9A3DB4-8C52-7C89-2444-C2CA946BFC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1439" y="2685215"/>
                <a:ext cx="92075" cy="90487"/>
              </a:xfrm>
              <a:prstGeom prst="ellipse">
                <a:avLst/>
              </a:prstGeom>
              <a:solidFill>
                <a:srgbClr val="0013A3"/>
              </a:solidFill>
              <a:ln w="9525">
                <a:solidFill>
                  <a:srgbClr val="0013A3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" name="Freeform 90">
                <a:extLst>
                  <a:ext uri="{FF2B5EF4-FFF2-40B4-BE49-F238E27FC236}">
                    <a16:creationId xmlns:a16="http://schemas.microsoft.com/office/drawing/2014/main" id="{C55B89FF-B7CB-EC78-CB19-DFCA9630E9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9064" y="2761415"/>
                <a:ext cx="3952875" cy="952500"/>
              </a:xfrm>
              <a:custGeom>
                <a:avLst/>
                <a:gdLst>
                  <a:gd name="T0" fmla="*/ 0 w 6225"/>
                  <a:gd name="T1" fmla="*/ 0 h 1501"/>
                  <a:gd name="T2" fmla="*/ 0 w 6225"/>
                  <a:gd name="T3" fmla="*/ 2147483647 h 1501"/>
                  <a:gd name="T4" fmla="*/ 2147483647 w 6225"/>
                  <a:gd name="T5" fmla="*/ 2147483647 h 1501"/>
                  <a:gd name="T6" fmla="*/ 2147483647 w 6225"/>
                  <a:gd name="T7" fmla="*/ 2147483647 h 1501"/>
                  <a:gd name="T8" fmla="*/ 2147483647 w 6225"/>
                  <a:gd name="T9" fmla="*/ 2147483647 h 1501"/>
                  <a:gd name="T10" fmla="*/ 2147483647 w 6225"/>
                  <a:gd name="T11" fmla="*/ 2147483647 h 1501"/>
                  <a:gd name="T12" fmla="*/ 2147483647 w 6225"/>
                  <a:gd name="T13" fmla="*/ 2147483647 h 1501"/>
                  <a:gd name="T14" fmla="*/ 2147483647 w 6225"/>
                  <a:gd name="T15" fmla="*/ 2147483647 h 150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connsiteX0" fmla="*/ 0 w 10000"/>
                  <a:gd name="connsiteY0" fmla="*/ 0 h 10000"/>
                  <a:gd name="connsiteX1" fmla="*/ 0 w 10000"/>
                  <a:gd name="connsiteY1" fmla="*/ 9900 h 10000"/>
                  <a:gd name="connsiteX2" fmla="*/ 1614 w 10000"/>
                  <a:gd name="connsiteY2" fmla="*/ 10000 h 10000"/>
                  <a:gd name="connsiteX3" fmla="*/ 2988 w 10000"/>
                  <a:gd name="connsiteY3" fmla="*/ 4704 h 10000"/>
                  <a:gd name="connsiteX4" fmla="*/ 8169 w 10000"/>
                  <a:gd name="connsiteY4" fmla="*/ 4803 h 10000"/>
                  <a:gd name="connsiteX5" fmla="*/ 7125 w 10000"/>
                  <a:gd name="connsiteY5" fmla="*/ 9609 h 10000"/>
                  <a:gd name="connsiteX6" fmla="*/ 10000 w 10000"/>
                  <a:gd name="connsiteY6" fmla="*/ 9700 h 10000"/>
                  <a:gd name="connsiteX7" fmla="*/ 9992 w 10000"/>
                  <a:gd name="connsiteY7" fmla="*/ 2605 h 10000"/>
                  <a:gd name="connsiteX0" fmla="*/ 0 w 10000"/>
                  <a:gd name="connsiteY0" fmla="*/ 0 h 10000"/>
                  <a:gd name="connsiteX1" fmla="*/ 0 w 10000"/>
                  <a:gd name="connsiteY1" fmla="*/ 9900 h 10000"/>
                  <a:gd name="connsiteX2" fmla="*/ 1614 w 10000"/>
                  <a:gd name="connsiteY2" fmla="*/ 10000 h 10000"/>
                  <a:gd name="connsiteX3" fmla="*/ 2988 w 10000"/>
                  <a:gd name="connsiteY3" fmla="*/ 4704 h 10000"/>
                  <a:gd name="connsiteX4" fmla="*/ 8169 w 10000"/>
                  <a:gd name="connsiteY4" fmla="*/ 4803 h 10000"/>
                  <a:gd name="connsiteX5" fmla="*/ 6992 w 10000"/>
                  <a:gd name="connsiteY5" fmla="*/ 9654 h 10000"/>
                  <a:gd name="connsiteX6" fmla="*/ 10000 w 10000"/>
                  <a:gd name="connsiteY6" fmla="*/ 9700 h 10000"/>
                  <a:gd name="connsiteX7" fmla="*/ 9992 w 10000"/>
                  <a:gd name="connsiteY7" fmla="*/ 2605 h 10000"/>
                  <a:gd name="connsiteX0" fmla="*/ 0 w 10000"/>
                  <a:gd name="connsiteY0" fmla="*/ 0 h 10000"/>
                  <a:gd name="connsiteX1" fmla="*/ 0 w 10000"/>
                  <a:gd name="connsiteY1" fmla="*/ 9900 h 10000"/>
                  <a:gd name="connsiteX2" fmla="*/ 1614 w 10000"/>
                  <a:gd name="connsiteY2" fmla="*/ 10000 h 10000"/>
                  <a:gd name="connsiteX3" fmla="*/ 2988 w 10000"/>
                  <a:gd name="connsiteY3" fmla="*/ 4704 h 10000"/>
                  <a:gd name="connsiteX4" fmla="*/ 8121 w 10000"/>
                  <a:gd name="connsiteY4" fmla="*/ 4803 h 10000"/>
                  <a:gd name="connsiteX5" fmla="*/ 6992 w 10000"/>
                  <a:gd name="connsiteY5" fmla="*/ 9654 h 10000"/>
                  <a:gd name="connsiteX6" fmla="*/ 10000 w 10000"/>
                  <a:gd name="connsiteY6" fmla="*/ 9700 h 10000"/>
                  <a:gd name="connsiteX7" fmla="*/ 9992 w 10000"/>
                  <a:gd name="connsiteY7" fmla="*/ 2605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000" h="10000">
                    <a:moveTo>
                      <a:pt x="0" y="0"/>
                    </a:moveTo>
                    <a:lnTo>
                      <a:pt x="0" y="9900"/>
                    </a:lnTo>
                    <a:lnTo>
                      <a:pt x="1614" y="10000"/>
                    </a:lnTo>
                    <a:lnTo>
                      <a:pt x="2988" y="4704"/>
                    </a:lnTo>
                    <a:lnTo>
                      <a:pt x="8121" y="4803"/>
                    </a:lnTo>
                    <a:lnTo>
                      <a:pt x="6992" y="9654"/>
                    </a:lnTo>
                    <a:lnTo>
                      <a:pt x="10000" y="9700"/>
                    </a:lnTo>
                    <a:cubicBezTo>
                      <a:pt x="9997" y="7335"/>
                      <a:pt x="9995" y="4970"/>
                      <a:pt x="9992" y="2605"/>
                    </a:cubicBezTo>
                  </a:path>
                </a:pathLst>
              </a:custGeom>
              <a:noFill/>
              <a:ln w="38100" cmpd="sng">
                <a:solidFill>
                  <a:srgbClr val="0013A3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24" name="Content Placeholder 2">
            <a:extLst>
              <a:ext uri="{FF2B5EF4-FFF2-40B4-BE49-F238E27FC236}">
                <a16:creationId xmlns:a16="http://schemas.microsoft.com/office/drawing/2014/main" id="{6A5B64A0-F734-DCA6-8ADC-275D43B8653D}"/>
              </a:ext>
            </a:extLst>
          </p:cNvPr>
          <p:cNvSpPr txBox="1">
            <a:spLocks/>
          </p:cNvSpPr>
          <p:nvPr/>
        </p:nvSpPr>
        <p:spPr>
          <a:xfrm>
            <a:off x="495631" y="1555263"/>
            <a:ext cx="4899471" cy="1376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Packets can be buffered in routers</a:t>
            </a:r>
          </a:p>
          <a:p>
            <a:pPr lvl="1"/>
            <a:r>
              <a:rPr lang="en-US" dirty="0"/>
              <a:t>delay and loss</a:t>
            </a:r>
          </a:p>
          <a:p>
            <a:pPr lvl="1"/>
            <a:r>
              <a:rPr lang="en-US" dirty="0"/>
              <a:t>network congestion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604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F61F-F2D6-E5C3-41D4-00DF77803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D3D14-1C4C-F39A-4B1C-CA899F09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discussed before</a:t>
            </a:r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C80886F0-A446-3774-0C83-C1D92150395A}"/>
              </a:ext>
            </a:extLst>
          </p:cNvPr>
          <p:cNvGrpSpPr/>
          <p:nvPr/>
        </p:nvGrpSpPr>
        <p:grpSpPr>
          <a:xfrm>
            <a:off x="5207069" y="1493069"/>
            <a:ext cx="6348758" cy="2587259"/>
            <a:chOff x="2061715" y="3514305"/>
            <a:chExt cx="6348758" cy="2587259"/>
          </a:xfrm>
        </p:grpSpPr>
        <p:sp>
          <p:nvSpPr>
            <p:cNvPr id="5" name="Line 53">
              <a:extLst>
                <a:ext uri="{FF2B5EF4-FFF2-40B4-BE49-F238E27FC236}">
                  <a16:creationId xmlns:a16="http://schemas.microsoft.com/office/drawing/2014/main" id="{67F4C2B0-5CE7-7A7D-A8D0-D2947F6009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51417" y="50496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" name="Line 33">
              <a:extLst>
                <a:ext uri="{FF2B5EF4-FFF2-40B4-BE49-F238E27FC236}">
                  <a16:creationId xmlns:a16="http://schemas.microsoft.com/office/drawing/2014/main" id="{D98783EB-21E0-610D-E96B-A3CAC35A29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3646" y="5241679"/>
              <a:ext cx="395409" cy="3709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E312EA92-2D2A-BEA9-88D2-EC3971FE7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0934" y="4863330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620CBE3-CDF4-446A-C905-321902119E49}"/>
                </a:ext>
              </a:extLst>
            </p:cNvPr>
            <p:cNvGrpSpPr/>
            <p:nvPr/>
          </p:nvGrpSpPr>
          <p:grpSpPr>
            <a:xfrm>
              <a:off x="7121953" y="4837792"/>
              <a:ext cx="586768" cy="904023"/>
              <a:chOff x="10910965" y="2513124"/>
              <a:chExt cx="586768" cy="904023"/>
            </a:xfrm>
          </p:grpSpPr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AB246DD9-8EB6-B79A-7843-917444016521}"/>
                  </a:ext>
                </a:extLst>
              </p:cNvPr>
              <p:cNvSpPr/>
              <p:nvPr/>
            </p:nvSpPr>
            <p:spPr>
              <a:xfrm>
                <a:off x="10916736" y="2513124"/>
                <a:ext cx="574264" cy="90402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7F6C5450-9893-41BA-E098-9B07877EA702}"/>
                  </a:ext>
                </a:extLst>
              </p:cNvPr>
              <p:cNvCxnSpPr/>
              <p:nvPr/>
            </p:nvCxnSpPr>
            <p:spPr>
              <a:xfrm>
                <a:off x="10910965" y="2696064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7C944418-8A90-5EE3-D7A0-18EC682403AE}"/>
                  </a:ext>
                </a:extLst>
              </p:cNvPr>
              <p:cNvCxnSpPr/>
              <p:nvPr/>
            </p:nvCxnSpPr>
            <p:spPr>
              <a:xfrm>
                <a:off x="10914332" y="288175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15DA184D-3522-CA58-4F28-2268EDE8B1A0}"/>
                  </a:ext>
                </a:extLst>
              </p:cNvPr>
              <p:cNvCxnSpPr/>
              <p:nvPr/>
            </p:nvCxnSpPr>
            <p:spPr>
              <a:xfrm>
                <a:off x="10923469" y="3064677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27B7FD88-89A5-D722-81BF-208B4E7B3178}"/>
                  </a:ext>
                </a:extLst>
              </p:cNvPr>
              <p:cNvCxnSpPr/>
              <p:nvPr/>
            </p:nvCxnSpPr>
            <p:spPr>
              <a:xfrm>
                <a:off x="10915293" y="324207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5A79A6C-2473-6686-8235-4E30E421C1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087048" y="3721445"/>
              <a:ext cx="430143" cy="900469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10401 w 10401"/>
                <a:gd name="connsiteY0" fmla="*/ 9412 h 9459"/>
                <a:gd name="connsiteX1" fmla="*/ 0 w 10401"/>
                <a:gd name="connsiteY1" fmla="*/ 0 h 9459"/>
                <a:gd name="connsiteX2" fmla="*/ 401 w 10401"/>
                <a:gd name="connsiteY2" fmla="*/ 8992 h 9459"/>
                <a:gd name="connsiteX3" fmla="*/ 5483 w 10401"/>
                <a:gd name="connsiteY3" fmla="*/ 9459 h 9459"/>
                <a:gd name="connsiteX4" fmla="*/ 10401 w 10401"/>
                <a:gd name="connsiteY4" fmla="*/ 9412 h 9459"/>
                <a:gd name="connsiteX0" fmla="*/ 14206 w 14206"/>
                <a:gd name="connsiteY0" fmla="*/ 3611 h 10000"/>
                <a:gd name="connsiteX1" fmla="*/ 0 w 14206"/>
                <a:gd name="connsiteY1" fmla="*/ 0 h 10000"/>
                <a:gd name="connsiteX2" fmla="*/ 386 w 14206"/>
                <a:gd name="connsiteY2" fmla="*/ 9506 h 10000"/>
                <a:gd name="connsiteX3" fmla="*/ 5272 w 14206"/>
                <a:gd name="connsiteY3" fmla="*/ 10000 h 10000"/>
                <a:gd name="connsiteX4" fmla="*/ 14206 w 14206"/>
                <a:gd name="connsiteY4" fmla="*/ 3611 h 10000"/>
                <a:gd name="connsiteX0" fmla="*/ 14206 w 16488"/>
                <a:gd name="connsiteY0" fmla="*/ 3611 h 9506"/>
                <a:gd name="connsiteX1" fmla="*/ 0 w 16488"/>
                <a:gd name="connsiteY1" fmla="*/ 0 h 9506"/>
                <a:gd name="connsiteX2" fmla="*/ 386 w 16488"/>
                <a:gd name="connsiteY2" fmla="*/ 9506 h 9506"/>
                <a:gd name="connsiteX3" fmla="*/ 16488 w 16488"/>
                <a:gd name="connsiteY3" fmla="*/ 6207 h 9506"/>
                <a:gd name="connsiteX4" fmla="*/ 14206 w 16488"/>
                <a:gd name="connsiteY4" fmla="*/ 3611 h 9506"/>
                <a:gd name="connsiteX0" fmla="*/ 8616 w 10000"/>
                <a:gd name="connsiteY0" fmla="*/ 3799 h 10765"/>
                <a:gd name="connsiteX1" fmla="*/ 0 w 10000"/>
                <a:gd name="connsiteY1" fmla="*/ 0 h 10765"/>
                <a:gd name="connsiteX2" fmla="*/ 128 w 10000"/>
                <a:gd name="connsiteY2" fmla="*/ 10765 h 10765"/>
                <a:gd name="connsiteX3" fmla="*/ 10000 w 10000"/>
                <a:gd name="connsiteY3" fmla="*/ 6530 h 10765"/>
                <a:gd name="connsiteX4" fmla="*/ 8616 w 10000"/>
                <a:gd name="connsiteY4" fmla="*/ 3799 h 10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765">
                  <a:moveTo>
                    <a:pt x="8616" y="3799"/>
                  </a:moveTo>
                  <a:lnTo>
                    <a:pt x="0" y="0"/>
                  </a:lnTo>
                  <a:cubicBezTo>
                    <a:pt x="78" y="3333"/>
                    <a:pt x="50" y="7432"/>
                    <a:pt x="128" y="10765"/>
                  </a:cubicBezTo>
                  <a:lnTo>
                    <a:pt x="10000" y="6530"/>
                  </a:lnTo>
                  <a:lnTo>
                    <a:pt x="8616" y="3799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DDDDDD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8396FA7-D616-F13B-5E6D-2FBD8A86697D}"/>
                </a:ext>
              </a:extLst>
            </p:cNvPr>
            <p:cNvGrpSpPr/>
            <p:nvPr/>
          </p:nvGrpSpPr>
          <p:grpSpPr>
            <a:xfrm>
              <a:off x="2626216" y="4614104"/>
              <a:ext cx="586768" cy="904023"/>
              <a:chOff x="10910965" y="2513124"/>
              <a:chExt cx="586768" cy="904023"/>
            </a:xfrm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FA5334E6-81B0-5994-231E-86F330A5549A}"/>
                  </a:ext>
                </a:extLst>
              </p:cNvPr>
              <p:cNvSpPr/>
              <p:nvPr/>
            </p:nvSpPr>
            <p:spPr>
              <a:xfrm>
                <a:off x="10916736" y="2513124"/>
                <a:ext cx="574264" cy="90402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2128B6C1-FC8E-3406-45C9-1DF92CF42CA7}"/>
                  </a:ext>
                </a:extLst>
              </p:cNvPr>
              <p:cNvCxnSpPr/>
              <p:nvPr/>
            </p:nvCxnSpPr>
            <p:spPr>
              <a:xfrm>
                <a:off x="10910965" y="2696064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A1CBE898-2441-175C-5791-61510CC4C466}"/>
                  </a:ext>
                </a:extLst>
              </p:cNvPr>
              <p:cNvCxnSpPr/>
              <p:nvPr/>
            </p:nvCxnSpPr>
            <p:spPr>
              <a:xfrm>
                <a:off x="10914332" y="288175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3405056D-E3C6-41BC-0F10-5804AF43075D}"/>
                  </a:ext>
                </a:extLst>
              </p:cNvPr>
              <p:cNvCxnSpPr/>
              <p:nvPr/>
            </p:nvCxnSpPr>
            <p:spPr>
              <a:xfrm>
                <a:off x="10923469" y="3064677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DBE2CABC-C36E-C0BF-C597-0F09A84455AF}"/>
                  </a:ext>
                </a:extLst>
              </p:cNvPr>
              <p:cNvCxnSpPr/>
              <p:nvPr/>
            </p:nvCxnSpPr>
            <p:spPr>
              <a:xfrm>
                <a:off x="10915293" y="324207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B74A152-FD45-3930-332F-0E93B24EFF80}"/>
                </a:ext>
              </a:extLst>
            </p:cNvPr>
            <p:cNvGrpSpPr/>
            <p:nvPr/>
          </p:nvGrpSpPr>
          <p:grpSpPr>
            <a:xfrm>
              <a:off x="3502516" y="3725612"/>
              <a:ext cx="586768" cy="904023"/>
              <a:chOff x="10910965" y="2513124"/>
              <a:chExt cx="586768" cy="904023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9114F9C1-93E6-2E22-28BA-90D95387A7E4}"/>
                  </a:ext>
                </a:extLst>
              </p:cNvPr>
              <p:cNvSpPr/>
              <p:nvPr/>
            </p:nvSpPr>
            <p:spPr>
              <a:xfrm>
                <a:off x="10916736" y="2513124"/>
                <a:ext cx="574264" cy="90402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5AB1DF18-41AE-8606-2F1D-F73D35A0E142}"/>
                  </a:ext>
                </a:extLst>
              </p:cNvPr>
              <p:cNvCxnSpPr/>
              <p:nvPr/>
            </p:nvCxnSpPr>
            <p:spPr>
              <a:xfrm>
                <a:off x="10910965" y="2696064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8148EC09-17AD-92A5-98D4-FE54E89A1260}"/>
                  </a:ext>
                </a:extLst>
              </p:cNvPr>
              <p:cNvCxnSpPr/>
              <p:nvPr/>
            </p:nvCxnSpPr>
            <p:spPr>
              <a:xfrm>
                <a:off x="10914332" y="288175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53520A95-8B00-AFC5-7EDD-16DEFE27521D}"/>
                  </a:ext>
                </a:extLst>
              </p:cNvPr>
              <p:cNvCxnSpPr/>
              <p:nvPr/>
            </p:nvCxnSpPr>
            <p:spPr>
              <a:xfrm>
                <a:off x="10923469" y="3064677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6B1A6355-E90C-48A3-BBA7-298947B157E3}"/>
                  </a:ext>
                </a:extLst>
              </p:cNvPr>
              <p:cNvCxnSpPr/>
              <p:nvPr/>
            </p:nvCxnSpPr>
            <p:spPr>
              <a:xfrm>
                <a:off x="10915293" y="324207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CE0909C-7A41-7E50-5667-318DBFFEC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7172" y="3861933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674218D-A278-5D1F-115A-FF316BBFF7BC}"/>
                </a:ext>
              </a:extLst>
            </p:cNvPr>
            <p:cNvGrpSpPr/>
            <p:nvPr/>
          </p:nvGrpSpPr>
          <p:grpSpPr>
            <a:xfrm>
              <a:off x="7500494" y="3837799"/>
              <a:ext cx="586768" cy="904023"/>
              <a:chOff x="10910965" y="2513124"/>
              <a:chExt cx="586768" cy="904023"/>
            </a:xfrm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46C3572F-AA12-E43A-178B-C1EF87A540E5}"/>
                  </a:ext>
                </a:extLst>
              </p:cNvPr>
              <p:cNvSpPr/>
              <p:nvPr/>
            </p:nvSpPr>
            <p:spPr>
              <a:xfrm>
                <a:off x="10916736" y="2513124"/>
                <a:ext cx="574264" cy="90402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D26980B0-2037-D322-61FB-64F95A01D493}"/>
                  </a:ext>
                </a:extLst>
              </p:cNvPr>
              <p:cNvCxnSpPr/>
              <p:nvPr/>
            </p:nvCxnSpPr>
            <p:spPr>
              <a:xfrm>
                <a:off x="10910965" y="2696064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3D96A707-2AC7-FD6A-7741-5C45B571B070}"/>
                  </a:ext>
                </a:extLst>
              </p:cNvPr>
              <p:cNvCxnSpPr/>
              <p:nvPr/>
            </p:nvCxnSpPr>
            <p:spPr>
              <a:xfrm>
                <a:off x="10914332" y="288175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5871A9D1-3136-37F5-9B67-D9CFB18323AF}"/>
                  </a:ext>
                </a:extLst>
              </p:cNvPr>
              <p:cNvCxnSpPr/>
              <p:nvPr/>
            </p:nvCxnSpPr>
            <p:spPr>
              <a:xfrm>
                <a:off x="10923469" y="3064677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5B65FD9D-5CF3-2C43-1FFB-BF9D116401F8}"/>
                  </a:ext>
                </a:extLst>
              </p:cNvPr>
              <p:cNvCxnSpPr/>
              <p:nvPr/>
            </p:nvCxnSpPr>
            <p:spPr>
              <a:xfrm>
                <a:off x="10915293" y="324207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AE8F206-4AA9-EEBC-C0B1-83D1BD39C485}"/>
                </a:ext>
              </a:extLst>
            </p:cNvPr>
            <p:cNvGrpSpPr/>
            <p:nvPr/>
          </p:nvGrpSpPr>
          <p:grpSpPr>
            <a:xfrm>
              <a:off x="4655037" y="4881538"/>
              <a:ext cx="1047677" cy="561647"/>
              <a:chOff x="7493876" y="2774732"/>
              <a:chExt cx="1481958" cy="894621"/>
            </a:xfrm>
          </p:grpSpPr>
          <p:sp>
            <p:nvSpPr>
              <p:cNvPr id="137" name="Freeform 363">
                <a:extLst>
                  <a:ext uri="{FF2B5EF4-FFF2-40B4-BE49-F238E27FC236}">
                    <a16:creationId xmlns:a16="http://schemas.microsoft.com/office/drawing/2014/main" id="{520D12D2-B891-68A5-2FC0-EF0EA7AD5AD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305039D5-CA12-D951-9F49-5FE2903D5EE0}"/>
                  </a:ext>
                </a:extLst>
              </p:cNvPr>
              <p:cNvSpPr/>
              <p:nvPr/>
            </p:nvSpPr>
            <p:spPr>
              <a:xfrm>
                <a:off x="7494728" y="2774732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DAA81E2E-BD04-B4DF-6921-31FBF27FBB2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40" name="Freeform 366">
                  <a:extLst>
                    <a:ext uri="{FF2B5EF4-FFF2-40B4-BE49-F238E27FC236}">
                      <a16:creationId xmlns:a16="http://schemas.microsoft.com/office/drawing/2014/main" id="{9539F354-464D-4E60-FCE6-59D82A0541C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367">
                  <a:extLst>
                    <a:ext uri="{FF2B5EF4-FFF2-40B4-BE49-F238E27FC236}">
                      <a16:creationId xmlns:a16="http://schemas.microsoft.com/office/drawing/2014/main" id="{6CF31991-2D2A-D455-1718-0E8E51CA586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 368">
                  <a:extLst>
                    <a:ext uri="{FF2B5EF4-FFF2-40B4-BE49-F238E27FC236}">
                      <a16:creationId xmlns:a16="http://schemas.microsoft.com/office/drawing/2014/main" id="{DCF4279C-D805-5466-EBCC-61F42D36FEF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369">
                  <a:extLst>
                    <a:ext uri="{FF2B5EF4-FFF2-40B4-BE49-F238E27FC236}">
                      <a16:creationId xmlns:a16="http://schemas.microsoft.com/office/drawing/2014/main" id="{33825F01-6C6A-05E2-106E-370A5C1C1E5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" name="Group 124">
              <a:extLst>
                <a:ext uri="{FF2B5EF4-FFF2-40B4-BE49-F238E27FC236}">
                  <a16:creationId xmlns:a16="http://schemas.microsoft.com/office/drawing/2014/main" id="{EEDA9779-DCC9-9F4A-62AE-2F41FD34CE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7758" y="3997698"/>
              <a:ext cx="525463" cy="434975"/>
              <a:chOff x="-44" y="1473"/>
              <a:chExt cx="981" cy="1105"/>
            </a:xfrm>
          </p:grpSpPr>
          <p:pic>
            <p:nvPicPr>
              <p:cNvPr id="135" name="Picture 125" descr="desktop_computer_stylized_medium">
                <a:extLst>
                  <a:ext uri="{FF2B5EF4-FFF2-40B4-BE49-F238E27FC236}">
                    <a16:creationId xmlns:a16="http://schemas.microsoft.com/office/drawing/2014/main" id="{B0B98815-C9B5-B09D-9512-3080B114CA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CAAB1466-10E5-7012-196F-19E2A0CC8B7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F0A15357-D306-2C2C-6A86-6A97C2F4CFE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381597" y="4612505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Text Box 42">
              <a:extLst>
                <a:ext uri="{FF2B5EF4-FFF2-40B4-BE49-F238E27FC236}">
                  <a16:creationId xmlns:a16="http://schemas.microsoft.com/office/drawing/2014/main" id="{DC0046E0-4FF8-D035-36ED-422B5F928E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1482" y="3732281"/>
              <a:ext cx="913861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A</a:t>
              </a:r>
              <a:endPara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Text Box 52">
              <a:extLst>
                <a:ext uri="{FF2B5EF4-FFF2-40B4-BE49-F238E27FC236}">
                  <a16:creationId xmlns:a16="http://schemas.microsoft.com/office/drawing/2014/main" id="{CA432CBA-EF83-12EB-62EE-D8E1E902B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7264" y="5660930"/>
              <a:ext cx="799129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13A3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B</a:t>
              </a:r>
              <a:endPara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Line 54">
              <a:extLst>
                <a:ext uri="{FF2B5EF4-FFF2-40B4-BE49-F238E27FC236}">
                  <a16:creationId xmlns:a16="http://schemas.microsoft.com/office/drawing/2014/main" id="{4629F487-3161-4999-7924-B8091D125C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48672" y="5145905"/>
              <a:ext cx="10924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Line 55">
              <a:extLst>
                <a:ext uri="{FF2B5EF4-FFF2-40B4-BE49-F238E27FC236}">
                  <a16:creationId xmlns:a16="http://schemas.microsoft.com/office/drawing/2014/main" id="{7FB07438-5F89-51B8-08AD-D6490F6A9A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34008" y="4745855"/>
              <a:ext cx="923925" cy="866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Line 57">
              <a:extLst>
                <a:ext uri="{FF2B5EF4-FFF2-40B4-BE49-F238E27FC236}">
                  <a16:creationId xmlns:a16="http://schemas.microsoft.com/office/drawing/2014/main" id="{8F127309-9E28-0AD9-5AB8-1582CCF0DA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55904" y="4746002"/>
              <a:ext cx="4397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2" name="Group 127">
              <a:extLst>
                <a:ext uri="{FF2B5EF4-FFF2-40B4-BE49-F238E27FC236}">
                  <a16:creationId xmlns:a16="http://schemas.microsoft.com/office/drawing/2014/main" id="{B34C159D-E309-E8D4-5B1E-0FC49ED3A7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78697" y="4453755"/>
              <a:ext cx="231776" cy="441326"/>
              <a:chOff x="4140" y="429"/>
              <a:chExt cx="1425" cy="2396"/>
            </a:xfrm>
          </p:grpSpPr>
          <p:sp>
            <p:nvSpPr>
              <p:cNvPr id="103" name="Freeform 128">
                <a:extLst>
                  <a:ext uri="{FF2B5EF4-FFF2-40B4-BE49-F238E27FC236}">
                    <a16:creationId xmlns:a16="http://schemas.microsoft.com/office/drawing/2014/main" id="{FE02C359-BD7A-B49B-7373-5DF811462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4" name="Rectangle 129">
                <a:extLst>
                  <a:ext uri="{FF2B5EF4-FFF2-40B4-BE49-F238E27FC236}">
                    <a16:creationId xmlns:a16="http://schemas.microsoft.com/office/drawing/2014/main" id="{1278DBA8-D2A5-49E5-C2C0-F1A0052D3D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5" name="Freeform 130">
                <a:extLst>
                  <a:ext uri="{FF2B5EF4-FFF2-40B4-BE49-F238E27FC236}">
                    <a16:creationId xmlns:a16="http://schemas.microsoft.com/office/drawing/2014/main" id="{BE6F3A4B-B141-168A-D071-F043C031BF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6" name="Freeform 131">
                <a:extLst>
                  <a:ext uri="{FF2B5EF4-FFF2-40B4-BE49-F238E27FC236}">
                    <a16:creationId xmlns:a16="http://schemas.microsoft.com/office/drawing/2014/main" id="{F27026AE-3595-FB31-E23F-DDD6D082A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" name="Rectangle 132">
                <a:extLst>
                  <a:ext uri="{FF2B5EF4-FFF2-40B4-BE49-F238E27FC236}">
                    <a16:creationId xmlns:a16="http://schemas.microsoft.com/office/drawing/2014/main" id="{D3407B2B-CC10-8732-B187-C3DC72B6ED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696"/>
                <a:ext cx="595" cy="43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08" name="Group 133">
                <a:extLst>
                  <a:ext uri="{FF2B5EF4-FFF2-40B4-BE49-F238E27FC236}">
                    <a16:creationId xmlns:a16="http://schemas.microsoft.com/office/drawing/2014/main" id="{2BDE4B76-B7C6-9F85-BD50-3B191B6E21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5" y="669"/>
                <a:ext cx="586" cy="146"/>
                <a:chOff x="609" y="2570"/>
                <a:chExt cx="731" cy="140"/>
              </a:xfrm>
            </p:grpSpPr>
            <p:sp>
              <p:nvSpPr>
                <p:cNvPr id="133" name="AutoShape 134">
                  <a:extLst>
                    <a:ext uri="{FF2B5EF4-FFF2-40B4-BE49-F238E27FC236}">
                      <a16:creationId xmlns:a16="http://schemas.microsoft.com/office/drawing/2014/main" id="{4D289584-53DF-6528-528B-20B846AE3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" y="2570"/>
                  <a:ext cx="73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34" name="AutoShape 135">
                  <a:extLst>
                    <a:ext uri="{FF2B5EF4-FFF2-40B4-BE49-F238E27FC236}">
                      <a16:creationId xmlns:a16="http://schemas.microsoft.com/office/drawing/2014/main" id="{9C693EF7-7D60-6E0E-CFF8-F8B9E13BEC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1" y="2587"/>
                  <a:ext cx="70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09" name="Rectangle 136">
                <a:extLst>
                  <a:ext uri="{FF2B5EF4-FFF2-40B4-BE49-F238E27FC236}">
                    <a16:creationId xmlns:a16="http://schemas.microsoft.com/office/drawing/2014/main" id="{9BD37BBD-6EF2-499F-0FBA-2A462E41EE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015"/>
                <a:ext cx="595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10" name="Group 137">
                <a:extLst>
                  <a:ext uri="{FF2B5EF4-FFF2-40B4-BE49-F238E27FC236}">
                    <a16:creationId xmlns:a16="http://schemas.microsoft.com/office/drawing/2014/main" id="{01CCE4FE-EEAB-8203-666B-A243B71C74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6" y="994"/>
                <a:ext cx="586" cy="129"/>
                <a:chOff x="612" y="2572"/>
                <a:chExt cx="731" cy="134"/>
              </a:xfrm>
            </p:grpSpPr>
            <p:sp>
              <p:nvSpPr>
                <p:cNvPr id="131" name="AutoShape 138">
                  <a:extLst>
                    <a:ext uri="{FF2B5EF4-FFF2-40B4-BE49-F238E27FC236}">
                      <a16:creationId xmlns:a16="http://schemas.microsoft.com/office/drawing/2014/main" id="{7568FFB4-492A-183C-D12E-1AD1AE45A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32" name="AutoShape 139">
                  <a:extLst>
                    <a:ext uri="{FF2B5EF4-FFF2-40B4-BE49-F238E27FC236}">
                      <a16:creationId xmlns:a16="http://schemas.microsoft.com/office/drawing/2014/main" id="{D82A5FC4-0451-182C-0BB0-570C6E4169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06" cy="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11" name="Rectangle 140">
                <a:extLst>
                  <a:ext uri="{FF2B5EF4-FFF2-40B4-BE49-F238E27FC236}">
                    <a16:creationId xmlns:a16="http://schemas.microsoft.com/office/drawing/2014/main" id="{B1B96941-2D92-CED0-BD52-B9E680434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5" cy="43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2" name="Rectangle 141">
                <a:extLst>
                  <a:ext uri="{FF2B5EF4-FFF2-40B4-BE49-F238E27FC236}">
                    <a16:creationId xmlns:a16="http://schemas.microsoft.com/office/drawing/2014/main" id="{AA333E82-3F45-216F-7A5E-70CE78BFE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3"/>
                <a:ext cx="595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13" name="Group 142">
                <a:extLst>
                  <a:ext uri="{FF2B5EF4-FFF2-40B4-BE49-F238E27FC236}">
                    <a16:creationId xmlns:a16="http://schemas.microsoft.com/office/drawing/2014/main" id="{39E225DA-E93D-7CED-2E18-FEEC1DEC1F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6"/>
                <a:ext cx="586" cy="215"/>
                <a:chOff x="614" y="2568"/>
                <a:chExt cx="730" cy="198"/>
              </a:xfrm>
            </p:grpSpPr>
            <p:sp>
              <p:nvSpPr>
                <p:cNvPr id="129" name="AutoShape 143">
                  <a:extLst>
                    <a:ext uri="{FF2B5EF4-FFF2-40B4-BE49-F238E27FC236}">
                      <a16:creationId xmlns:a16="http://schemas.microsoft.com/office/drawing/2014/main" id="{379E68C0-9DC3-4CEA-4448-B3CA4536E8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30" cy="19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30" name="AutoShape 144">
                  <a:extLst>
                    <a:ext uri="{FF2B5EF4-FFF2-40B4-BE49-F238E27FC236}">
                      <a16:creationId xmlns:a16="http://schemas.microsoft.com/office/drawing/2014/main" id="{39040087-9628-C8CA-1E99-B7BD8AFB55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70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14" name="Freeform 145">
                <a:extLst>
                  <a:ext uri="{FF2B5EF4-FFF2-40B4-BE49-F238E27FC236}">
                    <a16:creationId xmlns:a16="http://schemas.microsoft.com/office/drawing/2014/main" id="{47DB283A-D990-4E4F-54B9-F2A5E85A26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15" name="Group 146">
                <a:extLst>
                  <a:ext uri="{FF2B5EF4-FFF2-40B4-BE49-F238E27FC236}">
                    <a16:creationId xmlns:a16="http://schemas.microsoft.com/office/drawing/2014/main" id="{64B9DF43-6AE0-2E40-CC42-A954CD534B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325"/>
                <a:ext cx="586" cy="138"/>
                <a:chOff x="609" y="2566"/>
                <a:chExt cx="730" cy="138"/>
              </a:xfrm>
            </p:grpSpPr>
            <p:sp>
              <p:nvSpPr>
                <p:cNvPr id="127" name="AutoShape 147">
                  <a:extLst>
                    <a:ext uri="{FF2B5EF4-FFF2-40B4-BE49-F238E27FC236}">
                      <a16:creationId xmlns:a16="http://schemas.microsoft.com/office/drawing/2014/main" id="{4608B155-47C3-5580-7B34-D617734010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" y="2566"/>
                  <a:ext cx="73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28" name="AutoShape 148">
                  <a:extLst>
                    <a:ext uri="{FF2B5EF4-FFF2-40B4-BE49-F238E27FC236}">
                      <a16:creationId xmlns:a16="http://schemas.microsoft.com/office/drawing/2014/main" id="{3D7C5D0D-9D4D-60AD-3C22-D91CD9CB3E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2" y="2584"/>
                  <a:ext cx="705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16" name="Rectangle 149">
                <a:extLst>
                  <a:ext uri="{FF2B5EF4-FFF2-40B4-BE49-F238E27FC236}">
                    <a16:creationId xmlns:a16="http://schemas.microsoft.com/office/drawing/2014/main" id="{CCF7E63C-AA30-DB41-E587-CD8C7DE03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8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7" name="Freeform 150">
                <a:extLst>
                  <a:ext uri="{FF2B5EF4-FFF2-40B4-BE49-F238E27FC236}">
                    <a16:creationId xmlns:a16="http://schemas.microsoft.com/office/drawing/2014/main" id="{808E9396-CC80-7483-750E-48CC6D1892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8" name="Freeform 151">
                <a:extLst>
                  <a:ext uri="{FF2B5EF4-FFF2-40B4-BE49-F238E27FC236}">
                    <a16:creationId xmlns:a16="http://schemas.microsoft.com/office/drawing/2014/main" id="{FAFD8970-119A-3592-93FD-14DE4E090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9" name="Oval 152">
                <a:extLst>
                  <a:ext uri="{FF2B5EF4-FFF2-40B4-BE49-F238E27FC236}">
                    <a16:creationId xmlns:a16="http://schemas.microsoft.com/office/drawing/2014/main" id="{191730C1-2558-ED89-DBDD-BDD950B0F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0" name="Freeform 153">
                <a:extLst>
                  <a:ext uri="{FF2B5EF4-FFF2-40B4-BE49-F238E27FC236}">
                    <a16:creationId xmlns:a16="http://schemas.microsoft.com/office/drawing/2014/main" id="{70EA5EE5-7028-7930-BB1B-025AD35354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1" name="AutoShape 154">
                <a:extLst>
                  <a:ext uri="{FF2B5EF4-FFF2-40B4-BE49-F238E27FC236}">
                    <a16:creationId xmlns:a16="http://schemas.microsoft.com/office/drawing/2014/main" id="{22FF3943-6FC1-F0A2-2530-ED655FC1C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1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2" name="AutoShape 155">
                <a:extLst>
                  <a:ext uri="{FF2B5EF4-FFF2-40B4-BE49-F238E27FC236}">
                    <a16:creationId xmlns:a16="http://schemas.microsoft.com/office/drawing/2014/main" id="{1956F8E8-742F-0E92-48BA-ACB6AD2E3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4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3" name="Oval 156">
                <a:extLst>
                  <a:ext uri="{FF2B5EF4-FFF2-40B4-BE49-F238E27FC236}">
                    <a16:creationId xmlns:a16="http://schemas.microsoft.com/office/drawing/2014/main" id="{0AD63F35-39F5-5AB2-7C26-6823CFA2A1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6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4" name="Oval 157">
                <a:extLst>
                  <a:ext uri="{FF2B5EF4-FFF2-40B4-BE49-F238E27FC236}">
                    <a16:creationId xmlns:a16="http://schemas.microsoft.com/office/drawing/2014/main" id="{AFCDD812-FAB3-17A9-4B89-E68F31441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2" y="2385"/>
                <a:ext cx="166" cy="1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25" name="Oval 158">
                <a:extLst>
                  <a:ext uri="{FF2B5EF4-FFF2-40B4-BE49-F238E27FC236}">
                    <a16:creationId xmlns:a16="http://schemas.microsoft.com/office/drawing/2014/main" id="{E083CAD6-8151-3948-B454-84E070EC0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7" y="2377"/>
                <a:ext cx="166" cy="14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6" name="Rectangle 159">
                <a:extLst>
                  <a:ext uri="{FF2B5EF4-FFF2-40B4-BE49-F238E27FC236}">
                    <a16:creationId xmlns:a16="http://schemas.microsoft.com/office/drawing/2014/main" id="{B36EFCA7-8F14-E99D-D76B-B2E0835BBA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8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23" name="Group 160">
              <a:extLst>
                <a:ext uri="{FF2B5EF4-FFF2-40B4-BE49-F238E27FC236}">
                  <a16:creationId xmlns:a16="http://schemas.microsoft.com/office/drawing/2014/main" id="{539AC756-8C76-5FC9-E11D-30D1B96E05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1715" y="5356607"/>
              <a:ext cx="525463" cy="434975"/>
              <a:chOff x="-44" y="1473"/>
              <a:chExt cx="981" cy="1105"/>
            </a:xfrm>
          </p:grpSpPr>
          <p:pic>
            <p:nvPicPr>
              <p:cNvPr id="101" name="Picture 161" descr="desktop_computer_stylized_medium">
                <a:extLst>
                  <a:ext uri="{FF2B5EF4-FFF2-40B4-BE49-F238E27FC236}">
                    <a16:creationId xmlns:a16="http://schemas.microsoft.com/office/drawing/2014/main" id="{A4077D24-ABCA-D4F4-CF99-23C3CABBF0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" name="Freeform 162">
                <a:extLst>
                  <a:ext uri="{FF2B5EF4-FFF2-40B4-BE49-F238E27FC236}">
                    <a16:creationId xmlns:a16="http://schemas.microsoft.com/office/drawing/2014/main" id="{5E9F74E2-92E9-E9B3-2EFB-07CD380FD6C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4" name="Group 163">
              <a:extLst>
                <a:ext uri="{FF2B5EF4-FFF2-40B4-BE49-F238E27FC236}">
                  <a16:creationId xmlns:a16="http://schemas.microsoft.com/office/drawing/2014/main" id="{A237571B-400B-2639-0FA9-1F3C81DC21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61197" y="5418955"/>
              <a:ext cx="231776" cy="441326"/>
              <a:chOff x="4140" y="429"/>
              <a:chExt cx="1425" cy="2396"/>
            </a:xfrm>
          </p:grpSpPr>
          <p:sp>
            <p:nvSpPr>
              <p:cNvPr id="69" name="Freeform 164">
                <a:extLst>
                  <a:ext uri="{FF2B5EF4-FFF2-40B4-BE49-F238E27FC236}">
                    <a16:creationId xmlns:a16="http://schemas.microsoft.com/office/drawing/2014/main" id="{F8A8F012-86B3-39C4-722A-D74DBE1CF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0" name="Rectangle 165">
                <a:extLst>
                  <a:ext uri="{FF2B5EF4-FFF2-40B4-BE49-F238E27FC236}">
                    <a16:creationId xmlns:a16="http://schemas.microsoft.com/office/drawing/2014/main" id="{0B5FD5AE-9F33-ECDE-92A5-51B457B81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1" name="Freeform 166">
                <a:extLst>
                  <a:ext uri="{FF2B5EF4-FFF2-40B4-BE49-F238E27FC236}">
                    <a16:creationId xmlns:a16="http://schemas.microsoft.com/office/drawing/2014/main" id="{A3C0D021-80EC-60C8-A3DB-D3C019A6E8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2" name="Freeform 167">
                <a:extLst>
                  <a:ext uri="{FF2B5EF4-FFF2-40B4-BE49-F238E27FC236}">
                    <a16:creationId xmlns:a16="http://schemas.microsoft.com/office/drawing/2014/main" id="{6510FA61-38A4-457D-9C92-2C76688B69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3" name="Rectangle 168">
                <a:extLst>
                  <a:ext uri="{FF2B5EF4-FFF2-40B4-BE49-F238E27FC236}">
                    <a16:creationId xmlns:a16="http://schemas.microsoft.com/office/drawing/2014/main" id="{8E346A38-7C13-934E-1A50-4FFF57B3C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696"/>
                <a:ext cx="595" cy="43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74" name="Group 169">
                <a:extLst>
                  <a:ext uri="{FF2B5EF4-FFF2-40B4-BE49-F238E27FC236}">
                    <a16:creationId xmlns:a16="http://schemas.microsoft.com/office/drawing/2014/main" id="{E2E56A8F-1505-D6A9-2790-DF704B12D6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5" y="669"/>
                <a:ext cx="586" cy="146"/>
                <a:chOff x="609" y="2570"/>
                <a:chExt cx="731" cy="140"/>
              </a:xfrm>
            </p:grpSpPr>
            <p:sp>
              <p:nvSpPr>
                <p:cNvPr id="99" name="AutoShape 170">
                  <a:extLst>
                    <a:ext uri="{FF2B5EF4-FFF2-40B4-BE49-F238E27FC236}">
                      <a16:creationId xmlns:a16="http://schemas.microsoft.com/office/drawing/2014/main" id="{F2276396-2F41-55FE-5156-A308A305E7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" y="2570"/>
                  <a:ext cx="73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0" name="AutoShape 171">
                  <a:extLst>
                    <a:ext uri="{FF2B5EF4-FFF2-40B4-BE49-F238E27FC236}">
                      <a16:creationId xmlns:a16="http://schemas.microsoft.com/office/drawing/2014/main" id="{06E30688-A217-9E91-F2E5-74FC12E0D9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1" y="2587"/>
                  <a:ext cx="70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75" name="Rectangle 172">
                <a:extLst>
                  <a:ext uri="{FF2B5EF4-FFF2-40B4-BE49-F238E27FC236}">
                    <a16:creationId xmlns:a16="http://schemas.microsoft.com/office/drawing/2014/main" id="{153C1B1C-9F1E-E3F5-46BA-4D674D067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015"/>
                <a:ext cx="595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76" name="Group 173">
                <a:extLst>
                  <a:ext uri="{FF2B5EF4-FFF2-40B4-BE49-F238E27FC236}">
                    <a16:creationId xmlns:a16="http://schemas.microsoft.com/office/drawing/2014/main" id="{AD2F2DB7-C015-3D07-DEF9-6DCDD335A1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6" y="994"/>
                <a:ext cx="586" cy="129"/>
                <a:chOff x="612" y="2572"/>
                <a:chExt cx="731" cy="134"/>
              </a:xfrm>
            </p:grpSpPr>
            <p:sp>
              <p:nvSpPr>
                <p:cNvPr id="97" name="AutoShape 174">
                  <a:extLst>
                    <a:ext uri="{FF2B5EF4-FFF2-40B4-BE49-F238E27FC236}">
                      <a16:creationId xmlns:a16="http://schemas.microsoft.com/office/drawing/2014/main" id="{04B84B43-46E4-0194-D887-8CCD99E9B9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8" name="AutoShape 175">
                  <a:extLst>
                    <a:ext uri="{FF2B5EF4-FFF2-40B4-BE49-F238E27FC236}">
                      <a16:creationId xmlns:a16="http://schemas.microsoft.com/office/drawing/2014/main" id="{9A4DEE9F-C8F0-A80E-C8DA-F656ACB37E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06" cy="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77" name="Rectangle 176">
                <a:extLst>
                  <a:ext uri="{FF2B5EF4-FFF2-40B4-BE49-F238E27FC236}">
                    <a16:creationId xmlns:a16="http://schemas.microsoft.com/office/drawing/2014/main" id="{4C6CCFEE-4DF1-251F-BEFF-B9702D73DA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5" cy="43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8" name="Rectangle 177">
                <a:extLst>
                  <a:ext uri="{FF2B5EF4-FFF2-40B4-BE49-F238E27FC236}">
                    <a16:creationId xmlns:a16="http://schemas.microsoft.com/office/drawing/2014/main" id="{4940F1F6-ADD6-1CA0-3109-2132D1194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3"/>
                <a:ext cx="595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79" name="Group 178">
                <a:extLst>
                  <a:ext uri="{FF2B5EF4-FFF2-40B4-BE49-F238E27FC236}">
                    <a16:creationId xmlns:a16="http://schemas.microsoft.com/office/drawing/2014/main" id="{66D04C0F-117B-FDD4-F88E-695F32DB85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6"/>
                <a:ext cx="586" cy="215"/>
                <a:chOff x="614" y="2568"/>
                <a:chExt cx="730" cy="198"/>
              </a:xfrm>
            </p:grpSpPr>
            <p:sp>
              <p:nvSpPr>
                <p:cNvPr id="95" name="AutoShape 179">
                  <a:extLst>
                    <a:ext uri="{FF2B5EF4-FFF2-40B4-BE49-F238E27FC236}">
                      <a16:creationId xmlns:a16="http://schemas.microsoft.com/office/drawing/2014/main" id="{60ECFBBD-A053-6ACF-F839-43F3F5F5CB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30" cy="19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6" name="AutoShape 180">
                  <a:extLst>
                    <a:ext uri="{FF2B5EF4-FFF2-40B4-BE49-F238E27FC236}">
                      <a16:creationId xmlns:a16="http://schemas.microsoft.com/office/drawing/2014/main" id="{C25E9EEE-EE9D-6AA3-A184-FF69821B17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70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80" name="Freeform 181">
                <a:extLst>
                  <a:ext uri="{FF2B5EF4-FFF2-40B4-BE49-F238E27FC236}">
                    <a16:creationId xmlns:a16="http://schemas.microsoft.com/office/drawing/2014/main" id="{D986D672-5D50-1D8B-982A-094B13822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1" name="Group 182">
                <a:extLst>
                  <a:ext uri="{FF2B5EF4-FFF2-40B4-BE49-F238E27FC236}">
                    <a16:creationId xmlns:a16="http://schemas.microsoft.com/office/drawing/2014/main" id="{AC710FA1-3D95-88AC-1911-A564764D6A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325"/>
                <a:ext cx="586" cy="138"/>
                <a:chOff x="609" y="2566"/>
                <a:chExt cx="730" cy="138"/>
              </a:xfrm>
            </p:grpSpPr>
            <p:sp>
              <p:nvSpPr>
                <p:cNvPr id="93" name="AutoShape 183">
                  <a:extLst>
                    <a:ext uri="{FF2B5EF4-FFF2-40B4-BE49-F238E27FC236}">
                      <a16:creationId xmlns:a16="http://schemas.microsoft.com/office/drawing/2014/main" id="{D7EEFF98-0E5A-49FB-F2F1-DF928F4913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" y="2566"/>
                  <a:ext cx="73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4" name="AutoShape 184">
                  <a:extLst>
                    <a:ext uri="{FF2B5EF4-FFF2-40B4-BE49-F238E27FC236}">
                      <a16:creationId xmlns:a16="http://schemas.microsoft.com/office/drawing/2014/main" id="{1C2C0593-B9F3-D78C-A1D0-A7A1A89D72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2" y="2584"/>
                  <a:ext cx="705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82" name="Rectangle 185">
                <a:extLst>
                  <a:ext uri="{FF2B5EF4-FFF2-40B4-BE49-F238E27FC236}">
                    <a16:creationId xmlns:a16="http://schemas.microsoft.com/office/drawing/2014/main" id="{CBCD45C3-7290-B826-5BE1-816D519A1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8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3" name="Freeform 186">
                <a:extLst>
                  <a:ext uri="{FF2B5EF4-FFF2-40B4-BE49-F238E27FC236}">
                    <a16:creationId xmlns:a16="http://schemas.microsoft.com/office/drawing/2014/main" id="{5D114A72-51D6-A9D2-9788-B91248A19B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" name="Freeform 187">
                <a:extLst>
                  <a:ext uri="{FF2B5EF4-FFF2-40B4-BE49-F238E27FC236}">
                    <a16:creationId xmlns:a16="http://schemas.microsoft.com/office/drawing/2014/main" id="{01ECEE54-98D1-B95B-CC89-77E26DE3A4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" name="Oval 188">
                <a:extLst>
                  <a:ext uri="{FF2B5EF4-FFF2-40B4-BE49-F238E27FC236}">
                    <a16:creationId xmlns:a16="http://schemas.microsoft.com/office/drawing/2014/main" id="{890F0407-69EF-2B0D-B01B-14DDF71C46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6" name="Freeform 189">
                <a:extLst>
                  <a:ext uri="{FF2B5EF4-FFF2-40B4-BE49-F238E27FC236}">
                    <a16:creationId xmlns:a16="http://schemas.microsoft.com/office/drawing/2014/main" id="{52E379BD-421C-DE55-76C5-48B6030EA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" name="AutoShape 190">
                <a:extLst>
                  <a:ext uri="{FF2B5EF4-FFF2-40B4-BE49-F238E27FC236}">
                    <a16:creationId xmlns:a16="http://schemas.microsoft.com/office/drawing/2014/main" id="{5B79CF7E-2026-DEDC-78F4-6E37FD92D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1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8" name="AutoShape 191">
                <a:extLst>
                  <a:ext uri="{FF2B5EF4-FFF2-40B4-BE49-F238E27FC236}">
                    <a16:creationId xmlns:a16="http://schemas.microsoft.com/office/drawing/2014/main" id="{80F511B9-8B12-0D70-996C-90E87DAC3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4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9" name="Oval 192">
                <a:extLst>
                  <a:ext uri="{FF2B5EF4-FFF2-40B4-BE49-F238E27FC236}">
                    <a16:creationId xmlns:a16="http://schemas.microsoft.com/office/drawing/2014/main" id="{45385EB5-6E6F-787B-1CF1-AA79C7CB55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6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" name="Oval 193">
                <a:extLst>
                  <a:ext uri="{FF2B5EF4-FFF2-40B4-BE49-F238E27FC236}">
                    <a16:creationId xmlns:a16="http://schemas.microsoft.com/office/drawing/2014/main" id="{3C39D671-B931-2691-1F50-FB5DEC1B69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2" y="2385"/>
                <a:ext cx="166" cy="1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91" name="Oval 194">
                <a:extLst>
                  <a:ext uri="{FF2B5EF4-FFF2-40B4-BE49-F238E27FC236}">
                    <a16:creationId xmlns:a16="http://schemas.microsoft.com/office/drawing/2014/main" id="{5A561457-D080-3899-25C8-F0780A1220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7" y="2377"/>
                <a:ext cx="166" cy="14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2" name="Rectangle 195">
                <a:extLst>
                  <a:ext uri="{FF2B5EF4-FFF2-40B4-BE49-F238E27FC236}">
                    <a16:creationId xmlns:a16="http://schemas.microsoft.com/office/drawing/2014/main" id="{176BFEB6-98ED-68D5-0212-2AAF5DA43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8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" name="Line 57">
              <a:extLst>
                <a:ext uri="{FF2B5EF4-FFF2-40B4-BE49-F238E27FC236}">
                  <a16:creationId xmlns:a16="http://schemas.microsoft.com/office/drawing/2014/main" id="{8965B9C8-13F6-3E13-78EC-BF127D7F92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3848" y="5611165"/>
              <a:ext cx="82220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" name="Line 57">
              <a:extLst>
                <a:ext uri="{FF2B5EF4-FFF2-40B4-BE49-F238E27FC236}">
                  <a16:creationId xmlns:a16="http://schemas.microsoft.com/office/drawing/2014/main" id="{E0AC39A7-5BEF-2C84-3F1B-192EC79AC7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28566" y="4743658"/>
              <a:ext cx="4397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" name="Line 57">
              <a:extLst>
                <a:ext uri="{FF2B5EF4-FFF2-40B4-BE49-F238E27FC236}">
                  <a16:creationId xmlns:a16="http://schemas.microsoft.com/office/drawing/2014/main" id="{D2AE98A8-4F1A-FC6B-E666-8653430FD8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7132" y="5613510"/>
              <a:ext cx="4397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122152E-D0EF-02E2-E2D5-EB7346E5D9A0}"/>
                </a:ext>
              </a:extLst>
            </p:cNvPr>
            <p:cNvSpPr txBox="1"/>
            <p:nvPr/>
          </p:nvSpPr>
          <p:spPr>
            <a:xfrm>
              <a:off x="5832982" y="4783764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EAC0604A-646C-FDC3-C9C7-AEC0A1391A91}"/>
                </a:ext>
              </a:extLst>
            </p:cNvPr>
            <p:cNvGrpSpPr/>
            <p:nvPr/>
          </p:nvGrpSpPr>
          <p:grpSpPr>
            <a:xfrm>
              <a:off x="4945685" y="5127241"/>
              <a:ext cx="289189" cy="57150"/>
              <a:chOff x="7677150" y="3546475"/>
              <a:chExt cx="304800" cy="5715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9ABA9741-7DD4-C3E6-182C-3566FBB08A2B}"/>
                  </a:ext>
                </a:extLst>
              </p:cNvPr>
              <p:cNvSpPr/>
              <p:nvPr/>
            </p:nvSpPr>
            <p:spPr>
              <a:xfrm>
                <a:off x="7924800" y="3546475"/>
                <a:ext cx="57150" cy="5715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049985B3-19FD-D28C-DA1C-E966FDE40885}"/>
                  </a:ext>
                </a:extLst>
              </p:cNvPr>
              <p:cNvSpPr/>
              <p:nvPr/>
            </p:nvSpPr>
            <p:spPr>
              <a:xfrm>
                <a:off x="7842250" y="3546475"/>
                <a:ext cx="57150" cy="571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39FBF8B0-ACE9-8774-9726-7253E8DC3BCF}"/>
                  </a:ext>
                </a:extLst>
              </p:cNvPr>
              <p:cNvSpPr/>
              <p:nvPr/>
            </p:nvSpPr>
            <p:spPr>
              <a:xfrm>
                <a:off x="7759700" y="3546475"/>
                <a:ext cx="57150" cy="5715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344D49D-B32A-78BE-DB59-9CEC19E44EAA}"/>
                  </a:ext>
                </a:extLst>
              </p:cNvPr>
              <p:cNvSpPr/>
              <p:nvPr/>
            </p:nvSpPr>
            <p:spPr>
              <a:xfrm>
                <a:off x="7677150" y="3546475"/>
                <a:ext cx="57150" cy="5715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C5445AE-5096-A345-0147-A5F0A578FA86}"/>
                </a:ext>
              </a:extLst>
            </p:cNvPr>
            <p:cNvSpPr txBox="1"/>
            <p:nvPr/>
          </p:nvSpPr>
          <p:spPr>
            <a:xfrm>
              <a:off x="4281837" y="4348296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1" name="Line 53">
              <a:extLst>
                <a:ext uri="{FF2B5EF4-FFF2-40B4-BE49-F238E27FC236}">
                  <a16:creationId xmlns:a16="http://schemas.microsoft.com/office/drawing/2014/main" id="{EA50A2D6-6299-BDA5-855E-8EBF58727B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37347" y="5242141"/>
              <a:ext cx="7176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" name="Line 33">
              <a:extLst>
                <a:ext uri="{FF2B5EF4-FFF2-40B4-BE49-F238E27FC236}">
                  <a16:creationId xmlns:a16="http://schemas.microsoft.com/office/drawing/2014/main" id="{021A7087-8D7D-39E6-D720-6860BE1554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1495" y="4742375"/>
              <a:ext cx="326807" cy="3065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5F98533-BF47-3A28-6354-B9FBEF7389FD}"/>
                </a:ext>
              </a:extLst>
            </p:cNvPr>
            <p:cNvSpPr txBox="1"/>
            <p:nvPr/>
          </p:nvSpPr>
          <p:spPr>
            <a:xfrm>
              <a:off x="3527218" y="5589195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CCEA45A-9611-1416-EDD2-B3B8174DC025}"/>
                </a:ext>
              </a:extLst>
            </p:cNvPr>
            <p:cNvGrpSpPr/>
            <p:nvPr/>
          </p:nvGrpSpPr>
          <p:grpSpPr>
            <a:xfrm>
              <a:off x="6446205" y="5096034"/>
              <a:ext cx="355535" cy="62136"/>
              <a:chOff x="7786941" y="3054383"/>
              <a:chExt cx="897649" cy="170569"/>
            </a:xfrm>
          </p:grpSpPr>
          <p:sp>
            <p:nvSpPr>
              <p:cNvPr id="45" name="Freeform 31">
                <a:extLst>
                  <a:ext uri="{FF2B5EF4-FFF2-40B4-BE49-F238E27FC236}">
                    <a16:creationId xmlns:a16="http://schemas.microsoft.com/office/drawing/2014/main" id="{764AB3D8-E256-C469-FE1B-453712EE16C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Freeform 32">
                <a:extLst>
                  <a:ext uri="{FF2B5EF4-FFF2-40B4-BE49-F238E27FC236}">
                    <a16:creationId xmlns:a16="http://schemas.microsoft.com/office/drawing/2014/main" id="{E6E9C547-1959-0020-9A6C-2B264A4748E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DF1BAD0-8282-9E0D-D0D3-0B12F606BA88}"/>
                </a:ext>
              </a:extLst>
            </p:cNvPr>
            <p:cNvSpPr txBox="1"/>
            <p:nvPr/>
          </p:nvSpPr>
          <p:spPr>
            <a:xfrm>
              <a:off x="6825052" y="4305786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D55A252-04AD-BE7F-A911-DC4AD1A67FF7}"/>
                </a:ext>
              </a:extLst>
            </p:cNvPr>
            <p:cNvSpPr txBox="1"/>
            <p:nvPr/>
          </p:nvSpPr>
          <p:spPr>
            <a:xfrm>
              <a:off x="6236360" y="5621230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64" name="Text Box 42">
              <a:extLst>
                <a:ext uri="{FF2B5EF4-FFF2-40B4-BE49-F238E27FC236}">
                  <a16:creationId xmlns:a16="http://schemas.microsoft.com/office/drawing/2014/main" id="{2D0A3B4C-F849-C3F8-2E5C-C608ED9148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6102" y="4497125"/>
              <a:ext cx="1059047" cy="31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Router</a:t>
              </a:r>
              <a:endParaRPr kumimoji="0" lang="en-US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6" name="Text Box 42">
              <a:extLst>
                <a:ext uri="{FF2B5EF4-FFF2-40B4-BE49-F238E27FC236}">
                  <a16:creationId xmlns:a16="http://schemas.microsoft.com/office/drawing/2014/main" id="{AEDFB9EF-F5DF-4774-525B-CAC5D8B185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3390" y="3514305"/>
              <a:ext cx="913861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C</a:t>
              </a:r>
              <a:endPara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19AB372A-733A-6BB5-305B-81F76FEDE5B0}"/>
                </a:ext>
              </a:extLst>
            </p:cNvPr>
            <p:cNvGrpSpPr/>
            <p:nvPr/>
          </p:nvGrpSpPr>
          <p:grpSpPr>
            <a:xfrm>
              <a:off x="3332601" y="3747473"/>
              <a:ext cx="4214816" cy="1590545"/>
              <a:chOff x="2604009" y="3984345"/>
              <a:chExt cx="4214816" cy="1590545"/>
            </a:xfrm>
          </p:grpSpPr>
          <p:sp>
            <p:nvSpPr>
              <p:cNvPr id="169" name="Text Box 32">
                <a:extLst>
                  <a:ext uri="{FF2B5EF4-FFF2-40B4-BE49-F238E27FC236}">
                    <a16:creationId xmlns:a16="http://schemas.microsoft.com/office/drawing/2014/main" id="{29B5EBD1-563D-BA05-5C1C-8FB9C12F8E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4009" y="3984345"/>
                <a:ext cx="4214816" cy="517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b="1">
                    <a:latin typeface="Arial" panose="020B0604020202020204" pitchFamily="34" charset="0"/>
                  </a:rPr>
                  <a:t>Packets are queued in the router</a:t>
                </a:r>
                <a:endParaRPr kumimoji="0" lang="en-US" altLang="en-US" sz="1200" b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0" name="Line 77">
                <a:extLst>
                  <a:ext uri="{FF2B5EF4-FFF2-40B4-BE49-F238E27FC236}">
                    <a16:creationId xmlns:a16="http://schemas.microsoft.com/office/drawing/2014/main" id="{0A687F55-F6D3-41D5-C190-7B2C8B825B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01147" y="4400484"/>
                <a:ext cx="410270" cy="8062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DD2A31A3-AB56-E79B-43A8-FD6A27DE8BC8}"/>
                  </a:ext>
                </a:extLst>
              </p:cNvPr>
              <p:cNvGrpSpPr/>
              <p:nvPr/>
            </p:nvGrpSpPr>
            <p:grpSpPr>
              <a:xfrm>
                <a:off x="4030362" y="5218953"/>
                <a:ext cx="821858" cy="355937"/>
                <a:chOff x="6859123" y="5156933"/>
                <a:chExt cx="456701" cy="226548"/>
              </a:xfrm>
            </p:grpSpPr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E98C9CE4-2205-14BB-DD02-D47318567374}"/>
                    </a:ext>
                  </a:extLst>
                </p:cNvPr>
                <p:cNvSpPr/>
                <p:nvPr/>
              </p:nvSpPr>
              <p:spPr>
                <a:xfrm>
                  <a:off x="6859123" y="5156933"/>
                  <a:ext cx="456701" cy="226548"/>
                </a:xfrm>
                <a:prstGeom prst="rect">
                  <a:avLst/>
                </a:prstGeom>
                <a:solidFill>
                  <a:srgbClr val="F989B2"/>
                </a:solidFill>
                <a:ln w="222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CA7FAE25-F088-8A56-8787-8AD787AC3FD2}"/>
                    </a:ext>
                  </a:extLst>
                </p:cNvPr>
                <p:cNvCxnSpPr/>
                <p:nvPr/>
              </p:nvCxnSpPr>
              <p:spPr>
                <a:xfrm flipV="1">
                  <a:off x="7249115" y="5189971"/>
                  <a:ext cx="0" cy="155752"/>
                </a:xfrm>
                <a:prstGeom prst="line">
                  <a:avLst/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B57EF17A-A6B3-EDC2-B0FB-4D0ED15F3503}"/>
                    </a:ext>
                  </a:extLst>
                </p:cNvPr>
                <p:cNvCxnSpPr/>
                <p:nvPr/>
              </p:nvCxnSpPr>
              <p:spPr>
                <a:xfrm flipV="1">
                  <a:off x="7197800" y="5189971"/>
                  <a:ext cx="0" cy="155752"/>
                </a:xfrm>
                <a:prstGeom prst="line">
                  <a:avLst/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A28B1962-6D8C-AC68-328A-E03DEFDBE437}"/>
                    </a:ext>
                  </a:extLst>
                </p:cNvPr>
                <p:cNvCxnSpPr/>
                <p:nvPr/>
              </p:nvCxnSpPr>
              <p:spPr>
                <a:xfrm flipV="1">
                  <a:off x="7146485" y="5189971"/>
                  <a:ext cx="0" cy="155752"/>
                </a:xfrm>
                <a:prstGeom prst="line">
                  <a:avLst/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09D19B41-61D3-7ABD-99A7-323C9CACD3B3}"/>
                    </a:ext>
                  </a:extLst>
                </p:cNvPr>
                <p:cNvCxnSpPr/>
                <p:nvPr/>
              </p:nvCxnSpPr>
              <p:spPr>
                <a:xfrm flipV="1">
                  <a:off x="7095171" y="5189971"/>
                  <a:ext cx="0" cy="155752"/>
                </a:xfrm>
                <a:prstGeom prst="line">
                  <a:avLst/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728E5722-866E-6301-5238-D12595A7BB9B}"/>
                    </a:ext>
                  </a:extLst>
                </p:cNvPr>
                <p:cNvCxnSpPr/>
                <p:nvPr/>
              </p:nvCxnSpPr>
              <p:spPr>
                <a:xfrm flipV="1">
                  <a:off x="7043856" y="5189971"/>
                  <a:ext cx="0" cy="155752"/>
                </a:xfrm>
                <a:prstGeom prst="line">
                  <a:avLst/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51746B1D-14E3-842D-83BA-439C9702862B}"/>
                    </a:ext>
                  </a:extLst>
                </p:cNvPr>
                <p:cNvCxnSpPr/>
                <p:nvPr/>
              </p:nvCxnSpPr>
              <p:spPr>
                <a:xfrm flipV="1">
                  <a:off x="6992541" y="5189971"/>
                  <a:ext cx="0" cy="155752"/>
                </a:xfrm>
                <a:prstGeom prst="line">
                  <a:avLst/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901140B1-A757-937A-E921-552E826FA798}"/>
                    </a:ext>
                  </a:extLst>
                </p:cNvPr>
                <p:cNvCxnSpPr/>
                <p:nvPr/>
              </p:nvCxnSpPr>
              <p:spPr>
                <a:xfrm flipV="1">
                  <a:off x="6941227" y="5189971"/>
                  <a:ext cx="0" cy="155752"/>
                </a:xfrm>
                <a:prstGeom prst="line">
                  <a:avLst/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7" name="Text Box 52">
              <a:extLst>
                <a:ext uri="{FF2B5EF4-FFF2-40B4-BE49-F238E27FC236}">
                  <a16:creationId xmlns:a16="http://schemas.microsoft.com/office/drawing/2014/main" id="{33AB71B6-B0C8-D0A5-94CB-999F7BE5D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0143" y="5843543"/>
              <a:ext cx="1020701" cy="258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13A3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D</a:t>
              </a:r>
              <a:endPara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Freeform 91">
              <a:extLst>
                <a:ext uri="{FF2B5EF4-FFF2-40B4-BE49-F238E27FC236}">
                  <a16:creationId xmlns:a16="http://schemas.microsoft.com/office/drawing/2014/main" id="{A85566BD-3738-FD72-0C15-C6817625A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7496" y="3836242"/>
              <a:ext cx="3922463" cy="1276350"/>
            </a:xfrm>
            <a:custGeom>
              <a:avLst/>
              <a:gdLst>
                <a:gd name="T0" fmla="*/ 0 w 2160"/>
                <a:gd name="T1" fmla="*/ 0 h 804"/>
                <a:gd name="T2" fmla="*/ 0 w 2160"/>
                <a:gd name="T3" fmla="*/ 2147483647 h 804"/>
                <a:gd name="T4" fmla="*/ 2147483647 w 2160"/>
                <a:gd name="T5" fmla="*/ 2147483647 h 804"/>
                <a:gd name="T6" fmla="*/ 2147483647 w 2160"/>
                <a:gd name="T7" fmla="*/ 2147483647 h 804"/>
                <a:gd name="T8" fmla="*/ 2147483647 w 2160"/>
                <a:gd name="T9" fmla="*/ 2147483647 h 804"/>
                <a:gd name="T10" fmla="*/ 2147483647 w 2160"/>
                <a:gd name="T11" fmla="*/ 2147483647 h 804"/>
                <a:gd name="T12" fmla="*/ 2147483647 w 2160"/>
                <a:gd name="T13" fmla="*/ 2147483647 h 804"/>
                <a:gd name="T14" fmla="*/ 2147483647 w 2160"/>
                <a:gd name="T15" fmla="*/ 2147483647 h 8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connsiteX0" fmla="*/ 0 w 10000"/>
                <a:gd name="connsiteY0" fmla="*/ 0 h 10000"/>
                <a:gd name="connsiteX1" fmla="*/ 0 w 10000"/>
                <a:gd name="connsiteY1" fmla="*/ 7388 h 10000"/>
                <a:gd name="connsiteX2" fmla="*/ 1861 w 10000"/>
                <a:gd name="connsiteY2" fmla="*/ 7463 h 10000"/>
                <a:gd name="connsiteX3" fmla="*/ 1000 w 10000"/>
                <a:gd name="connsiteY3" fmla="*/ 10000 h 10000"/>
                <a:gd name="connsiteX4" fmla="*/ 7244 w 10000"/>
                <a:gd name="connsiteY4" fmla="*/ 10000 h 10000"/>
                <a:gd name="connsiteX5" fmla="*/ 8194 w 10000"/>
                <a:gd name="connsiteY5" fmla="*/ 6517 h 10000"/>
                <a:gd name="connsiteX6" fmla="*/ 10000 w 10000"/>
                <a:gd name="connsiteY6" fmla="*/ 6418 h 10000"/>
                <a:gd name="connsiteX7" fmla="*/ 10000 w 10000"/>
                <a:gd name="connsiteY7" fmla="*/ 597 h 10000"/>
                <a:gd name="connsiteX0" fmla="*/ 0 w 10000"/>
                <a:gd name="connsiteY0" fmla="*/ 0 h 10000"/>
                <a:gd name="connsiteX1" fmla="*/ 0 w 10000"/>
                <a:gd name="connsiteY1" fmla="*/ 7388 h 10000"/>
                <a:gd name="connsiteX2" fmla="*/ 1861 w 10000"/>
                <a:gd name="connsiteY2" fmla="*/ 7463 h 10000"/>
                <a:gd name="connsiteX3" fmla="*/ 1000 w 10000"/>
                <a:gd name="connsiteY3" fmla="*/ 10000 h 10000"/>
                <a:gd name="connsiteX4" fmla="*/ 7244 w 10000"/>
                <a:gd name="connsiteY4" fmla="*/ 10000 h 10000"/>
                <a:gd name="connsiteX5" fmla="*/ 8403 w 10000"/>
                <a:gd name="connsiteY5" fmla="*/ 6686 h 10000"/>
                <a:gd name="connsiteX6" fmla="*/ 10000 w 10000"/>
                <a:gd name="connsiteY6" fmla="*/ 6418 h 10000"/>
                <a:gd name="connsiteX7" fmla="*/ 10000 w 10000"/>
                <a:gd name="connsiteY7" fmla="*/ 597 h 10000"/>
                <a:gd name="connsiteX0" fmla="*/ 0 w 10000"/>
                <a:gd name="connsiteY0" fmla="*/ 0 h 10000"/>
                <a:gd name="connsiteX1" fmla="*/ 0 w 10000"/>
                <a:gd name="connsiteY1" fmla="*/ 7388 h 10000"/>
                <a:gd name="connsiteX2" fmla="*/ 1861 w 10000"/>
                <a:gd name="connsiteY2" fmla="*/ 7463 h 10000"/>
                <a:gd name="connsiteX3" fmla="*/ 1000 w 10000"/>
                <a:gd name="connsiteY3" fmla="*/ 10000 h 10000"/>
                <a:gd name="connsiteX4" fmla="*/ 7244 w 10000"/>
                <a:gd name="connsiteY4" fmla="*/ 10000 h 10000"/>
                <a:gd name="connsiteX5" fmla="*/ 8403 w 10000"/>
                <a:gd name="connsiteY5" fmla="*/ 6686 h 10000"/>
                <a:gd name="connsiteX6" fmla="*/ 10000 w 10000"/>
                <a:gd name="connsiteY6" fmla="*/ 6688 h 10000"/>
                <a:gd name="connsiteX7" fmla="*/ 10000 w 10000"/>
                <a:gd name="connsiteY7" fmla="*/ 597 h 10000"/>
                <a:gd name="connsiteX0" fmla="*/ 0 w 10000"/>
                <a:gd name="connsiteY0" fmla="*/ 0 h 10000"/>
                <a:gd name="connsiteX1" fmla="*/ 0 w 10000"/>
                <a:gd name="connsiteY1" fmla="*/ 7388 h 10000"/>
                <a:gd name="connsiteX2" fmla="*/ 1861 w 10000"/>
                <a:gd name="connsiteY2" fmla="*/ 7463 h 10000"/>
                <a:gd name="connsiteX3" fmla="*/ 1000 w 10000"/>
                <a:gd name="connsiteY3" fmla="*/ 10000 h 10000"/>
                <a:gd name="connsiteX4" fmla="*/ 7244 w 10000"/>
                <a:gd name="connsiteY4" fmla="*/ 10000 h 10000"/>
                <a:gd name="connsiteX5" fmla="*/ 8403 w 10000"/>
                <a:gd name="connsiteY5" fmla="*/ 6686 h 10000"/>
                <a:gd name="connsiteX6" fmla="*/ 10000 w 10000"/>
                <a:gd name="connsiteY6" fmla="*/ 6587 h 10000"/>
                <a:gd name="connsiteX7" fmla="*/ 10000 w 10000"/>
                <a:gd name="connsiteY7" fmla="*/ 597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0" y="7388"/>
                  </a:lnTo>
                  <a:lnTo>
                    <a:pt x="1861" y="7463"/>
                  </a:lnTo>
                  <a:lnTo>
                    <a:pt x="1000" y="10000"/>
                  </a:lnTo>
                  <a:lnTo>
                    <a:pt x="7244" y="10000"/>
                  </a:lnTo>
                  <a:lnTo>
                    <a:pt x="8403" y="6686"/>
                  </a:lnTo>
                  <a:lnTo>
                    <a:pt x="10000" y="6587"/>
                  </a:lnTo>
                  <a:lnTo>
                    <a:pt x="10000" y="597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9E626A8-889E-417A-B9EA-7FBA736D705B}"/>
                </a:ext>
              </a:extLst>
            </p:cNvPr>
            <p:cNvGrpSpPr/>
            <p:nvPr/>
          </p:nvGrpSpPr>
          <p:grpSpPr>
            <a:xfrm>
              <a:off x="2876897" y="4660130"/>
              <a:ext cx="4591310" cy="1028700"/>
              <a:chOff x="5641439" y="2685215"/>
              <a:chExt cx="4000500" cy="1028700"/>
            </a:xfrm>
          </p:grpSpPr>
          <p:sp>
            <p:nvSpPr>
              <p:cNvPr id="39" name="Oval 73">
                <a:extLst>
                  <a:ext uri="{FF2B5EF4-FFF2-40B4-BE49-F238E27FC236}">
                    <a16:creationId xmlns:a16="http://schemas.microsoft.com/office/drawing/2014/main" id="{10127513-DAC6-CC10-C70A-9CDEFDC10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1439" y="2685215"/>
                <a:ext cx="92075" cy="90487"/>
              </a:xfrm>
              <a:prstGeom prst="ellipse">
                <a:avLst/>
              </a:prstGeom>
              <a:solidFill>
                <a:srgbClr val="0013A3"/>
              </a:solidFill>
              <a:ln w="9525">
                <a:solidFill>
                  <a:srgbClr val="0013A3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" name="Freeform 90">
                <a:extLst>
                  <a:ext uri="{FF2B5EF4-FFF2-40B4-BE49-F238E27FC236}">
                    <a16:creationId xmlns:a16="http://schemas.microsoft.com/office/drawing/2014/main" id="{74CC3B51-988B-B52B-836E-3B689D7FC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9064" y="2761415"/>
                <a:ext cx="3952875" cy="952500"/>
              </a:xfrm>
              <a:custGeom>
                <a:avLst/>
                <a:gdLst>
                  <a:gd name="T0" fmla="*/ 0 w 6225"/>
                  <a:gd name="T1" fmla="*/ 0 h 1501"/>
                  <a:gd name="T2" fmla="*/ 0 w 6225"/>
                  <a:gd name="T3" fmla="*/ 2147483647 h 1501"/>
                  <a:gd name="T4" fmla="*/ 2147483647 w 6225"/>
                  <a:gd name="T5" fmla="*/ 2147483647 h 1501"/>
                  <a:gd name="T6" fmla="*/ 2147483647 w 6225"/>
                  <a:gd name="T7" fmla="*/ 2147483647 h 1501"/>
                  <a:gd name="T8" fmla="*/ 2147483647 w 6225"/>
                  <a:gd name="T9" fmla="*/ 2147483647 h 1501"/>
                  <a:gd name="T10" fmla="*/ 2147483647 w 6225"/>
                  <a:gd name="T11" fmla="*/ 2147483647 h 1501"/>
                  <a:gd name="T12" fmla="*/ 2147483647 w 6225"/>
                  <a:gd name="T13" fmla="*/ 2147483647 h 1501"/>
                  <a:gd name="T14" fmla="*/ 2147483647 w 6225"/>
                  <a:gd name="T15" fmla="*/ 2147483647 h 150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connsiteX0" fmla="*/ 0 w 10000"/>
                  <a:gd name="connsiteY0" fmla="*/ 0 h 10000"/>
                  <a:gd name="connsiteX1" fmla="*/ 0 w 10000"/>
                  <a:gd name="connsiteY1" fmla="*/ 9900 h 10000"/>
                  <a:gd name="connsiteX2" fmla="*/ 1614 w 10000"/>
                  <a:gd name="connsiteY2" fmla="*/ 10000 h 10000"/>
                  <a:gd name="connsiteX3" fmla="*/ 2988 w 10000"/>
                  <a:gd name="connsiteY3" fmla="*/ 4704 h 10000"/>
                  <a:gd name="connsiteX4" fmla="*/ 8169 w 10000"/>
                  <a:gd name="connsiteY4" fmla="*/ 4803 h 10000"/>
                  <a:gd name="connsiteX5" fmla="*/ 7125 w 10000"/>
                  <a:gd name="connsiteY5" fmla="*/ 9609 h 10000"/>
                  <a:gd name="connsiteX6" fmla="*/ 10000 w 10000"/>
                  <a:gd name="connsiteY6" fmla="*/ 9700 h 10000"/>
                  <a:gd name="connsiteX7" fmla="*/ 9992 w 10000"/>
                  <a:gd name="connsiteY7" fmla="*/ 2605 h 10000"/>
                  <a:gd name="connsiteX0" fmla="*/ 0 w 10000"/>
                  <a:gd name="connsiteY0" fmla="*/ 0 h 10000"/>
                  <a:gd name="connsiteX1" fmla="*/ 0 w 10000"/>
                  <a:gd name="connsiteY1" fmla="*/ 9900 h 10000"/>
                  <a:gd name="connsiteX2" fmla="*/ 1614 w 10000"/>
                  <a:gd name="connsiteY2" fmla="*/ 10000 h 10000"/>
                  <a:gd name="connsiteX3" fmla="*/ 2988 w 10000"/>
                  <a:gd name="connsiteY3" fmla="*/ 4704 h 10000"/>
                  <a:gd name="connsiteX4" fmla="*/ 8169 w 10000"/>
                  <a:gd name="connsiteY4" fmla="*/ 4803 h 10000"/>
                  <a:gd name="connsiteX5" fmla="*/ 6992 w 10000"/>
                  <a:gd name="connsiteY5" fmla="*/ 9654 h 10000"/>
                  <a:gd name="connsiteX6" fmla="*/ 10000 w 10000"/>
                  <a:gd name="connsiteY6" fmla="*/ 9700 h 10000"/>
                  <a:gd name="connsiteX7" fmla="*/ 9992 w 10000"/>
                  <a:gd name="connsiteY7" fmla="*/ 2605 h 10000"/>
                  <a:gd name="connsiteX0" fmla="*/ 0 w 10000"/>
                  <a:gd name="connsiteY0" fmla="*/ 0 h 10000"/>
                  <a:gd name="connsiteX1" fmla="*/ 0 w 10000"/>
                  <a:gd name="connsiteY1" fmla="*/ 9900 h 10000"/>
                  <a:gd name="connsiteX2" fmla="*/ 1614 w 10000"/>
                  <a:gd name="connsiteY2" fmla="*/ 10000 h 10000"/>
                  <a:gd name="connsiteX3" fmla="*/ 2988 w 10000"/>
                  <a:gd name="connsiteY3" fmla="*/ 4704 h 10000"/>
                  <a:gd name="connsiteX4" fmla="*/ 8121 w 10000"/>
                  <a:gd name="connsiteY4" fmla="*/ 4803 h 10000"/>
                  <a:gd name="connsiteX5" fmla="*/ 6992 w 10000"/>
                  <a:gd name="connsiteY5" fmla="*/ 9654 h 10000"/>
                  <a:gd name="connsiteX6" fmla="*/ 10000 w 10000"/>
                  <a:gd name="connsiteY6" fmla="*/ 9700 h 10000"/>
                  <a:gd name="connsiteX7" fmla="*/ 9992 w 10000"/>
                  <a:gd name="connsiteY7" fmla="*/ 2605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000" h="10000">
                    <a:moveTo>
                      <a:pt x="0" y="0"/>
                    </a:moveTo>
                    <a:lnTo>
                      <a:pt x="0" y="9900"/>
                    </a:lnTo>
                    <a:lnTo>
                      <a:pt x="1614" y="10000"/>
                    </a:lnTo>
                    <a:lnTo>
                      <a:pt x="2988" y="4704"/>
                    </a:lnTo>
                    <a:lnTo>
                      <a:pt x="8121" y="4803"/>
                    </a:lnTo>
                    <a:lnTo>
                      <a:pt x="6992" y="9654"/>
                    </a:lnTo>
                    <a:lnTo>
                      <a:pt x="10000" y="9700"/>
                    </a:lnTo>
                    <a:cubicBezTo>
                      <a:pt x="9997" y="7335"/>
                      <a:pt x="9995" y="4970"/>
                      <a:pt x="9992" y="2605"/>
                    </a:cubicBezTo>
                  </a:path>
                </a:pathLst>
              </a:custGeom>
              <a:noFill/>
              <a:ln w="38100" cmpd="sng">
                <a:solidFill>
                  <a:srgbClr val="0013A3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23" name="Freeform 3">
            <a:extLst>
              <a:ext uri="{FF2B5EF4-FFF2-40B4-BE49-F238E27FC236}">
                <a16:creationId xmlns:a16="http://schemas.microsoft.com/office/drawing/2014/main" id="{FB78D407-9B3B-CE47-35C3-8C2D30C579C9}"/>
              </a:ext>
            </a:extLst>
          </p:cNvPr>
          <p:cNvSpPr>
            <a:spLocks/>
          </p:cNvSpPr>
          <p:nvPr/>
        </p:nvSpPr>
        <p:spPr bwMode="auto">
          <a:xfrm rot="5400000">
            <a:off x="8683510" y="2386258"/>
            <a:ext cx="648005" cy="3222462"/>
          </a:xfrm>
          <a:custGeom>
            <a:avLst/>
            <a:gdLst>
              <a:gd name="T0" fmla="*/ 0 w 1443"/>
              <a:gd name="T1" fmla="*/ 0 h 816"/>
              <a:gd name="T2" fmla="*/ 1076 w 1443"/>
              <a:gd name="T3" fmla="*/ 782 h 816"/>
              <a:gd name="T4" fmla="*/ 1320 w 1443"/>
              <a:gd name="T5" fmla="*/ 788 h 816"/>
              <a:gd name="T6" fmla="*/ 1443 w 1443"/>
              <a:gd name="T7" fmla="*/ 5 h 816"/>
              <a:gd name="T8" fmla="*/ 0 w 1443"/>
              <a:gd name="T9" fmla="*/ 0 h 816"/>
              <a:gd name="connsiteX0" fmla="*/ 0 w 10000"/>
              <a:gd name="connsiteY0" fmla="*/ 0 h 9714"/>
              <a:gd name="connsiteX1" fmla="*/ 3718 w 10000"/>
              <a:gd name="connsiteY1" fmla="*/ 8779 h 9714"/>
              <a:gd name="connsiteX2" fmla="*/ 9148 w 10000"/>
              <a:gd name="connsiteY2" fmla="*/ 9657 h 9714"/>
              <a:gd name="connsiteX3" fmla="*/ 10000 w 10000"/>
              <a:gd name="connsiteY3" fmla="*/ 61 h 9714"/>
              <a:gd name="connsiteX4" fmla="*/ 0 w 10000"/>
              <a:gd name="connsiteY4" fmla="*/ 0 h 9714"/>
              <a:gd name="connsiteX0" fmla="*/ 0 w 10000"/>
              <a:gd name="connsiteY0" fmla="*/ 0 h 9095"/>
              <a:gd name="connsiteX1" fmla="*/ 3718 w 10000"/>
              <a:gd name="connsiteY1" fmla="*/ 9037 h 9095"/>
              <a:gd name="connsiteX2" fmla="*/ 5712 w 10000"/>
              <a:gd name="connsiteY2" fmla="*/ 8929 h 9095"/>
              <a:gd name="connsiteX3" fmla="*/ 10000 w 10000"/>
              <a:gd name="connsiteY3" fmla="*/ 63 h 9095"/>
              <a:gd name="connsiteX4" fmla="*/ 0 w 10000"/>
              <a:gd name="connsiteY4" fmla="*/ 0 h 9095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8989"/>
              <a:gd name="connsiteY0" fmla="*/ 0 h 11618"/>
              <a:gd name="connsiteX1" fmla="*/ 2707 w 8989"/>
              <a:gd name="connsiteY1" fmla="*/ 11554 h 11618"/>
              <a:gd name="connsiteX2" fmla="*/ 4701 w 8989"/>
              <a:gd name="connsiteY2" fmla="*/ 11435 h 11618"/>
              <a:gd name="connsiteX3" fmla="*/ 8989 w 8989"/>
              <a:gd name="connsiteY3" fmla="*/ 1687 h 11618"/>
              <a:gd name="connsiteX4" fmla="*/ 0 w 8989"/>
              <a:gd name="connsiteY4" fmla="*/ 0 h 11618"/>
              <a:gd name="connsiteX0" fmla="*/ 0 w 9888"/>
              <a:gd name="connsiteY0" fmla="*/ 115 h 10115"/>
              <a:gd name="connsiteX1" fmla="*/ 3011 w 9888"/>
              <a:gd name="connsiteY1" fmla="*/ 10060 h 10115"/>
              <a:gd name="connsiteX2" fmla="*/ 5230 w 9888"/>
              <a:gd name="connsiteY2" fmla="*/ 9957 h 10115"/>
              <a:gd name="connsiteX3" fmla="*/ 9888 w 9888"/>
              <a:gd name="connsiteY3" fmla="*/ 0 h 10115"/>
              <a:gd name="connsiteX4" fmla="*/ 0 w 9888"/>
              <a:gd name="connsiteY4" fmla="*/ 115 h 10115"/>
              <a:gd name="connsiteX0" fmla="*/ 0 w 9829"/>
              <a:gd name="connsiteY0" fmla="*/ 0 h 10833"/>
              <a:gd name="connsiteX1" fmla="*/ 2874 w 9829"/>
              <a:gd name="connsiteY1" fmla="*/ 10779 h 10833"/>
              <a:gd name="connsiteX2" fmla="*/ 5118 w 9829"/>
              <a:gd name="connsiteY2" fmla="*/ 10677 h 10833"/>
              <a:gd name="connsiteX3" fmla="*/ 9829 w 9829"/>
              <a:gd name="connsiteY3" fmla="*/ 833 h 10833"/>
              <a:gd name="connsiteX4" fmla="*/ 0 w 9829"/>
              <a:gd name="connsiteY4" fmla="*/ 0 h 10833"/>
              <a:gd name="connsiteX0" fmla="*/ 0 w 10289"/>
              <a:gd name="connsiteY0" fmla="*/ 0 h 10000"/>
              <a:gd name="connsiteX1" fmla="*/ 2924 w 10289"/>
              <a:gd name="connsiteY1" fmla="*/ 9950 h 10000"/>
              <a:gd name="connsiteX2" fmla="*/ 5207 w 10289"/>
              <a:gd name="connsiteY2" fmla="*/ 9856 h 10000"/>
              <a:gd name="connsiteX3" fmla="*/ 10289 w 10289"/>
              <a:gd name="connsiteY3" fmla="*/ 54 h 10000"/>
              <a:gd name="connsiteX4" fmla="*/ 0 w 10289"/>
              <a:gd name="connsiteY4" fmla="*/ 0 h 10000"/>
              <a:gd name="connsiteX0" fmla="*/ 0 w 10289"/>
              <a:gd name="connsiteY0" fmla="*/ 0 h 10953"/>
              <a:gd name="connsiteX1" fmla="*/ 2924 w 10289"/>
              <a:gd name="connsiteY1" fmla="*/ 9950 h 10953"/>
              <a:gd name="connsiteX2" fmla="*/ 3723 w 10289"/>
              <a:gd name="connsiteY2" fmla="*/ 10695 h 10953"/>
              <a:gd name="connsiteX3" fmla="*/ 5207 w 10289"/>
              <a:gd name="connsiteY3" fmla="*/ 9856 h 10953"/>
              <a:gd name="connsiteX4" fmla="*/ 10289 w 10289"/>
              <a:gd name="connsiteY4" fmla="*/ 54 h 10953"/>
              <a:gd name="connsiteX5" fmla="*/ 0 w 10289"/>
              <a:gd name="connsiteY5" fmla="*/ 0 h 10953"/>
              <a:gd name="connsiteX0" fmla="*/ 0 w 10289"/>
              <a:gd name="connsiteY0" fmla="*/ 0 h 11138"/>
              <a:gd name="connsiteX1" fmla="*/ 2924 w 10289"/>
              <a:gd name="connsiteY1" fmla="*/ 9950 h 11138"/>
              <a:gd name="connsiteX2" fmla="*/ 5207 w 10289"/>
              <a:gd name="connsiteY2" fmla="*/ 9856 h 11138"/>
              <a:gd name="connsiteX3" fmla="*/ 10289 w 10289"/>
              <a:gd name="connsiteY3" fmla="*/ 54 h 11138"/>
              <a:gd name="connsiteX4" fmla="*/ 0 w 10289"/>
              <a:gd name="connsiteY4" fmla="*/ 0 h 11138"/>
              <a:gd name="connsiteX0" fmla="*/ 0 w 10289"/>
              <a:gd name="connsiteY0" fmla="*/ 0 h 10669"/>
              <a:gd name="connsiteX1" fmla="*/ 2924 w 10289"/>
              <a:gd name="connsiteY1" fmla="*/ 9950 h 10669"/>
              <a:gd name="connsiteX2" fmla="*/ 5207 w 10289"/>
              <a:gd name="connsiteY2" fmla="*/ 9856 h 10669"/>
              <a:gd name="connsiteX3" fmla="*/ 10289 w 10289"/>
              <a:gd name="connsiteY3" fmla="*/ 54 h 10669"/>
              <a:gd name="connsiteX4" fmla="*/ 0 w 10289"/>
              <a:gd name="connsiteY4" fmla="*/ 0 h 10669"/>
              <a:gd name="connsiteX0" fmla="*/ 0 w 10289"/>
              <a:gd name="connsiteY0" fmla="*/ 0 h 10734"/>
              <a:gd name="connsiteX1" fmla="*/ 2924 w 10289"/>
              <a:gd name="connsiteY1" fmla="*/ 9950 h 10734"/>
              <a:gd name="connsiteX2" fmla="*/ 4455 w 10289"/>
              <a:gd name="connsiteY2" fmla="*/ 10094 h 10734"/>
              <a:gd name="connsiteX3" fmla="*/ 10289 w 10289"/>
              <a:gd name="connsiteY3" fmla="*/ 54 h 10734"/>
              <a:gd name="connsiteX4" fmla="*/ 0 w 10289"/>
              <a:gd name="connsiteY4" fmla="*/ 0 h 10734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9960"/>
              <a:gd name="connsiteX1" fmla="*/ 2924 w 10289"/>
              <a:gd name="connsiteY1" fmla="*/ 9950 h 9960"/>
              <a:gd name="connsiteX2" fmla="*/ 4166 w 10289"/>
              <a:gd name="connsiteY2" fmla="*/ 9776 h 9960"/>
              <a:gd name="connsiteX3" fmla="*/ 10289 w 10289"/>
              <a:gd name="connsiteY3" fmla="*/ 54 h 9960"/>
              <a:gd name="connsiteX4" fmla="*/ 0 w 10289"/>
              <a:gd name="connsiteY4" fmla="*/ 0 h 9960"/>
              <a:gd name="connsiteX0" fmla="*/ 0 w 10000"/>
              <a:gd name="connsiteY0" fmla="*/ 0 h 10000"/>
              <a:gd name="connsiteX1" fmla="*/ 2842 w 10000"/>
              <a:gd name="connsiteY1" fmla="*/ 9990 h 10000"/>
              <a:gd name="connsiteX2" fmla="*/ 4049 w 10000"/>
              <a:gd name="connsiteY2" fmla="*/ 9815 h 10000"/>
              <a:gd name="connsiteX3" fmla="*/ 10000 w 10000"/>
              <a:gd name="connsiteY3" fmla="*/ 54 h 10000"/>
              <a:gd name="connsiteX4" fmla="*/ 0 w 10000"/>
              <a:gd name="connsiteY4" fmla="*/ 0 h 10000"/>
              <a:gd name="connsiteX0" fmla="*/ 0 w 10000"/>
              <a:gd name="connsiteY0" fmla="*/ 0 h 10400"/>
              <a:gd name="connsiteX1" fmla="*/ 2740 w 10000"/>
              <a:gd name="connsiteY1" fmla="*/ 10397 h 10400"/>
              <a:gd name="connsiteX2" fmla="*/ 4049 w 10000"/>
              <a:gd name="connsiteY2" fmla="*/ 9815 h 10400"/>
              <a:gd name="connsiteX3" fmla="*/ 10000 w 10000"/>
              <a:gd name="connsiteY3" fmla="*/ 54 h 10400"/>
              <a:gd name="connsiteX4" fmla="*/ 0 w 10000"/>
              <a:gd name="connsiteY4" fmla="*/ 0 h 10400"/>
              <a:gd name="connsiteX0" fmla="*/ 0 w 10000"/>
              <a:gd name="connsiteY0" fmla="*/ 0 h 10419"/>
              <a:gd name="connsiteX1" fmla="*/ 2740 w 10000"/>
              <a:gd name="connsiteY1" fmla="*/ 10397 h 10419"/>
              <a:gd name="connsiteX2" fmla="*/ 3599 w 10000"/>
              <a:gd name="connsiteY2" fmla="*/ 10338 h 10419"/>
              <a:gd name="connsiteX3" fmla="*/ 10000 w 10000"/>
              <a:gd name="connsiteY3" fmla="*/ 54 h 10419"/>
              <a:gd name="connsiteX4" fmla="*/ 0 w 10000"/>
              <a:gd name="connsiteY4" fmla="*/ 0 h 10419"/>
              <a:gd name="connsiteX0" fmla="*/ 0 w 10000"/>
              <a:gd name="connsiteY0" fmla="*/ 0 h 10397"/>
              <a:gd name="connsiteX1" fmla="*/ 2740 w 10000"/>
              <a:gd name="connsiteY1" fmla="*/ 10397 h 10397"/>
              <a:gd name="connsiteX2" fmla="*/ 3599 w 10000"/>
              <a:gd name="connsiteY2" fmla="*/ 10338 h 10397"/>
              <a:gd name="connsiteX3" fmla="*/ 10000 w 10000"/>
              <a:gd name="connsiteY3" fmla="*/ 54 h 10397"/>
              <a:gd name="connsiteX4" fmla="*/ 0 w 10000"/>
              <a:gd name="connsiteY4" fmla="*/ 0 h 10397"/>
              <a:gd name="connsiteX0" fmla="*/ 0 w 10614"/>
              <a:gd name="connsiteY0" fmla="*/ 0 h 10397"/>
              <a:gd name="connsiteX1" fmla="*/ 2740 w 10614"/>
              <a:gd name="connsiteY1" fmla="*/ 10397 h 10397"/>
              <a:gd name="connsiteX2" fmla="*/ 3599 w 10614"/>
              <a:gd name="connsiteY2" fmla="*/ 10338 h 10397"/>
              <a:gd name="connsiteX3" fmla="*/ 10614 w 10614"/>
              <a:gd name="connsiteY3" fmla="*/ 112 h 10397"/>
              <a:gd name="connsiteX4" fmla="*/ 0 w 10614"/>
              <a:gd name="connsiteY4" fmla="*/ 0 h 10397"/>
              <a:gd name="connsiteX0" fmla="*/ 0 w 10614"/>
              <a:gd name="connsiteY0" fmla="*/ 0 h 10397"/>
              <a:gd name="connsiteX1" fmla="*/ 2740 w 10614"/>
              <a:gd name="connsiteY1" fmla="*/ 10397 h 10397"/>
              <a:gd name="connsiteX2" fmla="*/ 3599 w 10614"/>
              <a:gd name="connsiteY2" fmla="*/ 10338 h 10397"/>
              <a:gd name="connsiteX3" fmla="*/ 10614 w 10614"/>
              <a:gd name="connsiteY3" fmla="*/ 112 h 10397"/>
              <a:gd name="connsiteX4" fmla="*/ 0 w 10614"/>
              <a:gd name="connsiteY4" fmla="*/ 0 h 10397"/>
              <a:gd name="connsiteX0" fmla="*/ 0 w 10675"/>
              <a:gd name="connsiteY0" fmla="*/ 0 h 10310"/>
              <a:gd name="connsiteX1" fmla="*/ 2801 w 10675"/>
              <a:gd name="connsiteY1" fmla="*/ 10310 h 10310"/>
              <a:gd name="connsiteX2" fmla="*/ 3660 w 10675"/>
              <a:gd name="connsiteY2" fmla="*/ 10251 h 10310"/>
              <a:gd name="connsiteX3" fmla="*/ 10675 w 10675"/>
              <a:gd name="connsiteY3" fmla="*/ 25 h 10310"/>
              <a:gd name="connsiteX4" fmla="*/ 0 w 10675"/>
              <a:gd name="connsiteY4" fmla="*/ 0 h 10310"/>
              <a:gd name="connsiteX0" fmla="*/ 0 w 6741"/>
              <a:gd name="connsiteY0" fmla="*/ 0 h 15505"/>
              <a:gd name="connsiteX1" fmla="*/ 2801 w 6741"/>
              <a:gd name="connsiteY1" fmla="*/ 10310 h 15505"/>
              <a:gd name="connsiteX2" fmla="*/ 3660 w 6741"/>
              <a:gd name="connsiteY2" fmla="*/ 10251 h 15505"/>
              <a:gd name="connsiteX3" fmla="*/ 6741 w 6741"/>
              <a:gd name="connsiteY3" fmla="*/ 14932 h 15505"/>
              <a:gd name="connsiteX4" fmla="*/ 0 w 6741"/>
              <a:gd name="connsiteY4" fmla="*/ 0 h 15505"/>
              <a:gd name="connsiteX0" fmla="*/ 5612 w 7164"/>
              <a:gd name="connsiteY0" fmla="*/ 0 h 10410"/>
              <a:gd name="connsiteX1" fmla="*/ 13 w 7164"/>
              <a:gd name="connsiteY1" fmla="*/ 7060 h 10410"/>
              <a:gd name="connsiteX2" fmla="*/ 1287 w 7164"/>
              <a:gd name="connsiteY2" fmla="*/ 7022 h 10410"/>
              <a:gd name="connsiteX3" fmla="*/ 5858 w 7164"/>
              <a:gd name="connsiteY3" fmla="*/ 10041 h 10410"/>
              <a:gd name="connsiteX4" fmla="*/ 5612 w 7164"/>
              <a:gd name="connsiteY4" fmla="*/ 0 h 10410"/>
              <a:gd name="connsiteX0" fmla="*/ 7932 w 10098"/>
              <a:gd name="connsiteY0" fmla="*/ 0 h 10001"/>
              <a:gd name="connsiteX1" fmla="*/ 116 w 10098"/>
              <a:gd name="connsiteY1" fmla="*/ 6782 h 10001"/>
              <a:gd name="connsiteX2" fmla="*/ 1894 w 10098"/>
              <a:gd name="connsiteY2" fmla="*/ 6745 h 10001"/>
              <a:gd name="connsiteX3" fmla="*/ 8275 w 10098"/>
              <a:gd name="connsiteY3" fmla="*/ 9646 h 10001"/>
              <a:gd name="connsiteX4" fmla="*/ 7932 w 10098"/>
              <a:gd name="connsiteY4" fmla="*/ 0 h 10001"/>
              <a:gd name="connsiteX0" fmla="*/ 7932 w 11399"/>
              <a:gd name="connsiteY0" fmla="*/ 0 h 10001"/>
              <a:gd name="connsiteX1" fmla="*/ 116 w 11399"/>
              <a:gd name="connsiteY1" fmla="*/ 6782 h 10001"/>
              <a:gd name="connsiteX2" fmla="*/ 1894 w 11399"/>
              <a:gd name="connsiteY2" fmla="*/ 6745 h 10001"/>
              <a:gd name="connsiteX3" fmla="*/ 8275 w 11399"/>
              <a:gd name="connsiteY3" fmla="*/ 9646 h 10001"/>
              <a:gd name="connsiteX4" fmla="*/ 7932 w 11399"/>
              <a:gd name="connsiteY4" fmla="*/ 0 h 10001"/>
              <a:gd name="connsiteX0" fmla="*/ 7932 w 8463"/>
              <a:gd name="connsiteY0" fmla="*/ 0 h 10001"/>
              <a:gd name="connsiteX1" fmla="*/ 116 w 8463"/>
              <a:gd name="connsiteY1" fmla="*/ 6782 h 10001"/>
              <a:gd name="connsiteX2" fmla="*/ 1894 w 8463"/>
              <a:gd name="connsiteY2" fmla="*/ 6745 h 10001"/>
              <a:gd name="connsiteX3" fmla="*/ 8275 w 8463"/>
              <a:gd name="connsiteY3" fmla="*/ 9646 h 10001"/>
              <a:gd name="connsiteX4" fmla="*/ 7932 w 8463"/>
              <a:gd name="connsiteY4" fmla="*/ 0 h 10001"/>
              <a:gd name="connsiteX0" fmla="*/ 10170 w 10376"/>
              <a:gd name="connsiteY0" fmla="*/ 0 h 9753"/>
              <a:gd name="connsiteX1" fmla="*/ 109 w 10376"/>
              <a:gd name="connsiteY1" fmla="*/ 6534 h 9753"/>
              <a:gd name="connsiteX2" fmla="*/ 2210 w 10376"/>
              <a:gd name="connsiteY2" fmla="*/ 6497 h 9753"/>
              <a:gd name="connsiteX3" fmla="*/ 9750 w 10376"/>
              <a:gd name="connsiteY3" fmla="*/ 9398 h 9753"/>
              <a:gd name="connsiteX4" fmla="*/ 10170 w 10376"/>
              <a:gd name="connsiteY4" fmla="*/ 0 h 9753"/>
              <a:gd name="connsiteX0" fmla="*/ 9801 w 9999"/>
              <a:gd name="connsiteY0" fmla="*/ 0 h 9636"/>
              <a:gd name="connsiteX1" fmla="*/ 105 w 9999"/>
              <a:gd name="connsiteY1" fmla="*/ 6699 h 9636"/>
              <a:gd name="connsiteX2" fmla="*/ 2130 w 9999"/>
              <a:gd name="connsiteY2" fmla="*/ 6662 h 9636"/>
              <a:gd name="connsiteX3" fmla="*/ 9397 w 9999"/>
              <a:gd name="connsiteY3" fmla="*/ 9636 h 9636"/>
              <a:gd name="connsiteX4" fmla="*/ 9801 w 9999"/>
              <a:gd name="connsiteY4" fmla="*/ 0 h 9636"/>
              <a:gd name="connsiteX0" fmla="*/ 9802 w 10000"/>
              <a:gd name="connsiteY0" fmla="*/ 0 h 10000"/>
              <a:gd name="connsiteX1" fmla="*/ 105 w 10000"/>
              <a:gd name="connsiteY1" fmla="*/ 6952 h 10000"/>
              <a:gd name="connsiteX2" fmla="*/ 2130 w 10000"/>
              <a:gd name="connsiteY2" fmla="*/ 6914 h 10000"/>
              <a:gd name="connsiteX3" fmla="*/ 9398 w 10000"/>
              <a:gd name="connsiteY3" fmla="*/ 10000 h 10000"/>
              <a:gd name="connsiteX4" fmla="*/ 9802 w 10000"/>
              <a:gd name="connsiteY4" fmla="*/ 0 h 10000"/>
              <a:gd name="connsiteX0" fmla="*/ 9697 w 9895"/>
              <a:gd name="connsiteY0" fmla="*/ 0 h 10000"/>
              <a:gd name="connsiteX1" fmla="*/ 0 w 9895"/>
              <a:gd name="connsiteY1" fmla="*/ 6952 h 10000"/>
              <a:gd name="connsiteX2" fmla="*/ 2025 w 9895"/>
              <a:gd name="connsiteY2" fmla="*/ 6914 h 10000"/>
              <a:gd name="connsiteX3" fmla="*/ 9293 w 9895"/>
              <a:gd name="connsiteY3" fmla="*/ 10000 h 10000"/>
              <a:gd name="connsiteX4" fmla="*/ 9697 w 9895"/>
              <a:gd name="connsiteY4" fmla="*/ 0 h 10000"/>
              <a:gd name="connsiteX0" fmla="*/ 9800 w 10001"/>
              <a:gd name="connsiteY0" fmla="*/ 0 h 10000"/>
              <a:gd name="connsiteX1" fmla="*/ 0 w 10001"/>
              <a:gd name="connsiteY1" fmla="*/ 6952 h 10000"/>
              <a:gd name="connsiteX2" fmla="*/ 2314 w 10001"/>
              <a:gd name="connsiteY2" fmla="*/ 7860 h 10000"/>
              <a:gd name="connsiteX3" fmla="*/ 9392 w 10001"/>
              <a:gd name="connsiteY3" fmla="*/ 10000 h 10000"/>
              <a:gd name="connsiteX4" fmla="*/ 9800 w 10001"/>
              <a:gd name="connsiteY4" fmla="*/ 0 h 10000"/>
              <a:gd name="connsiteX0" fmla="*/ 9800 w 10001"/>
              <a:gd name="connsiteY0" fmla="*/ 0 h 10000"/>
              <a:gd name="connsiteX1" fmla="*/ 0 w 10001"/>
              <a:gd name="connsiteY1" fmla="*/ 6952 h 10000"/>
              <a:gd name="connsiteX2" fmla="*/ 2314 w 10001"/>
              <a:gd name="connsiteY2" fmla="*/ 7860 h 10000"/>
              <a:gd name="connsiteX3" fmla="*/ 9392 w 10001"/>
              <a:gd name="connsiteY3" fmla="*/ 10000 h 10000"/>
              <a:gd name="connsiteX4" fmla="*/ 9800 w 10001"/>
              <a:gd name="connsiteY4" fmla="*/ 0 h 10000"/>
              <a:gd name="connsiteX0" fmla="*/ 9800 w 10001"/>
              <a:gd name="connsiteY0" fmla="*/ 0 h 10000"/>
              <a:gd name="connsiteX1" fmla="*/ 0 w 10001"/>
              <a:gd name="connsiteY1" fmla="*/ 6952 h 10000"/>
              <a:gd name="connsiteX2" fmla="*/ 2314 w 10001"/>
              <a:gd name="connsiteY2" fmla="*/ 7860 h 10000"/>
              <a:gd name="connsiteX3" fmla="*/ 9392 w 10001"/>
              <a:gd name="connsiteY3" fmla="*/ 10000 h 10000"/>
              <a:gd name="connsiteX4" fmla="*/ 9800 w 10001"/>
              <a:gd name="connsiteY4" fmla="*/ 0 h 10000"/>
              <a:gd name="connsiteX0" fmla="*/ 9800 w 10148"/>
              <a:gd name="connsiteY0" fmla="*/ 0 h 10158"/>
              <a:gd name="connsiteX1" fmla="*/ 0 w 10148"/>
              <a:gd name="connsiteY1" fmla="*/ 6952 h 10158"/>
              <a:gd name="connsiteX2" fmla="*/ 2314 w 10148"/>
              <a:gd name="connsiteY2" fmla="*/ 7860 h 10158"/>
              <a:gd name="connsiteX3" fmla="*/ 9794 w 10148"/>
              <a:gd name="connsiteY3" fmla="*/ 10158 h 10158"/>
              <a:gd name="connsiteX4" fmla="*/ 9800 w 10148"/>
              <a:gd name="connsiteY4" fmla="*/ 0 h 10158"/>
              <a:gd name="connsiteX0" fmla="*/ 9800 w 10148"/>
              <a:gd name="connsiteY0" fmla="*/ 0 h 10158"/>
              <a:gd name="connsiteX1" fmla="*/ 0 w 10148"/>
              <a:gd name="connsiteY1" fmla="*/ 6952 h 10158"/>
              <a:gd name="connsiteX2" fmla="*/ 1653 w 10148"/>
              <a:gd name="connsiteY2" fmla="*/ 8453 h 10158"/>
              <a:gd name="connsiteX3" fmla="*/ 9794 w 10148"/>
              <a:gd name="connsiteY3" fmla="*/ 10158 h 10158"/>
              <a:gd name="connsiteX4" fmla="*/ 9800 w 10148"/>
              <a:gd name="connsiteY4" fmla="*/ 0 h 10158"/>
              <a:gd name="connsiteX0" fmla="*/ 9800 w 10148"/>
              <a:gd name="connsiteY0" fmla="*/ 0 h 10158"/>
              <a:gd name="connsiteX1" fmla="*/ 0 w 10148"/>
              <a:gd name="connsiteY1" fmla="*/ 6952 h 10158"/>
              <a:gd name="connsiteX2" fmla="*/ 1653 w 10148"/>
              <a:gd name="connsiteY2" fmla="*/ 8453 h 10158"/>
              <a:gd name="connsiteX3" fmla="*/ 9794 w 10148"/>
              <a:gd name="connsiteY3" fmla="*/ 10158 h 10158"/>
              <a:gd name="connsiteX4" fmla="*/ 9800 w 10148"/>
              <a:gd name="connsiteY4" fmla="*/ 0 h 10158"/>
              <a:gd name="connsiteX0" fmla="*/ 8194 w 8542"/>
              <a:gd name="connsiteY0" fmla="*/ 0 h 10158"/>
              <a:gd name="connsiteX1" fmla="*/ 0 w 8542"/>
              <a:gd name="connsiteY1" fmla="*/ 7601 h 10158"/>
              <a:gd name="connsiteX2" fmla="*/ 47 w 8542"/>
              <a:gd name="connsiteY2" fmla="*/ 8453 h 10158"/>
              <a:gd name="connsiteX3" fmla="*/ 8188 w 8542"/>
              <a:gd name="connsiteY3" fmla="*/ 10158 h 10158"/>
              <a:gd name="connsiteX4" fmla="*/ 8194 w 8542"/>
              <a:gd name="connsiteY4" fmla="*/ 0 h 10158"/>
              <a:gd name="connsiteX0" fmla="*/ 9538 w 9975"/>
              <a:gd name="connsiteY0" fmla="*/ 0 h 10128"/>
              <a:gd name="connsiteX1" fmla="*/ 0 w 9975"/>
              <a:gd name="connsiteY1" fmla="*/ 7611 h 10128"/>
              <a:gd name="connsiteX2" fmla="*/ 55 w 9975"/>
              <a:gd name="connsiteY2" fmla="*/ 8450 h 10128"/>
              <a:gd name="connsiteX3" fmla="*/ 9586 w 9975"/>
              <a:gd name="connsiteY3" fmla="*/ 10128 h 10128"/>
              <a:gd name="connsiteX4" fmla="*/ 9538 w 9975"/>
              <a:gd name="connsiteY4" fmla="*/ 0 h 10128"/>
              <a:gd name="connsiteX0" fmla="*/ 9562 w 9999"/>
              <a:gd name="connsiteY0" fmla="*/ 0 h 10000"/>
              <a:gd name="connsiteX1" fmla="*/ 0 w 9999"/>
              <a:gd name="connsiteY1" fmla="*/ 7515 h 10000"/>
              <a:gd name="connsiteX2" fmla="*/ 55 w 9999"/>
              <a:gd name="connsiteY2" fmla="*/ 8343 h 10000"/>
              <a:gd name="connsiteX3" fmla="*/ 9610 w 9999"/>
              <a:gd name="connsiteY3" fmla="*/ 10000 h 10000"/>
              <a:gd name="connsiteX4" fmla="*/ 9562 w 9999"/>
              <a:gd name="connsiteY4" fmla="*/ 0 h 10000"/>
              <a:gd name="connsiteX0" fmla="*/ 9563 w 10000"/>
              <a:gd name="connsiteY0" fmla="*/ 0 h 10126"/>
              <a:gd name="connsiteX1" fmla="*/ 0 w 10000"/>
              <a:gd name="connsiteY1" fmla="*/ 7515 h 10126"/>
              <a:gd name="connsiteX2" fmla="*/ 55 w 10000"/>
              <a:gd name="connsiteY2" fmla="*/ 8343 h 10126"/>
              <a:gd name="connsiteX3" fmla="*/ 9611 w 10000"/>
              <a:gd name="connsiteY3" fmla="*/ 10126 h 10126"/>
              <a:gd name="connsiteX4" fmla="*/ 9563 w 10000"/>
              <a:gd name="connsiteY4" fmla="*/ 0 h 10126"/>
              <a:gd name="connsiteX0" fmla="*/ 9563 w 10000"/>
              <a:gd name="connsiteY0" fmla="*/ 0 h 10126"/>
              <a:gd name="connsiteX1" fmla="*/ 0 w 10000"/>
              <a:gd name="connsiteY1" fmla="*/ 7515 h 10126"/>
              <a:gd name="connsiteX2" fmla="*/ 55 w 10000"/>
              <a:gd name="connsiteY2" fmla="*/ 8343 h 10126"/>
              <a:gd name="connsiteX3" fmla="*/ 9611 w 10000"/>
              <a:gd name="connsiteY3" fmla="*/ 10126 h 10126"/>
              <a:gd name="connsiteX4" fmla="*/ 9563 w 10000"/>
              <a:gd name="connsiteY4" fmla="*/ 0 h 10126"/>
              <a:gd name="connsiteX0" fmla="*/ 9563 w 9799"/>
              <a:gd name="connsiteY0" fmla="*/ 0 h 10126"/>
              <a:gd name="connsiteX1" fmla="*/ 0 w 9799"/>
              <a:gd name="connsiteY1" fmla="*/ 7515 h 10126"/>
              <a:gd name="connsiteX2" fmla="*/ 55 w 9799"/>
              <a:gd name="connsiteY2" fmla="*/ 8343 h 10126"/>
              <a:gd name="connsiteX3" fmla="*/ 9611 w 9799"/>
              <a:gd name="connsiteY3" fmla="*/ 10126 h 10126"/>
              <a:gd name="connsiteX4" fmla="*/ 9563 w 9799"/>
              <a:gd name="connsiteY4" fmla="*/ 0 h 1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9" h="10126">
                <a:moveTo>
                  <a:pt x="9563" y="0"/>
                </a:moveTo>
                <a:cubicBezTo>
                  <a:pt x="6380" y="3447"/>
                  <a:pt x="4378" y="4742"/>
                  <a:pt x="0" y="7515"/>
                </a:cubicBezTo>
                <a:cubicBezTo>
                  <a:pt x="19" y="7790"/>
                  <a:pt x="36" y="8067"/>
                  <a:pt x="55" y="8343"/>
                </a:cubicBezTo>
                <a:cubicBezTo>
                  <a:pt x="3592" y="8754"/>
                  <a:pt x="6787" y="8518"/>
                  <a:pt x="9611" y="10126"/>
                </a:cubicBezTo>
                <a:cubicBezTo>
                  <a:pt x="9580" y="4725"/>
                  <a:pt x="10082" y="3581"/>
                  <a:pt x="9563" y="0"/>
                </a:cubicBezTo>
                <a:close/>
              </a:path>
            </a:pathLst>
          </a:custGeom>
          <a:gradFill rotWithShape="1">
            <a:gsLst>
              <a:gs pos="75000">
                <a:schemeClr val="bg1">
                  <a:lumMod val="85000"/>
                </a:schemeClr>
              </a:gs>
              <a:gs pos="0">
                <a:schemeClr val="bg1">
                  <a:lumMod val="75000"/>
                </a:schemeClr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1BA7CF-F220-B748-3BBA-DAF4A4AF2B29}"/>
              </a:ext>
            </a:extLst>
          </p:cNvPr>
          <p:cNvSpPr txBox="1">
            <a:spLocks/>
          </p:cNvSpPr>
          <p:nvPr/>
        </p:nvSpPr>
        <p:spPr>
          <a:xfrm>
            <a:off x="495631" y="1555263"/>
            <a:ext cx="4899471" cy="1376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Packets can be buffered in routers</a:t>
            </a:r>
          </a:p>
          <a:p>
            <a:pPr lvl="1"/>
            <a:r>
              <a:rPr lang="en-US" dirty="0"/>
              <a:t>delay and loss</a:t>
            </a:r>
          </a:p>
          <a:p>
            <a:pPr lvl="1"/>
            <a:r>
              <a:rPr lang="en-US" dirty="0"/>
              <a:t>network congestion</a:t>
            </a:r>
          </a:p>
          <a:p>
            <a:pPr lvl="1"/>
            <a:endParaRPr lang="en-US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46B3331A-611D-2031-AE1F-9992DF54D3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14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9E1F9-F650-C9F5-E099-B57653EB6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2658E-FF0D-76FF-29E0-574263BFF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discussed before</a:t>
            </a:r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5B488ED5-7BF8-7BE1-8514-53C2D49C44ED}"/>
              </a:ext>
            </a:extLst>
          </p:cNvPr>
          <p:cNvGrpSpPr/>
          <p:nvPr/>
        </p:nvGrpSpPr>
        <p:grpSpPr>
          <a:xfrm>
            <a:off x="5207069" y="1493069"/>
            <a:ext cx="6348758" cy="2587259"/>
            <a:chOff x="2061715" y="3514305"/>
            <a:chExt cx="6348758" cy="2587259"/>
          </a:xfrm>
        </p:grpSpPr>
        <p:sp>
          <p:nvSpPr>
            <p:cNvPr id="5" name="Line 53">
              <a:extLst>
                <a:ext uri="{FF2B5EF4-FFF2-40B4-BE49-F238E27FC236}">
                  <a16:creationId xmlns:a16="http://schemas.microsoft.com/office/drawing/2014/main" id="{36C4AE1E-1305-4710-48BC-DCFC150374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51417" y="50496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" name="Line 33">
              <a:extLst>
                <a:ext uri="{FF2B5EF4-FFF2-40B4-BE49-F238E27FC236}">
                  <a16:creationId xmlns:a16="http://schemas.microsoft.com/office/drawing/2014/main" id="{8CB22027-BD47-506A-3319-2D10887B84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3646" y="5241679"/>
              <a:ext cx="395409" cy="3709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25708E9D-1BA7-C802-577C-59977381A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0934" y="4863330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8FA000E-590F-830A-A786-C2D7F50127A0}"/>
                </a:ext>
              </a:extLst>
            </p:cNvPr>
            <p:cNvGrpSpPr/>
            <p:nvPr/>
          </p:nvGrpSpPr>
          <p:grpSpPr>
            <a:xfrm>
              <a:off x="7121953" y="4837792"/>
              <a:ext cx="586768" cy="904023"/>
              <a:chOff x="10910965" y="2513124"/>
              <a:chExt cx="586768" cy="904023"/>
            </a:xfrm>
          </p:grpSpPr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45950AD8-A62A-4E92-9C2E-BF5EA93559C7}"/>
                  </a:ext>
                </a:extLst>
              </p:cNvPr>
              <p:cNvSpPr/>
              <p:nvPr/>
            </p:nvSpPr>
            <p:spPr>
              <a:xfrm>
                <a:off x="10916736" y="2513124"/>
                <a:ext cx="574264" cy="90402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00B2FD23-6E53-B564-1221-B56CDEC2D0E7}"/>
                  </a:ext>
                </a:extLst>
              </p:cNvPr>
              <p:cNvCxnSpPr/>
              <p:nvPr/>
            </p:nvCxnSpPr>
            <p:spPr>
              <a:xfrm>
                <a:off x="10910965" y="2696064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87A18022-8A94-E303-C2BE-35EF10488A39}"/>
                  </a:ext>
                </a:extLst>
              </p:cNvPr>
              <p:cNvCxnSpPr/>
              <p:nvPr/>
            </p:nvCxnSpPr>
            <p:spPr>
              <a:xfrm>
                <a:off x="10914332" y="288175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E690FC24-F3B3-7B10-7715-5CCC6A6FCA13}"/>
                  </a:ext>
                </a:extLst>
              </p:cNvPr>
              <p:cNvCxnSpPr/>
              <p:nvPr/>
            </p:nvCxnSpPr>
            <p:spPr>
              <a:xfrm>
                <a:off x="10923469" y="3064677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C2001B63-B7CE-1A38-D368-78C1394A9272}"/>
                  </a:ext>
                </a:extLst>
              </p:cNvPr>
              <p:cNvCxnSpPr/>
              <p:nvPr/>
            </p:nvCxnSpPr>
            <p:spPr>
              <a:xfrm>
                <a:off x="10915293" y="324207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8D7D757-1F3C-1C7A-46B3-10EBAF16E03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087048" y="3721445"/>
              <a:ext cx="430143" cy="900469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10401 w 10401"/>
                <a:gd name="connsiteY0" fmla="*/ 9412 h 9459"/>
                <a:gd name="connsiteX1" fmla="*/ 0 w 10401"/>
                <a:gd name="connsiteY1" fmla="*/ 0 h 9459"/>
                <a:gd name="connsiteX2" fmla="*/ 401 w 10401"/>
                <a:gd name="connsiteY2" fmla="*/ 8992 h 9459"/>
                <a:gd name="connsiteX3" fmla="*/ 5483 w 10401"/>
                <a:gd name="connsiteY3" fmla="*/ 9459 h 9459"/>
                <a:gd name="connsiteX4" fmla="*/ 10401 w 10401"/>
                <a:gd name="connsiteY4" fmla="*/ 9412 h 9459"/>
                <a:gd name="connsiteX0" fmla="*/ 14206 w 14206"/>
                <a:gd name="connsiteY0" fmla="*/ 3611 h 10000"/>
                <a:gd name="connsiteX1" fmla="*/ 0 w 14206"/>
                <a:gd name="connsiteY1" fmla="*/ 0 h 10000"/>
                <a:gd name="connsiteX2" fmla="*/ 386 w 14206"/>
                <a:gd name="connsiteY2" fmla="*/ 9506 h 10000"/>
                <a:gd name="connsiteX3" fmla="*/ 5272 w 14206"/>
                <a:gd name="connsiteY3" fmla="*/ 10000 h 10000"/>
                <a:gd name="connsiteX4" fmla="*/ 14206 w 14206"/>
                <a:gd name="connsiteY4" fmla="*/ 3611 h 10000"/>
                <a:gd name="connsiteX0" fmla="*/ 14206 w 16488"/>
                <a:gd name="connsiteY0" fmla="*/ 3611 h 9506"/>
                <a:gd name="connsiteX1" fmla="*/ 0 w 16488"/>
                <a:gd name="connsiteY1" fmla="*/ 0 h 9506"/>
                <a:gd name="connsiteX2" fmla="*/ 386 w 16488"/>
                <a:gd name="connsiteY2" fmla="*/ 9506 h 9506"/>
                <a:gd name="connsiteX3" fmla="*/ 16488 w 16488"/>
                <a:gd name="connsiteY3" fmla="*/ 6207 h 9506"/>
                <a:gd name="connsiteX4" fmla="*/ 14206 w 16488"/>
                <a:gd name="connsiteY4" fmla="*/ 3611 h 9506"/>
                <a:gd name="connsiteX0" fmla="*/ 8616 w 10000"/>
                <a:gd name="connsiteY0" fmla="*/ 3799 h 10765"/>
                <a:gd name="connsiteX1" fmla="*/ 0 w 10000"/>
                <a:gd name="connsiteY1" fmla="*/ 0 h 10765"/>
                <a:gd name="connsiteX2" fmla="*/ 128 w 10000"/>
                <a:gd name="connsiteY2" fmla="*/ 10765 h 10765"/>
                <a:gd name="connsiteX3" fmla="*/ 10000 w 10000"/>
                <a:gd name="connsiteY3" fmla="*/ 6530 h 10765"/>
                <a:gd name="connsiteX4" fmla="*/ 8616 w 10000"/>
                <a:gd name="connsiteY4" fmla="*/ 3799 h 10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765">
                  <a:moveTo>
                    <a:pt x="8616" y="3799"/>
                  </a:moveTo>
                  <a:lnTo>
                    <a:pt x="0" y="0"/>
                  </a:lnTo>
                  <a:cubicBezTo>
                    <a:pt x="78" y="3333"/>
                    <a:pt x="50" y="7432"/>
                    <a:pt x="128" y="10765"/>
                  </a:cubicBezTo>
                  <a:lnTo>
                    <a:pt x="10000" y="6530"/>
                  </a:lnTo>
                  <a:lnTo>
                    <a:pt x="8616" y="3799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DDDDDD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FEE3510-ED10-64C1-2B70-F5A2237B32CF}"/>
                </a:ext>
              </a:extLst>
            </p:cNvPr>
            <p:cNvGrpSpPr/>
            <p:nvPr/>
          </p:nvGrpSpPr>
          <p:grpSpPr>
            <a:xfrm>
              <a:off x="2626216" y="4614104"/>
              <a:ext cx="586768" cy="904023"/>
              <a:chOff x="10910965" y="2513124"/>
              <a:chExt cx="586768" cy="904023"/>
            </a:xfrm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479BEEFB-D371-2EAD-0030-B66342D81544}"/>
                  </a:ext>
                </a:extLst>
              </p:cNvPr>
              <p:cNvSpPr/>
              <p:nvPr/>
            </p:nvSpPr>
            <p:spPr>
              <a:xfrm>
                <a:off x="10916736" y="2513124"/>
                <a:ext cx="574264" cy="90402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FD5AC96F-8704-1A57-A246-E6F4DAEE6195}"/>
                  </a:ext>
                </a:extLst>
              </p:cNvPr>
              <p:cNvCxnSpPr/>
              <p:nvPr/>
            </p:nvCxnSpPr>
            <p:spPr>
              <a:xfrm>
                <a:off x="10910965" y="2696064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561D8911-C1A8-266A-CFB6-105A979CFE6C}"/>
                  </a:ext>
                </a:extLst>
              </p:cNvPr>
              <p:cNvCxnSpPr/>
              <p:nvPr/>
            </p:nvCxnSpPr>
            <p:spPr>
              <a:xfrm>
                <a:off x="10914332" y="288175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DF217862-1B31-F126-719C-3D0AF8717F09}"/>
                  </a:ext>
                </a:extLst>
              </p:cNvPr>
              <p:cNvCxnSpPr/>
              <p:nvPr/>
            </p:nvCxnSpPr>
            <p:spPr>
              <a:xfrm>
                <a:off x="10923469" y="3064677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AE87022A-B50C-ACA1-7C95-490B6D7BB65A}"/>
                  </a:ext>
                </a:extLst>
              </p:cNvPr>
              <p:cNvCxnSpPr/>
              <p:nvPr/>
            </p:nvCxnSpPr>
            <p:spPr>
              <a:xfrm>
                <a:off x="10915293" y="324207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06FCF11-0726-B1B8-0D56-8D0B5A7E2195}"/>
                </a:ext>
              </a:extLst>
            </p:cNvPr>
            <p:cNvGrpSpPr/>
            <p:nvPr/>
          </p:nvGrpSpPr>
          <p:grpSpPr>
            <a:xfrm>
              <a:off x="3502516" y="3725612"/>
              <a:ext cx="586768" cy="904023"/>
              <a:chOff x="10910965" y="2513124"/>
              <a:chExt cx="586768" cy="904023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580551C7-8D1E-A7FC-6A9B-C2D10DD4B3AA}"/>
                  </a:ext>
                </a:extLst>
              </p:cNvPr>
              <p:cNvSpPr/>
              <p:nvPr/>
            </p:nvSpPr>
            <p:spPr>
              <a:xfrm>
                <a:off x="10916736" y="2513124"/>
                <a:ext cx="574264" cy="90402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C2C6B592-ED1F-C9DA-F96D-3557D242737D}"/>
                  </a:ext>
                </a:extLst>
              </p:cNvPr>
              <p:cNvCxnSpPr/>
              <p:nvPr/>
            </p:nvCxnSpPr>
            <p:spPr>
              <a:xfrm>
                <a:off x="10910965" y="2696064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C53AB3A9-5538-987F-5DC7-489392151A9F}"/>
                  </a:ext>
                </a:extLst>
              </p:cNvPr>
              <p:cNvCxnSpPr/>
              <p:nvPr/>
            </p:nvCxnSpPr>
            <p:spPr>
              <a:xfrm>
                <a:off x="10914332" y="288175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B30D311A-2E87-5FD5-18E4-3969CF4FF171}"/>
                  </a:ext>
                </a:extLst>
              </p:cNvPr>
              <p:cNvCxnSpPr/>
              <p:nvPr/>
            </p:nvCxnSpPr>
            <p:spPr>
              <a:xfrm>
                <a:off x="10923469" y="3064677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B4FCA67E-546A-91C8-837E-D4685E47A640}"/>
                  </a:ext>
                </a:extLst>
              </p:cNvPr>
              <p:cNvCxnSpPr/>
              <p:nvPr/>
            </p:nvCxnSpPr>
            <p:spPr>
              <a:xfrm>
                <a:off x="10915293" y="324207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DC11384-D306-F32C-10FF-79B57E8C1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7172" y="3861933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768DF12-7778-C947-D06F-669483923919}"/>
                </a:ext>
              </a:extLst>
            </p:cNvPr>
            <p:cNvGrpSpPr/>
            <p:nvPr/>
          </p:nvGrpSpPr>
          <p:grpSpPr>
            <a:xfrm>
              <a:off x="7500494" y="3837799"/>
              <a:ext cx="586768" cy="904023"/>
              <a:chOff x="10910965" y="2513124"/>
              <a:chExt cx="586768" cy="904023"/>
            </a:xfrm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78E94A98-F12F-4172-5A7A-5CF468462D19}"/>
                  </a:ext>
                </a:extLst>
              </p:cNvPr>
              <p:cNvSpPr/>
              <p:nvPr/>
            </p:nvSpPr>
            <p:spPr>
              <a:xfrm>
                <a:off x="10916736" y="2513124"/>
                <a:ext cx="574264" cy="90402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47FE7138-0919-F27E-9AFE-EE03846552AC}"/>
                  </a:ext>
                </a:extLst>
              </p:cNvPr>
              <p:cNvCxnSpPr/>
              <p:nvPr/>
            </p:nvCxnSpPr>
            <p:spPr>
              <a:xfrm>
                <a:off x="10910965" y="2696064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08A1B04D-F7A1-7ABE-E9EA-AC08CDCE444B}"/>
                  </a:ext>
                </a:extLst>
              </p:cNvPr>
              <p:cNvCxnSpPr/>
              <p:nvPr/>
            </p:nvCxnSpPr>
            <p:spPr>
              <a:xfrm>
                <a:off x="10914332" y="288175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BE88C338-E9C8-AA8A-ECE8-79EE651A7E5F}"/>
                  </a:ext>
                </a:extLst>
              </p:cNvPr>
              <p:cNvCxnSpPr/>
              <p:nvPr/>
            </p:nvCxnSpPr>
            <p:spPr>
              <a:xfrm>
                <a:off x="10923469" y="3064677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6F66E707-AC1E-BBB1-BD56-FCE80A0333BD}"/>
                  </a:ext>
                </a:extLst>
              </p:cNvPr>
              <p:cNvCxnSpPr/>
              <p:nvPr/>
            </p:nvCxnSpPr>
            <p:spPr>
              <a:xfrm>
                <a:off x="10915293" y="3242073"/>
                <a:ext cx="5742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7C9EA72-7725-8A89-F9E1-510128AAAD7E}"/>
                </a:ext>
              </a:extLst>
            </p:cNvPr>
            <p:cNvGrpSpPr/>
            <p:nvPr/>
          </p:nvGrpSpPr>
          <p:grpSpPr>
            <a:xfrm>
              <a:off x="4655037" y="4881538"/>
              <a:ext cx="1047677" cy="561647"/>
              <a:chOff x="7493876" y="2774732"/>
              <a:chExt cx="1481958" cy="894621"/>
            </a:xfrm>
          </p:grpSpPr>
          <p:sp>
            <p:nvSpPr>
              <p:cNvPr id="137" name="Freeform 363">
                <a:extLst>
                  <a:ext uri="{FF2B5EF4-FFF2-40B4-BE49-F238E27FC236}">
                    <a16:creationId xmlns:a16="http://schemas.microsoft.com/office/drawing/2014/main" id="{43507CCC-41EE-4541-3A88-7052F2488BD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5B537ABF-58A0-651A-9721-810028E0F8A0}"/>
                  </a:ext>
                </a:extLst>
              </p:cNvPr>
              <p:cNvSpPr/>
              <p:nvPr/>
            </p:nvSpPr>
            <p:spPr>
              <a:xfrm>
                <a:off x="7494728" y="2774732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3457043B-3018-AB10-6CF9-647760A394B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40" name="Freeform 366">
                  <a:extLst>
                    <a:ext uri="{FF2B5EF4-FFF2-40B4-BE49-F238E27FC236}">
                      <a16:creationId xmlns:a16="http://schemas.microsoft.com/office/drawing/2014/main" id="{AE1EBAA7-53F7-911E-D1F2-179DA84C640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367">
                  <a:extLst>
                    <a:ext uri="{FF2B5EF4-FFF2-40B4-BE49-F238E27FC236}">
                      <a16:creationId xmlns:a16="http://schemas.microsoft.com/office/drawing/2014/main" id="{D0ED245A-8F9D-3593-FB3F-13E5BE4456D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 368">
                  <a:extLst>
                    <a:ext uri="{FF2B5EF4-FFF2-40B4-BE49-F238E27FC236}">
                      <a16:creationId xmlns:a16="http://schemas.microsoft.com/office/drawing/2014/main" id="{93957F49-CB59-84CB-BEDE-A3A1A0EA6A4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369">
                  <a:extLst>
                    <a:ext uri="{FF2B5EF4-FFF2-40B4-BE49-F238E27FC236}">
                      <a16:creationId xmlns:a16="http://schemas.microsoft.com/office/drawing/2014/main" id="{F3FD46E0-0030-A5A6-4A33-095296CF8B4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" name="Group 124">
              <a:extLst>
                <a:ext uri="{FF2B5EF4-FFF2-40B4-BE49-F238E27FC236}">
                  <a16:creationId xmlns:a16="http://schemas.microsoft.com/office/drawing/2014/main" id="{EA119E81-576B-50BF-036B-0F507A84E6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7758" y="3997698"/>
              <a:ext cx="525463" cy="434975"/>
              <a:chOff x="-44" y="1473"/>
              <a:chExt cx="981" cy="1105"/>
            </a:xfrm>
          </p:grpSpPr>
          <p:pic>
            <p:nvPicPr>
              <p:cNvPr id="135" name="Picture 125" descr="desktop_computer_stylized_medium">
                <a:extLst>
                  <a:ext uri="{FF2B5EF4-FFF2-40B4-BE49-F238E27FC236}">
                    <a16:creationId xmlns:a16="http://schemas.microsoft.com/office/drawing/2014/main" id="{FFD4F33B-5D31-DF39-A4C0-EF5533CCB6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7927D513-D49F-A473-DA59-4A8C92CF91E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1BEDAEE2-B20C-4B4B-11EB-3BC47E61102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381597" y="4612505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Text Box 42">
              <a:extLst>
                <a:ext uri="{FF2B5EF4-FFF2-40B4-BE49-F238E27FC236}">
                  <a16:creationId xmlns:a16="http://schemas.microsoft.com/office/drawing/2014/main" id="{0526A4B9-3E73-EC6C-CAB1-7E0D18D3D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1482" y="3732281"/>
              <a:ext cx="913861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A</a:t>
              </a:r>
              <a:endPara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Text Box 52">
              <a:extLst>
                <a:ext uri="{FF2B5EF4-FFF2-40B4-BE49-F238E27FC236}">
                  <a16:creationId xmlns:a16="http://schemas.microsoft.com/office/drawing/2014/main" id="{02EC6D3E-D739-1DE2-A223-32BC9B57F8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7264" y="5660930"/>
              <a:ext cx="799129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13A3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B</a:t>
              </a:r>
              <a:endPara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Line 54">
              <a:extLst>
                <a:ext uri="{FF2B5EF4-FFF2-40B4-BE49-F238E27FC236}">
                  <a16:creationId xmlns:a16="http://schemas.microsoft.com/office/drawing/2014/main" id="{7FA42EEF-C0A9-243D-5243-A41D35B058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48672" y="5145905"/>
              <a:ext cx="10924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Line 55">
              <a:extLst>
                <a:ext uri="{FF2B5EF4-FFF2-40B4-BE49-F238E27FC236}">
                  <a16:creationId xmlns:a16="http://schemas.microsoft.com/office/drawing/2014/main" id="{526C0F69-5324-53FB-1117-F56B57807D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34008" y="4745855"/>
              <a:ext cx="923925" cy="866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Line 57">
              <a:extLst>
                <a:ext uri="{FF2B5EF4-FFF2-40B4-BE49-F238E27FC236}">
                  <a16:creationId xmlns:a16="http://schemas.microsoft.com/office/drawing/2014/main" id="{606D9747-7B55-4A27-6817-B90B5DD615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55904" y="4746002"/>
              <a:ext cx="4397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2" name="Group 127">
              <a:extLst>
                <a:ext uri="{FF2B5EF4-FFF2-40B4-BE49-F238E27FC236}">
                  <a16:creationId xmlns:a16="http://schemas.microsoft.com/office/drawing/2014/main" id="{B848FF45-9CA3-7195-DEB8-097AEC3877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78697" y="4453755"/>
              <a:ext cx="231776" cy="441326"/>
              <a:chOff x="4140" y="429"/>
              <a:chExt cx="1425" cy="2396"/>
            </a:xfrm>
          </p:grpSpPr>
          <p:sp>
            <p:nvSpPr>
              <p:cNvPr id="103" name="Freeform 128">
                <a:extLst>
                  <a:ext uri="{FF2B5EF4-FFF2-40B4-BE49-F238E27FC236}">
                    <a16:creationId xmlns:a16="http://schemas.microsoft.com/office/drawing/2014/main" id="{AE1DAA52-CA95-0A2A-B6EA-2D8DEE8B9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4" name="Rectangle 129">
                <a:extLst>
                  <a:ext uri="{FF2B5EF4-FFF2-40B4-BE49-F238E27FC236}">
                    <a16:creationId xmlns:a16="http://schemas.microsoft.com/office/drawing/2014/main" id="{361F2045-9B80-49B6-3EC4-F317AB0A3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5" name="Freeform 130">
                <a:extLst>
                  <a:ext uri="{FF2B5EF4-FFF2-40B4-BE49-F238E27FC236}">
                    <a16:creationId xmlns:a16="http://schemas.microsoft.com/office/drawing/2014/main" id="{59A5EE6F-08F0-3AD5-755A-9105910E99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6" name="Freeform 131">
                <a:extLst>
                  <a:ext uri="{FF2B5EF4-FFF2-40B4-BE49-F238E27FC236}">
                    <a16:creationId xmlns:a16="http://schemas.microsoft.com/office/drawing/2014/main" id="{B396E518-A69F-8CB9-9367-36D1F404C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" name="Rectangle 132">
                <a:extLst>
                  <a:ext uri="{FF2B5EF4-FFF2-40B4-BE49-F238E27FC236}">
                    <a16:creationId xmlns:a16="http://schemas.microsoft.com/office/drawing/2014/main" id="{8A03725C-758B-5D67-D700-196A3A4D6B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696"/>
                <a:ext cx="595" cy="43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08" name="Group 133">
                <a:extLst>
                  <a:ext uri="{FF2B5EF4-FFF2-40B4-BE49-F238E27FC236}">
                    <a16:creationId xmlns:a16="http://schemas.microsoft.com/office/drawing/2014/main" id="{77F0D62A-0A21-91DA-2901-4A8C04F0BA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5" y="669"/>
                <a:ext cx="586" cy="146"/>
                <a:chOff x="609" y="2570"/>
                <a:chExt cx="731" cy="140"/>
              </a:xfrm>
            </p:grpSpPr>
            <p:sp>
              <p:nvSpPr>
                <p:cNvPr id="133" name="AutoShape 134">
                  <a:extLst>
                    <a:ext uri="{FF2B5EF4-FFF2-40B4-BE49-F238E27FC236}">
                      <a16:creationId xmlns:a16="http://schemas.microsoft.com/office/drawing/2014/main" id="{3C4AEDC9-9C00-0543-18B7-C07211E469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" y="2570"/>
                  <a:ext cx="73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34" name="AutoShape 135">
                  <a:extLst>
                    <a:ext uri="{FF2B5EF4-FFF2-40B4-BE49-F238E27FC236}">
                      <a16:creationId xmlns:a16="http://schemas.microsoft.com/office/drawing/2014/main" id="{988BAC2A-4719-63ED-2A63-5839D7AF9D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1" y="2587"/>
                  <a:ext cx="70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09" name="Rectangle 136">
                <a:extLst>
                  <a:ext uri="{FF2B5EF4-FFF2-40B4-BE49-F238E27FC236}">
                    <a16:creationId xmlns:a16="http://schemas.microsoft.com/office/drawing/2014/main" id="{498FF4FD-D6E9-CF79-5B61-B9825A39DD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015"/>
                <a:ext cx="595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10" name="Group 137">
                <a:extLst>
                  <a:ext uri="{FF2B5EF4-FFF2-40B4-BE49-F238E27FC236}">
                    <a16:creationId xmlns:a16="http://schemas.microsoft.com/office/drawing/2014/main" id="{1B2BB152-8EC8-9F9F-801A-9E29A7E470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6" y="994"/>
                <a:ext cx="586" cy="129"/>
                <a:chOff x="612" y="2572"/>
                <a:chExt cx="731" cy="134"/>
              </a:xfrm>
            </p:grpSpPr>
            <p:sp>
              <p:nvSpPr>
                <p:cNvPr id="131" name="AutoShape 138">
                  <a:extLst>
                    <a:ext uri="{FF2B5EF4-FFF2-40B4-BE49-F238E27FC236}">
                      <a16:creationId xmlns:a16="http://schemas.microsoft.com/office/drawing/2014/main" id="{DE0C72B8-C831-CC58-3BDD-86023E8284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32" name="AutoShape 139">
                  <a:extLst>
                    <a:ext uri="{FF2B5EF4-FFF2-40B4-BE49-F238E27FC236}">
                      <a16:creationId xmlns:a16="http://schemas.microsoft.com/office/drawing/2014/main" id="{BF66A20B-D4CA-B40F-B8E0-A2D0952FB1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06" cy="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11" name="Rectangle 140">
                <a:extLst>
                  <a:ext uri="{FF2B5EF4-FFF2-40B4-BE49-F238E27FC236}">
                    <a16:creationId xmlns:a16="http://schemas.microsoft.com/office/drawing/2014/main" id="{2B16A9D3-A9A6-23A2-C473-D5D4E280D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5" cy="43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2" name="Rectangle 141">
                <a:extLst>
                  <a:ext uri="{FF2B5EF4-FFF2-40B4-BE49-F238E27FC236}">
                    <a16:creationId xmlns:a16="http://schemas.microsoft.com/office/drawing/2014/main" id="{B0818B0D-A5DE-F102-DB86-8FEAD981CB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3"/>
                <a:ext cx="595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13" name="Group 142">
                <a:extLst>
                  <a:ext uri="{FF2B5EF4-FFF2-40B4-BE49-F238E27FC236}">
                    <a16:creationId xmlns:a16="http://schemas.microsoft.com/office/drawing/2014/main" id="{F126B7DC-9BB7-0016-465C-F2749A719E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6"/>
                <a:ext cx="586" cy="215"/>
                <a:chOff x="614" y="2568"/>
                <a:chExt cx="730" cy="198"/>
              </a:xfrm>
            </p:grpSpPr>
            <p:sp>
              <p:nvSpPr>
                <p:cNvPr id="129" name="AutoShape 143">
                  <a:extLst>
                    <a:ext uri="{FF2B5EF4-FFF2-40B4-BE49-F238E27FC236}">
                      <a16:creationId xmlns:a16="http://schemas.microsoft.com/office/drawing/2014/main" id="{31B4C2AE-9102-04E1-BFF9-7BD60B267C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30" cy="19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30" name="AutoShape 144">
                  <a:extLst>
                    <a:ext uri="{FF2B5EF4-FFF2-40B4-BE49-F238E27FC236}">
                      <a16:creationId xmlns:a16="http://schemas.microsoft.com/office/drawing/2014/main" id="{CD85031F-7EA5-3A60-A660-EC2CC8FC9C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70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14" name="Freeform 145">
                <a:extLst>
                  <a:ext uri="{FF2B5EF4-FFF2-40B4-BE49-F238E27FC236}">
                    <a16:creationId xmlns:a16="http://schemas.microsoft.com/office/drawing/2014/main" id="{3AABF358-86A4-F54E-A0B0-9618A9CC5B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15" name="Group 146">
                <a:extLst>
                  <a:ext uri="{FF2B5EF4-FFF2-40B4-BE49-F238E27FC236}">
                    <a16:creationId xmlns:a16="http://schemas.microsoft.com/office/drawing/2014/main" id="{3BF89D11-5B55-611D-75BA-E087A1453D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325"/>
                <a:ext cx="586" cy="138"/>
                <a:chOff x="609" y="2566"/>
                <a:chExt cx="730" cy="138"/>
              </a:xfrm>
            </p:grpSpPr>
            <p:sp>
              <p:nvSpPr>
                <p:cNvPr id="127" name="AutoShape 147">
                  <a:extLst>
                    <a:ext uri="{FF2B5EF4-FFF2-40B4-BE49-F238E27FC236}">
                      <a16:creationId xmlns:a16="http://schemas.microsoft.com/office/drawing/2014/main" id="{8339F0A1-8B97-AA24-4429-3F2ECC266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" y="2566"/>
                  <a:ext cx="73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28" name="AutoShape 148">
                  <a:extLst>
                    <a:ext uri="{FF2B5EF4-FFF2-40B4-BE49-F238E27FC236}">
                      <a16:creationId xmlns:a16="http://schemas.microsoft.com/office/drawing/2014/main" id="{ED4B890C-B239-A8C7-0C75-B4C1CB0BEB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2" y="2584"/>
                  <a:ext cx="705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16" name="Rectangle 149">
                <a:extLst>
                  <a:ext uri="{FF2B5EF4-FFF2-40B4-BE49-F238E27FC236}">
                    <a16:creationId xmlns:a16="http://schemas.microsoft.com/office/drawing/2014/main" id="{804E8135-54BD-CD77-0145-171C29906A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8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7" name="Freeform 150">
                <a:extLst>
                  <a:ext uri="{FF2B5EF4-FFF2-40B4-BE49-F238E27FC236}">
                    <a16:creationId xmlns:a16="http://schemas.microsoft.com/office/drawing/2014/main" id="{0C89DB2A-5ED6-30A6-6557-F11BF0D21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8" name="Freeform 151">
                <a:extLst>
                  <a:ext uri="{FF2B5EF4-FFF2-40B4-BE49-F238E27FC236}">
                    <a16:creationId xmlns:a16="http://schemas.microsoft.com/office/drawing/2014/main" id="{0C9534F9-F30D-4FF1-E5F1-0B2A5E5A5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9" name="Oval 152">
                <a:extLst>
                  <a:ext uri="{FF2B5EF4-FFF2-40B4-BE49-F238E27FC236}">
                    <a16:creationId xmlns:a16="http://schemas.microsoft.com/office/drawing/2014/main" id="{79800A7D-6D61-2A7C-5804-E50D21E4B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0" name="Freeform 153">
                <a:extLst>
                  <a:ext uri="{FF2B5EF4-FFF2-40B4-BE49-F238E27FC236}">
                    <a16:creationId xmlns:a16="http://schemas.microsoft.com/office/drawing/2014/main" id="{3EBEA11E-6338-8D22-7FF6-F1216606E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1" name="AutoShape 154">
                <a:extLst>
                  <a:ext uri="{FF2B5EF4-FFF2-40B4-BE49-F238E27FC236}">
                    <a16:creationId xmlns:a16="http://schemas.microsoft.com/office/drawing/2014/main" id="{CEC30AFE-C734-FC86-52B8-F1AC0FEE1D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1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2" name="AutoShape 155">
                <a:extLst>
                  <a:ext uri="{FF2B5EF4-FFF2-40B4-BE49-F238E27FC236}">
                    <a16:creationId xmlns:a16="http://schemas.microsoft.com/office/drawing/2014/main" id="{EB975D46-E495-0B12-78A7-9B3B95DFF7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4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3" name="Oval 156">
                <a:extLst>
                  <a:ext uri="{FF2B5EF4-FFF2-40B4-BE49-F238E27FC236}">
                    <a16:creationId xmlns:a16="http://schemas.microsoft.com/office/drawing/2014/main" id="{D151078D-69E5-6D2E-5039-6F151D63A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6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4" name="Oval 157">
                <a:extLst>
                  <a:ext uri="{FF2B5EF4-FFF2-40B4-BE49-F238E27FC236}">
                    <a16:creationId xmlns:a16="http://schemas.microsoft.com/office/drawing/2014/main" id="{C31BFF93-6F88-0EF1-7F11-3FD959A51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2" y="2385"/>
                <a:ext cx="166" cy="1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25" name="Oval 158">
                <a:extLst>
                  <a:ext uri="{FF2B5EF4-FFF2-40B4-BE49-F238E27FC236}">
                    <a16:creationId xmlns:a16="http://schemas.microsoft.com/office/drawing/2014/main" id="{868CF14C-7C5E-3E4A-B884-B67423AF67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7" y="2377"/>
                <a:ext cx="166" cy="14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6" name="Rectangle 159">
                <a:extLst>
                  <a:ext uri="{FF2B5EF4-FFF2-40B4-BE49-F238E27FC236}">
                    <a16:creationId xmlns:a16="http://schemas.microsoft.com/office/drawing/2014/main" id="{0C57AED1-D02F-52D9-7F8A-E82618AFE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8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23" name="Group 160">
              <a:extLst>
                <a:ext uri="{FF2B5EF4-FFF2-40B4-BE49-F238E27FC236}">
                  <a16:creationId xmlns:a16="http://schemas.microsoft.com/office/drawing/2014/main" id="{E87C9B52-51CB-860D-035D-3289CAF4F0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1715" y="5356607"/>
              <a:ext cx="525463" cy="434975"/>
              <a:chOff x="-44" y="1473"/>
              <a:chExt cx="981" cy="1105"/>
            </a:xfrm>
          </p:grpSpPr>
          <p:pic>
            <p:nvPicPr>
              <p:cNvPr id="101" name="Picture 161" descr="desktop_computer_stylized_medium">
                <a:extLst>
                  <a:ext uri="{FF2B5EF4-FFF2-40B4-BE49-F238E27FC236}">
                    <a16:creationId xmlns:a16="http://schemas.microsoft.com/office/drawing/2014/main" id="{7C409C05-1D62-075D-E4F1-E2D4AA7752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" name="Freeform 162">
                <a:extLst>
                  <a:ext uri="{FF2B5EF4-FFF2-40B4-BE49-F238E27FC236}">
                    <a16:creationId xmlns:a16="http://schemas.microsoft.com/office/drawing/2014/main" id="{553DFABD-8E13-C433-FC83-FCFA50D917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4" name="Group 163">
              <a:extLst>
                <a:ext uri="{FF2B5EF4-FFF2-40B4-BE49-F238E27FC236}">
                  <a16:creationId xmlns:a16="http://schemas.microsoft.com/office/drawing/2014/main" id="{F034FB37-880E-3B84-A6EE-2E01FDE2C7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61197" y="5418955"/>
              <a:ext cx="231776" cy="441326"/>
              <a:chOff x="4140" y="429"/>
              <a:chExt cx="1425" cy="2396"/>
            </a:xfrm>
          </p:grpSpPr>
          <p:sp>
            <p:nvSpPr>
              <p:cNvPr id="69" name="Freeform 164">
                <a:extLst>
                  <a:ext uri="{FF2B5EF4-FFF2-40B4-BE49-F238E27FC236}">
                    <a16:creationId xmlns:a16="http://schemas.microsoft.com/office/drawing/2014/main" id="{EA5F48CE-51CF-5A48-31CF-77015AF6BF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0" name="Rectangle 165">
                <a:extLst>
                  <a:ext uri="{FF2B5EF4-FFF2-40B4-BE49-F238E27FC236}">
                    <a16:creationId xmlns:a16="http://schemas.microsoft.com/office/drawing/2014/main" id="{F7DDC54F-5720-3BFB-1713-EDABEB24F0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1" name="Freeform 166">
                <a:extLst>
                  <a:ext uri="{FF2B5EF4-FFF2-40B4-BE49-F238E27FC236}">
                    <a16:creationId xmlns:a16="http://schemas.microsoft.com/office/drawing/2014/main" id="{BB41C389-05A5-D127-68BF-9B7C19A708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2" name="Freeform 167">
                <a:extLst>
                  <a:ext uri="{FF2B5EF4-FFF2-40B4-BE49-F238E27FC236}">
                    <a16:creationId xmlns:a16="http://schemas.microsoft.com/office/drawing/2014/main" id="{C9387C20-7EB7-BAA3-66A7-84AFCC375A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3" name="Rectangle 168">
                <a:extLst>
                  <a:ext uri="{FF2B5EF4-FFF2-40B4-BE49-F238E27FC236}">
                    <a16:creationId xmlns:a16="http://schemas.microsoft.com/office/drawing/2014/main" id="{EB9F8F26-C7E8-F6A8-33AC-FB3F1403B5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696"/>
                <a:ext cx="595" cy="43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74" name="Group 169">
                <a:extLst>
                  <a:ext uri="{FF2B5EF4-FFF2-40B4-BE49-F238E27FC236}">
                    <a16:creationId xmlns:a16="http://schemas.microsoft.com/office/drawing/2014/main" id="{1A0449B5-251C-55D6-7B21-0794BCAC12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5" y="669"/>
                <a:ext cx="586" cy="146"/>
                <a:chOff x="609" y="2570"/>
                <a:chExt cx="731" cy="140"/>
              </a:xfrm>
            </p:grpSpPr>
            <p:sp>
              <p:nvSpPr>
                <p:cNvPr id="99" name="AutoShape 170">
                  <a:extLst>
                    <a:ext uri="{FF2B5EF4-FFF2-40B4-BE49-F238E27FC236}">
                      <a16:creationId xmlns:a16="http://schemas.microsoft.com/office/drawing/2014/main" id="{BC60B7C3-6D32-F8EA-752F-937ECA3DDC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" y="2570"/>
                  <a:ext cx="73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0" name="AutoShape 171">
                  <a:extLst>
                    <a:ext uri="{FF2B5EF4-FFF2-40B4-BE49-F238E27FC236}">
                      <a16:creationId xmlns:a16="http://schemas.microsoft.com/office/drawing/2014/main" id="{53F520CA-2D10-4A6C-1370-C2BC9C70CA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1" y="2587"/>
                  <a:ext cx="70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75" name="Rectangle 172">
                <a:extLst>
                  <a:ext uri="{FF2B5EF4-FFF2-40B4-BE49-F238E27FC236}">
                    <a16:creationId xmlns:a16="http://schemas.microsoft.com/office/drawing/2014/main" id="{B93E2B39-BBE4-C522-39F2-5ACDD54360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015"/>
                <a:ext cx="595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76" name="Group 173">
                <a:extLst>
                  <a:ext uri="{FF2B5EF4-FFF2-40B4-BE49-F238E27FC236}">
                    <a16:creationId xmlns:a16="http://schemas.microsoft.com/office/drawing/2014/main" id="{CBE6347A-D543-089F-6287-2A4AC4E85E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6" y="994"/>
                <a:ext cx="586" cy="129"/>
                <a:chOff x="612" y="2572"/>
                <a:chExt cx="731" cy="134"/>
              </a:xfrm>
            </p:grpSpPr>
            <p:sp>
              <p:nvSpPr>
                <p:cNvPr id="97" name="AutoShape 174">
                  <a:extLst>
                    <a:ext uri="{FF2B5EF4-FFF2-40B4-BE49-F238E27FC236}">
                      <a16:creationId xmlns:a16="http://schemas.microsoft.com/office/drawing/2014/main" id="{BB0B0412-C9F9-0973-B6AD-C2E158BDF0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8" name="AutoShape 175">
                  <a:extLst>
                    <a:ext uri="{FF2B5EF4-FFF2-40B4-BE49-F238E27FC236}">
                      <a16:creationId xmlns:a16="http://schemas.microsoft.com/office/drawing/2014/main" id="{84F49001-C453-713B-6260-24346B3256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06" cy="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77" name="Rectangle 176">
                <a:extLst>
                  <a:ext uri="{FF2B5EF4-FFF2-40B4-BE49-F238E27FC236}">
                    <a16:creationId xmlns:a16="http://schemas.microsoft.com/office/drawing/2014/main" id="{76062A87-1CBC-ABED-56C3-50CACE65E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5" cy="43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8" name="Rectangle 177">
                <a:extLst>
                  <a:ext uri="{FF2B5EF4-FFF2-40B4-BE49-F238E27FC236}">
                    <a16:creationId xmlns:a16="http://schemas.microsoft.com/office/drawing/2014/main" id="{D33CEC75-2710-1645-3972-05A25E908B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3"/>
                <a:ext cx="595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79" name="Group 178">
                <a:extLst>
                  <a:ext uri="{FF2B5EF4-FFF2-40B4-BE49-F238E27FC236}">
                    <a16:creationId xmlns:a16="http://schemas.microsoft.com/office/drawing/2014/main" id="{776D8F94-9B91-EDA0-B488-8F59C38384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6"/>
                <a:ext cx="586" cy="215"/>
                <a:chOff x="614" y="2568"/>
                <a:chExt cx="730" cy="198"/>
              </a:xfrm>
            </p:grpSpPr>
            <p:sp>
              <p:nvSpPr>
                <p:cNvPr id="95" name="AutoShape 179">
                  <a:extLst>
                    <a:ext uri="{FF2B5EF4-FFF2-40B4-BE49-F238E27FC236}">
                      <a16:creationId xmlns:a16="http://schemas.microsoft.com/office/drawing/2014/main" id="{616B000F-8EB0-CBDE-C21A-03D3E56C37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30" cy="19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6" name="AutoShape 180">
                  <a:extLst>
                    <a:ext uri="{FF2B5EF4-FFF2-40B4-BE49-F238E27FC236}">
                      <a16:creationId xmlns:a16="http://schemas.microsoft.com/office/drawing/2014/main" id="{F8C4512C-14F9-9084-7837-572186ED06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70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80" name="Freeform 181">
                <a:extLst>
                  <a:ext uri="{FF2B5EF4-FFF2-40B4-BE49-F238E27FC236}">
                    <a16:creationId xmlns:a16="http://schemas.microsoft.com/office/drawing/2014/main" id="{9465ADF4-B3A3-DE8D-2137-EC3B0A50FD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1" name="Group 182">
                <a:extLst>
                  <a:ext uri="{FF2B5EF4-FFF2-40B4-BE49-F238E27FC236}">
                    <a16:creationId xmlns:a16="http://schemas.microsoft.com/office/drawing/2014/main" id="{20B1F9B4-086E-3114-F62D-DC00FB04E5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325"/>
                <a:ext cx="586" cy="138"/>
                <a:chOff x="609" y="2566"/>
                <a:chExt cx="730" cy="138"/>
              </a:xfrm>
            </p:grpSpPr>
            <p:sp>
              <p:nvSpPr>
                <p:cNvPr id="93" name="AutoShape 183">
                  <a:extLst>
                    <a:ext uri="{FF2B5EF4-FFF2-40B4-BE49-F238E27FC236}">
                      <a16:creationId xmlns:a16="http://schemas.microsoft.com/office/drawing/2014/main" id="{FD759D30-23D7-B063-E469-30060CA807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" y="2566"/>
                  <a:ext cx="73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4" name="AutoShape 184">
                  <a:extLst>
                    <a:ext uri="{FF2B5EF4-FFF2-40B4-BE49-F238E27FC236}">
                      <a16:creationId xmlns:a16="http://schemas.microsoft.com/office/drawing/2014/main" id="{62ECDFD0-E36B-C558-56F4-0F48A69A10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2" y="2584"/>
                  <a:ext cx="705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82" name="Rectangle 185">
                <a:extLst>
                  <a:ext uri="{FF2B5EF4-FFF2-40B4-BE49-F238E27FC236}">
                    <a16:creationId xmlns:a16="http://schemas.microsoft.com/office/drawing/2014/main" id="{B4FAA837-2A96-9DBE-1D45-CD920F58E3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8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3" name="Freeform 186">
                <a:extLst>
                  <a:ext uri="{FF2B5EF4-FFF2-40B4-BE49-F238E27FC236}">
                    <a16:creationId xmlns:a16="http://schemas.microsoft.com/office/drawing/2014/main" id="{4CA83669-A6D6-AD72-A621-9C4FF3CE4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" name="Freeform 187">
                <a:extLst>
                  <a:ext uri="{FF2B5EF4-FFF2-40B4-BE49-F238E27FC236}">
                    <a16:creationId xmlns:a16="http://schemas.microsoft.com/office/drawing/2014/main" id="{52E1B389-C32E-2167-1309-675508BF13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" name="Oval 188">
                <a:extLst>
                  <a:ext uri="{FF2B5EF4-FFF2-40B4-BE49-F238E27FC236}">
                    <a16:creationId xmlns:a16="http://schemas.microsoft.com/office/drawing/2014/main" id="{7EDB29E6-2292-1AA5-F840-6EE499CA3B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6" name="Freeform 189">
                <a:extLst>
                  <a:ext uri="{FF2B5EF4-FFF2-40B4-BE49-F238E27FC236}">
                    <a16:creationId xmlns:a16="http://schemas.microsoft.com/office/drawing/2014/main" id="{632BCCE9-5106-B5C6-A882-E51BF368D9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" name="AutoShape 190">
                <a:extLst>
                  <a:ext uri="{FF2B5EF4-FFF2-40B4-BE49-F238E27FC236}">
                    <a16:creationId xmlns:a16="http://schemas.microsoft.com/office/drawing/2014/main" id="{D180FDC7-88BF-AE2C-7656-5DAF7262E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1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8" name="AutoShape 191">
                <a:extLst>
                  <a:ext uri="{FF2B5EF4-FFF2-40B4-BE49-F238E27FC236}">
                    <a16:creationId xmlns:a16="http://schemas.microsoft.com/office/drawing/2014/main" id="{A56F1E12-A2F4-59DF-4D00-515861EBB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4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9" name="Oval 192">
                <a:extLst>
                  <a:ext uri="{FF2B5EF4-FFF2-40B4-BE49-F238E27FC236}">
                    <a16:creationId xmlns:a16="http://schemas.microsoft.com/office/drawing/2014/main" id="{2C3391CC-2E28-E69E-C1C8-B2C45B8281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6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" name="Oval 193">
                <a:extLst>
                  <a:ext uri="{FF2B5EF4-FFF2-40B4-BE49-F238E27FC236}">
                    <a16:creationId xmlns:a16="http://schemas.microsoft.com/office/drawing/2014/main" id="{9926A3FB-C51A-384D-CF3F-124FC1575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2" y="2385"/>
                <a:ext cx="166" cy="1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91" name="Oval 194">
                <a:extLst>
                  <a:ext uri="{FF2B5EF4-FFF2-40B4-BE49-F238E27FC236}">
                    <a16:creationId xmlns:a16="http://schemas.microsoft.com/office/drawing/2014/main" id="{5E2DC75C-DA20-D3D9-80BE-0661038DAC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7" y="2377"/>
                <a:ext cx="166" cy="14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2" name="Rectangle 195">
                <a:extLst>
                  <a:ext uri="{FF2B5EF4-FFF2-40B4-BE49-F238E27FC236}">
                    <a16:creationId xmlns:a16="http://schemas.microsoft.com/office/drawing/2014/main" id="{862349BD-CBEE-1127-9EC3-374B704A98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8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" name="Line 57">
              <a:extLst>
                <a:ext uri="{FF2B5EF4-FFF2-40B4-BE49-F238E27FC236}">
                  <a16:creationId xmlns:a16="http://schemas.microsoft.com/office/drawing/2014/main" id="{7E93C763-AC43-53F7-F7DD-2EFAC738E4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3848" y="5611165"/>
              <a:ext cx="82220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" name="Line 57">
              <a:extLst>
                <a:ext uri="{FF2B5EF4-FFF2-40B4-BE49-F238E27FC236}">
                  <a16:creationId xmlns:a16="http://schemas.microsoft.com/office/drawing/2014/main" id="{C2EAC8F2-A95D-211E-5FF0-3C0DF2D629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28566" y="4743658"/>
              <a:ext cx="4397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" name="Line 57">
              <a:extLst>
                <a:ext uri="{FF2B5EF4-FFF2-40B4-BE49-F238E27FC236}">
                  <a16:creationId xmlns:a16="http://schemas.microsoft.com/office/drawing/2014/main" id="{F413E69E-A868-9B18-7F97-8F10DE3F35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7132" y="5613510"/>
              <a:ext cx="4397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C8875B1-A438-E9F1-7AAE-6AE3C5A89ABA}"/>
                </a:ext>
              </a:extLst>
            </p:cNvPr>
            <p:cNvSpPr txBox="1"/>
            <p:nvPr/>
          </p:nvSpPr>
          <p:spPr>
            <a:xfrm>
              <a:off x="5832982" y="4783764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F25769B-50A4-8D4F-FE4A-1E5CB399A8C5}"/>
                </a:ext>
              </a:extLst>
            </p:cNvPr>
            <p:cNvGrpSpPr/>
            <p:nvPr/>
          </p:nvGrpSpPr>
          <p:grpSpPr>
            <a:xfrm>
              <a:off x="4945685" y="5127241"/>
              <a:ext cx="289189" cy="57150"/>
              <a:chOff x="7677150" y="3546475"/>
              <a:chExt cx="304800" cy="5715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7CA34B5E-7D58-DA47-EC36-B7167CAA635B}"/>
                  </a:ext>
                </a:extLst>
              </p:cNvPr>
              <p:cNvSpPr/>
              <p:nvPr/>
            </p:nvSpPr>
            <p:spPr>
              <a:xfrm>
                <a:off x="7924800" y="3546475"/>
                <a:ext cx="57150" cy="5715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33A70F9F-E03C-7616-1719-51F13375F985}"/>
                  </a:ext>
                </a:extLst>
              </p:cNvPr>
              <p:cNvSpPr/>
              <p:nvPr/>
            </p:nvSpPr>
            <p:spPr>
              <a:xfrm>
                <a:off x="7842250" y="3546475"/>
                <a:ext cx="57150" cy="571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3D98700C-9E90-267D-7F65-5D59C1BB20E4}"/>
                  </a:ext>
                </a:extLst>
              </p:cNvPr>
              <p:cNvSpPr/>
              <p:nvPr/>
            </p:nvSpPr>
            <p:spPr>
              <a:xfrm>
                <a:off x="7759700" y="3546475"/>
                <a:ext cx="57150" cy="5715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EF16D09-9F30-99CB-2C65-DCC594D342AC}"/>
                  </a:ext>
                </a:extLst>
              </p:cNvPr>
              <p:cNvSpPr/>
              <p:nvPr/>
            </p:nvSpPr>
            <p:spPr>
              <a:xfrm>
                <a:off x="7677150" y="3546475"/>
                <a:ext cx="57150" cy="5715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BDAFAA3-653C-65DA-02DB-C99DB537F4F1}"/>
                </a:ext>
              </a:extLst>
            </p:cNvPr>
            <p:cNvSpPr txBox="1"/>
            <p:nvPr/>
          </p:nvSpPr>
          <p:spPr>
            <a:xfrm>
              <a:off x="4281837" y="4348296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1" name="Line 53">
              <a:extLst>
                <a:ext uri="{FF2B5EF4-FFF2-40B4-BE49-F238E27FC236}">
                  <a16:creationId xmlns:a16="http://schemas.microsoft.com/office/drawing/2014/main" id="{E7541D14-8932-F61D-69AE-792279AA62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37347" y="5242141"/>
              <a:ext cx="7176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" name="Line 33">
              <a:extLst>
                <a:ext uri="{FF2B5EF4-FFF2-40B4-BE49-F238E27FC236}">
                  <a16:creationId xmlns:a16="http://schemas.microsoft.com/office/drawing/2014/main" id="{9AA4B99C-EE81-F1FB-1544-DD97359D24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1495" y="4742375"/>
              <a:ext cx="326807" cy="3065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B8C82A6-BB16-F03A-02A0-6A7FC60B4E50}"/>
                </a:ext>
              </a:extLst>
            </p:cNvPr>
            <p:cNvSpPr txBox="1"/>
            <p:nvPr/>
          </p:nvSpPr>
          <p:spPr>
            <a:xfrm>
              <a:off x="3527218" y="5589195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3755DCA-3540-F0B8-A9BC-C95A3E6DB078}"/>
                </a:ext>
              </a:extLst>
            </p:cNvPr>
            <p:cNvGrpSpPr/>
            <p:nvPr/>
          </p:nvGrpSpPr>
          <p:grpSpPr>
            <a:xfrm>
              <a:off x="6446205" y="5096034"/>
              <a:ext cx="355535" cy="62136"/>
              <a:chOff x="7786941" y="3054383"/>
              <a:chExt cx="897649" cy="170569"/>
            </a:xfrm>
          </p:grpSpPr>
          <p:sp>
            <p:nvSpPr>
              <p:cNvPr id="45" name="Freeform 31">
                <a:extLst>
                  <a:ext uri="{FF2B5EF4-FFF2-40B4-BE49-F238E27FC236}">
                    <a16:creationId xmlns:a16="http://schemas.microsoft.com/office/drawing/2014/main" id="{258EE95B-911B-3733-2902-18DB3B2CAFE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Freeform 32">
                <a:extLst>
                  <a:ext uri="{FF2B5EF4-FFF2-40B4-BE49-F238E27FC236}">
                    <a16:creationId xmlns:a16="http://schemas.microsoft.com/office/drawing/2014/main" id="{7832FD17-6891-9CB4-2B14-49BEED055E0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C67278D-05C0-875B-D440-67CAD75FB204}"/>
                </a:ext>
              </a:extLst>
            </p:cNvPr>
            <p:cNvSpPr txBox="1"/>
            <p:nvPr/>
          </p:nvSpPr>
          <p:spPr>
            <a:xfrm>
              <a:off x="6825052" y="4305786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742FB4A-4F68-04A4-8F3C-C9295FFA0D4F}"/>
                </a:ext>
              </a:extLst>
            </p:cNvPr>
            <p:cNvSpPr txBox="1"/>
            <p:nvPr/>
          </p:nvSpPr>
          <p:spPr>
            <a:xfrm>
              <a:off x="6236360" y="5621230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64" name="Text Box 42">
              <a:extLst>
                <a:ext uri="{FF2B5EF4-FFF2-40B4-BE49-F238E27FC236}">
                  <a16:creationId xmlns:a16="http://schemas.microsoft.com/office/drawing/2014/main" id="{6D8F87E0-745B-95C7-D7F3-36957826C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6102" y="4497125"/>
              <a:ext cx="1059047" cy="31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Router</a:t>
              </a:r>
              <a:endParaRPr kumimoji="0" lang="en-US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6" name="Text Box 42">
              <a:extLst>
                <a:ext uri="{FF2B5EF4-FFF2-40B4-BE49-F238E27FC236}">
                  <a16:creationId xmlns:a16="http://schemas.microsoft.com/office/drawing/2014/main" id="{DD60DF85-7E61-B97C-D85A-D25F83CA07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3390" y="3514305"/>
              <a:ext cx="913861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C</a:t>
              </a:r>
              <a:endPara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96DD4292-6CC0-BDEA-F630-BBC8183457AD}"/>
                </a:ext>
              </a:extLst>
            </p:cNvPr>
            <p:cNvGrpSpPr/>
            <p:nvPr/>
          </p:nvGrpSpPr>
          <p:grpSpPr>
            <a:xfrm>
              <a:off x="3332601" y="3747473"/>
              <a:ext cx="4214816" cy="1590545"/>
              <a:chOff x="2604009" y="3984345"/>
              <a:chExt cx="4214816" cy="1590545"/>
            </a:xfrm>
          </p:grpSpPr>
          <p:sp>
            <p:nvSpPr>
              <p:cNvPr id="169" name="Text Box 32">
                <a:extLst>
                  <a:ext uri="{FF2B5EF4-FFF2-40B4-BE49-F238E27FC236}">
                    <a16:creationId xmlns:a16="http://schemas.microsoft.com/office/drawing/2014/main" id="{26D34408-5C73-F087-AD5F-C2348356E7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4009" y="3984345"/>
                <a:ext cx="4214816" cy="517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b="1">
                    <a:latin typeface="Arial" panose="020B0604020202020204" pitchFamily="34" charset="0"/>
                  </a:rPr>
                  <a:t>Packets are queued in the router</a:t>
                </a:r>
                <a:endParaRPr kumimoji="0" lang="en-US" altLang="en-US" sz="1200" b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0" name="Line 77">
                <a:extLst>
                  <a:ext uri="{FF2B5EF4-FFF2-40B4-BE49-F238E27FC236}">
                    <a16:creationId xmlns:a16="http://schemas.microsoft.com/office/drawing/2014/main" id="{669B00D8-16C8-554E-3CB5-059633244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01147" y="4400484"/>
                <a:ext cx="410270" cy="8062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8B5662A8-00BE-1CF9-E82F-B377AF293FF9}"/>
                  </a:ext>
                </a:extLst>
              </p:cNvPr>
              <p:cNvGrpSpPr/>
              <p:nvPr/>
            </p:nvGrpSpPr>
            <p:grpSpPr>
              <a:xfrm>
                <a:off x="4030362" y="5218953"/>
                <a:ext cx="821858" cy="355937"/>
                <a:chOff x="6859123" y="5156933"/>
                <a:chExt cx="456701" cy="226548"/>
              </a:xfrm>
            </p:grpSpPr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46C19759-4769-1A3C-9881-C6F79DF35BAE}"/>
                    </a:ext>
                  </a:extLst>
                </p:cNvPr>
                <p:cNvSpPr/>
                <p:nvPr/>
              </p:nvSpPr>
              <p:spPr>
                <a:xfrm>
                  <a:off x="6859123" y="5156933"/>
                  <a:ext cx="456701" cy="226548"/>
                </a:xfrm>
                <a:prstGeom prst="rect">
                  <a:avLst/>
                </a:prstGeom>
                <a:solidFill>
                  <a:srgbClr val="F989B2"/>
                </a:solidFill>
                <a:ln w="222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084F7144-4D0D-34F5-EA9A-ACB3F6CCFC55}"/>
                    </a:ext>
                  </a:extLst>
                </p:cNvPr>
                <p:cNvCxnSpPr/>
                <p:nvPr/>
              </p:nvCxnSpPr>
              <p:spPr>
                <a:xfrm flipV="1">
                  <a:off x="7249115" y="5189971"/>
                  <a:ext cx="0" cy="155752"/>
                </a:xfrm>
                <a:prstGeom prst="line">
                  <a:avLst/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51329DB9-5944-60B2-C049-759667A10FAE}"/>
                    </a:ext>
                  </a:extLst>
                </p:cNvPr>
                <p:cNvCxnSpPr/>
                <p:nvPr/>
              </p:nvCxnSpPr>
              <p:spPr>
                <a:xfrm flipV="1">
                  <a:off x="7197800" y="5189971"/>
                  <a:ext cx="0" cy="155752"/>
                </a:xfrm>
                <a:prstGeom prst="line">
                  <a:avLst/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740D9DAF-DF4E-79B9-DA8D-756F932DE07E}"/>
                    </a:ext>
                  </a:extLst>
                </p:cNvPr>
                <p:cNvCxnSpPr/>
                <p:nvPr/>
              </p:nvCxnSpPr>
              <p:spPr>
                <a:xfrm flipV="1">
                  <a:off x="7146485" y="5189971"/>
                  <a:ext cx="0" cy="155752"/>
                </a:xfrm>
                <a:prstGeom prst="line">
                  <a:avLst/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1F1C4AD3-DDA8-9B11-0DBE-4DBC64BCA1FC}"/>
                    </a:ext>
                  </a:extLst>
                </p:cNvPr>
                <p:cNvCxnSpPr/>
                <p:nvPr/>
              </p:nvCxnSpPr>
              <p:spPr>
                <a:xfrm flipV="1">
                  <a:off x="7095171" y="5189971"/>
                  <a:ext cx="0" cy="155752"/>
                </a:xfrm>
                <a:prstGeom prst="line">
                  <a:avLst/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88E75F93-B5E4-0BA6-E296-B37BE67EBC35}"/>
                    </a:ext>
                  </a:extLst>
                </p:cNvPr>
                <p:cNvCxnSpPr/>
                <p:nvPr/>
              </p:nvCxnSpPr>
              <p:spPr>
                <a:xfrm flipV="1">
                  <a:off x="7043856" y="5189971"/>
                  <a:ext cx="0" cy="155752"/>
                </a:xfrm>
                <a:prstGeom prst="line">
                  <a:avLst/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C2D9804D-C403-C055-460D-2C4BFE0F2B40}"/>
                    </a:ext>
                  </a:extLst>
                </p:cNvPr>
                <p:cNvCxnSpPr/>
                <p:nvPr/>
              </p:nvCxnSpPr>
              <p:spPr>
                <a:xfrm flipV="1">
                  <a:off x="6992541" y="5189971"/>
                  <a:ext cx="0" cy="155752"/>
                </a:xfrm>
                <a:prstGeom prst="line">
                  <a:avLst/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655E34EA-9354-3519-3335-508C1F8D8205}"/>
                    </a:ext>
                  </a:extLst>
                </p:cNvPr>
                <p:cNvCxnSpPr/>
                <p:nvPr/>
              </p:nvCxnSpPr>
              <p:spPr>
                <a:xfrm flipV="1">
                  <a:off x="6941227" y="5189971"/>
                  <a:ext cx="0" cy="155752"/>
                </a:xfrm>
                <a:prstGeom prst="line">
                  <a:avLst/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7" name="Text Box 52">
              <a:extLst>
                <a:ext uri="{FF2B5EF4-FFF2-40B4-BE49-F238E27FC236}">
                  <a16:creationId xmlns:a16="http://schemas.microsoft.com/office/drawing/2014/main" id="{9746D87F-73B1-BACC-F922-4FF14FB391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0143" y="5843543"/>
              <a:ext cx="1020701" cy="258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13A3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D</a:t>
              </a:r>
              <a:endPara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Freeform 91">
              <a:extLst>
                <a:ext uri="{FF2B5EF4-FFF2-40B4-BE49-F238E27FC236}">
                  <a16:creationId xmlns:a16="http://schemas.microsoft.com/office/drawing/2014/main" id="{2B9BEA32-BB3B-AAB5-C7C6-4BD9070F6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7496" y="3836242"/>
              <a:ext cx="3922463" cy="1276350"/>
            </a:xfrm>
            <a:custGeom>
              <a:avLst/>
              <a:gdLst>
                <a:gd name="T0" fmla="*/ 0 w 2160"/>
                <a:gd name="T1" fmla="*/ 0 h 804"/>
                <a:gd name="T2" fmla="*/ 0 w 2160"/>
                <a:gd name="T3" fmla="*/ 2147483647 h 804"/>
                <a:gd name="T4" fmla="*/ 2147483647 w 2160"/>
                <a:gd name="T5" fmla="*/ 2147483647 h 804"/>
                <a:gd name="T6" fmla="*/ 2147483647 w 2160"/>
                <a:gd name="T7" fmla="*/ 2147483647 h 804"/>
                <a:gd name="T8" fmla="*/ 2147483647 w 2160"/>
                <a:gd name="T9" fmla="*/ 2147483647 h 804"/>
                <a:gd name="T10" fmla="*/ 2147483647 w 2160"/>
                <a:gd name="T11" fmla="*/ 2147483647 h 804"/>
                <a:gd name="T12" fmla="*/ 2147483647 w 2160"/>
                <a:gd name="T13" fmla="*/ 2147483647 h 804"/>
                <a:gd name="T14" fmla="*/ 2147483647 w 2160"/>
                <a:gd name="T15" fmla="*/ 2147483647 h 8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connsiteX0" fmla="*/ 0 w 10000"/>
                <a:gd name="connsiteY0" fmla="*/ 0 h 10000"/>
                <a:gd name="connsiteX1" fmla="*/ 0 w 10000"/>
                <a:gd name="connsiteY1" fmla="*/ 7388 h 10000"/>
                <a:gd name="connsiteX2" fmla="*/ 1861 w 10000"/>
                <a:gd name="connsiteY2" fmla="*/ 7463 h 10000"/>
                <a:gd name="connsiteX3" fmla="*/ 1000 w 10000"/>
                <a:gd name="connsiteY3" fmla="*/ 10000 h 10000"/>
                <a:gd name="connsiteX4" fmla="*/ 7244 w 10000"/>
                <a:gd name="connsiteY4" fmla="*/ 10000 h 10000"/>
                <a:gd name="connsiteX5" fmla="*/ 8194 w 10000"/>
                <a:gd name="connsiteY5" fmla="*/ 6517 h 10000"/>
                <a:gd name="connsiteX6" fmla="*/ 10000 w 10000"/>
                <a:gd name="connsiteY6" fmla="*/ 6418 h 10000"/>
                <a:gd name="connsiteX7" fmla="*/ 10000 w 10000"/>
                <a:gd name="connsiteY7" fmla="*/ 597 h 10000"/>
                <a:gd name="connsiteX0" fmla="*/ 0 w 10000"/>
                <a:gd name="connsiteY0" fmla="*/ 0 h 10000"/>
                <a:gd name="connsiteX1" fmla="*/ 0 w 10000"/>
                <a:gd name="connsiteY1" fmla="*/ 7388 h 10000"/>
                <a:gd name="connsiteX2" fmla="*/ 1861 w 10000"/>
                <a:gd name="connsiteY2" fmla="*/ 7463 h 10000"/>
                <a:gd name="connsiteX3" fmla="*/ 1000 w 10000"/>
                <a:gd name="connsiteY3" fmla="*/ 10000 h 10000"/>
                <a:gd name="connsiteX4" fmla="*/ 7244 w 10000"/>
                <a:gd name="connsiteY4" fmla="*/ 10000 h 10000"/>
                <a:gd name="connsiteX5" fmla="*/ 8403 w 10000"/>
                <a:gd name="connsiteY5" fmla="*/ 6686 h 10000"/>
                <a:gd name="connsiteX6" fmla="*/ 10000 w 10000"/>
                <a:gd name="connsiteY6" fmla="*/ 6418 h 10000"/>
                <a:gd name="connsiteX7" fmla="*/ 10000 w 10000"/>
                <a:gd name="connsiteY7" fmla="*/ 597 h 10000"/>
                <a:gd name="connsiteX0" fmla="*/ 0 w 10000"/>
                <a:gd name="connsiteY0" fmla="*/ 0 h 10000"/>
                <a:gd name="connsiteX1" fmla="*/ 0 w 10000"/>
                <a:gd name="connsiteY1" fmla="*/ 7388 h 10000"/>
                <a:gd name="connsiteX2" fmla="*/ 1861 w 10000"/>
                <a:gd name="connsiteY2" fmla="*/ 7463 h 10000"/>
                <a:gd name="connsiteX3" fmla="*/ 1000 w 10000"/>
                <a:gd name="connsiteY3" fmla="*/ 10000 h 10000"/>
                <a:gd name="connsiteX4" fmla="*/ 7244 w 10000"/>
                <a:gd name="connsiteY4" fmla="*/ 10000 h 10000"/>
                <a:gd name="connsiteX5" fmla="*/ 8403 w 10000"/>
                <a:gd name="connsiteY5" fmla="*/ 6686 h 10000"/>
                <a:gd name="connsiteX6" fmla="*/ 10000 w 10000"/>
                <a:gd name="connsiteY6" fmla="*/ 6688 h 10000"/>
                <a:gd name="connsiteX7" fmla="*/ 10000 w 10000"/>
                <a:gd name="connsiteY7" fmla="*/ 597 h 10000"/>
                <a:gd name="connsiteX0" fmla="*/ 0 w 10000"/>
                <a:gd name="connsiteY0" fmla="*/ 0 h 10000"/>
                <a:gd name="connsiteX1" fmla="*/ 0 w 10000"/>
                <a:gd name="connsiteY1" fmla="*/ 7388 h 10000"/>
                <a:gd name="connsiteX2" fmla="*/ 1861 w 10000"/>
                <a:gd name="connsiteY2" fmla="*/ 7463 h 10000"/>
                <a:gd name="connsiteX3" fmla="*/ 1000 w 10000"/>
                <a:gd name="connsiteY3" fmla="*/ 10000 h 10000"/>
                <a:gd name="connsiteX4" fmla="*/ 7244 w 10000"/>
                <a:gd name="connsiteY4" fmla="*/ 10000 h 10000"/>
                <a:gd name="connsiteX5" fmla="*/ 8403 w 10000"/>
                <a:gd name="connsiteY5" fmla="*/ 6686 h 10000"/>
                <a:gd name="connsiteX6" fmla="*/ 10000 w 10000"/>
                <a:gd name="connsiteY6" fmla="*/ 6587 h 10000"/>
                <a:gd name="connsiteX7" fmla="*/ 10000 w 10000"/>
                <a:gd name="connsiteY7" fmla="*/ 597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0" y="7388"/>
                  </a:lnTo>
                  <a:lnTo>
                    <a:pt x="1861" y="7463"/>
                  </a:lnTo>
                  <a:lnTo>
                    <a:pt x="1000" y="10000"/>
                  </a:lnTo>
                  <a:lnTo>
                    <a:pt x="7244" y="10000"/>
                  </a:lnTo>
                  <a:lnTo>
                    <a:pt x="8403" y="6686"/>
                  </a:lnTo>
                  <a:lnTo>
                    <a:pt x="10000" y="6587"/>
                  </a:lnTo>
                  <a:lnTo>
                    <a:pt x="10000" y="597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B8F51F1-D0C3-EB84-C2F7-9757BF72C700}"/>
                </a:ext>
              </a:extLst>
            </p:cNvPr>
            <p:cNvGrpSpPr/>
            <p:nvPr/>
          </p:nvGrpSpPr>
          <p:grpSpPr>
            <a:xfrm>
              <a:off x="2876897" y="4660130"/>
              <a:ext cx="4591310" cy="1028700"/>
              <a:chOff x="5641439" y="2685215"/>
              <a:chExt cx="4000500" cy="1028700"/>
            </a:xfrm>
          </p:grpSpPr>
          <p:sp>
            <p:nvSpPr>
              <p:cNvPr id="39" name="Oval 73">
                <a:extLst>
                  <a:ext uri="{FF2B5EF4-FFF2-40B4-BE49-F238E27FC236}">
                    <a16:creationId xmlns:a16="http://schemas.microsoft.com/office/drawing/2014/main" id="{BAC60446-6197-7BF6-3BE3-4BABB1D80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1439" y="2685215"/>
                <a:ext cx="92075" cy="90487"/>
              </a:xfrm>
              <a:prstGeom prst="ellipse">
                <a:avLst/>
              </a:prstGeom>
              <a:solidFill>
                <a:srgbClr val="0013A3"/>
              </a:solidFill>
              <a:ln w="9525">
                <a:solidFill>
                  <a:srgbClr val="0013A3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" name="Freeform 90">
                <a:extLst>
                  <a:ext uri="{FF2B5EF4-FFF2-40B4-BE49-F238E27FC236}">
                    <a16:creationId xmlns:a16="http://schemas.microsoft.com/office/drawing/2014/main" id="{4E161E6B-C52D-C7A7-8A8D-105E941279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9064" y="2761415"/>
                <a:ext cx="3952875" cy="952500"/>
              </a:xfrm>
              <a:custGeom>
                <a:avLst/>
                <a:gdLst>
                  <a:gd name="T0" fmla="*/ 0 w 6225"/>
                  <a:gd name="T1" fmla="*/ 0 h 1501"/>
                  <a:gd name="T2" fmla="*/ 0 w 6225"/>
                  <a:gd name="T3" fmla="*/ 2147483647 h 1501"/>
                  <a:gd name="T4" fmla="*/ 2147483647 w 6225"/>
                  <a:gd name="T5" fmla="*/ 2147483647 h 1501"/>
                  <a:gd name="T6" fmla="*/ 2147483647 w 6225"/>
                  <a:gd name="T7" fmla="*/ 2147483647 h 1501"/>
                  <a:gd name="T8" fmla="*/ 2147483647 w 6225"/>
                  <a:gd name="T9" fmla="*/ 2147483647 h 1501"/>
                  <a:gd name="T10" fmla="*/ 2147483647 w 6225"/>
                  <a:gd name="T11" fmla="*/ 2147483647 h 1501"/>
                  <a:gd name="T12" fmla="*/ 2147483647 w 6225"/>
                  <a:gd name="T13" fmla="*/ 2147483647 h 1501"/>
                  <a:gd name="T14" fmla="*/ 2147483647 w 6225"/>
                  <a:gd name="T15" fmla="*/ 2147483647 h 150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connsiteX0" fmla="*/ 0 w 10000"/>
                  <a:gd name="connsiteY0" fmla="*/ 0 h 10000"/>
                  <a:gd name="connsiteX1" fmla="*/ 0 w 10000"/>
                  <a:gd name="connsiteY1" fmla="*/ 9900 h 10000"/>
                  <a:gd name="connsiteX2" fmla="*/ 1614 w 10000"/>
                  <a:gd name="connsiteY2" fmla="*/ 10000 h 10000"/>
                  <a:gd name="connsiteX3" fmla="*/ 2988 w 10000"/>
                  <a:gd name="connsiteY3" fmla="*/ 4704 h 10000"/>
                  <a:gd name="connsiteX4" fmla="*/ 8169 w 10000"/>
                  <a:gd name="connsiteY4" fmla="*/ 4803 h 10000"/>
                  <a:gd name="connsiteX5" fmla="*/ 7125 w 10000"/>
                  <a:gd name="connsiteY5" fmla="*/ 9609 h 10000"/>
                  <a:gd name="connsiteX6" fmla="*/ 10000 w 10000"/>
                  <a:gd name="connsiteY6" fmla="*/ 9700 h 10000"/>
                  <a:gd name="connsiteX7" fmla="*/ 9992 w 10000"/>
                  <a:gd name="connsiteY7" fmla="*/ 2605 h 10000"/>
                  <a:gd name="connsiteX0" fmla="*/ 0 w 10000"/>
                  <a:gd name="connsiteY0" fmla="*/ 0 h 10000"/>
                  <a:gd name="connsiteX1" fmla="*/ 0 w 10000"/>
                  <a:gd name="connsiteY1" fmla="*/ 9900 h 10000"/>
                  <a:gd name="connsiteX2" fmla="*/ 1614 w 10000"/>
                  <a:gd name="connsiteY2" fmla="*/ 10000 h 10000"/>
                  <a:gd name="connsiteX3" fmla="*/ 2988 w 10000"/>
                  <a:gd name="connsiteY3" fmla="*/ 4704 h 10000"/>
                  <a:gd name="connsiteX4" fmla="*/ 8169 w 10000"/>
                  <a:gd name="connsiteY4" fmla="*/ 4803 h 10000"/>
                  <a:gd name="connsiteX5" fmla="*/ 6992 w 10000"/>
                  <a:gd name="connsiteY5" fmla="*/ 9654 h 10000"/>
                  <a:gd name="connsiteX6" fmla="*/ 10000 w 10000"/>
                  <a:gd name="connsiteY6" fmla="*/ 9700 h 10000"/>
                  <a:gd name="connsiteX7" fmla="*/ 9992 w 10000"/>
                  <a:gd name="connsiteY7" fmla="*/ 2605 h 10000"/>
                  <a:gd name="connsiteX0" fmla="*/ 0 w 10000"/>
                  <a:gd name="connsiteY0" fmla="*/ 0 h 10000"/>
                  <a:gd name="connsiteX1" fmla="*/ 0 w 10000"/>
                  <a:gd name="connsiteY1" fmla="*/ 9900 h 10000"/>
                  <a:gd name="connsiteX2" fmla="*/ 1614 w 10000"/>
                  <a:gd name="connsiteY2" fmla="*/ 10000 h 10000"/>
                  <a:gd name="connsiteX3" fmla="*/ 2988 w 10000"/>
                  <a:gd name="connsiteY3" fmla="*/ 4704 h 10000"/>
                  <a:gd name="connsiteX4" fmla="*/ 8121 w 10000"/>
                  <a:gd name="connsiteY4" fmla="*/ 4803 h 10000"/>
                  <a:gd name="connsiteX5" fmla="*/ 6992 w 10000"/>
                  <a:gd name="connsiteY5" fmla="*/ 9654 h 10000"/>
                  <a:gd name="connsiteX6" fmla="*/ 10000 w 10000"/>
                  <a:gd name="connsiteY6" fmla="*/ 9700 h 10000"/>
                  <a:gd name="connsiteX7" fmla="*/ 9992 w 10000"/>
                  <a:gd name="connsiteY7" fmla="*/ 2605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000" h="10000">
                    <a:moveTo>
                      <a:pt x="0" y="0"/>
                    </a:moveTo>
                    <a:lnTo>
                      <a:pt x="0" y="9900"/>
                    </a:lnTo>
                    <a:lnTo>
                      <a:pt x="1614" y="10000"/>
                    </a:lnTo>
                    <a:lnTo>
                      <a:pt x="2988" y="4704"/>
                    </a:lnTo>
                    <a:lnTo>
                      <a:pt x="8121" y="4803"/>
                    </a:lnTo>
                    <a:lnTo>
                      <a:pt x="6992" y="9654"/>
                    </a:lnTo>
                    <a:lnTo>
                      <a:pt x="10000" y="9700"/>
                    </a:lnTo>
                    <a:cubicBezTo>
                      <a:pt x="9997" y="7335"/>
                      <a:pt x="9995" y="4970"/>
                      <a:pt x="9992" y="2605"/>
                    </a:cubicBezTo>
                  </a:path>
                </a:pathLst>
              </a:custGeom>
              <a:noFill/>
              <a:ln w="38100" cmpd="sng">
                <a:solidFill>
                  <a:srgbClr val="0013A3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23" name="Freeform 3">
            <a:extLst>
              <a:ext uri="{FF2B5EF4-FFF2-40B4-BE49-F238E27FC236}">
                <a16:creationId xmlns:a16="http://schemas.microsoft.com/office/drawing/2014/main" id="{5A1BDEE9-3BA2-9D92-8CA5-CDFCD80A702E}"/>
              </a:ext>
            </a:extLst>
          </p:cNvPr>
          <p:cNvSpPr>
            <a:spLocks/>
          </p:cNvSpPr>
          <p:nvPr/>
        </p:nvSpPr>
        <p:spPr bwMode="auto">
          <a:xfrm rot="5400000">
            <a:off x="8683510" y="2386258"/>
            <a:ext cx="648005" cy="3222462"/>
          </a:xfrm>
          <a:custGeom>
            <a:avLst/>
            <a:gdLst>
              <a:gd name="T0" fmla="*/ 0 w 1443"/>
              <a:gd name="T1" fmla="*/ 0 h 816"/>
              <a:gd name="T2" fmla="*/ 1076 w 1443"/>
              <a:gd name="T3" fmla="*/ 782 h 816"/>
              <a:gd name="T4" fmla="*/ 1320 w 1443"/>
              <a:gd name="T5" fmla="*/ 788 h 816"/>
              <a:gd name="T6" fmla="*/ 1443 w 1443"/>
              <a:gd name="T7" fmla="*/ 5 h 816"/>
              <a:gd name="T8" fmla="*/ 0 w 1443"/>
              <a:gd name="T9" fmla="*/ 0 h 816"/>
              <a:gd name="connsiteX0" fmla="*/ 0 w 10000"/>
              <a:gd name="connsiteY0" fmla="*/ 0 h 9714"/>
              <a:gd name="connsiteX1" fmla="*/ 3718 w 10000"/>
              <a:gd name="connsiteY1" fmla="*/ 8779 h 9714"/>
              <a:gd name="connsiteX2" fmla="*/ 9148 w 10000"/>
              <a:gd name="connsiteY2" fmla="*/ 9657 h 9714"/>
              <a:gd name="connsiteX3" fmla="*/ 10000 w 10000"/>
              <a:gd name="connsiteY3" fmla="*/ 61 h 9714"/>
              <a:gd name="connsiteX4" fmla="*/ 0 w 10000"/>
              <a:gd name="connsiteY4" fmla="*/ 0 h 9714"/>
              <a:gd name="connsiteX0" fmla="*/ 0 w 10000"/>
              <a:gd name="connsiteY0" fmla="*/ 0 h 9095"/>
              <a:gd name="connsiteX1" fmla="*/ 3718 w 10000"/>
              <a:gd name="connsiteY1" fmla="*/ 9037 h 9095"/>
              <a:gd name="connsiteX2" fmla="*/ 5712 w 10000"/>
              <a:gd name="connsiteY2" fmla="*/ 8929 h 9095"/>
              <a:gd name="connsiteX3" fmla="*/ 10000 w 10000"/>
              <a:gd name="connsiteY3" fmla="*/ 63 h 9095"/>
              <a:gd name="connsiteX4" fmla="*/ 0 w 10000"/>
              <a:gd name="connsiteY4" fmla="*/ 0 h 9095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8989"/>
              <a:gd name="connsiteY0" fmla="*/ 0 h 11618"/>
              <a:gd name="connsiteX1" fmla="*/ 2707 w 8989"/>
              <a:gd name="connsiteY1" fmla="*/ 11554 h 11618"/>
              <a:gd name="connsiteX2" fmla="*/ 4701 w 8989"/>
              <a:gd name="connsiteY2" fmla="*/ 11435 h 11618"/>
              <a:gd name="connsiteX3" fmla="*/ 8989 w 8989"/>
              <a:gd name="connsiteY3" fmla="*/ 1687 h 11618"/>
              <a:gd name="connsiteX4" fmla="*/ 0 w 8989"/>
              <a:gd name="connsiteY4" fmla="*/ 0 h 11618"/>
              <a:gd name="connsiteX0" fmla="*/ 0 w 9888"/>
              <a:gd name="connsiteY0" fmla="*/ 115 h 10115"/>
              <a:gd name="connsiteX1" fmla="*/ 3011 w 9888"/>
              <a:gd name="connsiteY1" fmla="*/ 10060 h 10115"/>
              <a:gd name="connsiteX2" fmla="*/ 5230 w 9888"/>
              <a:gd name="connsiteY2" fmla="*/ 9957 h 10115"/>
              <a:gd name="connsiteX3" fmla="*/ 9888 w 9888"/>
              <a:gd name="connsiteY3" fmla="*/ 0 h 10115"/>
              <a:gd name="connsiteX4" fmla="*/ 0 w 9888"/>
              <a:gd name="connsiteY4" fmla="*/ 115 h 10115"/>
              <a:gd name="connsiteX0" fmla="*/ 0 w 9829"/>
              <a:gd name="connsiteY0" fmla="*/ 0 h 10833"/>
              <a:gd name="connsiteX1" fmla="*/ 2874 w 9829"/>
              <a:gd name="connsiteY1" fmla="*/ 10779 h 10833"/>
              <a:gd name="connsiteX2" fmla="*/ 5118 w 9829"/>
              <a:gd name="connsiteY2" fmla="*/ 10677 h 10833"/>
              <a:gd name="connsiteX3" fmla="*/ 9829 w 9829"/>
              <a:gd name="connsiteY3" fmla="*/ 833 h 10833"/>
              <a:gd name="connsiteX4" fmla="*/ 0 w 9829"/>
              <a:gd name="connsiteY4" fmla="*/ 0 h 10833"/>
              <a:gd name="connsiteX0" fmla="*/ 0 w 10289"/>
              <a:gd name="connsiteY0" fmla="*/ 0 h 10000"/>
              <a:gd name="connsiteX1" fmla="*/ 2924 w 10289"/>
              <a:gd name="connsiteY1" fmla="*/ 9950 h 10000"/>
              <a:gd name="connsiteX2" fmla="*/ 5207 w 10289"/>
              <a:gd name="connsiteY2" fmla="*/ 9856 h 10000"/>
              <a:gd name="connsiteX3" fmla="*/ 10289 w 10289"/>
              <a:gd name="connsiteY3" fmla="*/ 54 h 10000"/>
              <a:gd name="connsiteX4" fmla="*/ 0 w 10289"/>
              <a:gd name="connsiteY4" fmla="*/ 0 h 10000"/>
              <a:gd name="connsiteX0" fmla="*/ 0 w 10289"/>
              <a:gd name="connsiteY0" fmla="*/ 0 h 10953"/>
              <a:gd name="connsiteX1" fmla="*/ 2924 w 10289"/>
              <a:gd name="connsiteY1" fmla="*/ 9950 h 10953"/>
              <a:gd name="connsiteX2" fmla="*/ 3723 w 10289"/>
              <a:gd name="connsiteY2" fmla="*/ 10695 h 10953"/>
              <a:gd name="connsiteX3" fmla="*/ 5207 w 10289"/>
              <a:gd name="connsiteY3" fmla="*/ 9856 h 10953"/>
              <a:gd name="connsiteX4" fmla="*/ 10289 w 10289"/>
              <a:gd name="connsiteY4" fmla="*/ 54 h 10953"/>
              <a:gd name="connsiteX5" fmla="*/ 0 w 10289"/>
              <a:gd name="connsiteY5" fmla="*/ 0 h 10953"/>
              <a:gd name="connsiteX0" fmla="*/ 0 w 10289"/>
              <a:gd name="connsiteY0" fmla="*/ 0 h 11138"/>
              <a:gd name="connsiteX1" fmla="*/ 2924 w 10289"/>
              <a:gd name="connsiteY1" fmla="*/ 9950 h 11138"/>
              <a:gd name="connsiteX2" fmla="*/ 5207 w 10289"/>
              <a:gd name="connsiteY2" fmla="*/ 9856 h 11138"/>
              <a:gd name="connsiteX3" fmla="*/ 10289 w 10289"/>
              <a:gd name="connsiteY3" fmla="*/ 54 h 11138"/>
              <a:gd name="connsiteX4" fmla="*/ 0 w 10289"/>
              <a:gd name="connsiteY4" fmla="*/ 0 h 11138"/>
              <a:gd name="connsiteX0" fmla="*/ 0 w 10289"/>
              <a:gd name="connsiteY0" fmla="*/ 0 h 10669"/>
              <a:gd name="connsiteX1" fmla="*/ 2924 w 10289"/>
              <a:gd name="connsiteY1" fmla="*/ 9950 h 10669"/>
              <a:gd name="connsiteX2" fmla="*/ 5207 w 10289"/>
              <a:gd name="connsiteY2" fmla="*/ 9856 h 10669"/>
              <a:gd name="connsiteX3" fmla="*/ 10289 w 10289"/>
              <a:gd name="connsiteY3" fmla="*/ 54 h 10669"/>
              <a:gd name="connsiteX4" fmla="*/ 0 w 10289"/>
              <a:gd name="connsiteY4" fmla="*/ 0 h 10669"/>
              <a:gd name="connsiteX0" fmla="*/ 0 w 10289"/>
              <a:gd name="connsiteY0" fmla="*/ 0 h 10734"/>
              <a:gd name="connsiteX1" fmla="*/ 2924 w 10289"/>
              <a:gd name="connsiteY1" fmla="*/ 9950 h 10734"/>
              <a:gd name="connsiteX2" fmla="*/ 4455 w 10289"/>
              <a:gd name="connsiteY2" fmla="*/ 10094 h 10734"/>
              <a:gd name="connsiteX3" fmla="*/ 10289 w 10289"/>
              <a:gd name="connsiteY3" fmla="*/ 54 h 10734"/>
              <a:gd name="connsiteX4" fmla="*/ 0 w 10289"/>
              <a:gd name="connsiteY4" fmla="*/ 0 h 10734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9960"/>
              <a:gd name="connsiteX1" fmla="*/ 2924 w 10289"/>
              <a:gd name="connsiteY1" fmla="*/ 9950 h 9960"/>
              <a:gd name="connsiteX2" fmla="*/ 4166 w 10289"/>
              <a:gd name="connsiteY2" fmla="*/ 9776 h 9960"/>
              <a:gd name="connsiteX3" fmla="*/ 10289 w 10289"/>
              <a:gd name="connsiteY3" fmla="*/ 54 h 9960"/>
              <a:gd name="connsiteX4" fmla="*/ 0 w 10289"/>
              <a:gd name="connsiteY4" fmla="*/ 0 h 9960"/>
              <a:gd name="connsiteX0" fmla="*/ 0 w 10000"/>
              <a:gd name="connsiteY0" fmla="*/ 0 h 10000"/>
              <a:gd name="connsiteX1" fmla="*/ 2842 w 10000"/>
              <a:gd name="connsiteY1" fmla="*/ 9990 h 10000"/>
              <a:gd name="connsiteX2" fmla="*/ 4049 w 10000"/>
              <a:gd name="connsiteY2" fmla="*/ 9815 h 10000"/>
              <a:gd name="connsiteX3" fmla="*/ 10000 w 10000"/>
              <a:gd name="connsiteY3" fmla="*/ 54 h 10000"/>
              <a:gd name="connsiteX4" fmla="*/ 0 w 10000"/>
              <a:gd name="connsiteY4" fmla="*/ 0 h 10000"/>
              <a:gd name="connsiteX0" fmla="*/ 0 w 10000"/>
              <a:gd name="connsiteY0" fmla="*/ 0 h 10400"/>
              <a:gd name="connsiteX1" fmla="*/ 2740 w 10000"/>
              <a:gd name="connsiteY1" fmla="*/ 10397 h 10400"/>
              <a:gd name="connsiteX2" fmla="*/ 4049 w 10000"/>
              <a:gd name="connsiteY2" fmla="*/ 9815 h 10400"/>
              <a:gd name="connsiteX3" fmla="*/ 10000 w 10000"/>
              <a:gd name="connsiteY3" fmla="*/ 54 h 10400"/>
              <a:gd name="connsiteX4" fmla="*/ 0 w 10000"/>
              <a:gd name="connsiteY4" fmla="*/ 0 h 10400"/>
              <a:gd name="connsiteX0" fmla="*/ 0 w 10000"/>
              <a:gd name="connsiteY0" fmla="*/ 0 h 10419"/>
              <a:gd name="connsiteX1" fmla="*/ 2740 w 10000"/>
              <a:gd name="connsiteY1" fmla="*/ 10397 h 10419"/>
              <a:gd name="connsiteX2" fmla="*/ 3599 w 10000"/>
              <a:gd name="connsiteY2" fmla="*/ 10338 h 10419"/>
              <a:gd name="connsiteX3" fmla="*/ 10000 w 10000"/>
              <a:gd name="connsiteY3" fmla="*/ 54 h 10419"/>
              <a:gd name="connsiteX4" fmla="*/ 0 w 10000"/>
              <a:gd name="connsiteY4" fmla="*/ 0 h 10419"/>
              <a:gd name="connsiteX0" fmla="*/ 0 w 10000"/>
              <a:gd name="connsiteY0" fmla="*/ 0 h 10397"/>
              <a:gd name="connsiteX1" fmla="*/ 2740 w 10000"/>
              <a:gd name="connsiteY1" fmla="*/ 10397 h 10397"/>
              <a:gd name="connsiteX2" fmla="*/ 3599 w 10000"/>
              <a:gd name="connsiteY2" fmla="*/ 10338 h 10397"/>
              <a:gd name="connsiteX3" fmla="*/ 10000 w 10000"/>
              <a:gd name="connsiteY3" fmla="*/ 54 h 10397"/>
              <a:gd name="connsiteX4" fmla="*/ 0 w 10000"/>
              <a:gd name="connsiteY4" fmla="*/ 0 h 10397"/>
              <a:gd name="connsiteX0" fmla="*/ 0 w 10614"/>
              <a:gd name="connsiteY0" fmla="*/ 0 h 10397"/>
              <a:gd name="connsiteX1" fmla="*/ 2740 w 10614"/>
              <a:gd name="connsiteY1" fmla="*/ 10397 h 10397"/>
              <a:gd name="connsiteX2" fmla="*/ 3599 w 10614"/>
              <a:gd name="connsiteY2" fmla="*/ 10338 h 10397"/>
              <a:gd name="connsiteX3" fmla="*/ 10614 w 10614"/>
              <a:gd name="connsiteY3" fmla="*/ 112 h 10397"/>
              <a:gd name="connsiteX4" fmla="*/ 0 w 10614"/>
              <a:gd name="connsiteY4" fmla="*/ 0 h 10397"/>
              <a:gd name="connsiteX0" fmla="*/ 0 w 10614"/>
              <a:gd name="connsiteY0" fmla="*/ 0 h 10397"/>
              <a:gd name="connsiteX1" fmla="*/ 2740 w 10614"/>
              <a:gd name="connsiteY1" fmla="*/ 10397 h 10397"/>
              <a:gd name="connsiteX2" fmla="*/ 3599 w 10614"/>
              <a:gd name="connsiteY2" fmla="*/ 10338 h 10397"/>
              <a:gd name="connsiteX3" fmla="*/ 10614 w 10614"/>
              <a:gd name="connsiteY3" fmla="*/ 112 h 10397"/>
              <a:gd name="connsiteX4" fmla="*/ 0 w 10614"/>
              <a:gd name="connsiteY4" fmla="*/ 0 h 10397"/>
              <a:gd name="connsiteX0" fmla="*/ 0 w 10675"/>
              <a:gd name="connsiteY0" fmla="*/ 0 h 10310"/>
              <a:gd name="connsiteX1" fmla="*/ 2801 w 10675"/>
              <a:gd name="connsiteY1" fmla="*/ 10310 h 10310"/>
              <a:gd name="connsiteX2" fmla="*/ 3660 w 10675"/>
              <a:gd name="connsiteY2" fmla="*/ 10251 h 10310"/>
              <a:gd name="connsiteX3" fmla="*/ 10675 w 10675"/>
              <a:gd name="connsiteY3" fmla="*/ 25 h 10310"/>
              <a:gd name="connsiteX4" fmla="*/ 0 w 10675"/>
              <a:gd name="connsiteY4" fmla="*/ 0 h 10310"/>
              <a:gd name="connsiteX0" fmla="*/ 0 w 6741"/>
              <a:gd name="connsiteY0" fmla="*/ 0 h 15505"/>
              <a:gd name="connsiteX1" fmla="*/ 2801 w 6741"/>
              <a:gd name="connsiteY1" fmla="*/ 10310 h 15505"/>
              <a:gd name="connsiteX2" fmla="*/ 3660 w 6741"/>
              <a:gd name="connsiteY2" fmla="*/ 10251 h 15505"/>
              <a:gd name="connsiteX3" fmla="*/ 6741 w 6741"/>
              <a:gd name="connsiteY3" fmla="*/ 14932 h 15505"/>
              <a:gd name="connsiteX4" fmla="*/ 0 w 6741"/>
              <a:gd name="connsiteY4" fmla="*/ 0 h 15505"/>
              <a:gd name="connsiteX0" fmla="*/ 5612 w 7164"/>
              <a:gd name="connsiteY0" fmla="*/ 0 h 10410"/>
              <a:gd name="connsiteX1" fmla="*/ 13 w 7164"/>
              <a:gd name="connsiteY1" fmla="*/ 7060 h 10410"/>
              <a:gd name="connsiteX2" fmla="*/ 1287 w 7164"/>
              <a:gd name="connsiteY2" fmla="*/ 7022 h 10410"/>
              <a:gd name="connsiteX3" fmla="*/ 5858 w 7164"/>
              <a:gd name="connsiteY3" fmla="*/ 10041 h 10410"/>
              <a:gd name="connsiteX4" fmla="*/ 5612 w 7164"/>
              <a:gd name="connsiteY4" fmla="*/ 0 h 10410"/>
              <a:gd name="connsiteX0" fmla="*/ 7932 w 10098"/>
              <a:gd name="connsiteY0" fmla="*/ 0 h 10001"/>
              <a:gd name="connsiteX1" fmla="*/ 116 w 10098"/>
              <a:gd name="connsiteY1" fmla="*/ 6782 h 10001"/>
              <a:gd name="connsiteX2" fmla="*/ 1894 w 10098"/>
              <a:gd name="connsiteY2" fmla="*/ 6745 h 10001"/>
              <a:gd name="connsiteX3" fmla="*/ 8275 w 10098"/>
              <a:gd name="connsiteY3" fmla="*/ 9646 h 10001"/>
              <a:gd name="connsiteX4" fmla="*/ 7932 w 10098"/>
              <a:gd name="connsiteY4" fmla="*/ 0 h 10001"/>
              <a:gd name="connsiteX0" fmla="*/ 7932 w 11399"/>
              <a:gd name="connsiteY0" fmla="*/ 0 h 10001"/>
              <a:gd name="connsiteX1" fmla="*/ 116 w 11399"/>
              <a:gd name="connsiteY1" fmla="*/ 6782 h 10001"/>
              <a:gd name="connsiteX2" fmla="*/ 1894 w 11399"/>
              <a:gd name="connsiteY2" fmla="*/ 6745 h 10001"/>
              <a:gd name="connsiteX3" fmla="*/ 8275 w 11399"/>
              <a:gd name="connsiteY3" fmla="*/ 9646 h 10001"/>
              <a:gd name="connsiteX4" fmla="*/ 7932 w 11399"/>
              <a:gd name="connsiteY4" fmla="*/ 0 h 10001"/>
              <a:gd name="connsiteX0" fmla="*/ 7932 w 8463"/>
              <a:gd name="connsiteY0" fmla="*/ 0 h 10001"/>
              <a:gd name="connsiteX1" fmla="*/ 116 w 8463"/>
              <a:gd name="connsiteY1" fmla="*/ 6782 h 10001"/>
              <a:gd name="connsiteX2" fmla="*/ 1894 w 8463"/>
              <a:gd name="connsiteY2" fmla="*/ 6745 h 10001"/>
              <a:gd name="connsiteX3" fmla="*/ 8275 w 8463"/>
              <a:gd name="connsiteY3" fmla="*/ 9646 h 10001"/>
              <a:gd name="connsiteX4" fmla="*/ 7932 w 8463"/>
              <a:gd name="connsiteY4" fmla="*/ 0 h 10001"/>
              <a:gd name="connsiteX0" fmla="*/ 10170 w 10376"/>
              <a:gd name="connsiteY0" fmla="*/ 0 h 9753"/>
              <a:gd name="connsiteX1" fmla="*/ 109 w 10376"/>
              <a:gd name="connsiteY1" fmla="*/ 6534 h 9753"/>
              <a:gd name="connsiteX2" fmla="*/ 2210 w 10376"/>
              <a:gd name="connsiteY2" fmla="*/ 6497 h 9753"/>
              <a:gd name="connsiteX3" fmla="*/ 9750 w 10376"/>
              <a:gd name="connsiteY3" fmla="*/ 9398 h 9753"/>
              <a:gd name="connsiteX4" fmla="*/ 10170 w 10376"/>
              <a:gd name="connsiteY4" fmla="*/ 0 h 9753"/>
              <a:gd name="connsiteX0" fmla="*/ 9801 w 9999"/>
              <a:gd name="connsiteY0" fmla="*/ 0 h 9636"/>
              <a:gd name="connsiteX1" fmla="*/ 105 w 9999"/>
              <a:gd name="connsiteY1" fmla="*/ 6699 h 9636"/>
              <a:gd name="connsiteX2" fmla="*/ 2130 w 9999"/>
              <a:gd name="connsiteY2" fmla="*/ 6662 h 9636"/>
              <a:gd name="connsiteX3" fmla="*/ 9397 w 9999"/>
              <a:gd name="connsiteY3" fmla="*/ 9636 h 9636"/>
              <a:gd name="connsiteX4" fmla="*/ 9801 w 9999"/>
              <a:gd name="connsiteY4" fmla="*/ 0 h 9636"/>
              <a:gd name="connsiteX0" fmla="*/ 9802 w 10000"/>
              <a:gd name="connsiteY0" fmla="*/ 0 h 10000"/>
              <a:gd name="connsiteX1" fmla="*/ 105 w 10000"/>
              <a:gd name="connsiteY1" fmla="*/ 6952 h 10000"/>
              <a:gd name="connsiteX2" fmla="*/ 2130 w 10000"/>
              <a:gd name="connsiteY2" fmla="*/ 6914 h 10000"/>
              <a:gd name="connsiteX3" fmla="*/ 9398 w 10000"/>
              <a:gd name="connsiteY3" fmla="*/ 10000 h 10000"/>
              <a:gd name="connsiteX4" fmla="*/ 9802 w 10000"/>
              <a:gd name="connsiteY4" fmla="*/ 0 h 10000"/>
              <a:gd name="connsiteX0" fmla="*/ 9697 w 9895"/>
              <a:gd name="connsiteY0" fmla="*/ 0 h 10000"/>
              <a:gd name="connsiteX1" fmla="*/ 0 w 9895"/>
              <a:gd name="connsiteY1" fmla="*/ 6952 h 10000"/>
              <a:gd name="connsiteX2" fmla="*/ 2025 w 9895"/>
              <a:gd name="connsiteY2" fmla="*/ 6914 h 10000"/>
              <a:gd name="connsiteX3" fmla="*/ 9293 w 9895"/>
              <a:gd name="connsiteY3" fmla="*/ 10000 h 10000"/>
              <a:gd name="connsiteX4" fmla="*/ 9697 w 9895"/>
              <a:gd name="connsiteY4" fmla="*/ 0 h 10000"/>
              <a:gd name="connsiteX0" fmla="*/ 9800 w 10001"/>
              <a:gd name="connsiteY0" fmla="*/ 0 h 10000"/>
              <a:gd name="connsiteX1" fmla="*/ 0 w 10001"/>
              <a:gd name="connsiteY1" fmla="*/ 6952 h 10000"/>
              <a:gd name="connsiteX2" fmla="*/ 2314 w 10001"/>
              <a:gd name="connsiteY2" fmla="*/ 7860 h 10000"/>
              <a:gd name="connsiteX3" fmla="*/ 9392 w 10001"/>
              <a:gd name="connsiteY3" fmla="*/ 10000 h 10000"/>
              <a:gd name="connsiteX4" fmla="*/ 9800 w 10001"/>
              <a:gd name="connsiteY4" fmla="*/ 0 h 10000"/>
              <a:gd name="connsiteX0" fmla="*/ 9800 w 10001"/>
              <a:gd name="connsiteY0" fmla="*/ 0 h 10000"/>
              <a:gd name="connsiteX1" fmla="*/ 0 w 10001"/>
              <a:gd name="connsiteY1" fmla="*/ 6952 h 10000"/>
              <a:gd name="connsiteX2" fmla="*/ 2314 w 10001"/>
              <a:gd name="connsiteY2" fmla="*/ 7860 h 10000"/>
              <a:gd name="connsiteX3" fmla="*/ 9392 w 10001"/>
              <a:gd name="connsiteY3" fmla="*/ 10000 h 10000"/>
              <a:gd name="connsiteX4" fmla="*/ 9800 w 10001"/>
              <a:gd name="connsiteY4" fmla="*/ 0 h 10000"/>
              <a:gd name="connsiteX0" fmla="*/ 9800 w 10001"/>
              <a:gd name="connsiteY0" fmla="*/ 0 h 10000"/>
              <a:gd name="connsiteX1" fmla="*/ 0 w 10001"/>
              <a:gd name="connsiteY1" fmla="*/ 6952 h 10000"/>
              <a:gd name="connsiteX2" fmla="*/ 2314 w 10001"/>
              <a:gd name="connsiteY2" fmla="*/ 7860 h 10000"/>
              <a:gd name="connsiteX3" fmla="*/ 9392 w 10001"/>
              <a:gd name="connsiteY3" fmla="*/ 10000 h 10000"/>
              <a:gd name="connsiteX4" fmla="*/ 9800 w 10001"/>
              <a:gd name="connsiteY4" fmla="*/ 0 h 10000"/>
              <a:gd name="connsiteX0" fmla="*/ 9800 w 10148"/>
              <a:gd name="connsiteY0" fmla="*/ 0 h 10158"/>
              <a:gd name="connsiteX1" fmla="*/ 0 w 10148"/>
              <a:gd name="connsiteY1" fmla="*/ 6952 h 10158"/>
              <a:gd name="connsiteX2" fmla="*/ 2314 w 10148"/>
              <a:gd name="connsiteY2" fmla="*/ 7860 h 10158"/>
              <a:gd name="connsiteX3" fmla="*/ 9794 w 10148"/>
              <a:gd name="connsiteY3" fmla="*/ 10158 h 10158"/>
              <a:gd name="connsiteX4" fmla="*/ 9800 w 10148"/>
              <a:gd name="connsiteY4" fmla="*/ 0 h 10158"/>
              <a:gd name="connsiteX0" fmla="*/ 9800 w 10148"/>
              <a:gd name="connsiteY0" fmla="*/ 0 h 10158"/>
              <a:gd name="connsiteX1" fmla="*/ 0 w 10148"/>
              <a:gd name="connsiteY1" fmla="*/ 6952 h 10158"/>
              <a:gd name="connsiteX2" fmla="*/ 1653 w 10148"/>
              <a:gd name="connsiteY2" fmla="*/ 8453 h 10158"/>
              <a:gd name="connsiteX3" fmla="*/ 9794 w 10148"/>
              <a:gd name="connsiteY3" fmla="*/ 10158 h 10158"/>
              <a:gd name="connsiteX4" fmla="*/ 9800 w 10148"/>
              <a:gd name="connsiteY4" fmla="*/ 0 h 10158"/>
              <a:gd name="connsiteX0" fmla="*/ 9800 w 10148"/>
              <a:gd name="connsiteY0" fmla="*/ 0 h 10158"/>
              <a:gd name="connsiteX1" fmla="*/ 0 w 10148"/>
              <a:gd name="connsiteY1" fmla="*/ 6952 h 10158"/>
              <a:gd name="connsiteX2" fmla="*/ 1653 w 10148"/>
              <a:gd name="connsiteY2" fmla="*/ 8453 h 10158"/>
              <a:gd name="connsiteX3" fmla="*/ 9794 w 10148"/>
              <a:gd name="connsiteY3" fmla="*/ 10158 h 10158"/>
              <a:gd name="connsiteX4" fmla="*/ 9800 w 10148"/>
              <a:gd name="connsiteY4" fmla="*/ 0 h 10158"/>
              <a:gd name="connsiteX0" fmla="*/ 8194 w 8542"/>
              <a:gd name="connsiteY0" fmla="*/ 0 h 10158"/>
              <a:gd name="connsiteX1" fmla="*/ 0 w 8542"/>
              <a:gd name="connsiteY1" fmla="*/ 7601 h 10158"/>
              <a:gd name="connsiteX2" fmla="*/ 47 w 8542"/>
              <a:gd name="connsiteY2" fmla="*/ 8453 h 10158"/>
              <a:gd name="connsiteX3" fmla="*/ 8188 w 8542"/>
              <a:gd name="connsiteY3" fmla="*/ 10158 h 10158"/>
              <a:gd name="connsiteX4" fmla="*/ 8194 w 8542"/>
              <a:gd name="connsiteY4" fmla="*/ 0 h 10158"/>
              <a:gd name="connsiteX0" fmla="*/ 9538 w 9975"/>
              <a:gd name="connsiteY0" fmla="*/ 0 h 10128"/>
              <a:gd name="connsiteX1" fmla="*/ 0 w 9975"/>
              <a:gd name="connsiteY1" fmla="*/ 7611 h 10128"/>
              <a:gd name="connsiteX2" fmla="*/ 55 w 9975"/>
              <a:gd name="connsiteY2" fmla="*/ 8450 h 10128"/>
              <a:gd name="connsiteX3" fmla="*/ 9586 w 9975"/>
              <a:gd name="connsiteY3" fmla="*/ 10128 h 10128"/>
              <a:gd name="connsiteX4" fmla="*/ 9538 w 9975"/>
              <a:gd name="connsiteY4" fmla="*/ 0 h 10128"/>
              <a:gd name="connsiteX0" fmla="*/ 9562 w 9999"/>
              <a:gd name="connsiteY0" fmla="*/ 0 h 10000"/>
              <a:gd name="connsiteX1" fmla="*/ 0 w 9999"/>
              <a:gd name="connsiteY1" fmla="*/ 7515 h 10000"/>
              <a:gd name="connsiteX2" fmla="*/ 55 w 9999"/>
              <a:gd name="connsiteY2" fmla="*/ 8343 h 10000"/>
              <a:gd name="connsiteX3" fmla="*/ 9610 w 9999"/>
              <a:gd name="connsiteY3" fmla="*/ 10000 h 10000"/>
              <a:gd name="connsiteX4" fmla="*/ 9562 w 9999"/>
              <a:gd name="connsiteY4" fmla="*/ 0 h 10000"/>
              <a:gd name="connsiteX0" fmla="*/ 9563 w 10000"/>
              <a:gd name="connsiteY0" fmla="*/ 0 h 10126"/>
              <a:gd name="connsiteX1" fmla="*/ 0 w 10000"/>
              <a:gd name="connsiteY1" fmla="*/ 7515 h 10126"/>
              <a:gd name="connsiteX2" fmla="*/ 55 w 10000"/>
              <a:gd name="connsiteY2" fmla="*/ 8343 h 10126"/>
              <a:gd name="connsiteX3" fmla="*/ 9611 w 10000"/>
              <a:gd name="connsiteY3" fmla="*/ 10126 h 10126"/>
              <a:gd name="connsiteX4" fmla="*/ 9563 w 10000"/>
              <a:gd name="connsiteY4" fmla="*/ 0 h 10126"/>
              <a:gd name="connsiteX0" fmla="*/ 9563 w 10000"/>
              <a:gd name="connsiteY0" fmla="*/ 0 h 10126"/>
              <a:gd name="connsiteX1" fmla="*/ 0 w 10000"/>
              <a:gd name="connsiteY1" fmla="*/ 7515 h 10126"/>
              <a:gd name="connsiteX2" fmla="*/ 55 w 10000"/>
              <a:gd name="connsiteY2" fmla="*/ 8343 h 10126"/>
              <a:gd name="connsiteX3" fmla="*/ 9611 w 10000"/>
              <a:gd name="connsiteY3" fmla="*/ 10126 h 10126"/>
              <a:gd name="connsiteX4" fmla="*/ 9563 w 10000"/>
              <a:gd name="connsiteY4" fmla="*/ 0 h 10126"/>
              <a:gd name="connsiteX0" fmla="*/ 9563 w 9799"/>
              <a:gd name="connsiteY0" fmla="*/ 0 h 10126"/>
              <a:gd name="connsiteX1" fmla="*/ 0 w 9799"/>
              <a:gd name="connsiteY1" fmla="*/ 7515 h 10126"/>
              <a:gd name="connsiteX2" fmla="*/ 55 w 9799"/>
              <a:gd name="connsiteY2" fmla="*/ 8343 h 10126"/>
              <a:gd name="connsiteX3" fmla="*/ 9611 w 9799"/>
              <a:gd name="connsiteY3" fmla="*/ 10126 h 10126"/>
              <a:gd name="connsiteX4" fmla="*/ 9563 w 9799"/>
              <a:gd name="connsiteY4" fmla="*/ 0 h 1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9" h="10126">
                <a:moveTo>
                  <a:pt x="9563" y="0"/>
                </a:moveTo>
                <a:cubicBezTo>
                  <a:pt x="6380" y="3447"/>
                  <a:pt x="4378" y="4742"/>
                  <a:pt x="0" y="7515"/>
                </a:cubicBezTo>
                <a:cubicBezTo>
                  <a:pt x="19" y="7790"/>
                  <a:pt x="36" y="8067"/>
                  <a:pt x="55" y="8343"/>
                </a:cubicBezTo>
                <a:cubicBezTo>
                  <a:pt x="3592" y="8754"/>
                  <a:pt x="6787" y="8518"/>
                  <a:pt x="9611" y="10126"/>
                </a:cubicBezTo>
                <a:cubicBezTo>
                  <a:pt x="9580" y="4725"/>
                  <a:pt x="10082" y="3581"/>
                  <a:pt x="9563" y="0"/>
                </a:cubicBezTo>
                <a:close/>
              </a:path>
            </a:pathLst>
          </a:custGeom>
          <a:gradFill rotWithShape="1">
            <a:gsLst>
              <a:gs pos="75000">
                <a:schemeClr val="bg1">
                  <a:lumMod val="85000"/>
                </a:schemeClr>
              </a:gs>
              <a:gs pos="0">
                <a:schemeClr val="bg1">
                  <a:lumMod val="75000"/>
                </a:schemeClr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C6962235-8FEB-8B22-050D-7A5AE918DEA1}"/>
              </a:ext>
            </a:extLst>
          </p:cNvPr>
          <p:cNvSpPr/>
          <p:nvPr/>
        </p:nvSpPr>
        <p:spPr>
          <a:xfrm>
            <a:off x="1038711" y="4580573"/>
            <a:ext cx="5270097" cy="104692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This Lecture: How are packets buffered and managed in routers?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F310E2E-A843-6982-132E-EF77C31EF1A9}"/>
              </a:ext>
            </a:extLst>
          </p:cNvPr>
          <p:cNvSpPr txBox="1">
            <a:spLocks/>
          </p:cNvSpPr>
          <p:nvPr/>
        </p:nvSpPr>
        <p:spPr>
          <a:xfrm>
            <a:off x="495631" y="1555263"/>
            <a:ext cx="4899471" cy="1376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Packets can be buffered in routers</a:t>
            </a:r>
          </a:p>
          <a:p>
            <a:pPr lvl="1"/>
            <a:r>
              <a:rPr lang="en-US" dirty="0"/>
              <a:t>delay and loss</a:t>
            </a:r>
          </a:p>
          <a:p>
            <a:pPr lvl="1"/>
            <a:r>
              <a:rPr lang="en-US" dirty="0"/>
              <a:t>network congestion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92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3F04-24F9-2727-35A1-D01B3FE18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51821"/>
            <a:ext cx="10893357" cy="894622"/>
          </a:xfrm>
        </p:spPr>
        <p:txBody>
          <a:bodyPr/>
          <a:lstStyle/>
          <a:p>
            <a:r>
              <a:rPr lang="en-US" dirty="0"/>
              <a:t>Router architecture and buffer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CA2E-8743-C247-F8E9-8F8E4C7AD3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17400"/>
            <a:ext cx="10893357" cy="3054599"/>
          </a:xfrm>
        </p:spPr>
        <p:txBody>
          <a:bodyPr>
            <a:normAutofit/>
          </a:bodyPr>
          <a:lstStyle/>
          <a:p>
            <a:r>
              <a:rPr lang="en-US" sz="3200" dirty="0"/>
              <a:t>Router architecture</a:t>
            </a:r>
          </a:p>
          <a:p>
            <a:pPr lvl="1"/>
            <a:r>
              <a:rPr lang="en-US" sz="2800" dirty="0"/>
              <a:t>Output queueing</a:t>
            </a:r>
          </a:p>
          <a:p>
            <a:pPr lvl="1"/>
            <a:r>
              <a:rPr lang="en-US" sz="2800" dirty="0"/>
              <a:t>Input queueing</a:t>
            </a:r>
          </a:p>
          <a:p>
            <a:pPr lvl="1"/>
            <a:r>
              <a:rPr lang="en-US" sz="2800" dirty="0"/>
              <a:t>…</a:t>
            </a:r>
          </a:p>
          <a:p>
            <a:endParaRPr lang="en-US" sz="3200" dirty="0"/>
          </a:p>
          <a:p>
            <a:r>
              <a:rPr lang="en-US" sz="3200" dirty="0"/>
              <a:t>Buffer management and scheduling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49415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2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800">
                <a:ea typeface="ＭＳ Ｐゴシック" panose="020B0600070205080204" pitchFamily="34" charset="-128"/>
              </a:rPr>
              <a:t>What is inside a router?</a:t>
            </a:r>
            <a:endParaRPr lang="en-US" sz="4800"/>
          </a:p>
        </p:txBody>
      </p:sp>
      <p:sp>
        <p:nvSpPr>
          <p:cNvPr id="62" name="Rectangle 13">
            <a:extLst>
              <a:ext uri="{FF2B5EF4-FFF2-40B4-BE49-F238E27FC236}">
                <a16:creationId xmlns:a16="http://schemas.microsoft.com/office/drawing/2014/main" id="{1FBC4707-F7A4-A94F-8160-5F9B11761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41" y="1443590"/>
            <a:ext cx="1078727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high-level view of generic router architecture:</a:t>
            </a:r>
          </a:p>
        </p:txBody>
      </p:sp>
      <p:grpSp>
        <p:nvGrpSpPr>
          <p:cNvPr id="11" name="Group 60">
            <a:extLst>
              <a:ext uri="{FF2B5EF4-FFF2-40B4-BE49-F238E27FC236}">
                <a16:creationId xmlns:a16="http://schemas.microsoft.com/office/drawing/2014/main" id="{BFA21CC6-3BDD-0546-BF9B-53F12E412143}"/>
              </a:ext>
            </a:extLst>
          </p:cNvPr>
          <p:cNvGrpSpPr>
            <a:grpSpLocks/>
          </p:cNvGrpSpPr>
          <p:nvPr/>
        </p:nvGrpSpPr>
        <p:grpSpPr bwMode="auto">
          <a:xfrm>
            <a:off x="4324902" y="3466272"/>
            <a:ext cx="1609725" cy="2343150"/>
            <a:chOff x="2418" y="1882"/>
            <a:chExt cx="1014" cy="14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Rectangle 45">
              <a:extLst>
                <a:ext uri="{FF2B5EF4-FFF2-40B4-BE49-F238E27FC236}">
                  <a16:creationId xmlns:a16="http://schemas.microsoft.com/office/drawing/2014/main" id="{97E8C5CE-2986-D342-8AF6-D8B4A72B6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882"/>
              <a:ext cx="1014" cy="147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Text Box 48">
              <a:extLst>
                <a:ext uri="{FF2B5EF4-FFF2-40B4-BE49-F238E27FC236}">
                  <a16:creationId xmlns:a16="http://schemas.microsoft.com/office/drawing/2014/main" id="{62B04B43-D6DE-1643-8C5F-DAEC3D27B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5" y="2418"/>
              <a:ext cx="876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high-speed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switching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EF9895C-337A-3B44-9EA1-F8EEA976D228}"/>
              </a:ext>
            </a:extLst>
          </p:cNvPr>
          <p:cNvGrpSpPr/>
          <p:nvPr/>
        </p:nvGrpSpPr>
        <p:grpSpPr>
          <a:xfrm>
            <a:off x="4342365" y="2504247"/>
            <a:ext cx="1590675" cy="1090613"/>
            <a:chOff x="4342365" y="2504247"/>
            <a:chExt cx="1590675" cy="1090613"/>
          </a:xfrm>
        </p:grpSpPr>
        <p:sp>
          <p:nvSpPr>
            <p:cNvPr id="14" name="Rectangle 46">
              <a:extLst>
                <a:ext uri="{FF2B5EF4-FFF2-40B4-BE49-F238E27FC236}">
                  <a16:creationId xmlns:a16="http://schemas.microsoft.com/office/drawing/2014/main" id="{7302BDAC-B9C0-8949-A593-83EC0EF2D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365" y="2504247"/>
              <a:ext cx="1590675" cy="6477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Text Box 47">
              <a:extLst>
                <a:ext uri="{FF2B5EF4-FFF2-40B4-BE49-F238E27FC236}">
                  <a16:creationId xmlns:a16="http://schemas.microsoft.com/office/drawing/2014/main" id="{4F3F6146-1D55-0B4C-BB98-623E05AE05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0165" y="2545522"/>
              <a:ext cx="1187450" cy="55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routing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processor</a:t>
              </a:r>
            </a:p>
          </p:txBody>
        </p:sp>
        <p:sp>
          <p:nvSpPr>
            <p:cNvPr id="16" name="Line 50">
              <a:extLst>
                <a:ext uri="{FF2B5EF4-FFF2-40B4-BE49-F238E27FC236}">
                  <a16:creationId xmlns:a16="http://schemas.microsoft.com/office/drawing/2014/main" id="{73F730FD-50D6-6D47-8351-91FF553BF5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1027" y="3023360"/>
              <a:ext cx="19050" cy="5715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CA66ED2-9041-9540-A174-B6BE809E0111}"/>
              </a:ext>
            </a:extLst>
          </p:cNvPr>
          <p:cNvGrpSpPr>
            <a:grpSpLocks/>
          </p:cNvGrpSpPr>
          <p:nvPr/>
        </p:nvGrpSpPr>
        <p:grpSpPr bwMode="auto">
          <a:xfrm>
            <a:off x="2281790" y="3480560"/>
            <a:ext cx="2033587" cy="566737"/>
            <a:chOff x="930" y="1989"/>
            <a:chExt cx="1482" cy="357"/>
          </a:xfrm>
        </p:grpSpPr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62683D12-8EE3-D54F-9142-B80DE97AA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989"/>
              <a:ext cx="1086" cy="3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7C8073E8-202F-E24A-8766-ABE3BC4DC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2089"/>
              <a:ext cx="337" cy="16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80E00E55-88BB-DC43-A2D7-ED792D65F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2" y="2025"/>
              <a:ext cx="273" cy="27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697D85E7-E59C-2948-B89C-5F82FF5C7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4" y="2023"/>
              <a:ext cx="274" cy="27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5BF71348-3208-AB4B-82A9-83B395A2F2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2169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3" name="Group 18">
            <a:extLst>
              <a:ext uri="{FF2B5EF4-FFF2-40B4-BE49-F238E27FC236}">
                <a16:creationId xmlns:a16="http://schemas.microsoft.com/office/drawing/2014/main" id="{A6176FD2-28E4-634E-B138-CE64958CCB93}"/>
              </a:ext>
            </a:extLst>
          </p:cNvPr>
          <p:cNvGrpSpPr>
            <a:grpSpLocks/>
          </p:cNvGrpSpPr>
          <p:nvPr/>
        </p:nvGrpSpPr>
        <p:grpSpPr bwMode="auto">
          <a:xfrm>
            <a:off x="2270677" y="5218872"/>
            <a:ext cx="2058988" cy="566738"/>
            <a:chOff x="930" y="1989"/>
            <a:chExt cx="1482" cy="357"/>
          </a:xfrm>
        </p:grpSpPr>
        <p:sp>
          <p:nvSpPr>
            <p:cNvPr id="24" name="Rectangle 19">
              <a:extLst>
                <a:ext uri="{FF2B5EF4-FFF2-40B4-BE49-F238E27FC236}">
                  <a16:creationId xmlns:a16="http://schemas.microsoft.com/office/drawing/2014/main" id="{B02421A2-89F9-7B4F-AD0F-B54C1097F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989"/>
              <a:ext cx="1088" cy="3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" name="Rectangle 20">
              <a:extLst>
                <a:ext uri="{FF2B5EF4-FFF2-40B4-BE49-F238E27FC236}">
                  <a16:creationId xmlns:a16="http://schemas.microsoft.com/office/drawing/2014/main" id="{F8E24AD8-D1B3-694B-BCB6-D84CE449D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2089"/>
              <a:ext cx="337" cy="16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" name="Rectangle 21">
              <a:extLst>
                <a:ext uri="{FF2B5EF4-FFF2-40B4-BE49-F238E27FC236}">
                  <a16:creationId xmlns:a16="http://schemas.microsoft.com/office/drawing/2014/main" id="{EAAFBCAC-65CD-014D-AEFE-7FBAFCE9C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2" y="2025"/>
              <a:ext cx="273" cy="27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" name="Rectangle 22">
              <a:extLst>
                <a:ext uri="{FF2B5EF4-FFF2-40B4-BE49-F238E27FC236}">
                  <a16:creationId xmlns:a16="http://schemas.microsoft.com/office/drawing/2014/main" id="{0C8D09F6-0F58-0440-9B1A-15F2687E5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4" y="2023"/>
              <a:ext cx="274" cy="27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F601D68E-5FC2-E24B-9E6A-DBF25E086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2169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DBEF67F1-37BF-D74B-BCE9-505A050D61CD}"/>
              </a:ext>
            </a:extLst>
          </p:cNvPr>
          <p:cNvGrpSpPr>
            <a:grpSpLocks/>
          </p:cNvGrpSpPr>
          <p:nvPr/>
        </p:nvGrpSpPr>
        <p:grpSpPr bwMode="auto">
          <a:xfrm rot="2656396">
            <a:off x="2900915" y="4371147"/>
            <a:ext cx="546100" cy="546100"/>
            <a:chOff x="354" y="2715"/>
            <a:chExt cx="344" cy="344"/>
          </a:xfrm>
        </p:grpSpPr>
        <p:sp>
          <p:nvSpPr>
            <p:cNvPr id="30" name="Oval 25">
              <a:extLst>
                <a:ext uri="{FF2B5EF4-FFF2-40B4-BE49-F238E27FC236}">
                  <a16:creationId xmlns:a16="http://schemas.microsoft.com/office/drawing/2014/main" id="{9C112058-256F-D445-8FC7-9A99414DF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" y="2715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Oval 26">
              <a:extLst>
                <a:ext uri="{FF2B5EF4-FFF2-40B4-BE49-F238E27FC236}">
                  <a16:creationId xmlns:a16="http://schemas.microsoft.com/office/drawing/2014/main" id="{90D25AC5-CC8E-B54C-82BF-7D5D98699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" y="2811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" name="Oval 27">
              <a:extLst>
                <a:ext uri="{FF2B5EF4-FFF2-40B4-BE49-F238E27FC236}">
                  <a16:creationId xmlns:a16="http://schemas.microsoft.com/office/drawing/2014/main" id="{40D693B4-9136-E641-8D14-C1E0622EC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" y="2907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" name="Oval 28">
              <a:extLst>
                <a:ext uri="{FF2B5EF4-FFF2-40B4-BE49-F238E27FC236}">
                  <a16:creationId xmlns:a16="http://schemas.microsoft.com/office/drawing/2014/main" id="{4775F00E-A158-F94A-972C-197213FC8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003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4" name="Text Box 57">
            <a:extLst>
              <a:ext uri="{FF2B5EF4-FFF2-40B4-BE49-F238E27FC236}">
                <a16:creationId xmlns:a16="http://schemas.microsoft.com/office/drawing/2014/main" id="{492AF8D2-6C5A-F547-903E-BECF47C4F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015" y="5864985"/>
            <a:ext cx="191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router input ports</a:t>
            </a:r>
          </a:p>
        </p:txBody>
      </p:sp>
      <p:grpSp>
        <p:nvGrpSpPr>
          <p:cNvPr id="35" name="Group 37">
            <a:extLst>
              <a:ext uri="{FF2B5EF4-FFF2-40B4-BE49-F238E27FC236}">
                <a16:creationId xmlns:a16="http://schemas.microsoft.com/office/drawing/2014/main" id="{11CB7D7F-8B2C-554A-B4F6-07F28C5B5C9F}"/>
              </a:ext>
            </a:extLst>
          </p:cNvPr>
          <p:cNvGrpSpPr>
            <a:grpSpLocks/>
          </p:cNvGrpSpPr>
          <p:nvPr/>
        </p:nvGrpSpPr>
        <p:grpSpPr bwMode="auto">
          <a:xfrm>
            <a:off x="5882240" y="3485322"/>
            <a:ext cx="1957387" cy="566738"/>
            <a:chOff x="-51" y="2454"/>
            <a:chExt cx="1482" cy="3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6" name="Group 36">
              <a:extLst>
                <a:ext uri="{FF2B5EF4-FFF2-40B4-BE49-F238E27FC236}">
                  <a16:creationId xmlns:a16="http://schemas.microsoft.com/office/drawing/2014/main" id="{9302BD5C-3388-5F4D-8CCA-EAD2FD66ADB1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38" name="Rectangle 31">
                <a:extLst>
                  <a:ext uri="{FF2B5EF4-FFF2-40B4-BE49-F238E27FC236}">
                    <a16:creationId xmlns:a16="http://schemas.microsoft.com/office/drawing/2014/main" id="{0D459D87-1893-1743-8D5A-F323FDD349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" name="Rectangle 32">
                <a:extLst>
                  <a:ext uri="{FF2B5EF4-FFF2-40B4-BE49-F238E27FC236}">
                    <a16:creationId xmlns:a16="http://schemas.microsoft.com/office/drawing/2014/main" id="{D94682C7-1EFD-0242-B3A2-8679BFDACB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8" cy="16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" name="Rectangle 33">
                <a:extLst>
                  <a:ext uri="{FF2B5EF4-FFF2-40B4-BE49-F238E27FC236}">
                    <a16:creationId xmlns:a16="http://schemas.microsoft.com/office/drawing/2014/main" id="{D323E676-6A0B-9D4C-A262-5DA2B4D92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" name="Rectangle 34">
                <a:extLst>
                  <a:ext uri="{FF2B5EF4-FFF2-40B4-BE49-F238E27FC236}">
                    <a16:creationId xmlns:a16="http://schemas.microsoft.com/office/drawing/2014/main" id="{DE45BAF9-F85F-CE49-B15E-73BB262FDB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1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63958D1A-98FE-AF43-AC11-DB72B9D9C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2" name="Group 38">
            <a:extLst>
              <a:ext uri="{FF2B5EF4-FFF2-40B4-BE49-F238E27FC236}">
                <a16:creationId xmlns:a16="http://schemas.microsoft.com/office/drawing/2014/main" id="{5D8C710B-718F-D647-B17E-DF34372005AC}"/>
              </a:ext>
            </a:extLst>
          </p:cNvPr>
          <p:cNvGrpSpPr>
            <a:grpSpLocks/>
          </p:cNvGrpSpPr>
          <p:nvPr/>
        </p:nvGrpSpPr>
        <p:grpSpPr bwMode="auto">
          <a:xfrm>
            <a:off x="5901290" y="5218872"/>
            <a:ext cx="2011362" cy="566738"/>
            <a:chOff x="-51" y="2454"/>
            <a:chExt cx="1482" cy="357"/>
          </a:xfrm>
        </p:grpSpPr>
        <p:grpSp>
          <p:nvGrpSpPr>
            <p:cNvPr id="43" name="Group 39">
              <a:extLst>
                <a:ext uri="{FF2B5EF4-FFF2-40B4-BE49-F238E27FC236}">
                  <a16:creationId xmlns:a16="http://schemas.microsoft.com/office/drawing/2014/main" id="{EC854885-69FE-4244-BF93-8BB2F7786F8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45" name="Rectangle 40">
                <a:extLst>
                  <a:ext uri="{FF2B5EF4-FFF2-40B4-BE49-F238E27FC236}">
                    <a16:creationId xmlns:a16="http://schemas.microsoft.com/office/drawing/2014/main" id="{31148FFC-88E2-8643-8EDC-EE46241681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" name="Rectangle 41">
                <a:extLst>
                  <a:ext uri="{FF2B5EF4-FFF2-40B4-BE49-F238E27FC236}">
                    <a16:creationId xmlns:a16="http://schemas.microsoft.com/office/drawing/2014/main" id="{682A9F8F-8723-874E-BB4D-B2BB08BC7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" name="Rectangle 42">
                <a:extLst>
                  <a:ext uri="{FF2B5EF4-FFF2-40B4-BE49-F238E27FC236}">
                    <a16:creationId xmlns:a16="http://schemas.microsoft.com/office/drawing/2014/main" id="{E9D99F85-7DA2-B94F-9793-067BFD2765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" name="Rectangle 43">
                <a:extLst>
                  <a:ext uri="{FF2B5EF4-FFF2-40B4-BE49-F238E27FC236}">
                    <a16:creationId xmlns:a16="http://schemas.microsoft.com/office/drawing/2014/main" id="{79592419-CEB4-124B-A09B-CF67F5F2A4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CBC3FC3D-F764-0047-9677-FB9B8EAAF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" name="Group 51">
            <a:extLst>
              <a:ext uri="{FF2B5EF4-FFF2-40B4-BE49-F238E27FC236}">
                <a16:creationId xmlns:a16="http://schemas.microsoft.com/office/drawing/2014/main" id="{0063545A-31FC-8D42-B9F6-52805867B567}"/>
              </a:ext>
            </a:extLst>
          </p:cNvPr>
          <p:cNvGrpSpPr>
            <a:grpSpLocks/>
          </p:cNvGrpSpPr>
          <p:nvPr/>
        </p:nvGrpSpPr>
        <p:grpSpPr bwMode="auto">
          <a:xfrm rot="2656396">
            <a:off x="6768065" y="4361622"/>
            <a:ext cx="546100" cy="546100"/>
            <a:chOff x="354" y="2715"/>
            <a:chExt cx="344" cy="344"/>
          </a:xfrm>
        </p:grpSpPr>
        <p:sp>
          <p:nvSpPr>
            <p:cNvPr id="50" name="Oval 52">
              <a:extLst>
                <a:ext uri="{FF2B5EF4-FFF2-40B4-BE49-F238E27FC236}">
                  <a16:creationId xmlns:a16="http://schemas.microsoft.com/office/drawing/2014/main" id="{83BE4773-3E63-524C-AD59-033C9E430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" y="2715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Oval 53">
              <a:extLst>
                <a:ext uri="{FF2B5EF4-FFF2-40B4-BE49-F238E27FC236}">
                  <a16:creationId xmlns:a16="http://schemas.microsoft.com/office/drawing/2014/main" id="{F45E0C4D-B738-5E42-99B7-C0253D1EC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" y="2811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" name="Oval 54">
              <a:extLst>
                <a:ext uri="{FF2B5EF4-FFF2-40B4-BE49-F238E27FC236}">
                  <a16:creationId xmlns:a16="http://schemas.microsoft.com/office/drawing/2014/main" id="{2BD06A3F-4F96-8948-8417-90216E36C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" y="2907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Oval 55">
              <a:extLst>
                <a:ext uri="{FF2B5EF4-FFF2-40B4-BE49-F238E27FC236}">
                  <a16:creationId xmlns:a16="http://schemas.microsoft.com/office/drawing/2014/main" id="{6A51F44D-8E0B-DD44-A2B0-5A5743630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003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4" name="Text Box 58">
            <a:extLst>
              <a:ext uri="{FF2B5EF4-FFF2-40B4-BE49-F238E27FC236}">
                <a16:creationId xmlns:a16="http://schemas.microsoft.com/office/drawing/2014/main" id="{8536AB41-BBDA-6A40-9786-A1757F632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1327" y="5906260"/>
            <a:ext cx="2051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router output ports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DEF025D-D161-0845-8BA8-D19B1861EED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70677" y="3275772"/>
            <a:ext cx="7802563" cy="127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AC350F1-2A41-2C4D-A74E-E12FE3300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7765" y="3312285"/>
            <a:ext cx="2185987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forwarding data plane  </a:t>
            </a: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(hardware) operates in nanosecond timeframe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E496939-D5D8-314E-A293-36FDE55B1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0377" y="2208972"/>
            <a:ext cx="287972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routing, management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 plane </a:t>
            </a: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(software)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operates in millisecond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time frame</a:t>
            </a:r>
          </a:p>
        </p:txBody>
      </p:sp>
      <p:sp>
        <p:nvSpPr>
          <p:cNvPr id="58" name="Freeform 10">
            <a:extLst>
              <a:ext uri="{FF2B5EF4-FFF2-40B4-BE49-F238E27FC236}">
                <a16:creationId xmlns:a16="http://schemas.microsoft.com/office/drawing/2014/main" id="{9563B337-045C-B84E-ADB0-A5D36720825E}"/>
              </a:ext>
            </a:extLst>
          </p:cNvPr>
          <p:cNvSpPr>
            <a:spLocks/>
          </p:cNvSpPr>
          <p:nvPr/>
        </p:nvSpPr>
        <p:spPr bwMode="auto">
          <a:xfrm>
            <a:off x="3735940" y="2799522"/>
            <a:ext cx="512762" cy="73025"/>
          </a:xfrm>
          <a:custGeom>
            <a:avLst/>
            <a:gdLst>
              <a:gd name="T0" fmla="*/ 487003 w 512919"/>
              <a:gd name="T1" fmla="*/ 70891 h 73266"/>
              <a:gd name="T2" fmla="*/ 511349 w 512919"/>
              <a:gd name="T3" fmla="*/ 0 h 73266"/>
              <a:gd name="T4" fmla="*/ 146098 w 512919"/>
              <a:gd name="T5" fmla="*/ 11815 h 73266"/>
              <a:gd name="T6" fmla="*/ 97399 w 512919"/>
              <a:gd name="T7" fmla="*/ 23630 h 73266"/>
              <a:gd name="T8" fmla="*/ 0 w 512919"/>
              <a:gd name="T9" fmla="*/ 11815 h 73266"/>
              <a:gd name="T10" fmla="*/ 0 w 512919"/>
              <a:gd name="T11" fmla="*/ 11815 h 73266"/>
              <a:gd name="T12" fmla="*/ 511349 w 512919"/>
              <a:gd name="T13" fmla="*/ 11815 h 732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12919"/>
              <a:gd name="T22" fmla="*/ 0 h 73266"/>
              <a:gd name="T23" fmla="*/ 512919 w 512919"/>
              <a:gd name="T24" fmla="*/ 73266 h 732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12919" h="73266">
                <a:moveTo>
                  <a:pt x="488494" y="73266"/>
                </a:moveTo>
                <a:lnTo>
                  <a:pt x="512919" y="0"/>
                </a:lnTo>
                <a:cubicBezTo>
                  <a:pt x="390795" y="4070"/>
                  <a:pt x="268529" y="5036"/>
                  <a:pt x="146548" y="12211"/>
                </a:cubicBezTo>
                <a:cubicBezTo>
                  <a:pt x="129793" y="13196"/>
                  <a:pt x="114483" y="24422"/>
                  <a:pt x="97699" y="24422"/>
                </a:cubicBezTo>
                <a:cubicBezTo>
                  <a:pt x="64879" y="24422"/>
                  <a:pt x="0" y="12211"/>
                  <a:pt x="0" y="12211"/>
                </a:cubicBezTo>
                <a:lnTo>
                  <a:pt x="512919" y="1221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3E124150-F33F-0C46-842C-F5427C1367BD}"/>
              </a:ext>
            </a:extLst>
          </p:cNvPr>
          <p:cNvCxnSpPr>
            <a:cxnSpLocks noChangeShapeType="1"/>
            <a:endCxn id="27" idx="0"/>
          </p:cNvCxnSpPr>
          <p:nvPr/>
        </p:nvCxnSpPr>
        <p:spPr bwMode="auto">
          <a:xfrm rot="5400000">
            <a:off x="2752483" y="3862354"/>
            <a:ext cx="2473325" cy="347662"/>
          </a:xfrm>
          <a:prstGeom prst="bentConnector3">
            <a:avLst>
              <a:gd name="adj1" fmla="val -60"/>
            </a:avLst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69056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2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Input port functions</a:t>
            </a:r>
            <a:endParaRPr lang="en-US" sz="4800" dirty="0"/>
          </a:p>
        </p:txBody>
      </p:sp>
      <p:sp>
        <p:nvSpPr>
          <p:cNvPr id="91" name="Rectangle 12">
            <a:extLst>
              <a:ext uri="{FF2B5EF4-FFF2-40B4-BE49-F238E27FC236}">
                <a16:creationId xmlns:a16="http://schemas.microsoft.com/office/drawing/2014/main" id="{C1168DD7-29CD-D740-BA24-DFE4997DE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5508" y="1518548"/>
            <a:ext cx="4568825" cy="1836737"/>
          </a:xfrm>
          <a:prstGeom prst="rect">
            <a:avLst/>
          </a:prstGeom>
          <a:solidFill>
            <a:srgbClr val="FFFFFF"/>
          </a:solidFill>
          <a:ln w="19050">
            <a:solidFill>
              <a:srgbClr val="5F5F5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5" name="Line 16">
            <a:extLst>
              <a:ext uri="{FF2B5EF4-FFF2-40B4-BE49-F238E27FC236}">
                <a16:creationId xmlns:a16="http://schemas.microsoft.com/office/drawing/2014/main" id="{273874E2-0AAC-C144-B2A5-D7EF20CCA1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9283" y="2444060"/>
            <a:ext cx="42386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8" name="Line 32">
            <a:extLst>
              <a:ext uri="{FF2B5EF4-FFF2-40B4-BE49-F238E27FC236}">
                <a16:creationId xmlns:a16="http://schemas.microsoft.com/office/drawing/2014/main" id="{13983755-8FAE-1741-9303-C0E4E248C6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1446" y="2421835"/>
            <a:ext cx="7366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4" name="Line 45">
            <a:extLst>
              <a:ext uri="{FF2B5EF4-FFF2-40B4-BE49-F238E27FC236}">
                <a16:creationId xmlns:a16="http://schemas.microsoft.com/office/drawing/2014/main" id="{C28D9927-E6BA-644D-AEC8-2218FA4AE8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6933" y="902598"/>
            <a:ext cx="11113" cy="2865437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5" name="Rectangle 46">
            <a:extLst>
              <a:ext uri="{FF2B5EF4-FFF2-40B4-BE49-F238E27FC236}">
                <a16:creationId xmlns:a16="http://schemas.microsoft.com/office/drawing/2014/main" id="{60DADEEF-0CD4-B448-8A66-E2060FA8C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008" y="2031310"/>
            <a:ext cx="1055688" cy="828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switch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fabric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F3BF66-FCD5-DF4D-990A-B26733B57152}"/>
              </a:ext>
            </a:extLst>
          </p:cNvPr>
          <p:cNvGrpSpPr/>
          <p:nvPr/>
        </p:nvGrpSpPr>
        <p:grpSpPr>
          <a:xfrm>
            <a:off x="258938" y="2032898"/>
            <a:ext cx="3589783" cy="2064484"/>
            <a:chOff x="258938" y="2032898"/>
            <a:chExt cx="3589783" cy="2064484"/>
          </a:xfrm>
        </p:grpSpPr>
        <p:sp>
          <p:nvSpPr>
            <p:cNvPr id="92" name="Rectangle 13">
              <a:extLst>
                <a:ext uri="{FF2B5EF4-FFF2-40B4-BE49-F238E27FC236}">
                  <a16:creationId xmlns:a16="http://schemas.microsoft.com/office/drawing/2014/main" id="{FA527A42-DFE8-B84B-AE0F-B6C04FC91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1083" y="2032898"/>
              <a:ext cx="1417638" cy="8286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line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termination</a:t>
              </a:r>
            </a:p>
          </p:txBody>
        </p:sp>
        <p:sp>
          <p:nvSpPr>
            <p:cNvPr id="102" name="Text Box 5">
              <a:extLst>
                <a:ext uri="{FF2B5EF4-FFF2-40B4-BE49-F238E27FC236}">
                  <a16:creationId xmlns:a16="http://schemas.microsoft.com/office/drawing/2014/main" id="{CF874965-76FC-A440-815F-5C111BA47D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938" y="3266385"/>
              <a:ext cx="2475358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physical layer: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bit-level reception</a:t>
              </a: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6" name="Line 58">
              <a:extLst>
                <a:ext uri="{FF2B5EF4-FFF2-40B4-BE49-F238E27FC236}">
                  <a16:creationId xmlns:a16="http://schemas.microsoft.com/office/drawing/2014/main" id="{4B5F466A-2158-BD4D-B0D3-450398480C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3821" y="2955235"/>
              <a:ext cx="446087" cy="49053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BA40969-3F14-3A45-97E9-4D81F9F1D53C}"/>
              </a:ext>
            </a:extLst>
          </p:cNvPr>
          <p:cNvGrpSpPr/>
          <p:nvPr/>
        </p:nvGrpSpPr>
        <p:grpSpPr>
          <a:xfrm>
            <a:off x="871146" y="1664528"/>
            <a:ext cx="4336475" cy="3360298"/>
            <a:chOff x="871146" y="1664528"/>
            <a:chExt cx="4336475" cy="3360298"/>
          </a:xfrm>
        </p:grpSpPr>
        <p:sp>
          <p:nvSpPr>
            <p:cNvPr id="99" name="Rectangle 33">
              <a:extLst>
                <a:ext uri="{FF2B5EF4-FFF2-40B4-BE49-F238E27FC236}">
                  <a16:creationId xmlns:a16="http://schemas.microsoft.com/office/drawing/2014/main" id="{C0248889-95B0-8647-AC13-2A31FDECF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937" y="1947588"/>
              <a:ext cx="1055688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link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layer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protocol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(receive)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212FDFA-0F46-D741-88DA-002B11963175}"/>
                </a:ext>
              </a:extLst>
            </p:cNvPr>
            <p:cNvGrpSpPr/>
            <p:nvPr/>
          </p:nvGrpSpPr>
          <p:grpSpPr>
            <a:xfrm>
              <a:off x="871146" y="1664528"/>
              <a:ext cx="4336475" cy="3360298"/>
              <a:chOff x="871146" y="1664528"/>
              <a:chExt cx="4336475" cy="3360298"/>
            </a:xfrm>
          </p:grpSpPr>
          <p:sp>
            <p:nvSpPr>
              <p:cNvPr id="93" name="Rectangle 14">
                <a:extLst>
                  <a:ext uri="{FF2B5EF4-FFF2-40B4-BE49-F238E27FC236}">
                    <a16:creationId xmlns:a16="http://schemas.microsoft.com/office/drawing/2014/main" id="{12FFE13A-BB9E-4943-97F3-EA1EFC2EB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5096" y="1664528"/>
                <a:ext cx="1152525" cy="1409700"/>
              </a:xfrm>
              <a:prstGeom prst="rect">
                <a:avLst/>
              </a:prstGeom>
              <a:noFill/>
              <a:ln w="28575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Line 30">
                <a:extLst>
                  <a:ext uri="{FF2B5EF4-FFF2-40B4-BE49-F238E27FC236}">
                    <a16:creationId xmlns:a16="http://schemas.microsoft.com/office/drawing/2014/main" id="{B6E9D844-FAAD-2A4E-88E0-E214101BB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7771" y="2423423"/>
                <a:ext cx="190500" cy="158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3" name="Text Box 6">
                <a:extLst>
                  <a:ext uri="{FF2B5EF4-FFF2-40B4-BE49-F238E27FC236}">
                    <a16:creationId xmlns:a16="http://schemas.microsoft.com/office/drawing/2014/main" id="{EAC11D6E-3147-1749-980D-26286A15A2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1146" y="4193829"/>
                <a:ext cx="1877437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link layer:</a:t>
                </a:r>
              </a:p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e.g., Ethernet</a:t>
                </a:r>
              </a:p>
            </p:txBody>
          </p:sp>
          <p:sp>
            <p:nvSpPr>
              <p:cNvPr id="117" name="Line 59">
                <a:extLst>
                  <a:ext uri="{FF2B5EF4-FFF2-40B4-BE49-F238E27FC236}">
                    <a16:creationId xmlns:a16="http://schemas.microsoft.com/office/drawing/2014/main" id="{052969D8-B347-344A-9102-4C70516822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62871" y="3152085"/>
                <a:ext cx="1193800" cy="1338263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E501147-3CF5-8941-886B-E4E508892657}"/>
              </a:ext>
            </a:extLst>
          </p:cNvPr>
          <p:cNvGrpSpPr/>
          <p:nvPr/>
        </p:nvGrpSpPr>
        <p:grpSpPr>
          <a:xfrm>
            <a:off x="3458817" y="1655073"/>
            <a:ext cx="8189844" cy="5023471"/>
            <a:chOff x="3458817" y="1655073"/>
            <a:chExt cx="8189844" cy="5023471"/>
          </a:xfrm>
        </p:grpSpPr>
        <p:sp>
          <p:nvSpPr>
            <p:cNvPr id="100" name="Text Box 35">
              <a:extLst>
                <a:ext uri="{FF2B5EF4-FFF2-40B4-BE49-F238E27FC236}">
                  <a16:creationId xmlns:a16="http://schemas.microsoft.com/office/drawing/2014/main" id="{926A7C49-4C7D-7F4F-9A0E-6A7815DA86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2341" y="1667773"/>
              <a:ext cx="1261884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forwarding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6" name="Group 56">
              <a:extLst>
                <a:ext uri="{FF2B5EF4-FFF2-40B4-BE49-F238E27FC236}">
                  <a16:creationId xmlns:a16="http://schemas.microsoft.com/office/drawing/2014/main" id="{B68F5DD4-EE62-1647-8EBF-81CFFA9C7F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33058" y="2274198"/>
              <a:ext cx="993775" cy="468312"/>
              <a:chOff x="310" y="3526"/>
              <a:chExt cx="1040" cy="457"/>
            </a:xfrm>
          </p:grpSpPr>
          <p:sp>
            <p:nvSpPr>
              <p:cNvPr id="107" name="Rectangle 47">
                <a:extLst>
                  <a:ext uri="{FF2B5EF4-FFF2-40B4-BE49-F238E27FC236}">
                    <a16:creationId xmlns:a16="http://schemas.microsoft.com/office/drawing/2014/main" id="{091252DD-E9F8-F043-8F13-9AD537E45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0" y="3526"/>
                <a:ext cx="1040" cy="457"/>
              </a:xfrm>
              <a:prstGeom prst="rect">
                <a:avLst/>
              </a:prstGeom>
              <a:solidFill>
                <a:srgbClr val="FF0000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" name="Line 48">
                <a:extLst>
                  <a:ext uri="{FF2B5EF4-FFF2-40B4-BE49-F238E27FC236}">
                    <a16:creationId xmlns:a16="http://schemas.microsoft.com/office/drawing/2014/main" id="{8B8D0A07-01A4-B34B-A4DB-264DA45587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" y="3535"/>
                <a:ext cx="2" cy="437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" name="Line 49">
                <a:extLst>
                  <a:ext uri="{FF2B5EF4-FFF2-40B4-BE49-F238E27FC236}">
                    <a16:creationId xmlns:a16="http://schemas.microsoft.com/office/drawing/2014/main" id="{CCD0BAFD-2F01-BB4A-80D7-9DD3A63121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8" y="3538"/>
                <a:ext cx="2" cy="435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" name="Line 50">
                <a:extLst>
                  <a:ext uri="{FF2B5EF4-FFF2-40B4-BE49-F238E27FC236}">
                    <a16:creationId xmlns:a16="http://schemas.microsoft.com/office/drawing/2014/main" id="{7F30AE35-07B8-C647-93E6-FBCF5A109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1" y="3534"/>
                <a:ext cx="2" cy="437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1" name="Line 51">
                <a:extLst>
                  <a:ext uri="{FF2B5EF4-FFF2-40B4-BE49-F238E27FC236}">
                    <a16:creationId xmlns:a16="http://schemas.microsoft.com/office/drawing/2014/main" id="{F3DA64D2-455B-5648-BA10-FC52CD1311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2" y="3535"/>
                <a:ext cx="2" cy="437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2" name="Line 52">
                <a:extLst>
                  <a:ext uri="{FF2B5EF4-FFF2-40B4-BE49-F238E27FC236}">
                    <a16:creationId xmlns:a16="http://schemas.microsoft.com/office/drawing/2014/main" id="{106B00DE-F07D-CE47-8C50-C1CD1CD0A0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5" y="3534"/>
                <a:ext cx="2" cy="437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3" name="Line 53">
                <a:extLst>
                  <a:ext uri="{FF2B5EF4-FFF2-40B4-BE49-F238E27FC236}">
                    <a16:creationId xmlns:a16="http://schemas.microsoft.com/office/drawing/2014/main" id="{0DED29BC-7052-8643-8C69-2F8864DFA7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3534"/>
                <a:ext cx="2" cy="437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4" name="Line 54">
                <a:extLst>
                  <a:ext uri="{FF2B5EF4-FFF2-40B4-BE49-F238E27FC236}">
                    <a16:creationId xmlns:a16="http://schemas.microsoft.com/office/drawing/2014/main" id="{86C73DAC-8DDF-A54A-942C-8BC351167B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1" y="3535"/>
                <a:ext cx="2" cy="437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Line 55">
                <a:extLst>
                  <a:ext uri="{FF2B5EF4-FFF2-40B4-BE49-F238E27FC236}">
                    <a16:creationId xmlns:a16="http://schemas.microsoft.com/office/drawing/2014/main" id="{18BE7814-C3C9-1A4C-AD5B-3274395DD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9" y="3538"/>
                <a:ext cx="2" cy="435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1658A4B-37AF-414E-BE01-AD93294C9259}"/>
                </a:ext>
              </a:extLst>
            </p:cNvPr>
            <p:cNvGrpSpPr/>
            <p:nvPr/>
          </p:nvGrpSpPr>
          <p:grpSpPr>
            <a:xfrm>
              <a:off x="3458817" y="1655073"/>
              <a:ext cx="8189844" cy="5023471"/>
              <a:chOff x="3458817" y="1655073"/>
              <a:chExt cx="8189844" cy="5023471"/>
            </a:xfrm>
          </p:grpSpPr>
          <p:sp>
            <p:nvSpPr>
              <p:cNvPr id="94" name="Rectangle 15">
                <a:extLst>
                  <a:ext uri="{FF2B5EF4-FFF2-40B4-BE49-F238E27FC236}">
                    <a16:creationId xmlns:a16="http://schemas.microsoft.com/office/drawing/2014/main" id="{90BCF5CF-E087-0C43-9B12-173780FEE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6058" y="1655073"/>
                <a:ext cx="1247775" cy="150495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7" name="Line 31">
                <a:extLst>
                  <a:ext uri="{FF2B5EF4-FFF2-40B4-BE49-F238E27FC236}">
                    <a16:creationId xmlns:a16="http://schemas.microsoft.com/office/drawing/2014/main" id="{8977AE01-852B-534D-A20E-EFF02DB5A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0796" y="2380560"/>
                <a:ext cx="190500" cy="158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1" name="Rectangle 4">
                <a:extLst>
                  <a:ext uri="{FF2B5EF4-FFF2-40B4-BE49-F238E27FC236}">
                    <a16:creationId xmlns:a16="http://schemas.microsoft.com/office/drawing/2014/main" id="{E1140E62-CB4B-6047-AA5C-851F17E9C3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8817" y="4011544"/>
                <a:ext cx="8189844" cy="2667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ＭＳ Ｐゴシック" charset="0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/>
                    <a:ea typeface="ＭＳ Ｐゴシック" charset="0"/>
                    <a:cs typeface="Gill Sans M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/>
                    <a:ea typeface="Gill Sans MT" charset="0"/>
                    <a:cs typeface="Gill Sans M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itchFamily="-109" charset="0"/>
                    <a:ea typeface="Gill Sans MT" charset="0"/>
                    <a:cs typeface="Gill Sans MT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-109" charset="0"/>
                    <a:ea typeface="Gill Sans MT" charset="0"/>
                    <a:cs typeface="Gill Sans MT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-109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-109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-109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-109" charset="0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itchFamily="2" charset="2"/>
                  <a:buChar char="§"/>
                  <a:tabLst/>
                  <a:defRPr/>
                </a:pPr>
                <a:r>
                  <a:rPr lang="en-US" altLang="en-US" sz="2400" kern="0" dirty="0">
                    <a:solidFill>
                      <a:srgbClr val="0000A8"/>
                    </a:solidFill>
                    <a:latin typeface="Calibri" panose="020F0502020204030204"/>
                    <a:ea typeface="ＭＳ Ｐゴシック" panose="020B0600070205080204" pitchFamily="34" charset="-128"/>
                    <a:cs typeface="ＭＳ Ｐゴシック" panose="020B0600070205080204" pitchFamily="34" charset="-128"/>
                  </a:rPr>
                  <a:t>f</a:t>
                </a:r>
                <a:r>
                  <a:rPr kumimoji="0" lang="en-US" alt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A8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ＭＳ Ｐゴシック" panose="020B0600070205080204" pitchFamily="34" charset="-128"/>
                  </a:rPr>
                  <a:t>orwarding</a:t>
                </a:r>
                <a:r>
                  <a: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A8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ＭＳ Ｐゴシック" panose="020B0600070205080204" pitchFamily="34" charset="-128"/>
                  </a:rPr>
                  <a:t>: </a:t>
                </a:r>
                <a:r>
                  <a:rPr lang="en-US" altLang="en-US" sz="24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/>
                    <a:ea typeface="ＭＳ Ｐゴシック" panose="020B0600070205080204" pitchFamily="34" charset="-128"/>
                    <a:cs typeface="ＭＳ Ｐゴシック" panose="020B0600070205080204" pitchFamily="34" charset="-128"/>
                  </a:rPr>
                  <a:t>The forwarding table we have been talking about goes here! </a:t>
                </a:r>
              </a:p>
              <a:p>
                <a:pPr lvl="1" indent="-342900">
                  <a:lnSpc>
                    <a:spcPct val="90000"/>
                  </a:lnSpc>
                  <a:buSzPct val="100000"/>
                  <a:buFont typeface="Wingdings" pitchFamily="2" charset="2"/>
                  <a:buChar char="§"/>
                  <a:defRPr/>
                </a:pPr>
                <a:r>
                  <a:rPr kumimoji="0" lang="en-US" altLang="ja-JP" sz="2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ＭＳ Ｐゴシック" panose="020B0600070205080204" pitchFamily="34" charset="-128"/>
                  </a:rPr>
                  <a:t>Looks up </a:t>
                </a:r>
                <a:r>
                  <a:rPr lang="en-US" altLang="ja-JP" sz="20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/>
                    <a:ea typeface="ＭＳ Ｐゴシック" panose="020B0600070205080204" pitchFamily="34" charset="-128"/>
                    <a:cs typeface="ＭＳ Ｐゴシック" panose="020B0600070205080204" pitchFamily="34" charset="-128"/>
                  </a:rPr>
                  <a:t>the next hop/interface the packet should go to.</a:t>
                </a:r>
              </a:p>
              <a:p>
                <a:pPr lvl="1" indent="-342900">
                  <a:lnSpc>
                    <a:spcPct val="90000"/>
                  </a:lnSpc>
                  <a:buSzPct val="100000"/>
                  <a:buFont typeface="Wingdings" pitchFamily="2" charset="2"/>
                  <a:buChar char="§"/>
                  <a:defRPr/>
                </a:pPr>
                <a:r>
                  <a:rPr lang="en-US" altLang="ja-JP" sz="20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/>
                    <a:ea typeface="ＭＳ Ｐゴシック" panose="020B0600070205080204" pitchFamily="34" charset="-128"/>
                    <a:cs typeface="ＭＳ Ｐゴシック" panose="020B0600070205080204" pitchFamily="34" charset="-128"/>
                  </a:rPr>
                  <a:t>The switching fabric will then move the packet to exit from that interface (output port)</a:t>
                </a:r>
              </a:p>
            </p:txBody>
          </p:sp>
          <p:sp>
            <p:nvSpPr>
              <p:cNvPr id="118" name="Line 60">
                <a:extLst>
                  <a:ext uri="{FF2B5EF4-FFF2-40B4-BE49-F238E27FC236}">
                    <a16:creationId xmlns:a16="http://schemas.microsoft.com/office/drawing/2014/main" id="{FFF5D7A3-77C9-D34E-AC43-6A097D73FE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67946" y="3282260"/>
                <a:ext cx="669925" cy="790575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D2B58EA-90EB-22DC-70F2-0EE6BCA02F30}"/>
              </a:ext>
            </a:extLst>
          </p:cNvPr>
          <p:cNvGrpSpPr/>
          <p:nvPr/>
        </p:nvGrpSpPr>
        <p:grpSpPr>
          <a:xfrm>
            <a:off x="1206822" y="5121273"/>
            <a:ext cx="2137372" cy="695498"/>
            <a:chOff x="646967" y="5446716"/>
            <a:chExt cx="2137372" cy="695498"/>
          </a:xfrm>
        </p:grpSpPr>
        <p:pic>
          <p:nvPicPr>
            <p:cNvPr id="9" name="Picture 8" descr="Icon&#10;&#10;Description automatically generated">
              <a:extLst>
                <a:ext uri="{FF2B5EF4-FFF2-40B4-BE49-F238E27FC236}">
                  <a16:creationId xmlns:a16="http://schemas.microsoft.com/office/drawing/2014/main" id="{4CC8409D-09E5-7BEE-7B96-571D305DC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6967" y="5446716"/>
              <a:ext cx="505593" cy="69549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06794DD-4CEC-4221-126D-5947BA568F5C}"/>
                </a:ext>
              </a:extLst>
            </p:cNvPr>
            <p:cNvSpPr txBox="1"/>
            <p:nvPr/>
          </p:nvSpPr>
          <p:spPr>
            <a:xfrm>
              <a:off x="1171610" y="5609799"/>
              <a:ext cx="16127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F</a:t>
              </a: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rame</a:t>
              </a:r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106228-C860-72EA-13E6-FF5F1BE226A2}"/>
              </a:ext>
            </a:extLst>
          </p:cNvPr>
          <p:cNvGrpSpPr/>
          <p:nvPr/>
        </p:nvGrpSpPr>
        <p:grpSpPr>
          <a:xfrm>
            <a:off x="6844333" y="2806194"/>
            <a:ext cx="2235870" cy="1007085"/>
            <a:chOff x="6844333" y="2806194"/>
            <a:chExt cx="2235870" cy="1007085"/>
          </a:xfrm>
        </p:grpSpPr>
        <p:sp>
          <p:nvSpPr>
            <p:cNvPr id="16" name="Rounded Rectangular Callout 15">
              <a:extLst>
                <a:ext uri="{FF2B5EF4-FFF2-40B4-BE49-F238E27FC236}">
                  <a16:creationId xmlns:a16="http://schemas.microsoft.com/office/drawing/2014/main" id="{1490BC80-40CE-40B9-5D35-8D5390035C0E}"/>
                </a:ext>
              </a:extLst>
            </p:cNvPr>
            <p:cNvSpPr/>
            <p:nvPr/>
          </p:nvSpPr>
          <p:spPr>
            <a:xfrm>
              <a:off x="6844333" y="2806194"/>
              <a:ext cx="1779588" cy="1007085"/>
            </a:xfrm>
            <a:prstGeom prst="wedgeRoundRectCallout">
              <a:avLst>
                <a:gd name="adj1" fmla="val -64240"/>
                <a:gd name="adj2" fmla="val -54353"/>
                <a:gd name="adj3" fmla="val 16667"/>
              </a:avLst>
            </a:prstGeom>
            <a:ln w="254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62B92C9B-3280-B0FC-57E4-90B0C0B4A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2236" y="2971427"/>
              <a:ext cx="451829" cy="62166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302DA1C-B2FD-2081-47D6-966E745AB1A0}"/>
                </a:ext>
              </a:extLst>
            </p:cNvPr>
            <p:cNvSpPr txBox="1"/>
            <p:nvPr/>
          </p:nvSpPr>
          <p:spPr>
            <a:xfrm>
              <a:off x="7467474" y="3131380"/>
              <a:ext cx="16127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Datagram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6934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B1128-B8E1-7C40-B73B-BD6D4E180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696" y="1379472"/>
            <a:ext cx="11035748" cy="634860"/>
          </a:xfrm>
        </p:spPr>
        <p:txBody>
          <a:bodyPr>
            <a:normAutofit/>
          </a:bodyPr>
          <a:lstStyle/>
          <a:p>
            <a:pPr indent="-287338">
              <a:buFont typeface="Wingdings" charset="2"/>
              <a:buChar char="§"/>
              <a:defRPr/>
            </a:pPr>
            <a:r>
              <a:rPr lang="en-US" sz="3200" dirty="0"/>
              <a:t>transfer packets from input links to appropriate output links</a:t>
            </a:r>
          </a:p>
          <a:p>
            <a:pPr indent="-287338">
              <a:buFont typeface="Wingdings" charset="2"/>
              <a:buChar char="§"/>
              <a:defRPr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Switching fabrics</a:t>
            </a:r>
            <a:endParaRPr lang="en-US" sz="4800" dirty="0"/>
          </a:p>
        </p:txBody>
      </p:sp>
      <p:grpSp>
        <p:nvGrpSpPr>
          <p:cNvPr id="140" name="Group 60">
            <a:extLst>
              <a:ext uri="{FF2B5EF4-FFF2-40B4-BE49-F238E27FC236}">
                <a16:creationId xmlns:a16="http://schemas.microsoft.com/office/drawing/2014/main" id="{E16CE5B6-2BB1-8843-9C94-E2F2D5BE7F75}"/>
              </a:ext>
            </a:extLst>
          </p:cNvPr>
          <p:cNvGrpSpPr>
            <a:grpSpLocks/>
          </p:cNvGrpSpPr>
          <p:nvPr/>
        </p:nvGrpSpPr>
        <p:grpSpPr bwMode="auto">
          <a:xfrm>
            <a:off x="4510432" y="3943350"/>
            <a:ext cx="1609725" cy="2343150"/>
            <a:chOff x="2418" y="1882"/>
            <a:chExt cx="1014" cy="14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1" name="Rectangle 45">
              <a:extLst>
                <a:ext uri="{FF2B5EF4-FFF2-40B4-BE49-F238E27FC236}">
                  <a16:creationId xmlns:a16="http://schemas.microsoft.com/office/drawing/2014/main" id="{F26101B5-1F43-6C44-B633-4C17C2A3D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882"/>
              <a:ext cx="1014" cy="147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2" name="Text Box 48">
              <a:extLst>
                <a:ext uri="{FF2B5EF4-FFF2-40B4-BE49-F238E27FC236}">
                  <a16:creationId xmlns:a16="http://schemas.microsoft.com/office/drawing/2014/main" id="{1E1E4579-D30C-D245-B0D4-E5A2AEC25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5" y="2418"/>
              <a:ext cx="876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high-speed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switching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</p:txBody>
        </p:sp>
      </p:grpSp>
      <p:sp>
        <p:nvSpPr>
          <p:cNvPr id="160" name="Text Box 57">
            <a:extLst>
              <a:ext uri="{FF2B5EF4-FFF2-40B4-BE49-F238E27FC236}">
                <a16:creationId xmlns:a16="http://schemas.microsoft.com/office/drawing/2014/main" id="{F1679189-37C6-6D40-A05F-4B13D87DE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772" y="4857819"/>
            <a:ext cx="14927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 input ports</a:t>
            </a:r>
          </a:p>
        </p:txBody>
      </p:sp>
      <p:grpSp>
        <p:nvGrpSpPr>
          <p:cNvPr id="168" name="Group 38">
            <a:extLst>
              <a:ext uri="{FF2B5EF4-FFF2-40B4-BE49-F238E27FC236}">
                <a16:creationId xmlns:a16="http://schemas.microsoft.com/office/drawing/2014/main" id="{8AC17FBD-D822-CD43-929D-2CC812BF0667}"/>
              </a:ext>
            </a:extLst>
          </p:cNvPr>
          <p:cNvGrpSpPr>
            <a:grpSpLocks/>
          </p:cNvGrpSpPr>
          <p:nvPr/>
        </p:nvGrpSpPr>
        <p:grpSpPr bwMode="auto">
          <a:xfrm>
            <a:off x="6149007" y="5709203"/>
            <a:ext cx="1472095" cy="386798"/>
            <a:chOff x="-51" y="2454"/>
            <a:chExt cx="1482" cy="357"/>
          </a:xfrm>
        </p:grpSpPr>
        <p:grpSp>
          <p:nvGrpSpPr>
            <p:cNvPr id="169" name="Group 39">
              <a:extLst>
                <a:ext uri="{FF2B5EF4-FFF2-40B4-BE49-F238E27FC236}">
                  <a16:creationId xmlns:a16="http://schemas.microsoft.com/office/drawing/2014/main" id="{0892708C-B62F-1443-A450-88C550BC04B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171" name="Rectangle 40">
                <a:extLst>
                  <a:ext uri="{FF2B5EF4-FFF2-40B4-BE49-F238E27FC236}">
                    <a16:creationId xmlns:a16="http://schemas.microsoft.com/office/drawing/2014/main" id="{646AD0B4-3035-904E-BC08-F1F7B9E66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2" name="Rectangle 41">
                <a:extLst>
                  <a:ext uri="{FF2B5EF4-FFF2-40B4-BE49-F238E27FC236}">
                    <a16:creationId xmlns:a16="http://schemas.microsoft.com/office/drawing/2014/main" id="{C11D294C-080E-E146-92DD-4E0970AA1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3" name="Rectangle 42">
                <a:extLst>
                  <a:ext uri="{FF2B5EF4-FFF2-40B4-BE49-F238E27FC236}">
                    <a16:creationId xmlns:a16="http://schemas.microsoft.com/office/drawing/2014/main" id="{AEC771A2-E626-8246-BD5D-885A3F2322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4" name="Rectangle 43">
                <a:extLst>
                  <a:ext uri="{FF2B5EF4-FFF2-40B4-BE49-F238E27FC236}">
                    <a16:creationId xmlns:a16="http://schemas.microsoft.com/office/drawing/2014/main" id="{D9ACADB5-CB99-0C44-953C-36D248E85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70" name="Line 44">
              <a:extLst>
                <a:ext uri="{FF2B5EF4-FFF2-40B4-BE49-F238E27FC236}">
                  <a16:creationId xmlns:a16="http://schemas.microsoft.com/office/drawing/2014/main" id="{0B5CB4ED-80BB-FD4A-8E51-691C12DA6F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Text Box 57">
            <a:extLst>
              <a:ext uri="{FF2B5EF4-FFF2-40B4-BE49-F238E27FC236}">
                <a16:creationId xmlns:a16="http://schemas.microsoft.com/office/drawing/2014/main" id="{7B04503A-E5E8-3F47-B2CA-2C4493C55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78" y="4864446"/>
            <a:ext cx="163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 output ports</a:t>
            </a:r>
          </a:p>
        </p:txBody>
      </p:sp>
      <p:grpSp>
        <p:nvGrpSpPr>
          <p:cNvPr id="182" name="Group 38">
            <a:extLst>
              <a:ext uri="{FF2B5EF4-FFF2-40B4-BE49-F238E27FC236}">
                <a16:creationId xmlns:a16="http://schemas.microsoft.com/office/drawing/2014/main" id="{0D66BD80-759C-4845-8712-8D0B4AF84EF1}"/>
              </a:ext>
            </a:extLst>
          </p:cNvPr>
          <p:cNvGrpSpPr>
            <a:grpSpLocks/>
          </p:cNvGrpSpPr>
          <p:nvPr/>
        </p:nvGrpSpPr>
        <p:grpSpPr bwMode="auto">
          <a:xfrm>
            <a:off x="6155633" y="4072559"/>
            <a:ext cx="1472095" cy="386798"/>
            <a:chOff x="-51" y="2454"/>
            <a:chExt cx="1482" cy="357"/>
          </a:xfrm>
        </p:grpSpPr>
        <p:grpSp>
          <p:nvGrpSpPr>
            <p:cNvPr id="183" name="Group 39">
              <a:extLst>
                <a:ext uri="{FF2B5EF4-FFF2-40B4-BE49-F238E27FC236}">
                  <a16:creationId xmlns:a16="http://schemas.microsoft.com/office/drawing/2014/main" id="{5C936A85-45B9-074E-B843-773AFF5135C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185" name="Rectangle 40">
                <a:extLst>
                  <a:ext uri="{FF2B5EF4-FFF2-40B4-BE49-F238E27FC236}">
                    <a16:creationId xmlns:a16="http://schemas.microsoft.com/office/drawing/2014/main" id="{B622FEB5-7929-1240-B7D5-15643E719F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6" name="Rectangle 41">
                <a:extLst>
                  <a:ext uri="{FF2B5EF4-FFF2-40B4-BE49-F238E27FC236}">
                    <a16:creationId xmlns:a16="http://schemas.microsoft.com/office/drawing/2014/main" id="{9EC76602-1084-F84D-AD9A-D96EB15A89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7" name="Rectangle 42">
                <a:extLst>
                  <a:ext uri="{FF2B5EF4-FFF2-40B4-BE49-F238E27FC236}">
                    <a16:creationId xmlns:a16="http://schemas.microsoft.com/office/drawing/2014/main" id="{DD155316-70EC-7F4D-B61B-21231E854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8" name="Rectangle 43">
                <a:extLst>
                  <a:ext uri="{FF2B5EF4-FFF2-40B4-BE49-F238E27FC236}">
                    <a16:creationId xmlns:a16="http://schemas.microsoft.com/office/drawing/2014/main" id="{BFE2402A-9D06-854F-8BB0-978456C98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84" name="Line 44">
              <a:extLst>
                <a:ext uri="{FF2B5EF4-FFF2-40B4-BE49-F238E27FC236}">
                  <a16:creationId xmlns:a16="http://schemas.microsoft.com/office/drawing/2014/main" id="{D7FF759B-D504-9D47-8A31-C0C49E47A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7B67A3-971A-E044-9E63-6007998B6291}"/>
              </a:ext>
            </a:extLst>
          </p:cNvPr>
          <p:cNvSpPr txBox="1"/>
          <p:nvPr/>
        </p:nvSpPr>
        <p:spPr>
          <a:xfrm rot="5400000">
            <a:off x="6248400" y="4708389"/>
            <a:ext cx="927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90C8DE0E-9EEF-204C-9448-24E1458DC419}"/>
              </a:ext>
            </a:extLst>
          </p:cNvPr>
          <p:cNvSpPr txBox="1"/>
          <p:nvPr/>
        </p:nvSpPr>
        <p:spPr>
          <a:xfrm rot="5400000">
            <a:off x="3472070" y="4715016"/>
            <a:ext cx="927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grpSp>
        <p:nvGrpSpPr>
          <p:cNvPr id="192" name="Group 39">
            <a:extLst>
              <a:ext uri="{FF2B5EF4-FFF2-40B4-BE49-F238E27FC236}">
                <a16:creationId xmlns:a16="http://schemas.microsoft.com/office/drawing/2014/main" id="{43EE5875-DB50-8F42-9E84-EBF455D6C7E5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3242010" y="4065933"/>
            <a:ext cx="1078742" cy="386798"/>
            <a:chOff x="171" y="2454"/>
            <a:chExt cx="1086" cy="357"/>
          </a:xfrm>
        </p:grpSpPr>
        <p:sp>
          <p:nvSpPr>
            <p:cNvPr id="194" name="Rectangle 40">
              <a:extLst>
                <a:ext uri="{FF2B5EF4-FFF2-40B4-BE49-F238E27FC236}">
                  <a16:creationId xmlns:a16="http://schemas.microsoft.com/office/drawing/2014/main" id="{906CC695-2DD1-2E42-A750-72D294151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54"/>
              <a:ext cx="1084" cy="35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5" name="Rectangle 41">
              <a:extLst>
                <a:ext uri="{FF2B5EF4-FFF2-40B4-BE49-F238E27FC236}">
                  <a16:creationId xmlns:a16="http://schemas.microsoft.com/office/drawing/2014/main" id="{99D0D5A4-1E5B-0B43-A1B7-FD7BC835D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2554"/>
              <a:ext cx="337" cy="1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6" name="Rectangle 42">
              <a:extLst>
                <a:ext uri="{FF2B5EF4-FFF2-40B4-BE49-F238E27FC236}">
                  <a16:creationId xmlns:a16="http://schemas.microsoft.com/office/drawing/2014/main" id="{6140224D-DBC1-EB40-AFE8-D6D0132B5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2490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7" name="Rectangle 43">
              <a:extLst>
                <a:ext uri="{FF2B5EF4-FFF2-40B4-BE49-F238E27FC236}">
                  <a16:creationId xmlns:a16="http://schemas.microsoft.com/office/drawing/2014/main" id="{0A00DDFA-F665-324F-A415-D0B5E35A5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2488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93" name="Line 44">
            <a:extLst>
              <a:ext uri="{FF2B5EF4-FFF2-40B4-BE49-F238E27FC236}">
                <a16:creationId xmlns:a16="http://schemas.microsoft.com/office/drawing/2014/main" id="{A888E476-EAD9-6C4A-A7A3-DDB9C8C3A0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494" y="4260957"/>
            <a:ext cx="14720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9" name="Group 39">
            <a:extLst>
              <a:ext uri="{FF2B5EF4-FFF2-40B4-BE49-F238E27FC236}">
                <a16:creationId xmlns:a16="http://schemas.microsoft.com/office/drawing/2014/main" id="{861F8D20-AD91-3246-9499-A09CBEB79CED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3248636" y="5729080"/>
            <a:ext cx="1078742" cy="386798"/>
            <a:chOff x="171" y="2454"/>
            <a:chExt cx="1086" cy="357"/>
          </a:xfrm>
        </p:grpSpPr>
        <p:sp>
          <p:nvSpPr>
            <p:cNvPr id="201" name="Rectangle 40">
              <a:extLst>
                <a:ext uri="{FF2B5EF4-FFF2-40B4-BE49-F238E27FC236}">
                  <a16:creationId xmlns:a16="http://schemas.microsoft.com/office/drawing/2014/main" id="{C04E48EB-4A34-004B-84AD-61BC56BA5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54"/>
              <a:ext cx="1084" cy="35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2" name="Rectangle 41">
              <a:extLst>
                <a:ext uri="{FF2B5EF4-FFF2-40B4-BE49-F238E27FC236}">
                  <a16:creationId xmlns:a16="http://schemas.microsoft.com/office/drawing/2014/main" id="{D0C6BD53-6130-A748-BC48-3FA658887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2554"/>
              <a:ext cx="337" cy="1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42">
              <a:extLst>
                <a:ext uri="{FF2B5EF4-FFF2-40B4-BE49-F238E27FC236}">
                  <a16:creationId xmlns:a16="http://schemas.microsoft.com/office/drawing/2014/main" id="{19984A44-E408-0A4C-A437-40EAEAA84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2490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Rectangle 43">
              <a:extLst>
                <a:ext uri="{FF2B5EF4-FFF2-40B4-BE49-F238E27FC236}">
                  <a16:creationId xmlns:a16="http://schemas.microsoft.com/office/drawing/2014/main" id="{30660A84-3620-0541-9A93-C5E1D76F1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2488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00" name="Line 44">
            <a:extLst>
              <a:ext uri="{FF2B5EF4-FFF2-40B4-BE49-F238E27FC236}">
                <a16:creationId xmlns:a16="http://schemas.microsoft.com/office/drawing/2014/main" id="{975E947C-3697-5947-8DC9-3EF33B31B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8120" y="5924104"/>
            <a:ext cx="14720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Content Placeholder 2">
            <a:extLst>
              <a:ext uri="{FF2B5EF4-FFF2-40B4-BE49-F238E27FC236}">
                <a16:creationId xmlns:a16="http://schemas.microsoft.com/office/drawing/2014/main" id="{DC2E6EA4-0C86-5F4C-BB3E-C92E5B769FC5}"/>
              </a:ext>
            </a:extLst>
          </p:cNvPr>
          <p:cNvSpPr txBox="1">
            <a:spLocks/>
          </p:cNvSpPr>
          <p:nvPr/>
        </p:nvSpPr>
        <p:spPr>
          <a:xfrm>
            <a:off x="805070" y="1889680"/>
            <a:ext cx="11035748" cy="17207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Suppose</a:t>
            </a:r>
          </a:p>
          <a:p>
            <a:pPr lvl="1" indent="-287338">
              <a:spcBef>
                <a:spcPts val="1000"/>
              </a:spcBef>
              <a:buClr>
                <a:srgbClr val="0000A3"/>
              </a:buClr>
              <a:buFont typeface="Wingdings" charset="2"/>
              <a:buChar char="§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packets are of the same size</a:t>
            </a:r>
          </a:p>
          <a:p>
            <a:pPr lvl="1" indent="-287338">
              <a:spcBef>
                <a:spcPts val="1000"/>
              </a:spcBef>
              <a:buClr>
                <a:srgbClr val="0000A3"/>
              </a:buClr>
              <a:buFont typeface="Wingdings" charset="2"/>
              <a:buChar char="§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Define the time it takes to send/receive a packet on a port as our time unit, and call it a </a:t>
            </a:r>
            <a:r>
              <a:rPr lang="en-US" sz="2800" i="1" dirty="0">
                <a:solidFill>
                  <a:srgbClr val="010F90"/>
                </a:solidFill>
                <a:latin typeface="Calibri" panose="020F0502020204030204"/>
              </a:rPr>
              <a:t>tick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(today, that’s usually a few nanoseconds!)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010F90"/>
              </a:solidFill>
              <a:effectLst/>
              <a:uLnTx/>
              <a:uFillTx/>
              <a:latin typeface="Calibri" panose="020F0502020204030204"/>
            </a:endParaRPr>
          </a:p>
          <a:p>
            <a:pPr marL="407987" lvl="1" indent="0">
              <a:spcBef>
                <a:spcPts val="1000"/>
              </a:spcBef>
              <a:buClr>
                <a:srgbClr val="0000A3"/>
              </a:buClr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77334-DD7E-1B48-8BC7-370BDB02F09A}"/>
              </a:ext>
            </a:extLst>
          </p:cNvPr>
          <p:cNvSpPr txBox="1"/>
          <p:nvPr/>
        </p:nvSpPr>
        <p:spPr>
          <a:xfrm>
            <a:off x="2756452" y="408167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38F21D3F-8391-534C-9242-3758758C301A}"/>
              </a:ext>
            </a:extLst>
          </p:cNvPr>
          <p:cNvSpPr txBox="1"/>
          <p:nvPr/>
        </p:nvSpPr>
        <p:spPr>
          <a:xfrm>
            <a:off x="2749826" y="571831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58A4E43E-89E0-E547-8C85-19EA30836952}"/>
              </a:ext>
            </a:extLst>
          </p:cNvPr>
          <p:cNvSpPr txBox="1"/>
          <p:nvPr/>
        </p:nvSpPr>
        <p:spPr>
          <a:xfrm>
            <a:off x="7593495" y="408167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94AA5E3-B3F2-B445-8CEF-84D33DC4565C}"/>
              </a:ext>
            </a:extLst>
          </p:cNvPr>
          <p:cNvSpPr txBox="1"/>
          <p:nvPr/>
        </p:nvSpPr>
        <p:spPr>
          <a:xfrm>
            <a:off x="7586868" y="571831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33635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Switching fabrics</a:t>
            </a:r>
            <a:endParaRPr lang="en-US" sz="4800" dirty="0"/>
          </a:p>
        </p:txBody>
      </p:sp>
      <p:grpSp>
        <p:nvGrpSpPr>
          <p:cNvPr id="140" name="Group 60">
            <a:extLst>
              <a:ext uri="{FF2B5EF4-FFF2-40B4-BE49-F238E27FC236}">
                <a16:creationId xmlns:a16="http://schemas.microsoft.com/office/drawing/2014/main" id="{E16CE5B6-2BB1-8843-9C94-E2F2D5BE7F75}"/>
              </a:ext>
            </a:extLst>
          </p:cNvPr>
          <p:cNvGrpSpPr>
            <a:grpSpLocks/>
          </p:cNvGrpSpPr>
          <p:nvPr/>
        </p:nvGrpSpPr>
        <p:grpSpPr bwMode="auto">
          <a:xfrm>
            <a:off x="4510432" y="3943350"/>
            <a:ext cx="1609725" cy="2343150"/>
            <a:chOff x="2418" y="1882"/>
            <a:chExt cx="1014" cy="14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1" name="Rectangle 45">
              <a:extLst>
                <a:ext uri="{FF2B5EF4-FFF2-40B4-BE49-F238E27FC236}">
                  <a16:creationId xmlns:a16="http://schemas.microsoft.com/office/drawing/2014/main" id="{F26101B5-1F43-6C44-B633-4C17C2A3D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882"/>
              <a:ext cx="1014" cy="147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2" name="Text Box 48">
              <a:extLst>
                <a:ext uri="{FF2B5EF4-FFF2-40B4-BE49-F238E27FC236}">
                  <a16:creationId xmlns:a16="http://schemas.microsoft.com/office/drawing/2014/main" id="{1E1E4579-D30C-D245-B0D4-E5A2AEC25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5" y="2418"/>
              <a:ext cx="876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high-speed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switching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</p:txBody>
        </p:sp>
      </p:grpSp>
      <p:sp>
        <p:nvSpPr>
          <p:cNvPr id="160" name="Text Box 57">
            <a:extLst>
              <a:ext uri="{FF2B5EF4-FFF2-40B4-BE49-F238E27FC236}">
                <a16:creationId xmlns:a16="http://schemas.microsoft.com/office/drawing/2014/main" id="{F1679189-37C6-6D40-A05F-4B13D87DE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772" y="4857819"/>
            <a:ext cx="14927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 input ports</a:t>
            </a:r>
          </a:p>
        </p:txBody>
      </p:sp>
      <p:grpSp>
        <p:nvGrpSpPr>
          <p:cNvPr id="168" name="Group 38">
            <a:extLst>
              <a:ext uri="{FF2B5EF4-FFF2-40B4-BE49-F238E27FC236}">
                <a16:creationId xmlns:a16="http://schemas.microsoft.com/office/drawing/2014/main" id="{8AC17FBD-D822-CD43-929D-2CC812BF0667}"/>
              </a:ext>
            </a:extLst>
          </p:cNvPr>
          <p:cNvGrpSpPr>
            <a:grpSpLocks/>
          </p:cNvGrpSpPr>
          <p:nvPr/>
        </p:nvGrpSpPr>
        <p:grpSpPr bwMode="auto">
          <a:xfrm>
            <a:off x="6149007" y="5709203"/>
            <a:ext cx="1472095" cy="386798"/>
            <a:chOff x="-51" y="2454"/>
            <a:chExt cx="1482" cy="357"/>
          </a:xfrm>
        </p:grpSpPr>
        <p:grpSp>
          <p:nvGrpSpPr>
            <p:cNvPr id="169" name="Group 39">
              <a:extLst>
                <a:ext uri="{FF2B5EF4-FFF2-40B4-BE49-F238E27FC236}">
                  <a16:creationId xmlns:a16="http://schemas.microsoft.com/office/drawing/2014/main" id="{0892708C-B62F-1443-A450-88C550BC04B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171" name="Rectangle 40">
                <a:extLst>
                  <a:ext uri="{FF2B5EF4-FFF2-40B4-BE49-F238E27FC236}">
                    <a16:creationId xmlns:a16="http://schemas.microsoft.com/office/drawing/2014/main" id="{646AD0B4-3035-904E-BC08-F1F7B9E66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2" name="Rectangle 41">
                <a:extLst>
                  <a:ext uri="{FF2B5EF4-FFF2-40B4-BE49-F238E27FC236}">
                    <a16:creationId xmlns:a16="http://schemas.microsoft.com/office/drawing/2014/main" id="{C11D294C-080E-E146-92DD-4E0970AA1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3" name="Rectangle 42">
                <a:extLst>
                  <a:ext uri="{FF2B5EF4-FFF2-40B4-BE49-F238E27FC236}">
                    <a16:creationId xmlns:a16="http://schemas.microsoft.com/office/drawing/2014/main" id="{AEC771A2-E626-8246-BD5D-885A3F2322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4" name="Rectangle 43">
                <a:extLst>
                  <a:ext uri="{FF2B5EF4-FFF2-40B4-BE49-F238E27FC236}">
                    <a16:creationId xmlns:a16="http://schemas.microsoft.com/office/drawing/2014/main" id="{D9ACADB5-CB99-0C44-953C-36D248E85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70" name="Line 44">
              <a:extLst>
                <a:ext uri="{FF2B5EF4-FFF2-40B4-BE49-F238E27FC236}">
                  <a16:creationId xmlns:a16="http://schemas.microsoft.com/office/drawing/2014/main" id="{0B5CB4ED-80BB-FD4A-8E51-691C12DA6F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Text Box 57">
            <a:extLst>
              <a:ext uri="{FF2B5EF4-FFF2-40B4-BE49-F238E27FC236}">
                <a16:creationId xmlns:a16="http://schemas.microsoft.com/office/drawing/2014/main" id="{7B04503A-E5E8-3F47-B2CA-2C4493C55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78" y="4864446"/>
            <a:ext cx="163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 output ports</a:t>
            </a:r>
          </a:p>
        </p:txBody>
      </p:sp>
      <p:grpSp>
        <p:nvGrpSpPr>
          <p:cNvPr id="182" name="Group 38">
            <a:extLst>
              <a:ext uri="{FF2B5EF4-FFF2-40B4-BE49-F238E27FC236}">
                <a16:creationId xmlns:a16="http://schemas.microsoft.com/office/drawing/2014/main" id="{0D66BD80-759C-4845-8712-8D0B4AF84EF1}"/>
              </a:ext>
            </a:extLst>
          </p:cNvPr>
          <p:cNvGrpSpPr>
            <a:grpSpLocks/>
          </p:cNvGrpSpPr>
          <p:nvPr/>
        </p:nvGrpSpPr>
        <p:grpSpPr bwMode="auto">
          <a:xfrm>
            <a:off x="6155633" y="4072559"/>
            <a:ext cx="1472095" cy="386798"/>
            <a:chOff x="-51" y="2454"/>
            <a:chExt cx="1482" cy="357"/>
          </a:xfrm>
        </p:grpSpPr>
        <p:grpSp>
          <p:nvGrpSpPr>
            <p:cNvPr id="183" name="Group 39">
              <a:extLst>
                <a:ext uri="{FF2B5EF4-FFF2-40B4-BE49-F238E27FC236}">
                  <a16:creationId xmlns:a16="http://schemas.microsoft.com/office/drawing/2014/main" id="{5C936A85-45B9-074E-B843-773AFF5135C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185" name="Rectangle 40">
                <a:extLst>
                  <a:ext uri="{FF2B5EF4-FFF2-40B4-BE49-F238E27FC236}">
                    <a16:creationId xmlns:a16="http://schemas.microsoft.com/office/drawing/2014/main" id="{B622FEB5-7929-1240-B7D5-15643E719F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6" name="Rectangle 41">
                <a:extLst>
                  <a:ext uri="{FF2B5EF4-FFF2-40B4-BE49-F238E27FC236}">
                    <a16:creationId xmlns:a16="http://schemas.microsoft.com/office/drawing/2014/main" id="{9EC76602-1084-F84D-AD9A-D96EB15A89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7" name="Rectangle 42">
                <a:extLst>
                  <a:ext uri="{FF2B5EF4-FFF2-40B4-BE49-F238E27FC236}">
                    <a16:creationId xmlns:a16="http://schemas.microsoft.com/office/drawing/2014/main" id="{DD155316-70EC-7F4D-B61B-21231E854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8" name="Rectangle 43">
                <a:extLst>
                  <a:ext uri="{FF2B5EF4-FFF2-40B4-BE49-F238E27FC236}">
                    <a16:creationId xmlns:a16="http://schemas.microsoft.com/office/drawing/2014/main" id="{BFE2402A-9D06-854F-8BB0-978456C98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84" name="Line 44">
              <a:extLst>
                <a:ext uri="{FF2B5EF4-FFF2-40B4-BE49-F238E27FC236}">
                  <a16:creationId xmlns:a16="http://schemas.microsoft.com/office/drawing/2014/main" id="{D7FF759B-D504-9D47-8A31-C0C49E47A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7B67A3-971A-E044-9E63-6007998B6291}"/>
              </a:ext>
            </a:extLst>
          </p:cNvPr>
          <p:cNvSpPr txBox="1"/>
          <p:nvPr/>
        </p:nvSpPr>
        <p:spPr>
          <a:xfrm rot="5400000">
            <a:off x="6248400" y="4708389"/>
            <a:ext cx="927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90C8DE0E-9EEF-204C-9448-24E1458DC419}"/>
              </a:ext>
            </a:extLst>
          </p:cNvPr>
          <p:cNvSpPr txBox="1"/>
          <p:nvPr/>
        </p:nvSpPr>
        <p:spPr>
          <a:xfrm rot="5400000">
            <a:off x="3472070" y="4715016"/>
            <a:ext cx="927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grpSp>
        <p:nvGrpSpPr>
          <p:cNvPr id="192" name="Group 39">
            <a:extLst>
              <a:ext uri="{FF2B5EF4-FFF2-40B4-BE49-F238E27FC236}">
                <a16:creationId xmlns:a16="http://schemas.microsoft.com/office/drawing/2014/main" id="{43EE5875-DB50-8F42-9E84-EBF455D6C7E5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3242010" y="4065933"/>
            <a:ext cx="1078742" cy="386798"/>
            <a:chOff x="171" y="2454"/>
            <a:chExt cx="1086" cy="357"/>
          </a:xfrm>
        </p:grpSpPr>
        <p:sp>
          <p:nvSpPr>
            <p:cNvPr id="194" name="Rectangle 40">
              <a:extLst>
                <a:ext uri="{FF2B5EF4-FFF2-40B4-BE49-F238E27FC236}">
                  <a16:creationId xmlns:a16="http://schemas.microsoft.com/office/drawing/2014/main" id="{906CC695-2DD1-2E42-A750-72D294151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54"/>
              <a:ext cx="1084" cy="35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5" name="Rectangle 41">
              <a:extLst>
                <a:ext uri="{FF2B5EF4-FFF2-40B4-BE49-F238E27FC236}">
                  <a16:creationId xmlns:a16="http://schemas.microsoft.com/office/drawing/2014/main" id="{99D0D5A4-1E5B-0B43-A1B7-FD7BC835D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2554"/>
              <a:ext cx="337" cy="1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6" name="Rectangle 42">
              <a:extLst>
                <a:ext uri="{FF2B5EF4-FFF2-40B4-BE49-F238E27FC236}">
                  <a16:creationId xmlns:a16="http://schemas.microsoft.com/office/drawing/2014/main" id="{6140224D-DBC1-EB40-AFE8-D6D0132B5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2490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7" name="Rectangle 43">
              <a:extLst>
                <a:ext uri="{FF2B5EF4-FFF2-40B4-BE49-F238E27FC236}">
                  <a16:creationId xmlns:a16="http://schemas.microsoft.com/office/drawing/2014/main" id="{0A00DDFA-F665-324F-A415-D0B5E35A5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2488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93" name="Line 44">
            <a:extLst>
              <a:ext uri="{FF2B5EF4-FFF2-40B4-BE49-F238E27FC236}">
                <a16:creationId xmlns:a16="http://schemas.microsoft.com/office/drawing/2014/main" id="{A888E476-EAD9-6C4A-A7A3-DDB9C8C3A0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494" y="4260957"/>
            <a:ext cx="14720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9" name="Group 39">
            <a:extLst>
              <a:ext uri="{FF2B5EF4-FFF2-40B4-BE49-F238E27FC236}">
                <a16:creationId xmlns:a16="http://schemas.microsoft.com/office/drawing/2014/main" id="{861F8D20-AD91-3246-9499-A09CBEB79CED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3248636" y="5729080"/>
            <a:ext cx="1078742" cy="386798"/>
            <a:chOff x="171" y="2454"/>
            <a:chExt cx="1086" cy="357"/>
          </a:xfrm>
        </p:grpSpPr>
        <p:sp>
          <p:nvSpPr>
            <p:cNvPr id="201" name="Rectangle 40">
              <a:extLst>
                <a:ext uri="{FF2B5EF4-FFF2-40B4-BE49-F238E27FC236}">
                  <a16:creationId xmlns:a16="http://schemas.microsoft.com/office/drawing/2014/main" id="{C04E48EB-4A34-004B-84AD-61BC56BA5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54"/>
              <a:ext cx="1084" cy="35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2" name="Rectangle 41">
              <a:extLst>
                <a:ext uri="{FF2B5EF4-FFF2-40B4-BE49-F238E27FC236}">
                  <a16:creationId xmlns:a16="http://schemas.microsoft.com/office/drawing/2014/main" id="{D0C6BD53-6130-A748-BC48-3FA658887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2554"/>
              <a:ext cx="337" cy="1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42">
              <a:extLst>
                <a:ext uri="{FF2B5EF4-FFF2-40B4-BE49-F238E27FC236}">
                  <a16:creationId xmlns:a16="http://schemas.microsoft.com/office/drawing/2014/main" id="{19984A44-E408-0A4C-A437-40EAEAA84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2490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Rectangle 43">
              <a:extLst>
                <a:ext uri="{FF2B5EF4-FFF2-40B4-BE49-F238E27FC236}">
                  <a16:creationId xmlns:a16="http://schemas.microsoft.com/office/drawing/2014/main" id="{30660A84-3620-0541-9A93-C5E1D76F1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2488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00" name="Line 44">
            <a:extLst>
              <a:ext uri="{FF2B5EF4-FFF2-40B4-BE49-F238E27FC236}">
                <a16:creationId xmlns:a16="http://schemas.microsoft.com/office/drawing/2014/main" id="{975E947C-3697-5947-8DC9-3EF33B31B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8120" y="5924104"/>
            <a:ext cx="14720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Content Placeholder 2">
            <a:extLst>
              <a:ext uri="{FF2B5EF4-FFF2-40B4-BE49-F238E27FC236}">
                <a16:creationId xmlns:a16="http://schemas.microsoft.com/office/drawing/2014/main" id="{DC2E6EA4-0C86-5F4C-BB3E-C92E5B769FC5}"/>
              </a:ext>
            </a:extLst>
          </p:cNvPr>
          <p:cNvSpPr txBox="1">
            <a:spLocks/>
          </p:cNvSpPr>
          <p:nvPr/>
        </p:nvSpPr>
        <p:spPr>
          <a:xfrm>
            <a:off x="838200" y="1552233"/>
            <a:ext cx="11035748" cy="1773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In each tick, we can</a:t>
            </a:r>
          </a:p>
          <a:p>
            <a:pPr lvl="1" indent="-287338">
              <a:spcBef>
                <a:spcPts val="1000"/>
              </a:spcBef>
              <a:buClr>
                <a:srgbClr val="0000A3"/>
              </a:buClr>
              <a:buFont typeface="Wingdings" charset="2"/>
              <a:buChar char="§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receive at most a packet on each input port (up to N ports)</a:t>
            </a:r>
          </a:p>
          <a:p>
            <a:pPr lvl="1" indent="-287338">
              <a:spcBef>
                <a:spcPts val="1000"/>
              </a:spcBef>
              <a:buClr>
                <a:srgbClr val="0000A3"/>
              </a:buClr>
              <a:buFont typeface="Wingdings" charset="2"/>
              <a:buChar char="§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send at most a packet on each output port (up to N ports)</a:t>
            </a:r>
          </a:p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77334-DD7E-1B48-8BC7-370BDB02F09A}"/>
              </a:ext>
            </a:extLst>
          </p:cNvPr>
          <p:cNvSpPr txBox="1"/>
          <p:nvPr/>
        </p:nvSpPr>
        <p:spPr>
          <a:xfrm>
            <a:off x="2756452" y="408167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38F21D3F-8391-534C-9242-3758758C301A}"/>
              </a:ext>
            </a:extLst>
          </p:cNvPr>
          <p:cNvSpPr txBox="1"/>
          <p:nvPr/>
        </p:nvSpPr>
        <p:spPr>
          <a:xfrm>
            <a:off x="2749826" y="571831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58A4E43E-89E0-E547-8C85-19EA30836952}"/>
              </a:ext>
            </a:extLst>
          </p:cNvPr>
          <p:cNvSpPr txBox="1"/>
          <p:nvPr/>
        </p:nvSpPr>
        <p:spPr>
          <a:xfrm>
            <a:off x="7593495" y="408167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94AA5E3-B3F2-B445-8CEF-84D33DC4565C}"/>
              </a:ext>
            </a:extLst>
          </p:cNvPr>
          <p:cNvSpPr txBox="1"/>
          <p:nvPr/>
        </p:nvSpPr>
        <p:spPr>
          <a:xfrm>
            <a:off x="7586868" y="571831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706103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Switching fabrics</a:t>
            </a:r>
            <a:endParaRPr lang="en-US" sz="4800" dirty="0"/>
          </a:p>
        </p:txBody>
      </p:sp>
      <p:grpSp>
        <p:nvGrpSpPr>
          <p:cNvPr id="140" name="Group 60">
            <a:extLst>
              <a:ext uri="{FF2B5EF4-FFF2-40B4-BE49-F238E27FC236}">
                <a16:creationId xmlns:a16="http://schemas.microsoft.com/office/drawing/2014/main" id="{E16CE5B6-2BB1-8843-9C94-E2F2D5BE7F75}"/>
              </a:ext>
            </a:extLst>
          </p:cNvPr>
          <p:cNvGrpSpPr>
            <a:grpSpLocks/>
          </p:cNvGrpSpPr>
          <p:nvPr/>
        </p:nvGrpSpPr>
        <p:grpSpPr bwMode="auto">
          <a:xfrm>
            <a:off x="4510432" y="3943350"/>
            <a:ext cx="1609725" cy="2343150"/>
            <a:chOff x="2418" y="1882"/>
            <a:chExt cx="1014" cy="14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1" name="Rectangle 45">
              <a:extLst>
                <a:ext uri="{FF2B5EF4-FFF2-40B4-BE49-F238E27FC236}">
                  <a16:creationId xmlns:a16="http://schemas.microsoft.com/office/drawing/2014/main" id="{F26101B5-1F43-6C44-B633-4C17C2A3D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882"/>
              <a:ext cx="1014" cy="147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2" name="Text Box 48">
              <a:extLst>
                <a:ext uri="{FF2B5EF4-FFF2-40B4-BE49-F238E27FC236}">
                  <a16:creationId xmlns:a16="http://schemas.microsoft.com/office/drawing/2014/main" id="{1E1E4579-D30C-D245-B0D4-E5A2AEC25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5" y="2418"/>
              <a:ext cx="876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high-speed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switching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</p:txBody>
        </p:sp>
      </p:grpSp>
      <p:sp>
        <p:nvSpPr>
          <p:cNvPr id="160" name="Text Box 57">
            <a:extLst>
              <a:ext uri="{FF2B5EF4-FFF2-40B4-BE49-F238E27FC236}">
                <a16:creationId xmlns:a16="http://schemas.microsoft.com/office/drawing/2014/main" id="{F1679189-37C6-6D40-A05F-4B13D87DE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772" y="4857819"/>
            <a:ext cx="14927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 input ports</a:t>
            </a:r>
          </a:p>
        </p:txBody>
      </p:sp>
      <p:grpSp>
        <p:nvGrpSpPr>
          <p:cNvPr id="168" name="Group 38">
            <a:extLst>
              <a:ext uri="{FF2B5EF4-FFF2-40B4-BE49-F238E27FC236}">
                <a16:creationId xmlns:a16="http://schemas.microsoft.com/office/drawing/2014/main" id="{8AC17FBD-D822-CD43-929D-2CC812BF0667}"/>
              </a:ext>
            </a:extLst>
          </p:cNvPr>
          <p:cNvGrpSpPr>
            <a:grpSpLocks/>
          </p:cNvGrpSpPr>
          <p:nvPr/>
        </p:nvGrpSpPr>
        <p:grpSpPr bwMode="auto">
          <a:xfrm>
            <a:off x="6149007" y="5709203"/>
            <a:ext cx="1472095" cy="386798"/>
            <a:chOff x="-51" y="2454"/>
            <a:chExt cx="1482" cy="357"/>
          </a:xfrm>
        </p:grpSpPr>
        <p:grpSp>
          <p:nvGrpSpPr>
            <p:cNvPr id="169" name="Group 39">
              <a:extLst>
                <a:ext uri="{FF2B5EF4-FFF2-40B4-BE49-F238E27FC236}">
                  <a16:creationId xmlns:a16="http://schemas.microsoft.com/office/drawing/2014/main" id="{0892708C-B62F-1443-A450-88C550BC04B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171" name="Rectangle 40">
                <a:extLst>
                  <a:ext uri="{FF2B5EF4-FFF2-40B4-BE49-F238E27FC236}">
                    <a16:creationId xmlns:a16="http://schemas.microsoft.com/office/drawing/2014/main" id="{646AD0B4-3035-904E-BC08-F1F7B9E66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2" name="Rectangle 41">
                <a:extLst>
                  <a:ext uri="{FF2B5EF4-FFF2-40B4-BE49-F238E27FC236}">
                    <a16:creationId xmlns:a16="http://schemas.microsoft.com/office/drawing/2014/main" id="{C11D294C-080E-E146-92DD-4E0970AA1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3" name="Rectangle 42">
                <a:extLst>
                  <a:ext uri="{FF2B5EF4-FFF2-40B4-BE49-F238E27FC236}">
                    <a16:creationId xmlns:a16="http://schemas.microsoft.com/office/drawing/2014/main" id="{AEC771A2-E626-8246-BD5D-885A3F2322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4" name="Rectangle 43">
                <a:extLst>
                  <a:ext uri="{FF2B5EF4-FFF2-40B4-BE49-F238E27FC236}">
                    <a16:creationId xmlns:a16="http://schemas.microsoft.com/office/drawing/2014/main" id="{D9ACADB5-CB99-0C44-953C-36D248E85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70" name="Line 44">
              <a:extLst>
                <a:ext uri="{FF2B5EF4-FFF2-40B4-BE49-F238E27FC236}">
                  <a16:creationId xmlns:a16="http://schemas.microsoft.com/office/drawing/2014/main" id="{0B5CB4ED-80BB-FD4A-8E51-691C12DA6F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Text Box 57">
            <a:extLst>
              <a:ext uri="{FF2B5EF4-FFF2-40B4-BE49-F238E27FC236}">
                <a16:creationId xmlns:a16="http://schemas.microsoft.com/office/drawing/2014/main" id="{7B04503A-E5E8-3F47-B2CA-2C4493C55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78" y="4864446"/>
            <a:ext cx="163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 output ports</a:t>
            </a:r>
          </a:p>
        </p:txBody>
      </p:sp>
      <p:grpSp>
        <p:nvGrpSpPr>
          <p:cNvPr id="182" name="Group 38">
            <a:extLst>
              <a:ext uri="{FF2B5EF4-FFF2-40B4-BE49-F238E27FC236}">
                <a16:creationId xmlns:a16="http://schemas.microsoft.com/office/drawing/2014/main" id="{0D66BD80-759C-4845-8712-8D0B4AF84EF1}"/>
              </a:ext>
            </a:extLst>
          </p:cNvPr>
          <p:cNvGrpSpPr>
            <a:grpSpLocks/>
          </p:cNvGrpSpPr>
          <p:nvPr/>
        </p:nvGrpSpPr>
        <p:grpSpPr bwMode="auto">
          <a:xfrm>
            <a:off x="6155633" y="4072559"/>
            <a:ext cx="1472095" cy="386798"/>
            <a:chOff x="-51" y="2454"/>
            <a:chExt cx="1482" cy="357"/>
          </a:xfrm>
        </p:grpSpPr>
        <p:grpSp>
          <p:nvGrpSpPr>
            <p:cNvPr id="183" name="Group 39">
              <a:extLst>
                <a:ext uri="{FF2B5EF4-FFF2-40B4-BE49-F238E27FC236}">
                  <a16:creationId xmlns:a16="http://schemas.microsoft.com/office/drawing/2014/main" id="{5C936A85-45B9-074E-B843-773AFF5135C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185" name="Rectangle 40">
                <a:extLst>
                  <a:ext uri="{FF2B5EF4-FFF2-40B4-BE49-F238E27FC236}">
                    <a16:creationId xmlns:a16="http://schemas.microsoft.com/office/drawing/2014/main" id="{B622FEB5-7929-1240-B7D5-15643E719F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6" name="Rectangle 41">
                <a:extLst>
                  <a:ext uri="{FF2B5EF4-FFF2-40B4-BE49-F238E27FC236}">
                    <a16:creationId xmlns:a16="http://schemas.microsoft.com/office/drawing/2014/main" id="{9EC76602-1084-F84D-AD9A-D96EB15A89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7" name="Rectangle 42">
                <a:extLst>
                  <a:ext uri="{FF2B5EF4-FFF2-40B4-BE49-F238E27FC236}">
                    <a16:creationId xmlns:a16="http://schemas.microsoft.com/office/drawing/2014/main" id="{DD155316-70EC-7F4D-B61B-21231E854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8" name="Rectangle 43">
                <a:extLst>
                  <a:ext uri="{FF2B5EF4-FFF2-40B4-BE49-F238E27FC236}">
                    <a16:creationId xmlns:a16="http://schemas.microsoft.com/office/drawing/2014/main" id="{BFE2402A-9D06-854F-8BB0-978456C98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84" name="Line 44">
              <a:extLst>
                <a:ext uri="{FF2B5EF4-FFF2-40B4-BE49-F238E27FC236}">
                  <a16:creationId xmlns:a16="http://schemas.microsoft.com/office/drawing/2014/main" id="{D7FF759B-D504-9D47-8A31-C0C49E47A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7B67A3-971A-E044-9E63-6007998B6291}"/>
              </a:ext>
            </a:extLst>
          </p:cNvPr>
          <p:cNvSpPr txBox="1"/>
          <p:nvPr/>
        </p:nvSpPr>
        <p:spPr>
          <a:xfrm rot="5400000">
            <a:off x="6248400" y="4708389"/>
            <a:ext cx="927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90C8DE0E-9EEF-204C-9448-24E1458DC419}"/>
              </a:ext>
            </a:extLst>
          </p:cNvPr>
          <p:cNvSpPr txBox="1"/>
          <p:nvPr/>
        </p:nvSpPr>
        <p:spPr>
          <a:xfrm rot="5400000">
            <a:off x="3472070" y="4715016"/>
            <a:ext cx="927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grpSp>
        <p:nvGrpSpPr>
          <p:cNvPr id="192" name="Group 39">
            <a:extLst>
              <a:ext uri="{FF2B5EF4-FFF2-40B4-BE49-F238E27FC236}">
                <a16:creationId xmlns:a16="http://schemas.microsoft.com/office/drawing/2014/main" id="{43EE5875-DB50-8F42-9E84-EBF455D6C7E5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3242010" y="4065933"/>
            <a:ext cx="1078742" cy="386798"/>
            <a:chOff x="171" y="2454"/>
            <a:chExt cx="1086" cy="357"/>
          </a:xfrm>
        </p:grpSpPr>
        <p:sp>
          <p:nvSpPr>
            <p:cNvPr id="194" name="Rectangle 40">
              <a:extLst>
                <a:ext uri="{FF2B5EF4-FFF2-40B4-BE49-F238E27FC236}">
                  <a16:creationId xmlns:a16="http://schemas.microsoft.com/office/drawing/2014/main" id="{906CC695-2DD1-2E42-A750-72D294151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54"/>
              <a:ext cx="1084" cy="35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5" name="Rectangle 41">
              <a:extLst>
                <a:ext uri="{FF2B5EF4-FFF2-40B4-BE49-F238E27FC236}">
                  <a16:creationId xmlns:a16="http://schemas.microsoft.com/office/drawing/2014/main" id="{99D0D5A4-1E5B-0B43-A1B7-FD7BC835D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2554"/>
              <a:ext cx="337" cy="1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6" name="Rectangle 42">
              <a:extLst>
                <a:ext uri="{FF2B5EF4-FFF2-40B4-BE49-F238E27FC236}">
                  <a16:creationId xmlns:a16="http://schemas.microsoft.com/office/drawing/2014/main" id="{6140224D-DBC1-EB40-AFE8-D6D0132B5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2490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7" name="Rectangle 43">
              <a:extLst>
                <a:ext uri="{FF2B5EF4-FFF2-40B4-BE49-F238E27FC236}">
                  <a16:creationId xmlns:a16="http://schemas.microsoft.com/office/drawing/2014/main" id="{0A00DDFA-F665-324F-A415-D0B5E35A5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2488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93" name="Line 44">
            <a:extLst>
              <a:ext uri="{FF2B5EF4-FFF2-40B4-BE49-F238E27FC236}">
                <a16:creationId xmlns:a16="http://schemas.microsoft.com/office/drawing/2014/main" id="{A888E476-EAD9-6C4A-A7A3-DDB9C8C3A0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494" y="4260957"/>
            <a:ext cx="14720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9" name="Group 39">
            <a:extLst>
              <a:ext uri="{FF2B5EF4-FFF2-40B4-BE49-F238E27FC236}">
                <a16:creationId xmlns:a16="http://schemas.microsoft.com/office/drawing/2014/main" id="{861F8D20-AD91-3246-9499-A09CBEB79CED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3248636" y="5729080"/>
            <a:ext cx="1078742" cy="386798"/>
            <a:chOff x="171" y="2454"/>
            <a:chExt cx="1086" cy="357"/>
          </a:xfrm>
        </p:grpSpPr>
        <p:sp>
          <p:nvSpPr>
            <p:cNvPr id="201" name="Rectangle 40">
              <a:extLst>
                <a:ext uri="{FF2B5EF4-FFF2-40B4-BE49-F238E27FC236}">
                  <a16:creationId xmlns:a16="http://schemas.microsoft.com/office/drawing/2014/main" id="{C04E48EB-4A34-004B-84AD-61BC56BA5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54"/>
              <a:ext cx="1084" cy="35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2" name="Rectangle 41">
              <a:extLst>
                <a:ext uri="{FF2B5EF4-FFF2-40B4-BE49-F238E27FC236}">
                  <a16:creationId xmlns:a16="http://schemas.microsoft.com/office/drawing/2014/main" id="{D0C6BD53-6130-A748-BC48-3FA658887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2554"/>
              <a:ext cx="337" cy="1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42">
              <a:extLst>
                <a:ext uri="{FF2B5EF4-FFF2-40B4-BE49-F238E27FC236}">
                  <a16:creationId xmlns:a16="http://schemas.microsoft.com/office/drawing/2014/main" id="{19984A44-E408-0A4C-A437-40EAEAA84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2490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Rectangle 43">
              <a:extLst>
                <a:ext uri="{FF2B5EF4-FFF2-40B4-BE49-F238E27FC236}">
                  <a16:creationId xmlns:a16="http://schemas.microsoft.com/office/drawing/2014/main" id="{30660A84-3620-0541-9A93-C5E1D76F1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2488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00" name="Line 44">
            <a:extLst>
              <a:ext uri="{FF2B5EF4-FFF2-40B4-BE49-F238E27FC236}">
                <a16:creationId xmlns:a16="http://schemas.microsoft.com/office/drawing/2014/main" id="{975E947C-3697-5947-8DC9-3EF33B31B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8120" y="5924104"/>
            <a:ext cx="14720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Content Placeholder 2">
            <a:extLst>
              <a:ext uri="{FF2B5EF4-FFF2-40B4-BE49-F238E27FC236}">
                <a16:creationId xmlns:a16="http://schemas.microsoft.com/office/drawing/2014/main" id="{DC2E6EA4-0C86-5F4C-BB3E-C92E5B769FC5}"/>
              </a:ext>
            </a:extLst>
          </p:cNvPr>
          <p:cNvSpPr txBox="1">
            <a:spLocks/>
          </p:cNvSpPr>
          <p:nvPr/>
        </p:nvSpPr>
        <p:spPr>
          <a:xfrm>
            <a:off x="602283" y="1667619"/>
            <a:ext cx="10515600" cy="254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/>
            </a:endParaRPr>
          </a:p>
          <a:p>
            <a:pPr indent="-287338">
              <a:buFont typeface="Wingdings" charset="2"/>
              <a:buChar char="§"/>
              <a:defRPr/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Ideally, the switching fabric can move N packets in each tick</a:t>
            </a:r>
          </a:p>
          <a:p>
            <a:pPr lvl="1" indent="-287338">
              <a:buFont typeface="Wingdings" charset="2"/>
              <a:buChar char="§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If the link rates are R, an ideal switching fabric moves packets at rate NR.</a:t>
            </a:r>
          </a:p>
          <a:p>
            <a:pPr lvl="1" indent="-287338">
              <a:spcBef>
                <a:spcPts val="1000"/>
              </a:spcBef>
              <a:buClr>
                <a:srgbClr val="0000A3"/>
              </a:buClr>
              <a:buFont typeface="Wingdings" charset="2"/>
              <a:buChar char="§"/>
              <a:defRPr/>
            </a:pP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/>
            </a:endParaRPr>
          </a:p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77334-DD7E-1B48-8BC7-370BDB02F09A}"/>
              </a:ext>
            </a:extLst>
          </p:cNvPr>
          <p:cNvSpPr txBox="1"/>
          <p:nvPr/>
        </p:nvSpPr>
        <p:spPr>
          <a:xfrm>
            <a:off x="2756452" y="408167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38F21D3F-8391-534C-9242-3758758C301A}"/>
              </a:ext>
            </a:extLst>
          </p:cNvPr>
          <p:cNvSpPr txBox="1"/>
          <p:nvPr/>
        </p:nvSpPr>
        <p:spPr>
          <a:xfrm>
            <a:off x="2749826" y="571831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58A4E43E-89E0-E547-8C85-19EA30836952}"/>
              </a:ext>
            </a:extLst>
          </p:cNvPr>
          <p:cNvSpPr txBox="1"/>
          <p:nvPr/>
        </p:nvSpPr>
        <p:spPr>
          <a:xfrm>
            <a:off x="7593495" y="408167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94AA5E3-B3F2-B445-8CEF-84D33DC4565C}"/>
              </a:ext>
            </a:extLst>
          </p:cNvPr>
          <p:cNvSpPr txBox="1"/>
          <p:nvPr/>
        </p:nvSpPr>
        <p:spPr>
          <a:xfrm>
            <a:off x="7586868" y="571831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90FA6-DAF7-B8C9-FF61-9369BE811FD6}"/>
              </a:ext>
            </a:extLst>
          </p:cNvPr>
          <p:cNvSpPr txBox="1"/>
          <p:nvPr/>
        </p:nvSpPr>
        <p:spPr>
          <a:xfrm>
            <a:off x="4611758" y="4094922"/>
            <a:ext cx="1331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(rate: NR, ideally)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910E2-7118-325D-B4D6-4554D03480B7}"/>
              </a:ext>
            </a:extLst>
          </p:cNvPr>
          <p:cNvSpPr txBox="1">
            <a:spLocks/>
          </p:cNvSpPr>
          <p:nvPr/>
        </p:nvSpPr>
        <p:spPr>
          <a:xfrm>
            <a:off x="6356075" y="190209"/>
            <a:ext cx="5135710" cy="1440881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087" lvl="0" indent="0"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 each tick, we can</a:t>
            </a:r>
          </a:p>
          <a:p>
            <a:pPr marL="407987" lvl="1" indent="0">
              <a:spcBef>
                <a:spcPts val="1000"/>
              </a:spcBef>
              <a:buClr>
                <a:srgbClr val="0000A3"/>
              </a:buClr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receive a packet on each input port</a:t>
            </a:r>
          </a:p>
          <a:p>
            <a:pPr marL="407987" lvl="1" indent="0">
              <a:spcBef>
                <a:spcPts val="1000"/>
              </a:spcBef>
              <a:buClr>
                <a:srgbClr val="0000A3"/>
              </a:buClr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send a packet on each output port</a:t>
            </a:r>
          </a:p>
        </p:txBody>
      </p:sp>
    </p:spTree>
    <p:extLst>
      <p:ext uri="{BB962C8B-B14F-4D97-AF65-F5344CB8AC3E}">
        <p14:creationId xmlns:p14="http://schemas.microsoft.com/office/powerpoint/2010/main" val="202219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Switching fabrics</a:t>
            </a:r>
            <a:endParaRPr lang="en-US" sz="4800" dirty="0"/>
          </a:p>
        </p:txBody>
      </p:sp>
      <p:grpSp>
        <p:nvGrpSpPr>
          <p:cNvPr id="140" name="Group 60">
            <a:extLst>
              <a:ext uri="{FF2B5EF4-FFF2-40B4-BE49-F238E27FC236}">
                <a16:creationId xmlns:a16="http://schemas.microsoft.com/office/drawing/2014/main" id="{E16CE5B6-2BB1-8843-9C94-E2F2D5BE7F75}"/>
              </a:ext>
            </a:extLst>
          </p:cNvPr>
          <p:cNvGrpSpPr>
            <a:grpSpLocks/>
          </p:cNvGrpSpPr>
          <p:nvPr/>
        </p:nvGrpSpPr>
        <p:grpSpPr bwMode="auto">
          <a:xfrm>
            <a:off x="4510432" y="3943350"/>
            <a:ext cx="1609725" cy="2343150"/>
            <a:chOff x="2418" y="1882"/>
            <a:chExt cx="1014" cy="14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1" name="Rectangle 45">
              <a:extLst>
                <a:ext uri="{FF2B5EF4-FFF2-40B4-BE49-F238E27FC236}">
                  <a16:creationId xmlns:a16="http://schemas.microsoft.com/office/drawing/2014/main" id="{F26101B5-1F43-6C44-B633-4C17C2A3D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882"/>
              <a:ext cx="1014" cy="147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2" name="Text Box 48">
              <a:extLst>
                <a:ext uri="{FF2B5EF4-FFF2-40B4-BE49-F238E27FC236}">
                  <a16:creationId xmlns:a16="http://schemas.microsoft.com/office/drawing/2014/main" id="{1E1E4579-D30C-D245-B0D4-E5A2AEC25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5" y="2418"/>
              <a:ext cx="876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high-speed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switching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</p:txBody>
        </p:sp>
      </p:grpSp>
      <p:sp>
        <p:nvSpPr>
          <p:cNvPr id="160" name="Text Box 57">
            <a:extLst>
              <a:ext uri="{FF2B5EF4-FFF2-40B4-BE49-F238E27FC236}">
                <a16:creationId xmlns:a16="http://schemas.microsoft.com/office/drawing/2014/main" id="{F1679189-37C6-6D40-A05F-4B13D87DE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772" y="4857819"/>
            <a:ext cx="14927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 input ports</a:t>
            </a:r>
          </a:p>
        </p:txBody>
      </p:sp>
      <p:grpSp>
        <p:nvGrpSpPr>
          <p:cNvPr id="168" name="Group 38">
            <a:extLst>
              <a:ext uri="{FF2B5EF4-FFF2-40B4-BE49-F238E27FC236}">
                <a16:creationId xmlns:a16="http://schemas.microsoft.com/office/drawing/2014/main" id="{8AC17FBD-D822-CD43-929D-2CC812BF0667}"/>
              </a:ext>
            </a:extLst>
          </p:cNvPr>
          <p:cNvGrpSpPr>
            <a:grpSpLocks/>
          </p:cNvGrpSpPr>
          <p:nvPr/>
        </p:nvGrpSpPr>
        <p:grpSpPr bwMode="auto">
          <a:xfrm>
            <a:off x="6149007" y="5709203"/>
            <a:ext cx="1472095" cy="386798"/>
            <a:chOff x="-51" y="2454"/>
            <a:chExt cx="1482" cy="357"/>
          </a:xfrm>
        </p:grpSpPr>
        <p:grpSp>
          <p:nvGrpSpPr>
            <p:cNvPr id="169" name="Group 39">
              <a:extLst>
                <a:ext uri="{FF2B5EF4-FFF2-40B4-BE49-F238E27FC236}">
                  <a16:creationId xmlns:a16="http://schemas.microsoft.com/office/drawing/2014/main" id="{0892708C-B62F-1443-A450-88C550BC04B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171" name="Rectangle 40">
                <a:extLst>
                  <a:ext uri="{FF2B5EF4-FFF2-40B4-BE49-F238E27FC236}">
                    <a16:creationId xmlns:a16="http://schemas.microsoft.com/office/drawing/2014/main" id="{646AD0B4-3035-904E-BC08-F1F7B9E66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2" name="Rectangle 41">
                <a:extLst>
                  <a:ext uri="{FF2B5EF4-FFF2-40B4-BE49-F238E27FC236}">
                    <a16:creationId xmlns:a16="http://schemas.microsoft.com/office/drawing/2014/main" id="{C11D294C-080E-E146-92DD-4E0970AA1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3" name="Rectangle 42">
                <a:extLst>
                  <a:ext uri="{FF2B5EF4-FFF2-40B4-BE49-F238E27FC236}">
                    <a16:creationId xmlns:a16="http://schemas.microsoft.com/office/drawing/2014/main" id="{AEC771A2-E626-8246-BD5D-885A3F2322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4" name="Rectangle 43">
                <a:extLst>
                  <a:ext uri="{FF2B5EF4-FFF2-40B4-BE49-F238E27FC236}">
                    <a16:creationId xmlns:a16="http://schemas.microsoft.com/office/drawing/2014/main" id="{D9ACADB5-CB99-0C44-953C-36D248E85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70" name="Line 44">
              <a:extLst>
                <a:ext uri="{FF2B5EF4-FFF2-40B4-BE49-F238E27FC236}">
                  <a16:creationId xmlns:a16="http://schemas.microsoft.com/office/drawing/2014/main" id="{0B5CB4ED-80BB-FD4A-8E51-691C12DA6F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Text Box 57">
            <a:extLst>
              <a:ext uri="{FF2B5EF4-FFF2-40B4-BE49-F238E27FC236}">
                <a16:creationId xmlns:a16="http://schemas.microsoft.com/office/drawing/2014/main" id="{7B04503A-E5E8-3F47-B2CA-2C4493C55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78" y="4864446"/>
            <a:ext cx="163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 output ports</a:t>
            </a:r>
          </a:p>
        </p:txBody>
      </p:sp>
      <p:grpSp>
        <p:nvGrpSpPr>
          <p:cNvPr id="182" name="Group 38">
            <a:extLst>
              <a:ext uri="{FF2B5EF4-FFF2-40B4-BE49-F238E27FC236}">
                <a16:creationId xmlns:a16="http://schemas.microsoft.com/office/drawing/2014/main" id="{0D66BD80-759C-4845-8712-8D0B4AF84EF1}"/>
              </a:ext>
            </a:extLst>
          </p:cNvPr>
          <p:cNvGrpSpPr>
            <a:grpSpLocks/>
          </p:cNvGrpSpPr>
          <p:nvPr/>
        </p:nvGrpSpPr>
        <p:grpSpPr bwMode="auto">
          <a:xfrm>
            <a:off x="6155633" y="4072559"/>
            <a:ext cx="1472095" cy="386798"/>
            <a:chOff x="-51" y="2454"/>
            <a:chExt cx="1482" cy="357"/>
          </a:xfrm>
        </p:grpSpPr>
        <p:grpSp>
          <p:nvGrpSpPr>
            <p:cNvPr id="183" name="Group 39">
              <a:extLst>
                <a:ext uri="{FF2B5EF4-FFF2-40B4-BE49-F238E27FC236}">
                  <a16:creationId xmlns:a16="http://schemas.microsoft.com/office/drawing/2014/main" id="{5C936A85-45B9-074E-B843-773AFF5135C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185" name="Rectangle 40">
                <a:extLst>
                  <a:ext uri="{FF2B5EF4-FFF2-40B4-BE49-F238E27FC236}">
                    <a16:creationId xmlns:a16="http://schemas.microsoft.com/office/drawing/2014/main" id="{B622FEB5-7929-1240-B7D5-15643E719F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6" name="Rectangle 41">
                <a:extLst>
                  <a:ext uri="{FF2B5EF4-FFF2-40B4-BE49-F238E27FC236}">
                    <a16:creationId xmlns:a16="http://schemas.microsoft.com/office/drawing/2014/main" id="{9EC76602-1084-F84D-AD9A-D96EB15A89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7" name="Rectangle 42">
                <a:extLst>
                  <a:ext uri="{FF2B5EF4-FFF2-40B4-BE49-F238E27FC236}">
                    <a16:creationId xmlns:a16="http://schemas.microsoft.com/office/drawing/2014/main" id="{DD155316-70EC-7F4D-B61B-21231E854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8" name="Rectangle 43">
                <a:extLst>
                  <a:ext uri="{FF2B5EF4-FFF2-40B4-BE49-F238E27FC236}">
                    <a16:creationId xmlns:a16="http://schemas.microsoft.com/office/drawing/2014/main" id="{BFE2402A-9D06-854F-8BB0-978456C98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84" name="Line 44">
              <a:extLst>
                <a:ext uri="{FF2B5EF4-FFF2-40B4-BE49-F238E27FC236}">
                  <a16:creationId xmlns:a16="http://schemas.microsoft.com/office/drawing/2014/main" id="{D7FF759B-D504-9D47-8A31-C0C49E47A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7B67A3-971A-E044-9E63-6007998B6291}"/>
              </a:ext>
            </a:extLst>
          </p:cNvPr>
          <p:cNvSpPr txBox="1"/>
          <p:nvPr/>
        </p:nvSpPr>
        <p:spPr>
          <a:xfrm rot="5400000">
            <a:off x="6248400" y="4708389"/>
            <a:ext cx="927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90C8DE0E-9EEF-204C-9448-24E1458DC419}"/>
              </a:ext>
            </a:extLst>
          </p:cNvPr>
          <p:cNvSpPr txBox="1"/>
          <p:nvPr/>
        </p:nvSpPr>
        <p:spPr>
          <a:xfrm rot="5400000">
            <a:off x="3472070" y="4715016"/>
            <a:ext cx="927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grpSp>
        <p:nvGrpSpPr>
          <p:cNvPr id="192" name="Group 39">
            <a:extLst>
              <a:ext uri="{FF2B5EF4-FFF2-40B4-BE49-F238E27FC236}">
                <a16:creationId xmlns:a16="http://schemas.microsoft.com/office/drawing/2014/main" id="{43EE5875-DB50-8F42-9E84-EBF455D6C7E5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3242010" y="4065933"/>
            <a:ext cx="1078742" cy="386798"/>
            <a:chOff x="171" y="2454"/>
            <a:chExt cx="1086" cy="357"/>
          </a:xfrm>
        </p:grpSpPr>
        <p:sp>
          <p:nvSpPr>
            <p:cNvPr id="194" name="Rectangle 40">
              <a:extLst>
                <a:ext uri="{FF2B5EF4-FFF2-40B4-BE49-F238E27FC236}">
                  <a16:creationId xmlns:a16="http://schemas.microsoft.com/office/drawing/2014/main" id="{906CC695-2DD1-2E42-A750-72D294151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54"/>
              <a:ext cx="1084" cy="35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5" name="Rectangle 41">
              <a:extLst>
                <a:ext uri="{FF2B5EF4-FFF2-40B4-BE49-F238E27FC236}">
                  <a16:creationId xmlns:a16="http://schemas.microsoft.com/office/drawing/2014/main" id="{99D0D5A4-1E5B-0B43-A1B7-FD7BC835D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2554"/>
              <a:ext cx="337" cy="1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6" name="Rectangle 42">
              <a:extLst>
                <a:ext uri="{FF2B5EF4-FFF2-40B4-BE49-F238E27FC236}">
                  <a16:creationId xmlns:a16="http://schemas.microsoft.com/office/drawing/2014/main" id="{6140224D-DBC1-EB40-AFE8-D6D0132B5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2490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7" name="Rectangle 43">
              <a:extLst>
                <a:ext uri="{FF2B5EF4-FFF2-40B4-BE49-F238E27FC236}">
                  <a16:creationId xmlns:a16="http://schemas.microsoft.com/office/drawing/2014/main" id="{0A00DDFA-F665-324F-A415-D0B5E35A5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2488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93" name="Line 44">
            <a:extLst>
              <a:ext uri="{FF2B5EF4-FFF2-40B4-BE49-F238E27FC236}">
                <a16:creationId xmlns:a16="http://schemas.microsoft.com/office/drawing/2014/main" id="{A888E476-EAD9-6C4A-A7A3-DDB9C8C3A0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494" y="4260957"/>
            <a:ext cx="14720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9" name="Group 39">
            <a:extLst>
              <a:ext uri="{FF2B5EF4-FFF2-40B4-BE49-F238E27FC236}">
                <a16:creationId xmlns:a16="http://schemas.microsoft.com/office/drawing/2014/main" id="{861F8D20-AD91-3246-9499-A09CBEB79CED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3248636" y="5729080"/>
            <a:ext cx="1078742" cy="386798"/>
            <a:chOff x="171" y="2454"/>
            <a:chExt cx="1086" cy="357"/>
          </a:xfrm>
        </p:grpSpPr>
        <p:sp>
          <p:nvSpPr>
            <p:cNvPr id="201" name="Rectangle 40">
              <a:extLst>
                <a:ext uri="{FF2B5EF4-FFF2-40B4-BE49-F238E27FC236}">
                  <a16:creationId xmlns:a16="http://schemas.microsoft.com/office/drawing/2014/main" id="{C04E48EB-4A34-004B-84AD-61BC56BA5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54"/>
              <a:ext cx="1084" cy="35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2" name="Rectangle 41">
              <a:extLst>
                <a:ext uri="{FF2B5EF4-FFF2-40B4-BE49-F238E27FC236}">
                  <a16:creationId xmlns:a16="http://schemas.microsoft.com/office/drawing/2014/main" id="{D0C6BD53-6130-A748-BC48-3FA658887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2554"/>
              <a:ext cx="337" cy="1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42">
              <a:extLst>
                <a:ext uri="{FF2B5EF4-FFF2-40B4-BE49-F238E27FC236}">
                  <a16:creationId xmlns:a16="http://schemas.microsoft.com/office/drawing/2014/main" id="{19984A44-E408-0A4C-A437-40EAEAA84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2490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Rectangle 43">
              <a:extLst>
                <a:ext uri="{FF2B5EF4-FFF2-40B4-BE49-F238E27FC236}">
                  <a16:creationId xmlns:a16="http://schemas.microsoft.com/office/drawing/2014/main" id="{30660A84-3620-0541-9A93-C5E1D76F1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2488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00" name="Line 44">
            <a:extLst>
              <a:ext uri="{FF2B5EF4-FFF2-40B4-BE49-F238E27FC236}">
                <a16:creationId xmlns:a16="http://schemas.microsoft.com/office/drawing/2014/main" id="{975E947C-3697-5947-8DC9-3EF33B31B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8120" y="5924104"/>
            <a:ext cx="14720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Content Placeholder 2">
            <a:extLst>
              <a:ext uri="{FF2B5EF4-FFF2-40B4-BE49-F238E27FC236}">
                <a16:creationId xmlns:a16="http://schemas.microsoft.com/office/drawing/2014/main" id="{DC2E6EA4-0C86-5F4C-BB3E-C92E5B769FC5}"/>
              </a:ext>
            </a:extLst>
          </p:cNvPr>
          <p:cNvSpPr txBox="1">
            <a:spLocks/>
          </p:cNvSpPr>
          <p:nvPr/>
        </p:nvSpPr>
        <p:spPr>
          <a:xfrm>
            <a:off x="578126" y="1322756"/>
            <a:ext cx="10515600" cy="254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/>
            </a:endParaRPr>
          </a:p>
          <a:p>
            <a:pPr indent="-287338">
              <a:buFont typeface="Wingdings" charset="2"/>
              <a:buChar char="§"/>
              <a:defRPr/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If two or more input ports have a packet destined to the same output port</a:t>
            </a:r>
          </a:p>
          <a:p>
            <a:pPr lvl="1" indent="-287338">
              <a:buFont typeface="Wingdings" charset="2"/>
              <a:buChar char="§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only one can go out in the next tick(s)</a:t>
            </a:r>
          </a:p>
          <a:p>
            <a:pPr lvl="1" indent="-287338">
              <a:buFont typeface="Wingdings" charset="2"/>
              <a:buChar char="§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rest have to wait somewhere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/>
            </a:endParaRPr>
          </a:p>
          <a:p>
            <a:pPr lvl="1" indent="-287338">
              <a:spcBef>
                <a:spcPts val="1000"/>
              </a:spcBef>
              <a:buClr>
                <a:srgbClr val="0000A3"/>
              </a:buClr>
              <a:buFont typeface="Wingdings" charset="2"/>
              <a:buChar char="§"/>
              <a:defRPr/>
            </a:pP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/>
            </a:endParaRPr>
          </a:p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77334-DD7E-1B48-8BC7-370BDB02F09A}"/>
              </a:ext>
            </a:extLst>
          </p:cNvPr>
          <p:cNvSpPr txBox="1"/>
          <p:nvPr/>
        </p:nvSpPr>
        <p:spPr>
          <a:xfrm>
            <a:off x="2756452" y="408167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38F21D3F-8391-534C-9242-3758758C301A}"/>
              </a:ext>
            </a:extLst>
          </p:cNvPr>
          <p:cNvSpPr txBox="1"/>
          <p:nvPr/>
        </p:nvSpPr>
        <p:spPr>
          <a:xfrm>
            <a:off x="2749826" y="571831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58A4E43E-89E0-E547-8C85-19EA30836952}"/>
              </a:ext>
            </a:extLst>
          </p:cNvPr>
          <p:cNvSpPr txBox="1"/>
          <p:nvPr/>
        </p:nvSpPr>
        <p:spPr>
          <a:xfrm>
            <a:off x="7593495" y="408167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94AA5E3-B3F2-B445-8CEF-84D33DC4565C}"/>
              </a:ext>
            </a:extLst>
          </p:cNvPr>
          <p:cNvSpPr txBox="1"/>
          <p:nvPr/>
        </p:nvSpPr>
        <p:spPr>
          <a:xfrm>
            <a:off x="7586868" y="571831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90FA6-DAF7-B8C9-FF61-9369BE811FD6}"/>
              </a:ext>
            </a:extLst>
          </p:cNvPr>
          <p:cNvSpPr txBox="1"/>
          <p:nvPr/>
        </p:nvSpPr>
        <p:spPr>
          <a:xfrm>
            <a:off x="4611758" y="4094922"/>
            <a:ext cx="1331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(rate: NR, ideally)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910E2-7118-325D-B4D6-4554D03480B7}"/>
              </a:ext>
            </a:extLst>
          </p:cNvPr>
          <p:cNvSpPr txBox="1">
            <a:spLocks/>
          </p:cNvSpPr>
          <p:nvPr/>
        </p:nvSpPr>
        <p:spPr>
          <a:xfrm>
            <a:off x="6356075" y="190209"/>
            <a:ext cx="5135710" cy="1440881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087" lvl="0" indent="0"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 each tick, we can</a:t>
            </a:r>
          </a:p>
          <a:p>
            <a:pPr marL="407987" lvl="1" indent="0">
              <a:spcBef>
                <a:spcPts val="1000"/>
              </a:spcBef>
              <a:buClr>
                <a:srgbClr val="0000A3"/>
              </a:buClr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receive a packet on each input port</a:t>
            </a:r>
          </a:p>
          <a:p>
            <a:pPr marL="407987" lvl="1" indent="0">
              <a:spcBef>
                <a:spcPts val="1000"/>
              </a:spcBef>
              <a:buClr>
                <a:srgbClr val="0000A3"/>
              </a:buClr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send a packet on each output port</a:t>
            </a:r>
          </a:p>
        </p:txBody>
      </p:sp>
    </p:spTree>
    <p:extLst>
      <p:ext uri="{BB962C8B-B14F-4D97-AF65-F5344CB8AC3E}">
        <p14:creationId xmlns:p14="http://schemas.microsoft.com/office/powerpoint/2010/main" val="2755501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Switching fabrics</a:t>
            </a:r>
            <a:endParaRPr lang="en-US" sz="4800" dirty="0"/>
          </a:p>
        </p:txBody>
      </p:sp>
      <p:grpSp>
        <p:nvGrpSpPr>
          <p:cNvPr id="140" name="Group 60">
            <a:extLst>
              <a:ext uri="{FF2B5EF4-FFF2-40B4-BE49-F238E27FC236}">
                <a16:creationId xmlns:a16="http://schemas.microsoft.com/office/drawing/2014/main" id="{E16CE5B6-2BB1-8843-9C94-E2F2D5BE7F75}"/>
              </a:ext>
            </a:extLst>
          </p:cNvPr>
          <p:cNvGrpSpPr>
            <a:grpSpLocks/>
          </p:cNvGrpSpPr>
          <p:nvPr/>
        </p:nvGrpSpPr>
        <p:grpSpPr bwMode="auto">
          <a:xfrm>
            <a:off x="4510432" y="3943350"/>
            <a:ext cx="1609725" cy="2343150"/>
            <a:chOff x="2418" y="1882"/>
            <a:chExt cx="1014" cy="14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1" name="Rectangle 45">
              <a:extLst>
                <a:ext uri="{FF2B5EF4-FFF2-40B4-BE49-F238E27FC236}">
                  <a16:creationId xmlns:a16="http://schemas.microsoft.com/office/drawing/2014/main" id="{F26101B5-1F43-6C44-B633-4C17C2A3D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882"/>
              <a:ext cx="1014" cy="147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2" name="Text Box 48">
              <a:extLst>
                <a:ext uri="{FF2B5EF4-FFF2-40B4-BE49-F238E27FC236}">
                  <a16:creationId xmlns:a16="http://schemas.microsoft.com/office/drawing/2014/main" id="{1E1E4579-D30C-D245-B0D4-E5A2AEC25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5" y="2418"/>
              <a:ext cx="876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high-speed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switching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</p:txBody>
        </p:sp>
      </p:grpSp>
      <p:sp>
        <p:nvSpPr>
          <p:cNvPr id="160" name="Text Box 57">
            <a:extLst>
              <a:ext uri="{FF2B5EF4-FFF2-40B4-BE49-F238E27FC236}">
                <a16:creationId xmlns:a16="http://schemas.microsoft.com/office/drawing/2014/main" id="{F1679189-37C6-6D40-A05F-4B13D87DE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772" y="4857819"/>
            <a:ext cx="14927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 input ports</a:t>
            </a:r>
          </a:p>
        </p:txBody>
      </p:sp>
      <p:grpSp>
        <p:nvGrpSpPr>
          <p:cNvPr id="168" name="Group 38">
            <a:extLst>
              <a:ext uri="{FF2B5EF4-FFF2-40B4-BE49-F238E27FC236}">
                <a16:creationId xmlns:a16="http://schemas.microsoft.com/office/drawing/2014/main" id="{8AC17FBD-D822-CD43-929D-2CC812BF0667}"/>
              </a:ext>
            </a:extLst>
          </p:cNvPr>
          <p:cNvGrpSpPr>
            <a:grpSpLocks/>
          </p:cNvGrpSpPr>
          <p:nvPr/>
        </p:nvGrpSpPr>
        <p:grpSpPr bwMode="auto">
          <a:xfrm>
            <a:off x="6149007" y="5709203"/>
            <a:ext cx="1472095" cy="386798"/>
            <a:chOff x="-51" y="2454"/>
            <a:chExt cx="1482" cy="357"/>
          </a:xfrm>
        </p:grpSpPr>
        <p:grpSp>
          <p:nvGrpSpPr>
            <p:cNvPr id="169" name="Group 39">
              <a:extLst>
                <a:ext uri="{FF2B5EF4-FFF2-40B4-BE49-F238E27FC236}">
                  <a16:creationId xmlns:a16="http://schemas.microsoft.com/office/drawing/2014/main" id="{0892708C-B62F-1443-A450-88C550BC04B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171" name="Rectangle 40">
                <a:extLst>
                  <a:ext uri="{FF2B5EF4-FFF2-40B4-BE49-F238E27FC236}">
                    <a16:creationId xmlns:a16="http://schemas.microsoft.com/office/drawing/2014/main" id="{646AD0B4-3035-904E-BC08-F1F7B9E66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2" name="Rectangle 41">
                <a:extLst>
                  <a:ext uri="{FF2B5EF4-FFF2-40B4-BE49-F238E27FC236}">
                    <a16:creationId xmlns:a16="http://schemas.microsoft.com/office/drawing/2014/main" id="{C11D294C-080E-E146-92DD-4E0970AA1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3" name="Rectangle 42">
                <a:extLst>
                  <a:ext uri="{FF2B5EF4-FFF2-40B4-BE49-F238E27FC236}">
                    <a16:creationId xmlns:a16="http://schemas.microsoft.com/office/drawing/2014/main" id="{AEC771A2-E626-8246-BD5D-885A3F2322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4" name="Rectangle 43">
                <a:extLst>
                  <a:ext uri="{FF2B5EF4-FFF2-40B4-BE49-F238E27FC236}">
                    <a16:creationId xmlns:a16="http://schemas.microsoft.com/office/drawing/2014/main" id="{D9ACADB5-CB99-0C44-953C-36D248E85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70" name="Line 44">
              <a:extLst>
                <a:ext uri="{FF2B5EF4-FFF2-40B4-BE49-F238E27FC236}">
                  <a16:creationId xmlns:a16="http://schemas.microsoft.com/office/drawing/2014/main" id="{0B5CB4ED-80BB-FD4A-8E51-691C12DA6F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Text Box 57">
            <a:extLst>
              <a:ext uri="{FF2B5EF4-FFF2-40B4-BE49-F238E27FC236}">
                <a16:creationId xmlns:a16="http://schemas.microsoft.com/office/drawing/2014/main" id="{7B04503A-E5E8-3F47-B2CA-2C4493C55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78" y="4864446"/>
            <a:ext cx="163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 output ports</a:t>
            </a:r>
          </a:p>
        </p:txBody>
      </p:sp>
      <p:grpSp>
        <p:nvGrpSpPr>
          <p:cNvPr id="182" name="Group 38">
            <a:extLst>
              <a:ext uri="{FF2B5EF4-FFF2-40B4-BE49-F238E27FC236}">
                <a16:creationId xmlns:a16="http://schemas.microsoft.com/office/drawing/2014/main" id="{0D66BD80-759C-4845-8712-8D0B4AF84EF1}"/>
              </a:ext>
            </a:extLst>
          </p:cNvPr>
          <p:cNvGrpSpPr>
            <a:grpSpLocks/>
          </p:cNvGrpSpPr>
          <p:nvPr/>
        </p:nvGrpSpPr>
        <p:grpSpPr bwMode="auto">
          <a:xfrm>
            <a:off x="6155633" y="4072559"/>
            <a:ext cx="1472095" cy="386798"/>
            <a:chOff x="-51" y="2454"/>
            <a:chExt cx="1482" cy="357"/>
          </a:xfrm>
        </p:grpSpPr>
        <p:grpSp>
          <p:nvGrpSpPr>
            <p:cNvPr id="183" name="Group 39">
              <a:extLst>
                <a:ext uri="{FF2B5EF4-FFF2-40B4-BE49-F238E27FC236}">
                  <a16:creationId xmlns:a16="http://schemas.microsoft.com/office/drawing/2014/main" id="{5C936A85-45B9-074E-B843-773AFF5135C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185" name="Rectangle 40">
                <a:extLst>
                  <a:ext uri="{FF2B5EF4-FFF2-40B4-BE49-F238E27FC236}">
                    <a16:creationId xmlns:a16="http://schemas.microsoft.com/office/drawing/2014/main" id="{B622FEB5-7929-1240-B7D5-15643E719F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6" name="Rectangle 41">
                <a:extLst>
                  <a:ext uri="{FF2B5EF4-FFF2-40B4-BE49-F238E27FC236}">
                    <a16:creationId xmlns:a16="http://schemas.microsoft.com/office/drawing/2014/main" id="{9EC76602-1084-F84D-AD9A-D96EB15A89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7" name="Rectangle 42">
                <a:extLst>
                  <a:ext uri="{FF2B5EF4-FFF2-40B4-BE49-F238E27FC236}">
                    <a16:creationId xmlns:a16="http://schemas.microsoft.com/office/drawing/2014/main" id="{DD155316-70EC-7F4D-B61B-21231E854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8" name="Rectangle 43">
                <a:extLst>
                  <a:ext uri="{FF2B5EF4-FFF2-40B4-BE49-F238E27FC236}">
                    <a16:creationId xmlns:a16="http://schemas.microsoft.com/office/drawing/2014/main" id="{BFE2402A-9D06-854F-8BB0-978456C98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84" name="Line 44">
              <a:extLst>
                <a:ext uri="{FF2B5EF4-FFF2-40B4-BE49-F238E27FC236}">
                  <a16:creationId xmlns:a16="http://schemas.microsoft.com/office/drawing/2014/main" id="{D7FF759B-D504-9D47-8A31-C0C49E47A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7B67A3-971A-E044-9E63-6007998B6291}"/>
              </a:ext>
            </a:extLst>
          </p:cNvPr>
          <p:cNvSpPr txBox="1"/>
          <p:nvPr/>
        </p:nvSpPr>
        <p:spPr>
          <a:xfrm rot="5400000">
            <a:off x="6248400" y="4708389"/>
            <a:ext cx="927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90C8DE0E-9EEF-204C-9448-24E1458DC419}"/>
              </a:ext>
            </a:extLst>
          </p:cNvPr>
          <p:cNvSpPr txBox="1"/>
          <p:nvPr/>
        </p:nvSpPr>
        <p:spPr>
          <a:xfrm rot="5400000">
            <a:off x="3472070" y="4715016"/>
            <a:ext cx="927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grpSp>
        <p:nvGrpSpPr>
          <p:cNvPr id="192" name="Group 39">
            <a:extLst>
              <a:ext uri="{FF2B5EF4-FFF2-40B4-BE49-F238E27FC236}">
                <a16:creationId xmlns:a16="http://schemas.microsoft.com/office/drawing/2014/main" id="{43EE5875-DB50-8F42-9E84-EBF455D6C7E5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3242010" y="4065933"/>
            <a:ext cx="1078742" cy="386798"/>
            <a:chOff x="171" y="2454"/>
            <a:chExt cx="1086" cy="357"/>
          </a:xfrm>
        </p:grpSpPr>
        <p:sp>
          <p:nvSpPr>
            <p:cNvPr id="194" name="Rectangle 40">
              <a:extLst>
                <a:ext uri="{FF2B5EF4-FFF2-40B4-BE49-F238E27FC236}">
                  <a16:creationId xmlns:a16="http://schemas.microsoft.com/office/drawing/2014/main" id="{906CC695-2DD1-2E42-A750-72D294151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54"/>
              <a:ext cx="1084" cy="35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5" name="Rectangle 41">
              <a:extLst>
                <a:ext uri="{FF2B5EF4-FFF2-40B4-BE49-F238E27FC236}">
                  <a16:creationId xmlns:a16="http://schemas.microsoft.com/office/drawing/2014/main" id="{99D0D5A4-1E5B-0B43-A1B7-FD7BC835D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2554"/>
              <a:ext cx="337" cy="1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6" name="Rectangle 42">
              <a:extLst>
                <a:ext uri="{FF2B5EF4-FFF2-40B4-BE49-F238E27FC236}">
                  <a16:creationId xmlns:a16="http://schemas.microsoft.com/office/drawing/2014/main" id="{6140224D-DBC1-EB40-AFE8-D6D0132B5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2490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7" name="Rectangle 43">
              <a:extLst>
                <a:ext uri="{FF2B5EF4-FFF2-40B4-BE49-F238E27FC236}">
                  <a16:creationId xmlns:a16="http://schemas.microsoft.com/office/drawing/2014/main" id="{0A00DDFA-F665-324F-A415-D0B5E35A5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2488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93" name="Line 44">
            <a:extLst>
              <a:ext uri="{FF2B5EF4-FFF2-40B4-BE49-F238E27FC236}">
                <a16:creationId xmlns:a16="http://schemas.microsoft.com/office/drawing/2014/main" id="{A888E476-EAD9-6C4A-A7A3-DDB9C8C3A0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494" y="4260957"/>
            <a:ext cx="14720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9" name="Group 39">
            <a:extLst>
              <a:ext uri="{FF2B5EF4-FFF2-40B4-BE49-F238E27FC236}">
                <a16:creationId xmlns:a16="http://schemas.microsoft.com/office/drawing/2014/main" id="{861F8D20-AD91-3246-9499-A09CBEB79CED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3248636" y="5729080"/>
            <a:ext cx="1078742" cy="386798"/>
            <a:chOff x="171" y="2454"/>
            <a:chExt cx="1086" cy="357"/>
          </a:xfrm>
        </p:grpSpPr>
        <p:sp>
          <p:nvSpPr>
            <p:cNvPr id="201" name="Rectangle 40">
              <a:extLst>
                <a:ext uri="{FF2B5EF4-FFF2-40B4-BE49-F238E27FC236}">
                  <a16:creationId xmlns:a16="http://schemas.microsoft.com/office/drawing/2014/main" id="{C04E48EB-4A34-004B-84AD-61BC56BA5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54"/>
              <a:ext cx="1084" cy="35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2" name="Rectangle 41">
              <a:extLst>
                <a:ext uri="{FF2B5EF4-FFF2-40B4-BE49-F238E27FC236}">
                  <a16:creationId xmlns:a16="http://schemas.microsoft.com/office/drawing/2014/main" id="{D0C6BD53-6130-A748-BC48-3FA658887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2554"/>
              <a:ext cx="337" cy="1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42">
              <a:extLst>
                <a:ext uri="{FF2B5EF4-FFF2-40B4-BE49-F238E27FC236}">
                  <a16:creationId xmlns:a16="http://schemas.microsoft.com/office/drawing/2014/main" id="{19984A44-E408-0A4C-A437-40EAEAA84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2490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Rectangle 43">
              <a:extLst>
                <a:ext uri="{FF2B5EF4-FFF2-40B4-BE49-F238E27FC236}">
                  <a16:creationId xmlns:a16="http://schemas.microsoft.com/office/drawing/2014/main" id="{30660A84-3620-0541-9A93-C5E1D76F1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2488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00" name="Line 44">
            <a:extLst>
              <a:ext uri="{FF2B5EF4-FFF2-40B4-BE49-F238E27FC236}">
                <a16:creationId xmlns:a16="http://schemas.microsoft.com/office/drawing/2014/main" id="{975E947C-3697-5947-8DC9-3EF33B31B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8120" y="5924104"/>
            <a:ext cx="14720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Content Placeholder 2">
            <a:extLst>
              <a:ext uri="{FF2B5EF4-FFF2-40B4-BE49-F238E27FC236}">
                <a16:creationId xmlns:a16="http://schemas.microsoft.com/office/drawing/2014/main" id="{DC2E6EA4-0C86-5F4C-BB3E-C92E5B769FC5}"/>
              </a:ext>
            </a:extLst>
          </p:cNvPr>
          <p:cNvSpPr txBox="1">
            <a:spLocks/>
          </p:cNvSpPr>
          <p:nvPr/>
        </p:nvSpPr>
        <p:spPr>
          <a:xfrm>
            <a:off x="578126" y="1322756"/>
            <a:ext cx="10515600" cy="254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/>
            </a:endParaRPr>
          </a:p>
          <a:p>
            <a:pPr indent="-287338">
              <a:buFont typeface="Wingdings" charset="2"/>
              <a:buChar char="§"/>
              <a:defRPr/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If two or more input ports have a packet destined to the same output port</a:t>
            </a:r>
          </a:p>
          <a:p>
            <a:pPr lvl="1" indent="-287338">
              <a:buFont typeface="Wingdings" charset="2"/>
              <a:buChar char="§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only one can go out in the next tick(s)</a:t>
            </a:r>
          </a:p>
          <a:p>
            <a:pPr lvl="1" indent="-287338">
              <a:buFont typeface="Wingdings" charset="2"/>
              <a:buChar char="§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rest have to wait somewhere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/>
            </a:endParaRPr>
          </a:p>
          <a:p>
            <a:pPr lvl="1" indent="-287338">
              <a:spcBef>
                <a:spcPts val="1000"/>
              </a:spcBef>
              <a:buClr>
                <a:srgbClr val="0000A3"/>
              </a:buClr>
              <a:buFont typeface="Wingdings" charset="2"/>
              <a:buChar char="§"/>
              <a:defRPr/>
            </a:pP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/>
            </a:endParaRPr>
          </a:p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77334-DD7E-1B48-8BC7-370BDB02F09A}"/>
              </a:ext>
            </a:extLst>
          </p:cNvPr>
          <p:cNvSpPr txBox="1"/>
          <p:nvPr/>
        </p:nvSpPr>
        <p:spPr>
          <a:xfrm>
            <a:off x="2756452" y="408167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38F21D3F-8391-534C-9242-3758758C301A}"/>
              </a:ext>
            </a:extLst>
          </p:cNvPr>
          <p:cNvSpPr txBox="1"/>
          <p:nvPr/>
        </p:nvSpPr>
        <p:spPr>
          <a:xfrm>
            <a:off x="2749826" y="571831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58A4E43E-89E0-E547-8C85-19EA30836952}"/>
              </a:ext>
            </a:extLst>
          </p:cNvPr>
          <p:cNvSpPr txBox="1"/>
          <p:nvPr/>
        </p:nvSpPr>
        <p:spPr>
          <a:xfrm>
            <a:off x="7593495" y="408167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94AA5E3-B3F2-B445-8CEF-84D33DC4565C}"/>
              </a:ext>
            </a:extLst>
          </p:cNvPr>
          <p:cNvSpPr txBox="1"/>
          <p:nvPr/>
        </p:nvSpPr>
        <p:spPr>
          <a:xfrm>
            <a:off x="7586868" y="571831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90FA6-DAF7-B8C9-FF61-9369BE811FD6}"/>
              </a:ext>
            </a:extLst>
          </p:cNvPr>
          <p:cNvSpPr txBox="1"/>
          <p:nvPr/>
        </p:nvSpPr>
        <p:spPr>
          <a:xfrm>
            <a:off x="4611758" y="4094922"/>
            <a:ext cx="1331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(rate: NR, ideally)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910E2-7118-325D-B4D6-4554D03480B7}"/>
              </a:ext>
            </a:extLst>
          </p:cNvPr>
          <p:cNvSpPr txBox="1">
            <a:spLocks/>
          </p:cNvSpPr>
          <p:nvPr/>
        </p:nvSpPr>
        <p:spPr>
          <a:xfrm>
            <a:off x="6356075" y="190209"/>
            <a:ext cx="5135710" cy="1440881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0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None/>
              <a:tabLst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On each tick, we can</a:t>
            </a:r>
          </a:p>
          <a:p>
            <a:pPr marL="407987" lvl="1" indent="0">
              <a:spcBef>
                <a:spcPts val="1000"/>
              </a:spcBef>
              <a:buClr>
                <a:srgbClr val="0000A3"/>
              </a:buClr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receive a packet on each input port</a:t>
            </a:r>
          </a:p>
          <a:p>
            <a:pPr marL="407987" lvl="1" indent="0">
              <a:spcBef>
                <a:spcPts val="1000"/>
              </a:spcBef>
              <a:buClr>
                <a:srgbClr val="0000A3"/>
              </a:buClr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send a packet on each output port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A98CF55-5D7B-4C67-0F67-E082FEFDFB21}"/>
              </a:ext>
            </a:extLst>
          </p:cNvPr>
          <p:cNvCxnSpPr>
            <a:cxnSpLocks/>
          </p:cNvCxnSpPr>
          <p:nvPr/>
        </p:nvCxnSpPr>
        <p:spPr>
          <a:xfrm flipH="1">
            <a:off x="6155633" y="3149600"/>
            <a:ext cx="1254559" cy="2794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F79CD02-B87E-A8A8-0D54-9828A4100DAF}"/>
              </a:ext>
            </a:extLst>
          </p:cNvPr>
          <p:cNvSpPr txBox="1"/>
          <p:nvPr/>
        </p:nvSpPr>
        <p:spPr>
          <a:xfrm>
            <a:off x="7496115" y="2912530"/>
            <a:ext cx="4312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Queued in a buffer (</a:t>
            </a:r>
            <a:r>
              <a:rPr lang="en-US" sz="2800" i="1" dirty="0">
                <a:solidFill>
                  <a:srgbClr val="C00000"/>
                </a:solidFill>
              </a:rPr>
              <a:t>where?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0055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3C7ED-A22D-B5C0-AC54-184F90506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2CB8E-A568-BBAF-AEC2-061EE0C4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51821"/>
            <a:ext cx="11261035" cy="894622"/>
          </a:xfrm>
        </p:spPr>
        <p:txBody>
          <a:bodyPr/>
          <a:lstStyle/>
          <a:p>
            <a:r>
              <a:rPr lang="en-US" dirty="0"/>
              <a:t>Router architecture and buffer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40E30-43D5-D3D9-E70C-6113078ED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17400"/>
            <a:ext cx="10893357" cy="3054599"/>
          </a:xfrm>
        </p:spPr>
        <p:txBody>
          <a:bodyPr>
            <a:normAutofit/>
          </a:bodyPr>
          <a:lstStyle/>
          <a:p>
            <a:r>
              <a:rPr lang="en-US" sz="3200" dirty="0"/>
              <a:t>Router architecture</a:t>
            </a:r>
          </a:p>
          <a:p>
            <a:pPr lvl="1"/>
            <a:r>
              <a:rPr lang="en-US" sz="2800" dirty="0"/>
              <a:t>Output queueing</a:t>
            </a:r>
          </a:p>
          <a:p>
            <a:pPr lvl="1"/>
            <a:r>
              <a:rPr lang="en-US" sz="2800" dirty="0"/>
              <a:t>Input queueing</a:t>
            </a:r>
          </a:p>
          <a:p>
            <a:pPr lvl="1"/>
            <a:r>
              <a:rPr lang="en-US" sz="2800" dirty="0"/>
              <a:t>…</a:t>
            </a:r>
          </a:p>
          <a:p>
            <a:endParaRPr lang="en-US" sz="3200" dirty="0"/>
          </a:p>
          <a:p>
            <a:r>
              <a:rPr lang="en-US" sz="3200" dirty="0"/>
              <a:t>Buffer management and scheduling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58332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7E3EED-2F5B-4C37-F61F-B178E042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queuing</a:t>
            </a: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7447591D-D763-50B4-8238-EEE19A5114B6}"/>
              </a:ext>
            </a:extLst>
          </p:cNvPr>
          <p:cNvSpPr txBox="1">
            <a:spLocks/>
          </p:cNvSpPr>
          <p:nvPr/>
        </p:nvSpPr>
        <p:spPr>
          <a:xfrm>
            <a:off x="551576" y="1074014"/>
            <a:ext cx="10515600" cy="3048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/>
            </a:endParaRPr>
          </a:p>
          <a:p>
            <a:pPr indent="-287338">
              <a:buFont typeface="Wingdings" charset="2"/>
              <a:buChar char="§"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N separate memories, one for each output port</a:t>
            </a:r>
          </a:p>
          <a:p>
            <a:pPr indent="-287338">
              <a:buFont typeface="Wingdings" charset="2"/>
              <a:buChar char="§"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Input port receives a packet, and then puts it in the memory of the output port it is supposed to exit from</a:t>
            </a:r>
          </a:p>
          <a:p>
            <a:pPr indent="-287338">
              <a:buFont typeface="Wingdings" charset="2"/>
              <a:buChar char="§"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Output port pulls the next packet from its corresponding memory</a:t>
            </a:r>
          </a:p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7" name="Group 30">
            <a:extLst>
              <a:ext uri="{FF2B5EF4-FFF2-40B4-BE49-F238E27FC236}">
                <a16:creationId xmlns:a16="http://schemas.microsoft.com/office/drawing/2014/main" id="{F2B50939-4131-3DE0-DFEA-4A8C7DB6F011}"/>
              </a:ext>
            </a:extLst>
          </p:cNvPr>
          <p:cNvGrpSpPr>
            <a:grpSpLocks/>
          </p:cNvGrpSpPr>
          <p:nvPr/>
        </p:nvGrpSpPr>
        <p:grpSpPr bwMode="auto">
          <a:xfrm>
            <a:off x="3529924" y="4153334"/>
            <a:ext cx="2029512" cy="401865"/>
            <a:chOff x="876" y="2800"/>
            <a:chExt cx="786" cy="175"/>
          </a:xfrm>
        </p:grpSpPr>
        <p:sp>
          <p:nvSpPr>
            <p:cNvPr id="88" name="Rectangle 7">
              <a:extLst>
                <a:ext uri="{FF2B5EF4-FFF2-40B4-BE49-F238E27FC236}">
                  <a16:creationId xmlns:a16="http://schemas.microsoft.com/office/drawing/2014/main" id="{4339D645-02B3-6A15-96D5-71C9964F6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9" name="Rectangle 8">
              <a:extLst>
                <a:ext uri="{FF2B5EF4-FFF2-40B4-BE49-F238E27FC236}">
                  <a16:creationId xmlns:a16="http://schemas.microsoft.com/office/drawing/2014/main" id="{A030FDA1-EDE9-539E-63E3-CD35A158C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9">
              <a:extLst>
                <a:ext uri="{FF2B5EF4-FFF2-40B4-BE49-F238E27FC236}">
                  <a16:creationId xmlns:a16="http://schemas.microsoft.com/office/drawing/2014/main" id="{A19E87FF-F579-D568-C45D-1B7D664B8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10">
              <a:extLst>
                <a:ext uri="{FF2B5EF4-FFF2-40B4-BE49-F238E27FC236}">
                  <a16:creationId xmlns:a16="http://schemas.microsoft.com/office/drawing/2014/main" id="{550D46A8-558C-7142-7B8B-3B17B0FDB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Line 11">
              <a:extLst>
                <a:ext uri="{FF2B5EF4-FFF2-40B4-BE49-F238E27FC236}">
                  <a16:creationId xmlns:a16="http://schemas.microsoft.com/office/drawing/2014/main" id="{40EF08EA-441D-CB56-00FF-3A238C70E3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34"/>
              <a:ext cx="786" cy="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3" name="Group 45">
            <a:extLst>
              <a:ext uri="{FF2B5EF4-FFF2-40B4-BE49-F238E27FC236}">
                <a16:creationId xmlns:a16="http://schemas.microsoft.com/office/drawing/2014/main" id="{BCFF1375-B4E2-B8BA-CACD-A5E8F80C26B0}"/>
              </a:ext>
            </a:extLst>
          </p:cNvPr>
          <p:cNvGrpSpPr>
            <a:grpSpLocks/>
          </p:cNvGrpSpPr>
          <p:nvPr/>
        </p:nvGrpSpPr>
        <p:grpSpPr bwMode="auto">
          <a:xfrm>
            <a:off x="3612123" y="4889102"/>
            <a:ext cx="1252306" cy="401865"/>
            <a:chOff x="925" y="2800"/>
            <a:chExt cx="485" cy="175"/>
          </a:xfrm>
        </p:grpSpPr>
        <p:sp>
          <p:nvSpPr>
            <p:cNvPr id="94" name="Rectangle 46">
              <a:extLst>
                <a:ext uri="{FF2B5EF4-FFF2-40B4-BE49-F238E27FC236}">
                  <a16:creationId xmlns:a16="http://schemas.microsoft.com/office/drawing/2014/main" id="{985EE56B-21EE-711E-0309-C4A13E8B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Rectangle 47">
              <a:extLst>
                <a:ext uri="{FF2B5EF4-FFF2-40B4-BE49-F238E27FC236}">
                  <a16:creationId xmlns:a16="http://schemas.microsoft.com/office/drawing/2014/main" id="{FE4F1170-A6E0-440F-E815-F2B046309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6" name="Rectangle 48">
              <a:extLst>
                <a:ext uri="{FF2B5EF4-FFF2-40B4-BE49-F238E27FC236}">
                  <a16:creationId xmlns:a16="http://schemas.microsoft.com/office/drawing/2014/main" id="{F5284575-42BB-0B17-5A91-F928E5592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Rectangle 49">
              <a:extLst>
                <a:ext uri="{FF2B5EF4-FFF2-40B4-BE49-F238E27FC236}">
                  <a16:creationId xmlns:a16="http://schemas.microsoft.com/office/drawing/2014/main" id="{68A74F62-282A-659A-D9C8-1876C2E68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8" name="Group 51">
            <a:extLst>
              <a:ext uri="{FF2B5EF4-FFF2-40B4-BE49-F238E27FC236}">
                <a16:creationId xmlns:a16="http://schemas.microsoft.com/office/drawing/2014/main" id="{14FE665A-2561-B9FB-5D8C-F6BE38C51DBF}"/>
              </a:ext>
            </a:extLst>
          </p:cNvPr>
          <p:cNvGrpSpPr>
            <a:grpSpLocks/>
          </p:cNvGrpSpPr>
          <p:nvPr/>
        </p:nvGrpSpPr>
        <p:grpSpPr bwMode="auto">
          <a:xfrm>
            <a:off x="3603258" y="5683966"/>
            <a:ext cx="1252307" cy="401865"/>
            <a:chOff x="925" y="2800"/>
            <a:chExt cx="485" cy="175"/>
          </a:xfrm>
        </p:grpSpPr>
        <p:sp>
          <p:nvSpPr>
            <p:cNvPr id="99" name="Rectangle 52">
              <a:extLst>
                <a:ext uri="{FF2B5EF4-FFF2-40B4-BE49-F238E27FC236}">
                  <a16:creationId xmlns:a16="http://schemas.microsoft.com/office/drawing/2014/main" id="{B5823677-70E8-5870-D1CF-6291E2070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0" name="Rectangle 53">
              <a:extLst>
                <a:ext uri="{FF2B5EF4-FFF2-40B4-BE49-F238E27FC236}">
                  <a16:creationId xmlns:a16="http://schemas.microsoft.com/office/drawing/2014/main" id="{302DD77F-F120-1836-885F-20BC89981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1" name="Rectangle 54">
              <a:extLst>
                <a:ext uri="{FF2B5EF4-FFF2-40B4-BE49-F238E27FC236}">
                  <a16:creationId xmlns:a16="http://schemas.microsoft.com/office/drawing/2014/main" id="{ABFF2437-9CE7-1997-305F-48216934E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Rectangle 55">
              <a:extLst>
                <a:ext uri="{FF2B5EF4-FFF2-40B4-BE49-F238E27FC236}">
                  <a16:creationId xmlns:a16="http://schemas.microsoft.com/office/drawing/2014/main" id="{31BFCE40-9531-9484-0D37-F54B16D6D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3" name="Group 64">
            <a:extLst>
              <a:ext uri="{FF2B5EF4-FFF2-40B4-BE49-F238E27FC236}">
                <a16:creationId xmlns:a16="http://schemas.microsoft.com/office/drawing/2014/main" id="{8380C3BF-F944-6E76-28C8-244ECE41B4D5}"/>
              </a:ext>
            </a:extLst>
          </p:cNvPr>
          <p:cNvGrpSpPr>
            <a:grpSpLocks/>
          </p:cNvGrpSpPr>
          <p:nvPr/>
        </p:nvGrpSpPr>
        <p:grpSpPr bwMode="auto">
          <a:xfrm>
            <a:off x="6449354" y="4150380"/>
            <a:ext cx="1657693" cy="401865"/>
            <a:chOff x="455" y="3463"/>
            <a:chExt cx="561" cy="136"/>
          </a:xfrm>
        </p:grpSpPr>
        <p:sp>
          <p:nvSpPr>
            <p:cNvPr id="104" name="Rectangle 59">
              <a:extLst>
                <a:ext uri="{FF2B5EF4-FFF2-40B4-BE49-F238E27FC236}">
                  <a16:creationId xmlns:a16="http://schemas.microsoft.com/office/drawing/2014/main" id="{BEB0A44E-4C2E-6A82-E488-72761D44B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" name="Rectangle 60">
              <a:extLst>
                <a:ext uri="{FF2B5EF4-FFF2-40B4-BE49-F238E27FC236}">
                  <a16:creationId xmlns:a16="http://schemas.microsoft.com/office/drawing/2014/main" id="{C2AD4273-0826-DB76-5266-DA88A98A6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" name="Rectangle 61">
              <a:extLst>
                <a:ext uri="{FF2B5EF4-FFF2-40B4-BE49-F238E27FC236}">
                  <a16:creationId xmlns:a16="http://schemas.microsoft.com/office/drawing/2014/main" id="{4026ECD5-D08A-0BA7-C5E9-9A8A80DD0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Rectangle 62">
              <a:extLst>
                <a:ext uri="{FF2B5EF4-FFF2-40B4-BE49-F238E27FC236}">
                  <a16:creationId xmlns:a16="http://schemas.microsoft.com/office/drawing/2014/main" id="{A8271DAB-2323-5AD4-1FE9-AF6C329AA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" name="Line 63">
              <a:extLst>
                <a:ext uri="{FF2B5EF4-FFF2-40B4-BE49-F238E27FC236}">
                  <a16:creationId xmlns:a16="http://schemas.microsoft.com/office/drawing/2014/main" id="{E0AF0519-BD2A-B345-B1F3-6E7B49A0BC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9" name="Group 65">
            <a:extLst>
              <a:ext uri="{FF2B5EF4-FFF2-40B4-BE49-F238E27FC236}">
                <a16:creationId xmlns:a16="http://schemas.microsoft.com/office/drawing/2014/main" id="{B13E3B27-1C22-DA07-2CA9-FBBAE71456AF}"/>
              </a:ext>
            </a:extLst>
          </p:cNvPr>
          <p:cNvGrpSpPr>
            <a:grpSpLocks/>
          </p:cNvGrpSpPr>
          <p:nvPr/>
        </p:nvGrpSpPr>
        <p:grpSpPr bwMode="auto">
          <a:xfrm>
            <a:off x="6458219" y="4880237"/>
            <a:ext cx="1657692" cy="401865"/>
            <a:chOff x="455" y="3463"/>
            <a:chExt cx="561" cy="136"/>
          </a:xfrm>
        </p:grpSpPr>
        <p:sp>
          <p:nvSpPr>
            <p:cNvPr id="110" name="Rectangle 66">
              <a:extLst>
                <a:ext uri="{FF2B5EF4-FFF2-40B4-BE49-F238E27FC236}">
                  <a16:creationId xmlns:a16="http://schemas.microsoft.com/office/drawing/2014/main" id="{366BB8FA-421D-9E49-6D2D-E5E67DB71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1" name="Rectangle 67">
              <a:extLst>
                <a:ext uri="{FF2B5EF4-FFF2-40B4-BE49-F238E27FC236}">
                  <a16:creationId xmlns:a16="http://schemas.microsoft.com/office/drawing/2014/main" id="{91A27D86-C1E7-22AA-019A-1EB80CC14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2" name="Rectangle 68">
              <a:extLst>
                <a:ext uri="{FF2B5EF4-FFF2-40B4-BE49-F238E27FC236}">
                  <a16:creationId xmlns:a16="http://schemas.microsoft.com/office/drawing/2014/main" id="{2AF99298-4AB9-7EAF-BED5-B524355B4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3" name="Rectangle 69">
              <a:extLst>
                <a:ext uri="{FF2B5EF4-FFF2-40B4-BE49-F238E27FC236}">
                  <a16:creationId xmlns:a16="http://schemas.microsoft.com/office/drawing/2014/main" id="{A8AC851C-85DF-A1CD-B7EE-D2542D79B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4" name="Line 70">
              <a:extLst>
                <a:ext uri="{FF2B5EF4-FFF2-40B4-BE49-F238E27FC236}">
                  <a16:creationId xmlns:a16="http://schemas.microsoft.com/office/drawing/2014/main" id="{3B971938-AAAB-02BA-CCD2-0E0A2632F0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5" name="Group 71">
            <a:extLst>
              <a:ext uri="{FF2B5EF4-FFF2-40B4-BE49-F238E27FC236}">
                <a16:creationId xmlns:a16="http://schemas.microsoft.com/office/drawing/2014/main" id="{E90ECA36-C791-1DB4-078B-4D62CB242DE5}"/>
              </a:ext>
            </a:extLst>
          </p:cNvPr>
          <p:cNvGrpSpPr>
            <a:grpSpLocks/>
          </p:cNvGrpSpPr>
          <p:nvPr/>
        </p:nvGrpSpPr>
        <p:grpSpPr bwMode="auto">
          <a:xfrm>
            <a:off x="6449354" y="5675102"/>
            <a:ext cx="1657693" cy="401865"/>
            <a:chOff x="455" y="3463"/>
            <a:chExt cx="561" cy="136"/>
          </a:xfrm>
        </p:grpSpPr>
        <p:sp>
          <p:nvSpPr>
            <p:cNvPr id="116" name="Rectangle 72">
              <a:extLst>
                <a:ext uri="{FF2B5EF4-FFF2-40B4-BE49-F238E27FC236}">
                  <a16:creationId xmlns:a16="http://schemas.microsoft.com/office/drawing/2014/main" id="{22AD3A37-B8DD-AD17-842E-C34CFD633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7" name="Rectangle 73">
              <a:extLst>
                <a:ext uri="{FF2B5EF4-FFF2-40B4-BE49-F238E27FC236}">
                  <a16:creationId xmlns:a16="http://schemas.microsoft.com/office/drawing/2014/main" id="{B31F6BC7-06F0-37FB-F8F3-BE1740C92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8" name="Rectangle 74">
              <a:extLst>
                <a:ext uri="{FF2B5EF4-FFF2-40B4-BE49-F238E27FC236}">
                  <a16:creationId xmlns:a16="http://schemas.microsoft.com/office/drawing/2014/main" id="{98B99701-D002-F148-513D-32A1489D5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9" name="Rectangle 75">
              <a:extLst>
                <a:ext uri="{FF2B5EF4-FFF2-40B4-BE49-F238E27FC236}">
                  <a16:creationId xmlns:a16="http://schemas.microsoft.com/office/drawing/2014/main" id="{8AC53A10-8803-3EA5-51C2-1A46B501E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0" name="Line 76">
              <a:extLst>
                <a:ext uri="{FF2B5EF4-FFF2-40B4-BE49-F238E27FC236}">
                  <a16:creationId xmlns:a16="http://schemas.microsoft.com/office/drawing/2014/main" id="{0201B428-3A0B-50FC-11C2-4F30A0B436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7925EE3-829E-211E-D068-BAA356EC4B25}"/>
              </a:ext>
            </a:extLst>
          </p:cNvPr>
          <p:cNvGrpSpPr/>
          <p:nvPr/>
        </p:nvGrpSpPr>
        <p:grpSpPr>
          <a:xfrm>
            <a:off x="5571752" y="4072679"/>
            <a:ext cx="868739" cy="478294"/>
            <a:chOff x="8809641" y="3825919"/>
            <a:chExt cx="868739" cy="478294"/>
          </a:xfrm>
        </p:grpSpPr>
        <p:sp>
          <p:nvSpPr>
            <p:cNvPr id="122" name="Rectangle 57">
              <a:extLst>
                <a:ext uri="{FF2B5EF4-FFF2-40B4-BE49-F238E27FC236}">
                  <a16:creationId xmlns:a16="http://schemas.microsoft.com/office/drawing/2014/main" id="{2F1189A9-8F26-141A-1FF9-D062B5E3B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9"/>
              <a:ext cx="868739" cy="47829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Text Box 79">
              <a:extLst>
                <a:ext uri="{FF2B5EF4-FFF2-40B4-BE49-F238E27FC236}">
                  <a16:creationId xmlns:a16="http://schemas.microsoft.com/office/drawing/2014/main" id="{721E0BBF-FDC1-4F27-9451-581872FC5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7204" y="3846939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38F357A-1C0B-7255-7406-FCD6AF7C3717}"/>
              </a:ext>
            </a:extLst>
          </p:cNvPr>
          <p:cNvGrpSpPr/>
          <p:nvPr/>
        </p:nvGrpSpPr>
        <p:grpSpPr>
          <a:xfrm>
            <a:off x="5577996" y="4829329"/>
            <a:ext cx="868739" cy="478294"/>
            <a:chOff x="8809641" y="3825919"/>
            <a:chExt cx="868739" cy="478294"/>
          </a:xfrm>
        </p:grpSpPr>
        <p:sp>
          <p:nvSpPr>
            <p:cNvPr id="125" name="Rectangle 57">
              <a:extLst>
                <a:ext uri="{FF2B5EF4-FFF2-40B4-BE49-F238E27FC236}">
                  <a16:creationId xmlns:a16="http://schemas.microsoft.com/office/drawing/2014/main" id="{ADD00D11-C64B-70DE-F252-117D5CF41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9"/>
              <a:ext cx="868739" cy="47829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6" name="Text Box 79">
              <a:extLst>
                <a:ext uri="{FF2B5EF4-FFF2-40B4-BE49-F238E27FC236}">
                  <a16:creationId xmlns:a16="http://schemas.microsoft.com/office/drawing/2014/main" id="{5455EBB9-7F1A-C8E2-DADD-793ABBB13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7204" y="3846939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1ACE005-6D35-1181-A7A4-E3EF817C017A}"/>
              </a:ext>
            </a:extLst>
          </p:cNvPr>
          <p:cNvGrpSpPr/>
          <p:nvPr/>
        </p:nvGrpSpPr>
        <p:grpSpPr>
          <a:xfrm>
            <a:off x="5573764" y="5630977"/>
            <a:ext cx="868739" cy="478294"/>
            <a:chOff x="8809641" y="3825919"/>
            <a:chExt cx="868739" cy="478294"/>
          </a:xfrm>
        </p:grpSpPr>
        <p:sp>
          <p:nvSpPr>
            <p:cNvPr id="128" name="Rectangle 57">
              <a:extLst>
                <a:ext uri="{FF2B5EF4-FFF2-40B4-BE49-F238E27FC236}">
                  <a16:creationId xmlns:a16="http://schemas.microsoft.com/office/drawing/2014/main" id="{9886F4E2-1093-8680-55F0-2AA01E5A2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9"/>
              <a:ext cx="868739" cy="47829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9" name="Text Box 79">
              <a:extLst>
                <a:ext uri="{FF2B5EF4-FFF2-40B4-BE49-F238E27FC236}">
                  <a16:creationId xmlns:a16="http://schemas.microsoft.com/office/drawing/2014/main" id="{212EF728-B275-A4EF-6AC6-66B615AF8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7204" y="3846939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89B3EB8C-DFC7-D6AE-24A2-250DB2F2DB0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66334" y="4363027"/>
            <a:ext cx="747040" cy="476284"/>
          </a:xfrm>
          <a:prstGeom prst="bentConnector3">
            <a:avLst>
              <a:gd name="adj1" fmla="val 102576"/>
            </a:avLst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5BF97085-5960-C58B-7A2B-AE3AD0EA4C07}"/>
              </a:ext>
            </a:extLst>
          </p:cNvPr>
          <p:cNvCxnSpPr>
            <a:cxnSpLocks/>
          </p:cNvCxnSpPr>
          <p:nvPr/>
        </p:nvCxnSpPr>
        <p:spPr>
          <a:xfrm>
            <a:off x="3492802" y="6009435"/>
            <a:ext cx="148586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814ADD92-6F6D-C486-2CC3-0996D4EEE0EC}"/>
              </a:ext>
            </a:extLst>
          </p:cNvPr>
          <p:cNvCxnSpPr>
            <a:cxnSpLocks/>
          </p:cNvCxnSpPr>
          <p:nvPr/>
        </p:nvCxnSpPr>
        <p:spPr>
          <a:xfrm>
            <a:off x="5359034" y="4355414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132">
            <a:extLst>
              <a:ext uri="{FF2B5EF4-FFF2-40B4-BE49-F238E27FC236}">
                <a16:creationId xmlns:a16="http://schemas.microsoft.com/office/drawing/2014/main" id="{997EE6FB-C2B8-40AD-D92F-73E292BD5289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00870" y="5085978"/>
            <a:ext cx="683589" cy="476286"/>
          </a:xfrm>
          <a:prstGeom prst="bentConnector2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8C4BDCC9-293F-4E56-08AE-EC823FFB98AD}"/>
              </a:ext>
            </a:extLst>
          </p:cNvPr>
          <p:cNvSpPr txBox="1"/>
          <p:nvPr/>
        </p:nvSpPr>
        <p:spPr>
          <a:xfrm>
            <a:off x="5082772" y="410908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ED07315-5E4E-1FE2-0D54-9F91CEC13B86}"/>
              </a:ext>
            </a:extLst>
          </p:cNvPr>
          <p:cNvCxnSpPr>
            <a:cxnSpLocks/>
          </p:cNvCxnSpPr>
          <p:nvPr/>
        </p:nvCxnSpPr>
        <p:spPr>
          <a:xfrm>
            <a:off x="5358009" y="4483266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BDF93270-BC20-2B32-3D46-60F9B070D544}"/>
              </a:ext>
            </a:extLst>
          </p:cNvPr>
          <p:cNvSpPr txBox="1"/>
          <p:nvPr/>
        </p:nvSpPr>
        <p:spPr>
          <a:xfrm>
            <a:off x="5081747" y="423694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C913567-3E78-5545-74EF-FF13D76FE70C}"/>
              </a:ext>
            </a:extLst>
          </p:cNvPr>
          <p:cNvCxnSpPr>
            <a:cxnSpLocks/>
          </p:cNvCxnSpPr>
          <p:nvPr/>
        </p:nvCxnSpPr>
        <p:spPr>
          <a:xfrm>
            <a:off x="5388125" y="5238163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CE27AC39-B6A0-00B4-C742-A786446EDA2A}"/>
              </a:ext>
            </a:extLst>
          </p:cNvPr>
          <p:cNvSpPr txBox="1"/>
          <p:nvPr/>
        </p:nvSpPr>
        <p:spPr>
          <a:xfrm>
            <a:off x="5111863" y="499183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C76A95E-AB23-3EFA-5E2B-3466E28FECC4}"/>
              </a:ext>
            </a:extLst>
          </p:cNvPr>
          <p:cNvCxnSpPr>
            <a:cxnSpLocks/>
          </p:cNvCxnSpPr>
          <p:nvPr/>
        </p:nvCxnSpPr>
        <p:spPr>
          <a:xfrm>
            <a:off x="5388487" y="5108435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F7865098-A18C-4047-C6C7-E2EC3A71D231}"/>
              </a:ext>
            </a:extLst>
          </p:cNvPr>
          <p:cNvSpPr txBox="1"/>
          <p:nvPr/>
        </p:nvSpPr>
        <p:spPr>
          <a:xfrm>
            <a:off x="4950038" y="4867931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..…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F0BC1FF-7C50-C134-3CDC-1D5B88C3E987}"/>
              </a:ext>
            </a:extLst>
          </p:cNvPr>
          <p:cNvCxnSpPr>
            <a:cxnSpLocks/>
          </p:cNvCxnSpPr>
          <p:nvPr/>
        </p:nvCxnSpPr>
        <p:spPr>
          <a:xfrm>
            <a:off x="5389285" y="5797071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6FB31B15-6CBF-9A48-6254-5D88197319BF}"/>
              </a:ext>
            </a:extLst>
          </p:cNvPr>
          <p:cNvSpPr txBox="1"/>
          <p:nvPr/>
        </p:nvSpPr>
        <p:spPr>
          <a:xfrm>
            <a:off x="5113023" y="555074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69B0162-C2EA-069E-1662-AF719D852F5D}"/>
              </a:ext>
            </a:extLst>
          </p:cNvPr>
          <p:cNvCxnSpPr>
            <a:cxnSpLocks/>
          </p:cNvCxnSpPr>
          <p:nvPr/>
        </p:nvCxnSpPr>
        <p:spPr>
          <a:xfrm>
            <a:off x="5375390" y="6011706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68F2A191-00D9-80A5-6427-E23F2B408457}"/>
              </a:ext>
            </a:extLst>
          </p:cNvPr>
          <p:cNvSpPr txBox="1"/>
          <p:nvPr/>
        </p:nvSpPr>
        <p:spPr>
          <a:xfrm>
            <a:off x="4997570" y="576083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7AA4E27C-3816-C696-6FF7-D6D3B331EE60}"/>
              </a:ext>
            </a:extLst>
          </p:cNvPr>
          <p:cNvCxnSpPr>
            <a:cxnSpLocks/>
          </p:cNvCxnSpPr>
          <p:nvPr/>
        </p:nvCxnSpPr>
        <p:spPr>
          <a:xfrm>
            <a:off x="3484129" y="5110555"/>
            <a:ext cx="148586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478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8544F-AB46-25BC-BDE9-01334EAB5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4A343-6DD2-1BB9-113B-D7BF3DD0E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93356" cy="894622"/>
          </a:xfrm>
        </p:spPr>
        <p:txBody>
          <a:bodyPr/>
          <a:lstStyle/>
          <a:p>
            <a:r>
              <a:rPr lang="en-US" dirty="0"/>
              <a:t>Router architecture and buffer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AB7F8-2EB2-68E5-1B51-AA7B4470C3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17400"/>
            <a:ext cx="10893357" cy="3054599"/>
          </a:xfrm>
        </p:spPr>
        <p:txBody>
          <a:bodyPr>
            <a:normAutofit/>
          </a:bodyPr>
          <a:lstStyle/>
          <a:p>
            <a:r>
              <a:rPr lang="en-US" sz="3200" dirty="0"/>
              <a:t>Router architecture</a:t>
            </a:r>
          </a:p>
          <a:p>
            <a:pPr lvl="1"/>
            <a:r>
              <a:rPr lang="en-US" sz="2800" u="sng" dirty="0"/>
              <a:t>Output queueing</a:t>
            </a:r>
          </a:p>
          <a:p>
            <a:pPr lvl="1"/>
            <a:r>
              <a:rPr lang="en-US" sz="2800" u="sng" dirty="0"/>
              <a:t>Input queueing</a:t>
            </a:r>
          </a:p>
          <a:p>
            <a:pPr lvl="1"/>
            <a:r>
              <a:rPr lang="en-US" sz="2800" dirty="0"/>
              <a:t>…</a:t>
            </a:r>
          </a:p>
          <a:p>
            <a:endParaRPr lang="en-US" sz="3200" dirty="0"/>
          </a:p>
          <a:p>
            <a:r>
              <a:rPr lang="en-US" sz="3200" dirty="0"/>
              <a:t>Buffer management and scheduling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08814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989A1E-8AF1-0515-1BE8-C223484FF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 separate memory pools, one for each input port.</a:t>
            </a:r>
          </a:p>
          <a:p>
            <a:pPr indent="-287338">
              <a:buFont typeface="Wingdings" charset="2"/>
              <a:buChar char="§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Input port receives a packet, puts it in the dedicated memory for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that input port.</a:t>
            </a:r>
          </a:p>
          <a:p>
            <a:pPr lvl="1" indent="-287338">
              <a:buFont typeface="Wingdings" charset="2"/>
              <a:buChar char="§"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1 enqueue per tick</a:t>
            </a:r>
          </a:p>
          <a:p>
            <a:pPr indent="-287338">
              <a:buFont typeface="Wingdings" charset="2"/>
              <a:buChar char="§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Output port gets the next packet from the memory of one of the input ports that have packets destined to it</a:t>
            </a:r>
          </a:p>
          <a:p>
            <a:pPr lvl="1" indent="-287338">
              <a:buFont typeface="Wingdings" charset="2"/>
              <a:buChar char="§"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1 dequeue per tick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F3311B-08D4-91A6-4EA0-0B0DBA1A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queuing </a:t>
            </a:r>
          </a:p>
        </p:txBody>
      </p:sp>
    </p:spTree>
    <p:extLst>
      <p:ext uri="{BB962C8B-B14F-4D97-AF65-F5344CB8AC3E}">
        <p14:creationId xmlns:p14="http://schemas.microsoft.com/office/powerpoint/2010/main" val="1666911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F3311B-08D4-91A6-4EA0-0B0DBA1A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queuing 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A6CF4F6-6740-70D1-4608-A08CEBBFE257}"/>
              </a:ext>
            </a:extLst>
          </p:cNvPr>
          <p:cNvGrpSpPr/>
          <p:nvPr/>
        </p:nvGrpSpPr>
        <p:grpSpPr>
          <a:xfrm>
            <a:off x="5099929" y="3020774"/>
            <a:ext cx="3655185" cy="1982105"/>
            <a:chOff x="4298122" y="2868411"/>
            <a:chExt cx="2179044" cy="1181635"/>
          </a:xfrm>
        </p:grpSpPr>
        <p:sp>
          <p:nvSpPr>
            <p:cNvPr id="10" name="Line 155">
              <a:extLst>
                <a:ext uri="{FF2B5EF4-FFF2-40B4-BE49-F238E27FC236}">
                  <a16:creationId xmlns:a16="http://schemas.microsoft.com/office/drawing/2014/main" id="{E70B6BBA-D95B-98A9-2897-0C7ABE508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291851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Line 156">
              <a:extLst>
                <a:ext uri="{FF2B5EF4-FFF2-40B4-BE49-F238E27FC236}">
                  <a16:creationId xmlns:a16="http://schemas.microsoft.com/office/drawing/2014/main" id="{43527E50-4FE4-0F92-076C-A9E33B2FE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8122" y="3432087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Line 157">
              <a:extLst>
                <a:ext uri="{FF2B5EF4-FFF2-40B4-BE49-F238E27FC236}">
                  <a16:creationId xmlns:a16="http://schemas.microsoft.com/office/drawing/2014/main" id="{A768626D-D5A2-D044-0EF4-3BDB0426F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399576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Line 158">
              <a:extLst>
                <a:ext uri="{FF2B5EF4-FFF2-40B4-BE49-F238E27FC236}">
                  <a16:creationId xmlns:a16="http://schemas.microsoft.com/office/drawing/2014/main" id="{61904F93-76E4-A2FB-E6A5-D5C5D631D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9389" y="2918516"/>
              <a:ext cx="3124" cy="108270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" name="Line 159">
              <a:extLst>
                <a:ext uri="{FF2B5EF4-FFF2-40B4-BE49-F238E27FC236}">
                  <a16:creationId xmlns:a16="http://schemas.microsoft.com/office/drawing/2014/main" id="{6F1C84A9-6B93-010F-68B1-876945EB4F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1837" y="2918516"/>
              <a:ext cx="9710" cy="113152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Line 160">
              <a:extLst>
                <a:ext uri="{FF2B5EF4-FFF2-40B4-BE49-F238E27FC236}">
                  <a16:creationId xmlns:a16="http://schemas.microsoft.com/office/drawing/2014/main" id="{D76F42D5-D5F3-5F48-207A-0E86695B9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63850" y="2905990"/>
              <a:ext cx="5886" cy="109522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Oval 161">
              <a:extLst>
                <a:ext uri="{FF2B5EF4-FFF2-40B4-BE49-F238E27FC236}">
                  <a16:creationId xmlns:a16="http://schemas.microsoft.com/office/drawing/2014/main" id="{1A1BA95B-1F69-50D6-8B2F-28B8CAB1D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Oval 162">
              <a:extLst>
                <a:ext uri="{FF2B5EF4-FFF2-40B4-BE49-F238E27FC236}">
                  <a16:creationId xmlns:a16="http://schemas.microsoft.com/office/drawing/2014/main" id="{E5D02ED7-7215-5636-E8B0-166842CFD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Oval 163">
              <a:extLst>
                <a:ext uri="{FF2B5EF4-FFF2-40B4-BE49-F238E27FC236}">
                  <a16:creationId xmlns:a16="http://schemas.microsoft.com/office/drawing/2014/main" id="{7F46BECF-DA3C-6B0E-751F-2142A68BE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93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Oval 164">
              <a:extLst>
                <a:ext uri="{FF2B5EF4-FFF2-40B4-BE49-F238E27FC236}">
                  <a16:creationId xmlns:a16="http://schemas.microsoft.com/office/drawing/2014/main" id="{D7FD571B-D76E-A0B9-96CF-E5BF59FA4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Oval 165">
              <a:extLst>
                <a:ext uri="{FF2B5EF4-FFF2-40B4-BE49-F238E27FC236}">
                  <a16:creationId xmlns:a16="http://schemas.microsoft.com/office/drawing/2014/main" id="{29D14690-46A3-549C-4D94-BE18BC73B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Oval 166">
              <a:extLst>
                <a:ext uri="{FF2B5EF4-FFF2-40B4-BE49-F238E27FC236}">
                  <a16:creationId xmlns:a16="http://schemas.microsoft.com/office/drawing/2014/main" id="{42821082-DD22-2646-654C-7B6143EF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07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" name="Oval 167">
              <a:extLst>
                <a:ext uri="{FF2B5EF4-FFF2-40B4-BE49-F238E27FC236}">
                  <a16:creationId xmlns:a16="http://schemas.microsoft.com/office/drawing/2014/main" id="{0BB5213A-B687-6B43-CD50-AC1C1D460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Oval 168">
              <a:extLst>
                <a:ext uri="{FF2B5EF4-FFF2-40B4-BE49-F238E27FC236}">
                  <a16:creationId xmlns:a16="http://schemas.microsoft.com/office/drawing/2014/main" id="{2B36417D-7666-85CD-0155-04C9FEA4D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" name="Oval 169">
              <a:extLst>
                <a:ext uri="{FF2B5EF4-FFF2-40B4-BE49-F238E27FC236}">
                  <a16:creationId xmlns:a16="http://schemas.microsoft.com/office/drawing/2014/main" id="{747B5CBA-5EEE-FE99-70A1-1D5D52056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8048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6" name="Group 45">
            <a:extLst>
              <a:ext uri="{FF2B5EF4-FFF2-40B4-BE49-F238E27FC236}">
                <a16:creationId xmlns:a16="http://schemas.microsoft.com/office/drawing/2014/main" id="{36BB48E7-3F62-C64C-C5B7-6154E2C4EC02}"/>
              </a:ext>
            </a:extLst>
          </p:cNvPr>
          <p:cNvGrpSpPr>
            <a:grpSpLocks/>
          </p:cNvGrpSpPr>
          <p:nvPr/>
        </p:nvGrpSpPr>
        <p:grpSpPr bwMode="auto">
          <a:xfrm>
            <a:off x="1865296" y="2920826"/>
            <a:ext cx="1565472" cy="502360"/>
            <a:chOff x="925" y="2800"/>
            <a:chExt cx="485" cy="175"/>
          </a:xfrm>
        </p:grpSpPr>
        <p:sp>
          <p:nvSpPr>
            <p:cNvPr id="67" name="Rectangle 46">
              <a:extLst>
                <a:ext uri="{FF2B5EF4-FFF2-40B4-BE49-F238E27FC236}">
                  <a16:creationId xmlns:a16="http://schemas.microsoft.com/office/drawing/2014/main" id="{2B946E0C-BB77-B0E3-41E0-41D8E20E7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Rectangle 47">
              <a:extLst>
                <a:ext uri="{FF2B5EF4-FFF2-40B4-BE49-F238E27FC236}">
                  <a16:creationId xmlns:a16="http://schemas.microsoft.com/office/drawing/2014/main" id="{FFBECFDC-7362-5D69-D9ED-B40543BE5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Rectangle 48">
              <a:extLst>
                <a:ext uri="{FF2B5EF4-FFF2-40B4-BE49-F238E27FC236}">
                  <a16:creationId xmlns:a16="http://schemas.microsoft.com/office/drawing/2014/main" id="{706DFE44-CBF8-E5A5-B48F-C19823C7A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Rectangle 49">
              <a:extLst>
                <a:ext uri="{FF2B5EF4-FFF2-40B4-BE49-F238E27FC236}">
                  <a16:creationId xmlns:a16="http://schemas.microsoft.com/office/drawing/2014/main" id="{69D71E09-28A6-6AAC-DA3F-F03775033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1" name="Group 51">
            <a:extLst>
              <a:ext uri="{FF2B5EF4-FFF2-40B4-BE49-F238E27FC236}">
                <a16:creationId xmlns:a16="http://schemas.microsoft.com/office/drawing/2014/main" id="{B1201A91-6755-5E5A-BC22-4A82FE52076F}"/>
              </a:ext>
            </a:extLst>
          </p:cNvPr>
          <p:cNvGrpSpPr>
            <a:grpSpLocks/>
          </p:cNvGrpSpPr>
          <p:nvPr/>
        </p:nvGrpSpPr>
        <p:grpSpPr bwMode="auto">
          <a:xfrm>
            <a:off x="1896534" y="4571065"/>
            <a:ext cx="1565473" cy="502360"/>
            <a:chOff x="925" y="2800"/>
            <a:chExt cx="485" cy="175"/>
          </a:xfrm>
        </p:grpSpPr>
        <p:sp>
          <p:nvSpPr>
            <p:cNvPr id="72" name="Rectangle 52">
              <a:extLst>
                <a:ext uri="{FF2B5EF4-FFF2-40B4-BE49-F238E27FC236}">
                  <a16:creationId xmlns:a16="http://schemas.microsoft.com/office/drawing/2014/main" id="{10A099FB-5395-38D4-616A-35AA4A2E8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53">
              <a:extLst>
                <a:ext uri="{FF2B5EF4-FFF2-40B4-BE49-F238E27FC236}">
                  <a16:creationId xmlns:a16="http://schemas.microsoft.com/office/drawing/2014/main" id="{39276418-9888-0BDA-B494-4182C49E4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54">
              <a:extLst>
                <a:ext uri="{FF2B5EF4-FFF2-40B4-BE49-F238E27FC236}">
                  <a16:creationId xmlns:a16="http://schemas.microsoft.com/office/drawing/2014/main" id="{B53718F5-485E-9592-921C-735F90252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Rectangle 55">
              <a:extLst>
                <a:ext uri="{FF2B5EF4-FFF2-40B4-BE49-F238E27FC236}">
                  <a16:creationId xmlns:a16="http://schemas.microsoft.com/office/drawing/2014/main" id="{0406EDDE-DD75-E442-0AB7-9397F7B87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6" name="Group 64">
            <a:extLst>
              <a:ext uri="{FF2B5EF4-FFF2-40B4-BE49-F238E27FC236}">
                <a16:creationId xmlns:a16="http://schemas.microsoft.com/office/drawing/2014/main" id="{879D23FF-1B5A-236E-C4B7-4B9F50F73D14}"/>
              </a:ext>
            </a:extLst>
          </p:cNvPr>
          <p:cNvGrpSpPr>
            <a:grpSpLocks/>
          </p:cNvGrpSpPr>
          <p:nvPr/>
        </p:nvGrpSpPr>
        <p:grpSpPr bwMode="auto">
          <a:xfrm>
            <a:off x="9025035" y="2893858"/>
            <a:ext cx="1566181" cy="502360"/>
            <a:chOff x="498" y="3463"/>
            <a:chExt cx="424" cy="136"/>
          </a:xfrm>
        </p:grpSpPr>
        <p:sp>
          <p:nvSpPr>
            <p:cNvPr id="77" name="Rectangle 59">
              <a:extLst>
                <a:ext uri="{FF2B5EF4-FFF2-40B4-BE49-F238E27FC236}">
                  <a16:creationId xmlns:a16="http://schemas.microsoft.com/office/drawing/2014/main" id="{56F17991-C0AB-A3DA-21DF-1E071A1A9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D01C0BE0-E93A-A0B4-62CE-2527908D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Rectangle 61">
              <a:extLst>
                <a:ext uri="{FF2B5EF4-FFF2-40B4-BE49-F238E27FC236}">
                  <a16:creationId xmlns:a16="http://schemas.microsoft.com/office/drawing/2014/main" id="{FE6A9FA2-6E0D-8405-4BB1-74487AD38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Rectangle 62">
              <a:extLst>
                <a:ext uri="{FF2B5EF4-FFF2-40B4-BE49-F238E27FC236}">
                  <a16:creationId xmlns:a16="http://schemas.microsoft.com/office/drawing/2014/main" id="{FB3407C5-BD0F-F6E5-0650-995E057F3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2" name="Group 65">
            <a:extLst>
              <a:ext uri="{FF2B5EF4-FFF2-40B4-BE49-F238E27FC236}">
                <a16:creationId xmlns:a16="http://schemas.microsoft.com/office/drawing/2014/main" id="{BFF5242A-B916-E813-ADE3-405AD3DEFD59}"/>
              </a:ext>
            </a:extLst>
          </p:cNvPr>
          <p:cNvGrpSpPr>
            <a:grpSpLocks/>
          </p:cNvGrpSpPr>
          <p:nvPr/>
        </p:nvGrpSpPr>
        <p:grpSpPr bwMode="auto">
          <a:xfrm>
            <a:off x="9005633" y="3764256"/>
            <a:ext cx="1566180" cy="502360"/>
            <a:chOff x="498" y="3463"/>
            <a:chExt cx="424" cy="136"/>
          </a:xfrm>
        </p:grpSpPr>
        <p:sp>
          <p:nvSpPr>
            <p:cNvPr id="83" name="Rectangle 66">
              <a:extLst>
                <a:ext uri="{FF2B5EF4-FFF2-40B4-BE49-F238E27FC236}">
                  <a16:creationId xmlns:a16="http://schemas.microsoft.com/office/drawing/2014/main" id="{6E5BFACF-22F8-EDB8-0262-2D478E527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Rectangle 67">
              <a:extLst>
                <a:ext uri="{FF2B5EF4-FFF2-40B4-BE49-F238E27FC236}">
                  <a16:creationId xmlns:a16="http://schemas.microsoft.com/office/drawing/2014/main" id="{699EA885-6E2F-DF3B-66F8-1768513FC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Rectangle 68">
              <a:extLst>
                <a:ext uri="{FF2B5EF4-FFF2-40B4-BE49-F238E27FC236}">
                  <a16:creationId xmlns:a16="http://schemas.microsoft.com/office/drawing/2014/main" id="{956CD487-E555-93C8-4013-DFA7A2296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Rectangle 69">
              <a:extLst>
                <a:ext uri="{FF2B5EF4-FFF2-40B4-BE49-F238E27FC236}">
                  <a16:creationId xmlns:a16="http://schemas.microsoft.com/office/drawing/2014/main" id="{4F2AF461-F248-9205-FDED-14E0272B3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8" name="Group 71">
            <a:extLst>
              <a:ext uri="{FF2B5EF4-FFF2-40B4-BE49-F238E27FC236}">
                <a16:creationId xmlns:a16="http://schemas.microsoft.com/office/drawing/2014/main" id="{E9597DD1-CB48-3A16-BA20-ECFD41ABA9AC}"/>
              </a:ext>
            </a:extLst>
          </p:cNvPr>
          <p:cNvGrpSpPr>
            <a:grpSpLocks/>
          </p:cNvGrpSpPr>
          <p:nvPr/>
        </p:nvGrpSpPr>
        <p:grpSpPr bwMode="auto">
          <a:xfrm>
            <a:off x="9012425" y="4638067"/>
            <a:ext cx="1566181" cy="502360"/>
            <a:chOff x="498" y="3463"/>
            <a:chExt cx="424" cy="136"/>
          </a:xfrm>
        </p:grpSpPr>
        <p:sp>
          <p:nvSpPr>
            <p:cNvPr id="89" name="Rectangle 72">
              <a:extLst>
                <a:ext uri="{FF2B5EF4-FFF2-40B4-BE49-F238E27FC236}">
                  <a16:creationId xmlns:a16="http://schemas.microsoft.com/office/drawing/2014/main" id="{3C0702F2-E8A8-0F62-45F8-4EE1B4F99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73">
              <a:extLst>
                <a:ext uri="{FF2B5EF4-FFF2-40B4-BE49-F238E27FC236}">
                  <a16:creationId xmlns:a16="http://schemas.microsoft.com/office/drawing/2014/main" id="{1B35B8AE-52D4-5705-E2B0-DCDC5DCAA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74">
              <a:extLst>
                <a:ext uri="{FF2B5EF4-FFF2-40B4-BE49-F238E27FC236}">
                  <a16:creationId xmlns:a16="http://schemas.microsoft.com/office/drawing/2014/main" id="{88C579AE-B164-5A62-F8BD-706F377AB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Rectangle 75">
              <a:extLst>
                <a:ext uri="{FF2B5EF4-FFF2-40B4-BE49-F238E27FC236}">
                  <a16:creationId xmlns:a16="http://schemas.microsoft.com/office/drawing/2014/main" id="{45B61CE9-F365-613C-7BBA-EE3D985C8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CD5064C-E537-8D76-6633-EA2548C96B22}"/>
              </a:ext>
            </a:extLst>
          </p:cNvPr>
          <p:cNvGrpSpPr/>
          <p:nvPr/>
        </p:nvGrpSpPr>
        <p:grpSpPr>
          <a:xfrm>
            <a:off x="3732031" y="2700374"/>
            <a:ext cx="1066635" cy="827391"/>
            <a:chOff x="8809641" y="3749783"/>
            <a:chExt cx="868739" cy="673883"/>
          </a:xfrm>
        </p:grpSpPr>
        <p:sp>
          <p:nvSpPr>
            <p:cNvPr id="95" name="Rectangle 57">
              <a:extLst>
                <a:ext uri="{FF2B5EF4-FFF2-40B4-BE49-F238E27FC236}">
                  <a16:creationId xmlns:a16="http://schemas.microsoft.com/office/drawing/2014/main" id="{BA932E39-2C55-4C74-BF90-755EF1B49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19661"/>
              <a:ext cx="868739" cy="60400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6" name="Text Box 79">
              <a:extLst>
                <a:ext uri="{FF2B5EF4-FFF2-40B4-BE49-F238E27FC236}">
                  <a16:creationId xmlns:a16="http://schemas.microsoft.com/office/drawing/2014/main" id="{5C273EEF-A23C-D580-B83B-6D185E7B2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1347" y="3749783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320626E-DDF9-6AA7-3EDC-5D686556371E}"/>
              </a:ext>
            </a:extLst>
          </p:cNvPr>
          <p:cNvGrpSpPr/>
          <p:nvPr/>
        </p:nvGrpSpPr>
        <p:grpSpPr>
          <a:xfrm>
            <a:off x="3723350" y="3606862"/>
            <a:ext cx="1075700" cy="806710"/>
            <a:chOff x="8809641" y="3768755"/>
            <a:chExt cx="876122" cy="657038"/>
          </a:xfrm>
        </p:grpSpPr>
        <p:sp>
          <p:nvSpPr>
            <p:cNvPr id="98" name="Rectangle 57">
              <a:extLst>
                <a:ext uri="{FF2B5EF4-FFF2-40B4-BE49-F238E27FC236}">
                  <a16:creationId xmlns:a16="http://schemas.microsoft.com/office/drawing/2014/main" id="{5C9E6A8D-00CF-9514-85A7-01673A2C8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8"/>
              <a:ext cx="868739" cy="5998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Text Box 79">
              <a:extLst>
                <a:ext uri="{FF2B5EF4-FFF2-40B4-BE49-F238E27FC236}">
                  <a16:creationId xmlns:a16="http://schemas.microsoft.com/office/drawing/2014/main" id="{2A5294CB-9CC2-C997-90E0-A19A444B6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3176" y="3768755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EF0C4A2-FD02-F4E2-592F-02DABC326798}"/>
              </a:ext>
            </a:extLst>
          </p:cNvPr>
          <p:cNvGrpSpPr/>
          <p:nvPr/>
        </p:nvGrpSpPr>
        <p:grpSpPr>
          <a:xfrm>
            <a:off x="3742281" y="4492513"/>
            <a:ext cx="1066635" cy="794741"/>
            <a:chOff x="8809641" y="3765177"/>
            <a:chExt cx="868739" cy="647290"/>
          </a:xfrm>
        </p:grpSpPr>
        <p:sp>
          <p:nvSpPr>
            <p:cNvPr id="101" name="Rectangle 57">
              <a:extLst>
                <a:ext uri="{FF2B5EF4-FFF2-40B4-BE49-F238E27FC236}">
                  <a16:creationId xmlns:a16="http://schemas.microsoft.com/office/drawing/2014/main" id="{0C2BD124-6F2C-2D8B-242F-52399294F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0561"/>
              <a:ext cx="868739" cy="59190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79">
              <a:extLst>
                <a:ext uri="{FF2B5EF4-FFF2-40B4-BE49-F238E27FC236}">
                  <a16:creationId xmlns:a16="http://schemas.microsoft.com/office/drawing/2014/main" id="{A4009D12-B592-3AFF-C374-836E61D2B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2927" y="3765177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19" name="Group 45">
            <a:extLst>
              <a:ext uri="{FF2B5EF4-FFF2-40B4-BE49-F238E27FC236}">
                <a16:creationId xmlns:a16="http://schemas.microsoft.com/office/drawing/2014/main" id="{0332D171-0892-B334-BFD8-8061ACCCA41F}"/>
              </a:ext>
            </a:extLst>
          </p:cNvPr>
          <p:cNvGrpSpPr>
            <a:grpSpLocks/>
          </p:cNvGrpSpPr>
          <p:nvPr/>
        </p:nvGrpSpPr>
        <p:grpSpPr bwMode="auto">
          <a:xfrm>
            <a:off x="1889779" y="3769221"/>
            <a:ext cx="1565472" cy="502360"/>
            <a:chOff x="925" y="2800"/>
            <a:chExt cx="485" cy="175"/>
          </a:xfrm>
        </p:grpSpPr>
        <p:sp>
          <p:nvSpPr>
            <p:cNvPr id="120" name="Rectangle 46">
              <a:extLst>
                <a:ext uri="{FF2B5EF4-FFF2-40B4-BE49-F238E27FC236}">
                  <a16:creationId xmlns:a16="http://schemas.microsoft.com/office/drawing/2014/main" id="{324747E2-4BD0-C484-375A-91E82472C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1" name="Rectangle 47">
              <a:extLst>
                <a:ext uri="{FF2B5EF4-FFF2-40B4-BE49-F238E27FC236}">
                  <a16:creationId xmlns:a16="http://schemas.microsoft.com/office/drawing/2014/main" id="{54D51E51-9FE8-A3E6-A12D-4E68829DF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" name="Rectangle 48">
              <a:extLst>
                <a:ext uri="{FF2B5EF4-FFF2-40B4-BE49-F238E27FC236}">
                  <a16:creationId xmlns:a16="http://schemas.microsoft.com/office/drawing/2014/main" id="{293BB401-D257-40D5-E9D1-60210FAB6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Rectangle 49">
              <a:extLst>
                <a:ext uri="{FF2B5EF4-FFF2-40B4-BE49-F238E27FC236}">
                  <a16:creationId xmlns:a16="http://schemas.microsoft.com/office/drawing/2014/main" id="{D5814C54-DA29-085A-6CC0-D8BD3EF1E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D894018-048A-088A-F129-DB6E7E57B215}"/>
              </a:ext>
            </a:extLst>
          </p:cNvPr>
          <p:cNvSpPr/>
          <p:nvPr/>
        </p:nvSpPr>
        <p:spPr>
          <a:xfrm>
            <a:off x="5099929" y="2676698"/>
            <a:ext cx="3655185" cy="264344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27278A3-31D1-6DC9-B494-24E5A98374F7}"/>
              </a:ext>
            </a:extLst>
          </p:cNvPr>
          <p:cNvSpPr/>
          <p:nvPr/>
        </p:nvSpPr>
        <p:spPr>
          <a:xfrm>
            <a:off x="4411675" y="3079311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B1B9B3-D3B1-42C2-6660-9F9A12F76D85}"/>
              </a:ext>
            </a:extLst>
          </p:cNvPr>
          <p:cNvSpPr/>
          <p:nvPr/>
        </p:nvSpPr>
        <p:spPr>
          <a:xfrm>
            <a:off x="4072238" y="3079310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3FD5987-EE88-3020-52D0-F8B9DF39A7C2}"/>
              </a:ext>
            </a:extLst>
          </p:cNvPr>
          <p:cNvSpPr/>
          <p:nvPr/>
        </p:nvSpPr>
        <p:spPr>
          <a:xfrm>
            <a:off x="4403106" y="3983204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F1C5FC1-8548-FA57-43E3-0B870F773701}"/>
              </a:ext>
            </a:extLst>
          </p:cNvPr>
          <p:cNvSpPr/>
          <p:nvPr/>
        </p:nvSpPr>
        <p:spPr>
          <a:xfrm>
            <a:off x="4438602" y="4863384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3E58460-62E0-D3B6-483A-1FA011ABECD7}"/>
              </a:ext>
            </a:extLst>
          </p:cNvPr>
          <p:cNvSpPr/>
          <p:nvPr/>
        </p:nvSpPr>
        <p:spPr>
          <a:xfrm>
            <a:off x="4099165" y="4863383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5E0D03C-8064-E494-F553-5D60CAA02F06}"/>
              </a:ext>
            </a:extLst>
          </p:cNvPr>
          <p:cNvSpPr/>
          <p:nvPr/>
        </p:nvSpPr>
        <p:spPr>
          <a:xfrm>
            <a:off x="1448871" y="3777916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1D23825-1628-7B28-909B-016B19280C2E}"/>
              </a:ext>
            </a:extLst>
          </p:cNvPr>
          <p:cNvSpPr txBox="1"/>
          <p:nvPr/>
        </p:nvSpPr>
        <p:spPr>
          <a:xfrm>
            <a:off x="1247966" y="1674787"/>
            <a:ext cx="6939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At most one enqueue in each memory per tick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5E46549-5F14-C152-09EA-EBE4AFE4343B}"/>
              </a:ext>
            </a:extLst>
          </p:cNvPr>
          <p:cNvSpPr txBox="1"/>
          <p:nvPr/>
        </p:nvSpPr>
        <p:spPr>
          <a:xfrm>
            <a:off x="3200895" y="2599719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B61F4B1-DD8F-176B-4DFE-4EFFCAC38132}"/>
              </a:ext>
            </a:extLst>
          </p:cNvPr>
          <p:cNvSpPr txBox="1"/>
          <p:nvPr/>
        </p:nvSpPr>
        <p:spPr>
          <a:xfrm>
            <a:off x="3202660" y="3467918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C01B555-D1C1-D52C-F84F-D9FD0ED27B73}"/>
              </a:ext>
            </a:extLst>
          </p:cNvPr>
          <p:cNvSpPr txBox="1"/>
          <p:nvPr/>
        </p:nvSpPr>
        <p:spPr>
          <a:xfrm>
            <a:off x="3230023" y="42866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E12255B-4A37-6E9C-F8F6-E2CA6E39D69A}"/>
              </a:ext>
            </a:extLst>
          </p:cNvPr>
          <p:cNvSpPr txBox="1"/>
          <p:nvPr/>
        </p:nvSpPr>
        <p:spPr>
          <a:xfrm>
            <a:off x="8963599" y="2593275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6BE93F9-0A81-0B31-F07B-246142B0F9DC}"/>
              </a:ext>
            </a:extLst>
          </p:cNvPr>
          <p:cNvSpPr txBox="1"/>
          <p:nvPr/>
        </p:nvSpPr>
        <p:spPr>
          <a:xfrm>
            <a:off x="8965364" y="3461474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48DAE5E-C42F-6147-3A60-10F36924A68A}"/>
              </a:ext>
            </a:extLst>
          </p:cNvPr>
          <p:cNvSpPr txBox="1"/>
          <p:nvPr/>
        </p:nvSpPr>
        <p:spPr>
          <a:xfrm>
            <a:off x="8992727" y="42802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6983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49 -7.40741E-7 L 0.21263 0.0307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01" y="15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F3311B-08D4-91A6-4EA0-0B0DBA1A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queuing 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A6CF4F6-6740-70D1-4608-A08CEBBFE257}"/>
              </a:ext>
            </a:extLst>
          </p:cNvPr>
          <p:cNvGrpSpPr/>
          <p:nvPr/>
        </p:nvGrpSpPr>
        <p:grpSpPr>
          <a:xfrm>
            <a:off x="5099929" y="3020774"/>
            <a:ext cx="3655185" cy="1982105"/>
            <a:chOff x="4298122" y="2868411"/>
            <a:chExt cx="2179044" cy="1181635"/>
          </a:xfrm>
        </p:grpSpPr>
        <p:sp>
          <p:nvSpPr>
            <p:cNvPr id="10" name="Line 155">
              <a:extLst>
                <a:ext uri="{FF2B5EF4-FFF2-40B4-BE49-F238E27FC236}">
                  <a16:creationId xmlns:a16="http://schemas.microsoft.com/office/drawing/2014/main" id="{E70B6BBA-D95B-98A9-2897-0C7ABE508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291851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Line 156">
              <a:extLst>
                <a:ext uri="{FF2B5EF4-FFF2-40B4-BE49-F238E27FC236}">
                  <a16:creationId xmlns:a16="http://schemas.microsoft.com/office/drawing/2014/main" id="{43527E50-4FE4-0F92-076C-A9E33B2FE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8122" y="3432087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Line 157">
              <a:extLst>
                <a:ext uri="{FF2B5EF4-FFF2-40B4-BE49-F238E27FC236}">
                  <a16:creationId xmlns:a16="http://schemas.microsoft.com/office/drawing/2014/main" id="{A768626D-D5A2-D044-0EF4-3BDB0426F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399576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Line 158">
              <a:extLst>
                <a:ext uri="{FF2B5EF4-FFF2-40B4-BE49-F238E27FC236}">
                  <a16:creationId xmlns:a16="http://schemas.microsoft.com/office/drawing/2014/main" id="{61904F93-76E4-A2FB-E6A5-D5C5D631D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9389" y="2918516"/>
              <a:ext cx="3124" cy="108270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" name="Line 159">
              <a:extLst>
                <a:ext uri="{FF2B5EF4-FFF2-40B4-BE49-F238E27FC236}">
                  <a16:creationId xmlns:a16="http://schemas.microsoft.com/office/drawing/2014/main" id="{6F1C84A9-6B93-010F-68B1-876945EB4F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1837" y="2918516"/>
              <a:ext cx="9710" cy="113152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Line 160">
              <a:extLst>
                <a:ext uri="{FF2B5EF4-FFF2-40B4-BE49-F238E27FC236}">
                  <a16:creationId xmlns:a16="http://schemas.microsoft.com/office/drawing/2014/main" id="{D76F42D5-D5F3-5F48-207A-0E86695B9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63850" y="2905990"/>
              <a:ext cx="5886" cy="109522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Oval 161">
              <a:extLst>
                <a:ext uri="{FF2B5EF4-FFF2-40B4-BE49-F238E27FC236}">
                  <a16:creationId xmlns:a16="http://schemas.microsoft.com/office/drawing/2014/main" id="{1A1BA95B-1F69-50D6-8B2F-28B8CAB1D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Oval 162">
              <a:extLst>
                <a:ext uri="{FF2B5EF4-FFF2-40B4-BE49-F238E27FC236}">
                  <a16:creationId xmlns:a16="http://schemas.microsoft.com/office/drawing/2014/main" id="{E5D02ED7-7215-5636-E8B0-166842CFD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Oval 163">
              <a:extLst>
                <a:ext uri="{FF2B5EF4-FFF2-40B4-BE49-F238E27FC236}">
                  <a16:creationId xmlns:a16="http://schemas.microsoft.com/office/drawing/2014/main" id="{7F46BECF-DA3C-6B0E-751F-2142A68BE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93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Oval 164">
              <a:extLst>
                <a:ext uri="{FF2B5EF4-FFF2-40B4-BE49-F238E27FC236}">
                  <a16:creationId xmlns:a16="http://schemas.microsoft.com/office/drawing/2014/main" id="{D7FD571B-D76E-A0B9-96CF-E5BF59FA4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Oval 165">
              <a:extLst>
                <a:ext uri="{FF2B5EF4-FFF2-40B4-BE49-F238E27FC236}">
                  <a16:creationId xmlns:a16="http://schemas.microsoft.com/office/drawing/2014/main" id="{29D14690-46A3-549C-4D94-BE18BC73B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Oval 166">
              <a:extLst>
                <a:ext uri="{FF2B5EF4-FFF2-40B4-BE49-F238E27FC236}">
                  <a16:creationId xmlns:a16="http://schemas.microsoft.com/office/drawing/2014/main" id="{42821082-DD22-2646-654C-7B6143EF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07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" name="Oval 167">
              <a:extLst>
                <a:ext uri="{FF2B5EF4-FFF2-40B4-BE49-F238E27FC236}">
                  <a16:creationId xmlns:a16="http://schemas.microsoft.com/office/drawing/2014/main" id="{0BB5213A-B687-6B43-CD50-AC1C1D460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Oval 168">
              <a:extLst>
                <a:ext uri="{FF2B5EF4-FFF2-40B4-BE49-F238E27FC236}">
                  <a16:creationId xmlns:a16="http://schemas.microsoft.com/office/drawing/2014/main" id="{2B36417D-7666-85CD-0155-04C9FEA4D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" name="Oval 169">
              <a:extLst>
                <a:ext uri="{FF2B5EF4-FFF2-40B4-BE49-F238E27FC236}">
                  <a16:creationId xmlns:a16="http://schemas.microsoft.com/office/drawing/2014/main" id="{747B5CBA-5EEE-FE99-70A1-1D5D52056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8048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6" name="Group 45">
            <a:extLst>
              <a:ext uri="{FF2B5EF4-FFF2-40B4-BE49-F238E27FC236}">
                <a16:creationId xmlns:a16="http://schemas.microsoft.com/office/drawing/2014/main" id="{36BB48E7-3F62-C64C-C5B7-6154E2C4EC02}"/>
              </a:ext>
            </a:extLst>
          </p:cNvPr>
          <p:cNvGrpSpPr>
            <a:grpSpLocks/>
          </p:cNvGrpSpPr>
          <p:nvPr/>
        </p:nvGrpSpPr>
        <p:grpSpPr bwMode="auto">
          <a:xfrm>
            <a:off x="1865296" y="2920826"/>
            <a:ext cx="1565472" cy="502360"/>
            <a:chOff x="925" y="2800"/>
            <a:chExt cx="485" cy="175"/>
          </a:xfrm>
        </p:grpSpPr>
        <p:sp>
          <p:nvSpPr>
            <p:cNvPr id="67" name="Rectangle 46">
              <a:extLst>
                <a:ext uri="{FF2B5EF4-FFF2-40B4-BE49-F238E27FC236}">
                  <a16:creationId xmlns:a16="http://schemas.microsoft.com/office/drawing/2014/main" id="{2B946E0C-BB77-B0E3-41E0-41D8E20E7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Rectangle 47">
              <a:extLst>
                <a:ext uri="{FF2B5EF4-FFF2-40B4-BE49-F238E27FC236}">
                  <a16:creationId xmlns:a16="http://schemas.microsoft.com/office/drawing/2014/main" id="{FFBECFDC-7362-5D69-D9ED-B40543BE5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Rectangle 48">
              <a:extLst>
                <a:ext uri="{FF2B5EF4-FFF2-40B4-BE49-F238E27FC236}">
                  <a16:creationId xmlns:a16="http://schemas.microsoft.com/office/drawing/2014/main" id="{706DFE44-CBF8-E5A5-B48F-C19823C7A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Rectangle 49">
              <a:extLst>
                <a:ext uri="{FF2B5EF4-FFF2-40B4-BE49-F238E27FC236}">
                  <a16:creationId xmlns:a16="http://schemas.microsoft.com/office/drawing/2014/main" id="{69D71E09-28A6-6AAC-DA3F-F03775033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1" name="Group 51">
            <a:extLst>
              <a:ext uri="{FF2B5EF4-FFF2-40B4-BE49-F238E27FC236}">
                <a16:creationId xmlns:a16="http://schemas.microsoft.com/office/drawing/2014/main" id="{B1201A91-6755-5E5A-BC22-4A82FE52076F}"/>
              </a:ext>
            </a:extLst>
          </p:cNvPr>
          <p:cNvGrpSpPr>
            <a:grpSpLocks/>
          </p:cNvGrpSpPr>
          <p:nvPr/>
        </p:nvGrpSpPr>
        <p:grpSpPr bwMode="auto">
          <a:xfrm>
            <a:off x="1896534" y="4571065"/>
            <a:ext cx="1565473" cy="502360"/>
            <a:chOff x="925" y="2800"/>
            <a:chExt cx="485" cy="175"/>
          </a:xfrm>
        </p:grpSpPr>
        <p:sp>
          <p:nvSpPr>
            <p:cNvPr id="72" name="Rectangle 52">
              <a:extLst>
                <a:ext uri="{FF2B5EF4-FFF2-40B4-BE49-F238E27FC236}">
                  <a16:creationId xmlns:a16="http://schemas.microsoft.com/office/drawing/2014/main" id="{10A099FB-5395-38D4-616A-35AA4A2E8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53">
              <a:extLst>
                <a:ext uri="{FF2B5EF4-FFF2-40B4-BE49-F238E27FC236}">
                  <a16:creationId xmlns:a16="http://schemas.microsoft.com/office/drawing/2014/main" id="{39276418-9888-0BDA-B494-4182C49E4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54">
              <a:extLst>
                <a:ext uri="{FF2B5EF4-FFF2-40B4-BE49-F238E27FC236}">
                  <a16:creationId xmlns:a16="http://schemas.microsoft.com/office/drawing/2014/main" id="{B53718F5-485E-9592-921C-735F90252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Rectangle 55">
              <a:extLst>
                <a:ext uri="{FF2B5EF4-FFF2-40B4-BE49-F238E27FC236}">
                  <a16:creationId xmlns:a16="http://schemas.microsoft.com/office/drawing/2014/main" id="{0406EDDE-DD75-E442-0AB7-9397F7B87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6" name="Group 64">
            <a:extLst>
              <a:ext uri="{FF2B5EF4-FFF2-40B4-BE49-F238E27FC236}">
                <a16:creationId xmlns:a16="http://schemas.microsoft.com/office/drawing/2014/main" id="{879D23FF-1B5A-236E-C4B7-4B9F50F73D14}"/>
              </a:ext>
            </a:extLst>
          </p:cNvPr>
          <p:cNvGrpSpPr>
            <a:grpSpLocks/>
          </p:cNvGrpSpPr>
          <p:nvPr/>
        </p:nvGrpSpPr>
        <p:grpSpPr bwMode="auto">
          <a:xfrm>
            <a:off x="9025035" y="2893858"/>
            <a:ext cx="1566181" cy="502360"/>
            <a:chOff x="498" y="3463"/>
            <a:chExt cx="424" cy="136"/>
          </a:xfrm>
        </p:grpSpPr>
        <p:sp>
          <p:nvSpPr>
            <p:cNvPr id="77" name="Rectangle 59">
              <a:extLst>
                <a:ext uri="{FF2B5EF4-FFF2-40B4-BE49-F238E27FC236}">
                  <a16:creationId xmlns:a16="http://schemas.microsoft.com/office/drawing/2014/main" id="{56F17991-C0AB-A3DA-21DF-1E071A1A9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D01C0BE0-E93A-A0B4-62CE-2527908D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Rectangle 61">
              <a:extLst>
                <a:ext uri="{FF2B5EF4-FFF2-40B4-BE49-F238E27FC236}">
                  <a16:creationId xmlns:a16="http://schemas.microsoft.com/office/drawing/2014/main" id="{FE6A9FA2-6E0D-8405-4BB1-74487AD38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Rectangle 62">
              <a:extLst>
                <a:ext uri="{FF2B5EF4-FFF2-40B4-BE49-F238E27FC236}">
                  <a16:creationId xmlns:a16="http://schemas.microsoft.com/office/drawing/2014/main" id="{FB3407C5-BD0F-F6E5-0650-995E057F3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2" name="Group 65">
            <a:extLst>
              <a:ext uri="{FF2B5EF4-FFF2-40B4-BE49-F238E27FC236}">
                <a16:creationId xmlns:a16="http://schemas.microsoft.com/office/drawing/2014/main" id="{BFF5242A-B916-E813-ADE3-405AD3DEFD59}"/>
              </a:ext>
            </a:extLst>
          </p:cNvPr>
          <p:cNvGrpSpPr>
            <a:grpSpLocks/>
          </p:cNvGrpSpPr>
          <p:nvPr/>
        </p:nvGrpSpPr>
        <p:grpSpPr bwMode="auto">
          <a:xfrm>
            <a:off x="9005633" y="3764256"/>
            <a:ext cx="1566180" cy="502360"/>
            <a:chOff x="498" y="3463"/>
            <a:chExt cx="424" cy="136"/>
          </a:xfrm>
        </p:grpSpPr>
        <p:sp>
          <p:nvSpPr>
            <p:cNvPr id="83" name="Rectangle 66">
              <a:extLst>
                <a:ext uri="{FF2B5EF4-FFF2-40B4-BE49-F238E27FC236}">
                  <a16:creationId xmlns:a16="http://schemas.microsoft.com/office/drawing/2014/main" id="{6E5BFACF-22F8-EDB8-0262-2D478E527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Rectangle 67">
              <a:extLst>
                <a:ext uri="{FF2B5EF4-FFF2-40B4-BE49-F238E27FC236}">
                  <a16:creationId xmlns:a16="http://schemas.microsoft.com/office/drawing/2014/main" id="{699EA885-6E2F-DF3B-66F8-1768513FC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Rectangle 68">
              <a:extLst>
                <a:ext uri="{FF2B5EF4-FFF2-40B4-BE49-F238E27FC236}">
                  <a16:creationId xmlns:a16="http://schemas.microsoft.com/office/drawing/2014/main" id="{956CD487-E555-93C8-4013-DFA7A2296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Rectangle 69">
              <a:extLst>
                <a:ext uri="{FF2B5EF4-FFF2-40B4-BE49-F238E27FC236}">
                  <a16:creationId xmlns:a16="http://schemas.microsoft.com/office/drawing/2014/main" id="{4F2AF461-F248-9205-FDED-14E0272B3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8" name="Group 71">
            <a:extLst>
              <a:ext uri="{FF2B5EF4-FFF2-40B4-BE49-F238E27FC236}">
                <a16:creationId xmlns:a16="http://schemas.microsoft.com/office/drawing/2014/main" id="{E9597DD1-CB48-3A16-BA20-ECFD41ABA9AC}"/>
              </a:ext>
            </a:extLst>
          </p:cNvPr>
          <p:cNvGrpSpPr>
            <a:grpSpLocks/>
          </p:cNvGrpSpPr>
          <p:nvPr/>
        </p:nvGrpSpPr>
        <p:grpSpPr bwMode="auto">
          <a:xfrm>
            <a:off x="9012425" y="4638067"/>
            <a:ext cx="1566181" cy="502360"/>
            <a:chOff x="498" y="3463"/>
            <a:chExt cx="424" cy="136"/>
          </a:xfrm>
        </p:grpSpPr>
        <p:sp>
          <p:nvSpPr>
            <p:cNvPr id="89" name="Rectangle 72">
              <a:extLst>
                <a:ext uri="{FF2B5EF4-FFF2-40B4-BE49-F238E27FC236}">
                  <a16:creationId xmlns:a16="http://schemas.microsoft.com/office/drawing/2014/main" id="{3C0702F2-E8A8-0F62-45F8-4EE1B4F99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73">
              <a:extLst>
                <a:ext uri="{FF2B5EF4-FFF2-40B4-BE49-F238E27FC236}">
                  <a16:creationId xmlns:a16="http://schemas.microsoft.com/office/drawing/2014/main" id="{1B35B8AE-52D4-5705-E2B0-DCDC5DCAA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74">
              <a:extLst>
                <a:ext uri="{FF2B5EF4-FFF2-40B4-BE49-F238E27FC236}">
                  <a16:creationId xmlns:a16="http://schemas.microsoft.com/office/drawing/2014/main" id="{88C579AE-B164-5A62-F8BD-706F377AB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Rectangle 75">
              <a:extLst>
                <a:ext uri="{FF2B5EF4-FFF2-40B4-BE49-F238E27FC236}">
                  <a16:creationId xmlns:a16="http://schemas.microsoft.com/office/drawing/2014/main" id="{45B61CE9-F365-613C-7BBA-EE3D985C8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CD5064C-E537-8D76-6633-EA2548C96B22}"/>
              </a:ext>
            </a:extLst>
          </p:cNvPr>
          <p:cNvGrpSpPr/>
          <p:nvPr/>
        </p:nvGrpSpPr>
        <p:grpSpPr>
          <a:xfrm>
            <a:off x="3732031" y="2700374"/>
            <a:ext cx="1066635" cy="827391"/>
            <a:chOff x="8809641" y="3749783"/>
            <a:chExt cx="868739" cy="673883"/>
          </a:xfrm>
        </p:grpSpPr>
        <p:sp>
          <p:nvSpPr>
            <p:cNvPr id="95" name="Rectangle 57">
              <a:extLst>
                <a:ext uri="{FF2B5EF4-FFF2-40B4-BE49-F238E27FC236}">
                  <a16:creationId xmlns:a16="http://schemas.microsoft.com/office/drawing/2014/main" id="{BA932E39-2C55-4C74-BF90-755EF1B49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19661"/>
              <a:ext cx="868739" cy="60400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6" name="Text Box 79">
              <a:extLst>
                <a:ext uri="{FF2B5EF4-FFF2-40B4-BE49-F238E27FC236}">
                  <a16:creationId xmlns:a16="http://schemas.microsoft.com/office/drawing/2014/main" id="{5C273EEF-A23C-D580-B83B-6D185E7B2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1347" y="3749783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320626E-DDF9-6AA7-3EDC-5D686556371E}"/>
              </a:ext>
            </a:extLst>
          </p:cNvPr>
          <p:cNvGrpSpPr/>
          <p:nvPr/>
        </p:nvGrpSpPr>
        <p:grpSpPr>
          <a:xfrm>
            <a:off x="3723350" y="3606862"/>
            <a:ext cx="1075700" cy="806710"/>
            <a:chOff x="8809641" y="3768755"/>
            <a:chExt cx="876122" cy="657038"/>
          </a:xfrm>
        </p:grpSpPr>
        <p:sp>
          <p:nvSpPr>
            <p:cNvPr id="98" name="Rectangle 57">
              <a:extLst>
                <a:ext uri="{FF2B5EF4-FFF2-40B4-BE49-F238E27FC236}">
                  <a16:creationId xmlns:a16="http://schemas.microsoft.com/office/drawing/2014/main" id="{5C9E6A8D-00CF-9514-85A7-01673A2C8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8"/>
              <a:ext cx="868739" cy="5998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Text Box 79">
              <a:extLst>
                <a:ext uri="{FF2B5EF4-FFF2-40B4-BE49-F238E27FC236}">
                  <a16:creationId xmlns:a16="http://schemas.microsoft.com/office/drawing/2014/main" id="{2A5294CB-9CC2-C997-90E0-A19A444B6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3176" y="3768755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EF0C4A2-FD02-F4E2-592F-02DABC326798}"/>
              </a:ext>
            </a:extLst>
          </p:cNvPr>
          <p:cNvGrpSpPr/>
          <p:nvPr/>
        </p:nvGrpSpPr>
        <p:grpSpPr>
          <a:xfrm>
            <a:off x="3742281" y="4492513"/>
            <a:ext cx="1066635" cy="794741"/>
            <a:chOff x="8809641" y="3765177"/>
            <a:chExt cx="868739" cy="647290"/>
          </a:xfrm>
        </p:grpSpPr>
        <p:sp>
          <p:nvSpPr>
            <p:cNvPr id="101" name="Rectangle 57">
              <a:extLst>
                <a:ext uri="{FF2B5EF4-FFF2-40B4-BE49-F238E27FC236}">
                  <a16:creationId xmlns:a16="http://schemas.microsoft.com/office/drawing/2014/main" id="{0C2BD124-6F2C-2D8B-242F-52399294F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0561"/>
              <a:ext cx="868739" cy="59190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79">
              <a:extLst>
                <a:ext uri="{FF2B5EF4-FFF2-40B4-BE49-F238E27FC236}">
                  <a16:creationId xmlns:a16="http://schemas.microsoft.com/office/drawing/2014/main" id="{A4009D12-B592-3AFF-C374-836E61D2B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2927" y="3765177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19" name="Group 45">
            <a:extLst>
              <a:ext uri="{FF2B5EF4-FFF2-40B4-BE49-F238E27FC236}">
                <a16:creationId xmlns:a16="http://schemas.microsoft.com/office/drawing/2014/main" id="{0332D171-0892-B334-BFD8-8061ACCCA41F}"/>
              </a:ext>
            </a:extLst>
          </p:cNvPr>
          <p:cNvGrpSpPr>
            <a:grpSpLocks/>
          </p:cNvGrpSpPr>
          <p:nvPr/>
        </p:nvGrpSpPr>
        <p:grpSpPr bwMode="auto">
          <a:xfrm>
            <a:off x="1889779" y="3769221"/>
            <a:ext cx="1565472" cy="502360"/>
            <a:chOff x="925" y="2800"/>
            <a:chExt cx="485" cy="175"/>
          </a:xfrm>
        </p:grpSpPr>
        <p:sp>
          <p:nvSpPr>
            <p:cNvPr id="120" name="Rectangle 46">
              <a:extLst>
                <a:ext uri="{FF2B5EF4-FFF2-40B4-BE49-F238E27FC236}">
                  <a16:creationId xmlns:a16="http://schemas.microsoft.com/office/drawing/2014/main" id="{324747E2-4BD0-C484-375A-91E82472C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1" name="Rectangle 47">
              <a:extLst>
                <a:ext uri="{FF2B5EF4-FFF2-40B4-BE49-F238E27FC236}">
                  <a16:creationId xmlns:a16="http://schemas.microsoft.com/office/drawing/2014/main" id="{54D51E51-9FE8-A3E6-A12D-4E68829DF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" name="Rectangle 48">
              <a:extLst>
                <a:ext uri="{FF2B5EF4-FFF2-40B4-BE49-F238E27FC236}">
                  <a16:creationId xmlns:a16="http://schemas.microsoft.com/office/drawing/2014/main" id="{293BB401-D257-40D5-E9D1-60210FAB6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Rectangle 49">
              <a:extLst>
                <a:ext uri="{FF2B5EF4-FFF2-40B4-BE49-F238E27FC236}">
                  <a16:creationId xmlns:a16="http://schemas.microsoft.com/office/drawing/2014/main" id="{D5814C54-DA29-085A-6CC0-D8BD3EF1E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D894018-048A-088A-F129-DB6E7E57B215}"/>
              </a:ext>
            </a:extLst>
          </p:cNvPr>
          <p:cNvSpPr/>
          <p:nvPr/>
        </p:nvSpPr>
        <p:spPr>
          <a:xfrm>
            <a:off x="5099929" y="2676698"/>
            <a:ext cx="3655185" cy="264344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27278A3-31D1-6DC9-B494-24E5A98374F7}"/>
              </a:ext>
            </a:extLst>
          </p:cNvPr>
          <p:cNvSpPr/>
          <p:nvPr/>
        </p:nvSpPr>
        <p:spPr>
          <a:xfrm>
            <a:off x="4411675" y="3079311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B1B9B3-D3B1-42C2-6660-9F9A12F76D85}"/>
              </a:ext>
            </a:extLst>
          </p:cNvPr>
          <p:cNvSpPr/>
          <p:nvPr/>
        </p:nvSpPr>
        <p:spPr>
          <a:xfrm>
            <a:off x="4072238" y="3079310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3FD5987-EE88-3020-52D0-F8B9DF39A7C2}"/>
              </a:ext>
            </a:extLst>
          </p:cNvPr>
          <p:cNvSpPr/>
          <p:nvPr/>
        </p:nvSpPr>
        <p:spPr>
          <a:xfrm>
            <a:off x="4403106" y="3983204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F1C5FC1-8548-FA57-43E3-0B870F773701}"/>
              </a:ext>
            </a:extLst>
          </p:cNvPr>
          <p:cNvSpPr/>
          <p:nvPr/>
        </p:nvSpPr>
        <p:spPr>
          <a:xfrm>
            <a:off x="4438602" y="4863384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3E58460-62E0-D3B6-483A-1FA011ABECD7}"/>
              </a:ext>
            </a:extLst>
          </p:cNvPr>
          <p:cNvSpPr/>
          <p:nvPr/>
        </p:nvSpPr>
        <p:spPr>
          <a:xfrm>
            <a:off x="4099165" y="4863383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5E0D03C-8064-E494-F553-5D60CAA02F06}"/>
              </a:ext>
            </a:extLst>
          </p:cNvPr>
          <p:cNvSpPr/>
          <p:nvPr/>
        </p:nvSpPr>
        <p:spPr>
          <a:xfrm>
            <a:off x="4029783" y="3972866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1D23825-1628-7B28-909B-016B19280C2E}"/>
              </a:ext>
            </a:extLst>
          </p:cNvPr>
          <p:cNvSpPr txBox="1"/>
          <p:nvPr/>
        </p:nvSpPr>
        <p:spPr>
          <a:xfrm>
            <a:off x="1247966" y="1674787"/>
            <a:ext cx="7372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At most one dequeue from each memory per tick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5E46549-5F14-C152-09EA-EBE4AFE4343B}"/>
              </a:ext>
            </a:extLst>
          </p:cNvPr>
          <p:cNvSpPr txBox="1"/>
          <p:nvPr/>
        </p:nvSpPr>
        <p:spPr>
          <a:xfrm>
            <a:off x="3200895" y="2599719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B61F4B1-DD8F-176B-4DFE-4EFFCAC38132}"/>
              </a:ext>
            </a:extLst>
          </p:cNvPr>
          <p:cNvSpPr txBox="1"/>
          <p:nvPr/>
        </p:nvSpPr>
        <p:spPr>
          <a:xfrm>
            <a:off x="3202660" y="3467918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C01B555-D1C1-D52C-F84F-D9FD0ED27B73}"/>
              </a:ext>
            </a:extLst>
          </p:cNvPr>
          <p:cNvSpPr txBox="1"/>
          <p:nvPr/>
        </p:nvSpPr>
        <p:spPr>
          <a:xfrm>
            <a:off x="3230023" y="42866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E12255B-4A37-6E9C-F8F6-E2CA6E39D69A}"/>
              </a:ext>
            </a:extLst>
          </p:cNvPr>
          <p:cNvSpPr txBox="1"/>
          <p:nvPr/>
        </p:nvSpPr>
        <p:spPr>
          <a:xfrm>
            <a:off x="8963599" y="2593275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6BE93F9-0A81-0B31-F07B-246142B0F9DC}"/>
              </a:ext>
            </a:extLst>
          </p:cNvPr>
          <p:cNvSpPr txBox="1"/>
          <p:nvPr/>
        </p:nvSpPr>
        <p:spPr>
          <a:xfrm>
            <a:off x="8965364" y="3461474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48DAE5E-C42F-6147-3A60-10F36924A68A}"/>
              </a:ext>
            </a:extLst>
          </p:cNvPr>
          <p:cNvSpPr txBox="1"/>
          <p:nvPr/>
        </p:nvSpPr>
        <p:spPr>
          <a:xfrm>
            <a:off x="8992727" y="42802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8264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1.85185E-6 L 0.3888 -0.1553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40" y="-777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862 0.23842 " pathEditMode="relative" ptsTypes="AA">
                                      <p:cBhvr>
                                        <p:cTn id="8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  <p:bldP spid="1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F3311B-08D4-91A6-4EA0-0B0DBA1A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queuing 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A6CF4F6-6740-70D1-4608-A08CEBBFE257}"/>
              </a:ext>
            </a:extLst>
          </p:cNvPr>
          <p:cNvGrpSpPr/>
          <p:nvPr/>
        </p:nvGrpSpPr>
        <p:grpSpPr>
          <a:xfrm>
            <a:off x="5099929" y="3020774"/>
            <a:ext cx="3655185" cy="1982105"/>
            <a:chOff x="4298122" y="2868411"/>
            <a:chExt cx="2179044" cy="1181635"/>
          </a:xfrm>
        </p:grpSpPr>
        <p:sp>
          <p:nvSpPr>
            <p:cNvPr id="10" name="Line 155">
              <a:extLst>
                <a:ext uri="{FF2B5EF4-FFF2-40B4-BE49-F238E27FC236}">
                  <a16:creationId xmlns:a16="http://schemas.microsoft.com/office/drawing/2014/main" id="{E70B6BBA-D95B-98A9-2897-0C7ABE508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291851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Line 156">
              <a:extLst>
                <a:ext uri="{FF2B5EF4-FFF2-40B4-BE49-F238E27FC236}">
                  <a16:creationId xmlns:a16="http://schemas.microsoft.com/office/drawing/2014/main" id="{43527E50-4FE4-0F92-076C-A9E33B2FE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8122" y="3432087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Line 157">
              <a:extLst>
                <a:ext uri="{FF2B5EF4-FFF2-40B4-BE49-F238E27FC236}">
                  <a16:creationId xmlns:a16="http://schemas.microsoft.com/office/drawing/2014/main" id="{A768626D-D5A2-D044-0EF4-3BDB0426F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399576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Line 158">
              <a:extLst>
                <a:ext uri="{FF2B5EF4-FFF2-40B4-BE49-F238E27FC236}">
                  <a16:creationId xmlns:a16="http://schemas.microsoft.com/office/drawing/2014/main" id="{61904F93-76E4-A2FB-E6A5-D5C5D631D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9389" y="2918516"/>
              <a:ext cx="3124" cy="108270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" name="Line 159">
              <a:extLst>
                <a:ext uri="{FF2B5EF4-FFF2-40B4-BE49-F238E27FC236}">
                  <a16:creationId xmlns:a16="http://schemas.microsoft.com/office/drawing/2014/main" id="{6F1C84A9-6B93-010F-68B1-876945EB4F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1837" y="2918516"/>
              <a:ext cx="9710" cy="113152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Line 160">
              <a:extLst>
                <a:ext uri="{FF2B5EF4-FFF2-40B4-BE49-F238E27FC236}">
                  <a16:creationId xmlns:a16="http://schemas.microsoft.com/office/drawing/2014/main" id="{D76F42D5-D5F3-5F48-207A-0E86695B9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63850" y="2905990"/>
              <a:ext cx="5886" cy="109522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Oval 161">
              <a:extLst>
                <a:ext uri="{FF2B5EF4-FFF2-40B4-BE49-F238E27FC236}">
                  <a16:creationId xmlns:a16="http://schemas.microsoft.com/office/drawing/2014/main" id="{1A1BA95B-1F69-50D6-8B2F-28B8CAB1D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Oval 162">
              <a:extLst>
                <a:ext uri="{FF2B5EF4-FFF2-40B4-BE49-F238E27FC236}">
                  <a16:creationId xmlns:a16="http://schemas.microsoft.com/office/drawing/2014/main" id="{E5D02ED7-7215-5636-E8B0-166842CFD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Oval 163">
              <a:extLst>
                <a:ext uri="{FF2B5EF4-FFF2-40B4-BE49-F238E27FC236}">
                  <a16:creationId xmlns:a16="http://schemas.microsoft.com/office/drawing/2014/main" id="{7F46BECF-DA3C-6B0E-751F-2142A68BE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93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Oval 164">
              <a:extLst>
                <a:ext uri="{FF2B5EF4-FFF2-40B4-BE49-F238E27FC236}">
                  <a16:creationId xmlns:a16="http://schemas.microsoft.com/office/drawing/2014/main" id="{D7FD571B-D76E-A0B9-96CF-E5BF59FA4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Oval 165">
              <a:extLst>
                <a:ext uri="{FF2B5EF4-FFF2-40B4-BE49-F238E27FC236}">
                  <a16:creationId xmlns:a16="http://schemas.microsoft.com/office/drawing/2014/main" id="{29D14690-46A3-549C-4D94-BE18BC73B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Oval 166">
              <a:extLst>
                <a:ext uri="{FF2B5EF4-FFF2-40B4-BE49-F238E27FC236}">
                  <a16:creationId xmlns:a16="http://schemas.microsoft.com/office/drawing/2014/main" id="{42821082-DD22-2646-654C-7B6143EF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07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" name="Oval 167">
              <a:extLst>
                <a:ext uri="{FF2B5EF4-FFF2-40B4-BE49-F238E27FC236}">
                  <a16:creationId xmlns:a16="http://schemas.microsoft.com/office/drawing/2014/main" id="{0BB5213A-B687-6B43-CD50-AC1C1D460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Oval 168">
              <a:extLst>
                <a:ext uri="{FF2B5EF4-FFF2-40B4-BE49-F238E27FC236}">
                  <a16:creationId xmlns:a16="http://schemas.microsoft.com/office/drawing/2014/main" id="{2B36417D-7666-85CD-0155-04C9FEA4D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" name="Oval 169">
              <a:extLst>
                <a:ext uri="{FF2B5EF4-FFF2-40B4-BE49-F238E27FC236}">
                  <a16:creationId xmlns:a16="http://schemas.microsoft.com/office/drawing/2014/main" id="{747B5CBA-5EEE-FE99-70A1-1D5D52056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8048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6" name="Group 45">
            <a:extLst>
              <a:ext uri="{FF2B5EF4-FFF2-40B4-BE49-F238E27FC236}">
                <a16:creationId xmlns:a16="http://schemas.microsoft.com/office/drawing/2014/main" id="{36BB48E7-3F62-C64C-C5B7-6154E2C4EC02}"/>
              </a:ext>
            </a:extLst>
          </p:cNvPr>
          <p:cNvGrpSpPr>
            <a:grpSpLocks/>
          </p:cNvGrpSpPr>
          <p:nvPr/>
        </p:nvGrpSpPr>
        <p:grpSpPr bwMode="auto">
          <a:xfrm>
            <a:off x="1865296" y="2920826"/>
            <a:ext cx="1565472" cy="502360"/>
            <a:chOff x="925" y="2800"/>
            <a:chExt cx="485" cy="175"/>
          </a:xfrm>
        </p:grpSpPr>
        <p:sp>
          <p:nvSpPr>
            <p:cNvPr id="67" name="Rectangle 46">
              <a:extLst>
                <a:ext uri="{FF2B5EF4-FFF2-40B4-BE49-F238E27FC236}">
                  <a16:creationId xmlns:a16="http://schemas.microsoft.com/office/drawing/2014/main" id="{2B946E0C-BB77-B0E3-41E0-41D8E20E7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Rectangle 47">
              <a:extLst>
                <a:ext uri="{FF2B5EF4-FFF2-40B4-BE49-F238E27FC236}">
                  <a16:creationId xmlns:a16="http://schemas.microsoft.com/office/drawing/2014/main" id="{FFBECFDC-7362-5D69-D9ED-B40543BE5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Rectangle 48">
              <a:extLst>
                <a:ext uri="{FF2B5EF4-FFF2-40B4-BE49-F238E27FC236}">
                  <a16:creationId xmlns:a16="http://schemas.microsoft.com/office/drawing/2014/main" id="{706DFE44-CBF8-E5A5-B48F-C19823C7A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Rectangle 49">
              <a:extLst>
                <a:ext uri="{FF2B5EF4-FFF2-40B4-BE49-F238E27FC236}">
                  <a16:creationId xmlns:a16="http://schemas.microsoft.com/office/drawing/2014/main" id="{69D71E09-28A6-6AAC-DA3F-F03775033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1" name="Group 51">
            <a:extLst>
              <a:ext uri="{FF2B5EF4-FFF2-40B4-BE49-F238E27FC236}">
                <a16:creationId xmlns:a16="http://schemas.microsoft.com/office/drawing/2014/main" id="{B1201A91-6755-5E5A-BC22-4A82FE52076F}"/>
              </a:ext>
            </a:extLst>
          </p:cNvPr>
          <p:cNvGrpSpPr>
            <a:grpSpLocks/>
          </p:cNvGrpSpPr>
          <p:nvPr/>
        </p:nvGrpSpPr>
        <p:grpSpPr bwMode="auto">
          <a:xfrm>
            <a:off x="1896534" y="4571065"/>
            <a:ext cx="1565473" cy="502360"/>
            <a:chOff x="925" y="2800"/>
            <a:chExt cx="485" cy="175"/>
          </a:xfrm>
        </p:grpSpPr>
        <p:sp>
          <p:nvSpPr>
            <p:cNvPr id="72" name="Rectangle 52">
              <a:extLst>
                <a:ext uri="{FF2B5EF4-FFF2-40B4-BE49-F238E27FC236}">
                  <a16:creationId xmlns:a16="http://schemas.microsoft.com/office/drawing/2014/main" id="{10A099FB-5395-38D4-616A-35AA4A2E8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53">
              <a:extLst>
                <a:ext uri="{FF2B5EF4-FFF2-40B4-BE49-F238E27FC236}">
                  <a16:creationId xmlns:a16="http://schemas.microsoft.com/office/drawing/2014/main" id="{39276418-9888-0BDA-B494-4182C49E4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54">
              <a:extLst>
                <a:ext uri="{FF2B5EF4-FFF2-40B4-BE49-F238E27FC236}">
                  <a16:creationId xmlns:a16="http://schemas.microsoft.com/office/drawing/2014/main" id="{B53718F5-485E-9592-921C-735F90252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Rectangle 55">
              <a:extLst>
                <a:ext uri="{FF2B5EF4-FFF2-40B4-BE49-F238E27FC236}">
                  <a16:creationId xmlns:a16="http://schemas.microsoft.com/office/drawing/2014/main" id="{0406EDDE-DD75-E442-0AB7-9397F7B87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6" name="Group 64">
            <a:extLst>
              <a:ext uri="{FF2B5EF4-FFF2-40B4-BE49-F238E27FC236}">
                <a16:creationId xmlns:a16="http://schemas.microsoft.com/office/drawing/2014/main" id="{879D23FF-1B5A-236E-C4B7-4B9F50F73D14}"/>
              </a:ext>
            </a:extLst>
          </p:cNvPr>
          <p:cNvGrpSpPr>
            <a:grpSpLocks/>
          </p:cNvGrpSpPr>
          <p:nvPr/>
        </p:nvGrpSpPr>
        <p:grpSpPr bwMode="auto">
          <a:xfrm>
            <a:off x="9025035" y="2893858"/>
            <a:ext cx="1566181" cy="502360"/>
            <a:chOff x="498" y="3463"/>
            <a:chExt cx="424" cy="136"/>
          </a:xfrm>
        </p:grpSpPr>
        <p:sp>
          <p:nvSpPr>
            <p:cNvPr id="77" name="Rectangle 59">
              <a:extLst>
                <a:ext uri="{FF2B5EF4-FFF2-40B4-BE49-F238E27FC236}">
                  <a16:creationId xmlns:a16="http://schemas.microsoft.com/office/drawing/2014/main" id="{56F17991-C0AB-A3DA-21DF-1E071A1A9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D01C0BE0-E93A-A0B4-62CE-2527908D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Rectangle 61">
              <a:extLst>
                <a:ext uri="{FF2B5EF4-FFF2-40B4-BE49-F238E27FC236}">
                  <a16:creationId xmlns:a16="http://schemas.microsoft.com/office/drawing/2014/main" id="{FE6A9FA2-6E0D-8405-4BB1-74487AD38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Rectangle 62">
              <a:extLst>
                <a:ext uri="{FF2B5EF4-FFF2-40B4-BE49-F238E27FC236}">
                  <a16:creationId xmlns:a16="http://schemas.microsoft.com/office/drawing/2014/main" id="{FB3407C5-BD0F-F6E5-0650-995E057F3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2" name="Group 65">
            <a:extLst>
              <a:ext uri="{FF2B5EF4-FFF2-40B4-BE49-F238E27FC236}">
                <a16:creationId xmlns:a16="http://schemas.microsoft.com/office/drawing/2014/main" id="{BFF5242A-B916-E813-ADE3-405AD3DEFD59}"/>
              </a:ext>
            </a:extLst>
          </p:cNvPr>
          <p:cNvGrpSpPr>
            <a:grpSpLocks/>
          </p:cNvGrpSpPr>
          <p:nvPr/>
        </p:nvGrpSpPr>
        <p:grpSpPr bwMode="auto">
          <a:xfrm>
            <a:off x="9005633" y="3764256"/>
            <a:ext cx="1566180" cy="502360"/>
            <a:chOff x="498" y="3463"/>
            <a:chExt cx="424" cy="136"/>
          </a:xfrm>
        </p:grpSpPr>
        <p:sp>
          <p:nvSpPr>
            <p:cNvPr id="83" name="Rectangle 66">
              <a:extLst>
                <a:ext uri="{FF2B5EF4-FFF2-40B4-BE49-F238E27FC236}">
                  <a16:creationId xmlns:a16="http://schemas.microsoft.com/office/drawing/2014/main" id="{6E5BFACF-22F8-EDB8-0262-2D478E527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Rectangle 67">
              <a:extLst>
                <a:ext uri="{FF2B5EF4-FFF2-40B4-BE49-F238E27FC236}">
                  <a16:creationId xmlns:a16="http://schemas.microsoft.com/office/drawing/2014/main" id="{699EA885-6E2F-DF3B-66F8-1768513FC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Rectangle 68">
              <a:extLst>
                <a:ext uri="{FF2B5EF4-FFF2-40B4-BE49-F238E27FC236}">
                  <a16:creationId xmlns:a16="http://schemas.microsoft.com/office/drawing/2014/main" id="{956CD487-E555-93C8-4013-DFA7A2296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Rectangle 69">
              <a:extLst>
                <a:ext uri="{FF2B5EF4-FFF2-40B4-BE49-F238E27FC236}">
                  <a16:creationId xmlns:a16="http://schemas.microsoft.com/office/drawing/2014/main" id="{4F2AF461-F248-9205-FDED-14E0272B3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8" name="Group 71">
            <a:extLst>
              <a:ext uri="{FF2B5EF4-FFF2-40B4-BE49-F238E27FC236}">
                <a16:creationId xmlns:a16="http://schemas.microsoft.com/office/drawing/2014/main" id="{E9597DD1-CB48-3A16-BA20-ECFD41ABA9AC}"/>
              </a:ext>
            </a:extLst>
          </p:cNvPr>
          <p:cNvGrpSpPr>
            <a:grpSpLocks/>
          </p:cNvGrpSpPr>
          <p:nvPr/>
        </p:nvGrpSpPr>
        <p:grpSpPr bwMode="auto">
          <a:xfrm>
            <a:off x="9012425" y="4638067"/>
            <a:ext cx="1566181" cy="502360"/>
            <a:chOff x="498" y="3463"/>
            <a:chExt cx="424" cy="136"/>
          </a:xfrm>
        </p:grpSpPr>
        <p:sp>
          <p:nvSpPr>
            <p:cNvPr id="89" name="Rectangle 72">
              <a:extLst>
                <a:ext uri="{FF2B5EF4-FFF2-40B4-BE49-F238E27FC236}">
                  <a16:creationId xmlns:a16="http://schemas.microsoft.com/office/drawing/2014/main" id="{3C0702F2-E8A8-0F62-45F8-4EE1B4F99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73">
              <a:extLst>
                <a:ext uri="{FF2B5EF4-FFF2-40B4-BE49-F238E27FC236}">
                  <a16:creationId xmlns:a16="http://schemas.microsoft.com/office/drawing/2014/main" id="{1B35B8AE-52D4-5705-E2B0-DCDC5DCAA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74">
              <a:extLst>
                <a:ext uri="{FF2B5EF4-FFF2-40B4-BE49-F238E27FC236}">
                  <a16:creationId xmlns:a16="http://schemas.microsoft.com/office/drawing/2014/main" id="{88C579AE-B164-5A62-F8BD-706F377AB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Rectangle 75">
              <a:extLst>
                <a:ext uri="{FF2B5EF4-FFF2-40B4-BE49-F238E27FC236}">
                  <a16:creationId xmlns:a16="http://schemas.microsoft.com/office/drawing/2014/main" id="{45B61CE9-F365-613C-7BBA-EE3D985C8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CD5064C-E537-8D76-6633-EA2548C96B22}"/>
              </a:ext>
            </a:extLst>
          </p:cNvPr>
          <p:cNvGrpSpPr/>
          <p:nvPr/>
        </p:nvGrpSpPr>
        <p:grpSpPr>
          <a:xfrm>
            <a:off x="3732031" y="2700374"/>
            <a:ext cx="1066635" cy="827391"/>
            <a:chOff x="8809641" y="3749783"/>
            <a:chExt cx="868739" cy="673883"/>
          </a:xfrm>
        </p:grpSpPr>
        <p:sp>
          <p:nvSpPr>
            <p:cNvPr id="95" name="Rectangle 57">
              <a:extLst>
                <a:ext uri="{FF2B5EF4-FFF2-40B4-BE49-F238E27FC236}">
                  <a16:creationId xmlns:a16="http://schemas.microsoft.com/office/drawing/2014/main" id="{BA932E39-2C55-4C74-BF90-755EF1B49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19661"/>
              <a:ext cx="868739" cy="60400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6" name="Text Box 79">
              <a:extLst>
                <a:ext uri="{FF2B5EF4-FFF2-40B4-BE49-F238E27FC236}">
                  <a16:creationId xmlns:a16="http://schemas.microsoft.com/office/drawing/2014/main" id="{5C273EEF-A23C-D580-B83B-6D185E7B2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1347" y="3749783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320626E-DDF9-6AA7-3EDC-5D686556371E}"/>
              </a:ext>
            </a:extLst>
          </p:cNvPr>
          <p:cNvGrpSpPr/>
          <p:nvPr/>
        </p:nvGrpSpPr>
        <p:grpSpPr>
          <a:xfrm>
            <a:off x="3723350" y="3606862"/>
            <a:ext cx="1075700" cy="806710"/>
            <a:chOff x="8809641" y="3768755"/>
            <a:chExt cx="876122" cy="657038"/>
          </a:xfrm>
        </p:grpSpPr>
        <p:sp>
          <p:nvSpPr>
            <p:cNvPr id="98" name="Rectangle 57">
              <a:extLst>
                <a:ext uri="{FF2B5EF4-FFF2-40B4-BE49-F238E27FC236}">
                  <a16:creationId xmlns:a16="http://schemas.microsoft.com/office/drawing/2014/main" id="{5C9E6A8D-00CF-9514-85A7-01673A2C8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8"/>
              <a:ext cx="868739" cy="5998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Text Box 79">
              <a:extLst>
                <a:ext uri="{FF2B5EF4-FFF2-40B4-BE49-F238E27FC236}">
                  <a16:creationId xmlns:a16="http://schemas.microsoft.com/office/drawing/2014/main" id="{2A5294CB-9CC2-C997-90E0-A19A444B6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3176" y="3768755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EF0C4A2-FD02-F4E2-592F-02DABC326798}"/>
              </a:ext>
            </a:extLst>
          </p:cNvPr>
          <p:cNvGrpSpPr/>
          <p:nvPr/>
        </p:nvGrpSpPr>
        <p:grpSpPr>
          <a:xfrm>
            <a:off x="3742281" y="4492513"/>
            <a:ext cx="1066635" cy="794741"/>
            <a:chOff x="8809641" y="3765177"/>
            <a:chExt cx="868739" cy="647290"/>
          </a:xfrm>
        </p:grpSpPr>
        <p:sp>
          <p:nvSpPr>
            <p:cNvPr id="101" name="Rectangle 57">
              <a:extLst>
                <a:ext uri="{FF2B5EF4-FFF2-40B4-BE49-F238E27FC236}">
                  <a16:creationId xmlns:a16="http://schemas.microsoft.com/office/drawing/2014/main" id="{0C2BD124-6F2C-2D8B-242F-52399294F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0561"/>
              <a:ext cx="868739" cy="59190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79">
              <a:extLst>
                <a:ext uri="{FF2B5EF4-FFF2-40B4-BE49-F238E27FC236}">
                  <a16:creationId xmlns:a16="http://schemas.microsoft.com/office/drawing/2014/main" id="{A4009D12-B592-3AFF-C374-836E61D2B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2927" y="3765177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19" name="Group 45">
            <a:extLst>
              <a:ext uri="{FF2B5EF4-FFF2-40B4-BE49-F238E27FC236}">
                <a16:creationId xmlns:a16="http://schemas.microsoft.com/office/drawing/2014/main" id="{0332D171-0892-B334-BFD8-8061ACCCA41F}"/>
              </a:ext>
            </a:extLst>
          </p:cNvPr>
          <p:cNvGrpSpPr>
            <a:grpSpLocks/>
          </p:cNvGrpSpPr>
          <p:nvPr/>
        </p:nvGrpSpPr>
        <p:grpSpPr bwMode="auto">
          <a:xfrm>
            <a:off x="1889779" y="3769221"/>
            <a:ext cx="1565472" cy="502360"/>
            <a:chOff x="925" y="2800"/>
            <a:chExt cx="485" cy="175"/>
          </a:xfrm>
        </p:grpSpPr>
        <p:sp>
          <p:nvSpPr>
            <p:cNvPr id="120" name="Rectangle 46">
              <a:extLst>
                <a:ext uri="{FF2B5EF4-FFF2-40B4-BE49-F238E27FC236}">
                  <a16:creationId xmlns:a16="http://schemas.microsoft.com/office/drawing/2014/main" id="{324747E2-4BD0-C484-375A-91E82472C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1" name="Rectangle 47">
              <a:extLst>
                <a:ext uri="{FF2B5EF4-FFF2-40B4-BE49-F238E27FC236}">
                  <a16:creationId xmlns:a16="http://schemas.microsoft.com/office/drawing/2014/main" id="{54D51E51-9FE8-A3E6-A12D-4E68829DF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" name="Rectangle 48">
              <a:extLst>
                <a:ext uri="{FF2B5EF4-FFF2-40B4-BE49-F238E27FC236}">
                  <a16:creationId xmlns:a16="http://schemas.microsoft.com/office/drawing/2014/main" id="{293BB401-D257-40D5-E9D1-60210FAB6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Rectangle 49">
              <a:extLst>
                <a:ext uri="{FF2B5EF4-FFF2-40B4-BE49-F238E27FC236}">
                  <a16:creationId xmlns:a16="http://schemas.microsoft.com/office/drawing/2014/main" id="{D5814C54-DA29-085A-6CC0-D8BD3EF1E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D894018-048A-088A-F129-DB6E7E57B215}"/>
              </a:ext>
            </a:extLst>
          </p:cNvPr>
          <p:cNvSpPr/>
          <p:nvPr/>
        </p:nvSpPr>
        <p:spPr>
          <a:xfrm>
            <a:off x="5099929" y="2676698"/>
            <a:ext cx="3655185" cy="264344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B1B9B3-D3B1-42C2-6660-9F9A12F76D85}"/>
              </a:ext>
            </a:extLst>
          </p:cNvPr>
          <p:cNvSpPr/>
          <p:nvPr/>
        </p:nvSpPr>
        <p:spPr>
          <a:xfrm>
            <a:off x="4072238" y="3079310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3FD5987-EE88-3020-52D0-F8B9DF39A7C2}"/>
              </a:ext>
            </a:extLst>
          </p:cNvPr>
          <p:cNvSpPr/>
          <p:nvPr/>
        </p:nvSpPr>
        <p:spPr>
          <a:xfrm>
            <a:off x="9164312" y="2939927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F1C5FC1-8548-FA57-43E3-0B870F773701}"/>
              </a:ext>
            </a:extLst>
          </p:cNvPr>
          <p:cNvSpPr/>
          <p:nvPr/>
        </p:nvSpPr>
        <p:spPr>
          <a:xfrm>
            <a:off x="9142239" y="4706598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3E58460-62E0-D3B6-483A-1FA011ABECD7}"/>
              </a:ext>
            </a:extLst>
          </p:cNvPr>
          <p:cNvSpPr/>
          <p:nvPr/>
        </p:nvSpPr>
        <p:spPr>
          <a:xfrm>
            <a:off x="4099165" y="4863383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5E0D03C-8064-E494-F553-5D60CAA02F06}"/>
              </a:ext>
            </a:extLst>
          </p:cNvPr>
          <p:cNvSpPr/>
          <p:nvPr/>
        </p:nvSpPr>
        <p:spPr>
          <a:xfrm>
            <a:off x="4029783" y="3972866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1D23825-1628-7B28-909B-016B19280C2E}"/>
              </a:ext>
            </a:extLst>
          </p:cNvPr>
          <p:cNvSpPr txBox="1"/>
          <p:nvPr/>
        </p:nvSpPr>
        <p:spPr>
          <a:xfrm>
            <a:off x="1247966" y="1674787"/>
            <a:ext cx="7372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At most one dequeue from each memory per tick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5E46549-5F14-C152-09EA-EBE4AFE4343B}"/>
              </a:ext>
            </a:extLst>
          </p:cNvPr>
          <p:cNvSpPr txBox="1"/>
          <p:nvPr/>
        </p:nvSpPr>
        <p:spPr>
          <a:xfrm>
            <a:off x="3200895" y="2599719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B61F4B1-DD8F-176B-4DFE-4EFFCAC38132}"/>
              </a:ext>
            </a:extLst>
          </p:cNvPr>
          <p:cNvSpPr txBox="1"/>
          <p:nvPr/>
        </p:nvSpPr>
        <p:spPr>
          <a:xfrm>
            <a:off x="3202660" y="3467918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C01B555-D1C1-D52C-F84F-D9FD0ED27B73}"/>
              </a:ext>
            </a:extLst>
          </p:cNvPr>
          <p:cNvSpPr txBox="1"/>
          <p:nvPr/>
        </p:nvSpPr>
        <p:spPr>
          <a:xfrm>
            <a:off x="3230023" y="42866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E12255B-4A37-6E9C-F8F6-E2CA6E39D69A}"/>
              </a:ext>
            </a:extLst>
          </p:cNvPr>
          <p:cNvSpPr txBox="1"/>
          <p:nvPr/>
        </p:nvSpPr>
        <p:spPr>
          <a:xfrm>
            <a:off x="8963599" y="2593275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6BE93F9-0A81-0B31-F07B-246142B0F9DC}"/>
              </a:ext>
            </a:extLst>
          </p:cNvPr>
          <p:cNvSpPr txBox="1"/>
          <p:nvPr/>
        </p:nvSpPr>
        <p:spPr>
          <a:xfrm>
            <a:off x="8965364" y="3461474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48DAE5E-C42F-6147-3A60-10F36924A68A}"/>
              </a:ext>
            </a:extLst>
          </p:cNvPr>
          <p:cNvSpPr txBox="1"/>
          <p:nvPr/>
        </p:nvSpPr>
        <p:spPr>
          <a:xfrm>
            <a:off x="8992727" y="42802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D14CAA-451F-50F3-06CB-5D1267141521}"/>
              </a:ext>
            </a:extLst>
          </p:cNvPr>
          <p:cNvSpPr/>
          <p:nvPr/>
        </p:nvSpPr>
        <p:spPr>
          <a:xfrm>
            <a:off x="4438602" y="4863384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31914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F3311B-08D4-91A6-4EA0-0B0DBA1A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queuing 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A6CF4F6-6740-70D1-4608-A08CEBBFE257}"/>
              </a:ext>
            </a:extLst>
          </p:cNvPr>
          <p:cNvGrpSpPr/>
          <p:nvPr/>
        </p:nvGrpSpPr>
        <p:grpSpPr>
          <a:xfrm>
            <a:off x="5099929" y="3020774"/>
            <a:ext cx="3655185" cy="1982105"/>
            <a:chOff x="4298122" y="2868411"/>
            <a:chExt cx="2179044" cy="1181635"/>
          </a:xfrm>
        </p:grpSpPr>
        <p:sp>
          <p:nvSpPr>
            <p:cNvPr id="10" name="Line 155">
              <a:extLst>
                <a:ext uri="{FF2B5EF4-FFF2-40B4-BE49-F238E27FC236}">
                  <a16:creationId xmlns:a16="http://schemas.microsoft.com/office/drawing/2014/main" id="{E70B6BBA-D95B-98A9-2897-0C7ABE508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291851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Line 156">
              <a:extLst>
                <a:ext uri="{FF2B5EF4-FFF2-40B4-BE49-F238E27FC236}">
                  <a16:creationId xmlns:a16="http://schemas.microsoft.com/office/drawing/2014/main" id="{43527E50-4FE4-0F92-076C-A9E33B2FE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8122" y="3432087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Line 157">
              <a:extLst>
                <a:ext uri="{FF2B5EF4-FFF2-40B4-BE49-F238E27FC236}">
                  <a16:creationId xmlns:a16="http://schemas.microsoft.com/office/drawing/2014/main" id="{A768626D-D5A2-D044-0EF4-3BDB0426F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399576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Line 158">
              <a:extLst>
                <a:ext uri="{FF2B5EF4-FFF2-40B4-BE49-F238E27FC236}">
                  <a16:creationId xmlns:a16="http://schemas.microsoft.com/office/drawing/2014/main" id="{61904F93-76E4-A2FB-E6A5-D5C5D631D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9389" y="2918516"/>
              <a:ext cx="3124" cy="108270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" name="Line 159">
              <a:extLst>
                <a:ext uri="{FF2B5EF4-FFF2-40B4-BE49-F238E27FC236}">
                  <a16:creationId xmlns:a16="http://schemas.microsoft.com/office/drawing/2014/main" id="{6F1C84A9-6B93-010F-68B1-876945EB4F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1837" y="2918516"/>
              <a:ext cx="9710" cy="113152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Line 160">
              <a:extLst>
                <a:ext uri="{FF2B5EF4-FFF2-40B4-BE49-F238E27FC236}">
                  <a16:creationId xmlns:a16="http://schemas.microsoft.com/office/drawing/2014/main" id="{D76F42D5-D5F3-5F48-207A-0E86695B9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63850" y="2905990"/>
              <a:ext cx="5886" cy="109522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Oval 161">
              <a:extLst>
                <a:ext uri="{FF2B5EF4-FFF2-40B4-BE49-F238E27FC236}">
                  <a16:creationId xmlns:a16="http://schemas.microsoft.com/office/drawing/2014/main" id="{1A1BA95B-1F69-50D6-8B2F-28B8CAB1D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Oval 162">
              <a:extLst>
                <a:ext uri="{FF2B5EF4-FFF2-40B4-BE49-F238E27FC236}">
                  <a16:creationId xmlns:a16="http://schemas.microsoft.com/office/drawing/2014/main" id="{E5D02ED7-7215-5636-E8B0-166842CFD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Oval 163">
              <a:extLst>
                <a:ext uri="{FF2B5EF4-FFF2-40B4-BE49-F238E27FC236}">
                  <a16:creationId xmlns:a16="http://schemas.microsoft.com/office/drawing/2014/main" id="{7F46BECF-DA3C-6B0E-751F-2142A68BE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93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Oval 164">
              <a:extLst>
                <a:ext uri="{FF2B5EF4-FFF2-40B4-BE49-F238E27FC236}">
                  <a16:creationId xmlns:a16="http://schemas.microsoft.com/office/drawing/2014/main" id="{D7FD571B-D76E-A0B9-96CF-E5BF59FA4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Oval 165">
              <a:extLst>
                <a:ext uri="{FF2B5EF4-FFF2-40B4-BE49-F238E27FC236}">
                  <a16:creationId xmlns:a16="http://schemas.microsoft.com/office/drawing/2014/main" id="{29D14690-46A3-549C-4D94-BE18BC73B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Oval 166">
              <a:extLst>
                <a:ext uri="{FF2B5EF4-FFF2-40B4-BE49-F238E27FC236}">
                  <a16:creationId xmlns:a16="http://schemas.microsoft.com/office/drawing/2014/main" id="{42821082-DD22-2646-654C-7B6143EF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07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" name="Oval 167">
              <a:extLst>
                <a:ext uri="{FF2B5EF4-FFF2-40B4-BE49-F238E27FC236}">
                  <a16:creationId xmlns:a16="http://schemas.microsoft.com/office/drawing/2014/main" id="{0BB5213A-B687-6B43-CD50-AC1C1D460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Oval 168">
              <a:extLst>
                <a:ext uri="{FF2B5EF4-FFF2-40B4-BE49-F238E27FC236}">
                  <a16:creationId xmlns:a16="http://schemas.microsoft.com/office/drawing/2014/main" id="{2B36417D-7666-85CD-0155-04C9FEA4D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" name="Oval 169">
              <a:extLst>
                <a:ext uri="{FF2B5EF4-FFF2-40B4-BE49-F238E27FC236}">
                  <a16:creationId xmlns:a16="http://schemas.microsoft.com/office/drawing/2014/main" id="{747B5CBA-5EEE-FE99-70A1-1D5D52056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8048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6" name="Group 45">
            <a:extLst>
              <a:ext uri="{FF2B5EF4-FFF2-40B4-BE49-F238E27FC236}">
                <a16:creationId xmlns:a16="http://schemas.microsoft.com/office/drawing/2014/main" id="{36BB48E7-3F62-C64C-C5B7-6154E2C4EC02}"/>
              </a:ext>
            </a:extLst>
          </p:cNvPr>
          <p:cNvGrpSpPr>
            <a:grpSpLocks/>
          </p:cNvGrpSpPr>
          <p:nvPr/>
        </p:nvGrpSpPr>
        <p:grpSpPr bwMode="auto">
          <a:xfrm>
            <a:off x="1865296" y="2920826"/>
            <a:ext cx="1565472" cy="502360"/>
            <a:chOff x="925" y="2800"/>
            <a:chExt cx="485" cy="175"/>
          </a:xfrm>
        </p:grpSpPr>
        <p:sp>
          <p:nvSpPr>
            <p:cNvPr id="67" name="Rectangle 46">
              <a:extLst>
                <a:ext uri="{FF2B5EF4-FFF2-40B4-BE49-F238E27FC236}">
                  <a16:creationId xmlns:a16="http://schemas.microsoft.com/office/drawing/2014/main" id="{2B946E0C-BB77-B0E3-41E0-41D8E20E7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Rectangle 47">
              <a:extLst>
                <a:ext uri="{FF2B5EF4-FFF2-40B4-BE49-F238E27FC236}">
                  <a16:creationId xmlns:a16="http://schemas.microsoft.com/office/drawing/2014/main" id="{FFBECFDC-7362-5D69-D9ED-B40543BE5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Rectangle 48">
              <a:extLst>
                <a:ext uri="{FF2B5EF4-FFF2-40B4-BE49-F238E27FC236}">
                  <a16:creationId xmlns:a16="http://schemas.microsoft.com/office/drawing/2014/main" id="{706DFE44-CBF8-E5A5-B48F-C19823C7A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Rectangle 49">
              <a:extLst>
                <a:ext uri="{FF2B5EF4-FFF2-40B4-BE49-F238E27FC236}">
                  <a16:creationId xmlns:a16="http://schemas.microsoft.com/office/drawing/2014/main" id="{69D71E09-28A6-6AAC-DA3F-F03775033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1" name="Group 51">
            <a:extLst>
              <a:ext uri="{FF2B5EF4-FFF2-40B4-BE49-F238E27FC236}">
                <a16:creationId xmlns:a16="http://schemas.microsoft.com/office/drawing/2014/main" id="{B1201A91-6755-5E5A-BC22-4A82FE52076F}"/>
              </a:ext>
            </a:extLst>
          </p:cNvPr>
          <p:cNvGrpSpPr>
            <a:grpSpLocks/>
          </p:cNvGrpSpPr>
          <p:nvPr/>
        </p:nvGrpSpPr>
        <p:grpSpPr bwMode="auto">
          <a:xfrm>
            <a:off x="1896534" y="4571065"/>
            <a:ext cx="1565473" cy="502360"/>
            <a:chOff x="925" y="2800"/>
            <a:chExt cx="485" cy="175"/>
          </a:xfrm>
        </p:grpSpPr>
        <p:sp>
          <p:nvSpPr>
            <p:cNvPr id="72" name="Rectangle 52">
              <a:extLst>
                <a:ext uri="{FF2B5EF4-FFF2-40B4-BE49-F238E27FC236}">
                  <a16:creationId xmlns:a16="http://schemas.microsoft.com/office/drawing/2014/main" id="{10A099FB-5395-38D4-616A-35AA4A2E8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53">
              <a:extLst>
                <a:ext uri="{FF2B5EF4-FFF2-40B4-BE49-F238E27FC236}">
                  <a16:creationId xmlns:a16="http://schemas.microsoft.com/office/drawing/2014/main" id="{39276418-9888-0BDA-B494-4182C49E4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54">
              <a:extLst>
                <a:ext uri="{FF2B5EF4-FFF2-40B4-BE49-F238E27FC236}">
                  <a16:creationId xmlns:a16="http://schemas.microsoft.com/office/drawing/2014/main" id="{B53718F5-485E-9592-921C-735F90252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Rectangle 55">
              <a:extLst>
                <a:ext uri="{FF2B5EF4-FFF2-40B4-BE49-F238E27FC236}">
                  <a16:creationId xmlns:a16="http://schemas.microsoft.com/office/drawing/2014/main" id="{0406EDDE-DD75-E442-0AB7-9397F7B87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6" name="Group 64">
            <a:extLst>
              <a:ext uri="{FF2B5EF4-FFF2-40B4-BE49-F238E27FC236}">
                <a16:creationId xmlns:a16="http://schemas.microsoft.com/office/drawing/2014/main" id="{879D23FF-1B5A-236E-C4B7-4B9F50F73D14}"/>
              </a:ext>
            </a:extLst>
          </p:cNvPr>
          <p:cNvGrpSpPr>
            <a:grpSpLocks/>
          </p:cNvGrpSpPr>
          <p:nvPr/>
        </p:nvGrpSpPr>
        <p:grpSpPr bwMode="auto">
          <a:xfrm>
            <a:off x="9025035" y="2893858"/>
            <a:ext cx="1566181" cy="502360"/>
            <a:chOff x="498" y="3463"/>
            <a:chExt cx="424" cy="136"/>
          </a:xfrm>
        </p:grpSpPr>
        <p:sp>
          <p:nvSpPr>
            <p:cNvPr id="77" name="Rectangle 59">
              <a:extLst>
                <a:ext uri="{FF2B5EF4-FFF2-40B4-BE49-F238E27FC236}">
                  <a16:creationId xmlns:a16="http://schemas.microsoft.com/office/drawing/2014/main" id="{56F17991-C0AB-A3DA-21DF-1E071A1A9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D01C0BE0-E93A-A0B4-62CE-2527908D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Rectangle 61">
              <a:extLst>
                <a:ext uri="{FF2B5EF4-FFF2-40B4-BE49-F238E27FC236}">
                  <a16:creationId xmlns:a16="http://schemas.microsoft.com/office/drawing/2014/main" id="{FE6A9FA2-6E0D-8405-4BB1-74487AD38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Rectangle 62">
              <a:extLst>
                <a:ext uri="{FF2B5EF4-FFF2-40B4-BE49-F238E27FC236}">
                  <a16:creationId xmlns:a16="http://schemas.microsoft.com/office/drawing/2014/main" id="{FB3407C5-BD0F-F6E5-0650-995E057F3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2" name="Group 65">
            <a:extLst>
              <a:ext uri="{FF2B5EF4-FFF2-40B4-BE49-F238E27FC236}">
                <a16:creationId xmlns:a16="http://schemas.microsoft.com/office/drawing/2014/main" id="{BFF5242A-B916-E813-ADE3-405AD3DEFD59}"/>
              </a:ext>
            </a:extLst>
          </p:cNvPr>
          <p:cNvGrpSpPr>
            <a:grpSpLocks/>
          </p:cNvGrpSpPr>
          <p:nvPr/>
        </p:nvGrpSpPr>
        <p:grpSpPr bwMode="auto">
          <a:xfrm>
            <a:off x="9005633" y="3764256"/>
            <a:ext cx="1566180" cy="502360"/>
            <a:chOff x="498" y="3463"/>
            <a:chExt cx="424" cy="136"/>
          </a:xfrm>
        </p:grpSpPr>
        <p:sp>
          <p:nvSpPr>
            <p:cNvPr id="83" name="Rectangle 66">
              <a:extLst>
                <a:ext uri="{FF2B5EF4-FFF2-40B4-BE49-F238E27FC236}">
                  <a16:creationId xmlns:a16="http://schemas.microsoft.com/office/drawing/2014/main" id="{6E5BFACF-22F8-EDB8-0262-2D478E527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Rectangle 67">
              <a:extLst>
                <a:ext uri="{FF2B5EF4-FFF2-40B4-BE49-F238E27FC236}">
                  <a16:creationId xmlns:a16="http://schemas.microsoft.com/office/drawing/2014/main" id="{699EA885-6E2F-DF3B-66F8-1768513FC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Rectangle 68">
              <a:extLst>
                <a:ext uri="{FF2B5EF4-FFF2-40B4-BE49-F238E27FC236}">
                  <a16:creationId xmlns:a16="http://schemas.microsoft.com/office/drawing/2014/main" id="{956CD487-E555-93C8-4013-DFA7A2296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Rectangle 69">
              <a:extLst>
                <a:ext uri="{FF2B5EF4-FFF2-40B4-BE49-F238E27FC236}">
                  <a16:creationId xmlns:a16="http://schemas.microsoft.com/office/drawing/2014/main" id="{4F2AF461-F248-9205-FDED-14E0272B3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8" name="Group 71">
            <a:extLst>
              <a:ext uri="{FF2B5EF4-FFF2-40B4-BE49-F238E27FC236}">
                <a16:creationId xmlns:a16="http://schemas.microsoft.com/office/drawing/2014/main" id="{E9597DD1-CB48-3A16-BA20-ECFD41ABA9AC}"/>
              </a:ext>
            </a:extLst>
          </p:cNvPr>
          <p:cNvGrpSpPr>
            <a:grpSpLocks/>
          </p:cNvGrpSpPr>
          <p:nvPr/>
        </p:nvGrpSpPr>
        <p:grpSpPr bwMode="auto">
          <a:xfrm>
            <a:off x="9012425" y="4638067"/>
            <a:ext cx="1566181" cy="502360"/>
            <a:chOff x="498" y="3463"/>
            <a:chExt cx="424" cy="136"/>
          </a:xfrm>
        </p:grpSpPr>
        <p:sp>
          <p:nvSpPr>
            <p:cNvPr id="89" name="Rectangle 72">
              <a:extLst>
                <a:ext uri="{FF2B5EF4-FFF2-40B4-BE49-F238E27FC236}">
                  <a16:creationId xmlns:a16="http://schemas.microsoft.com/office/drawing/2014/main" id="{3C0702F2-E8A8-0F62-45F8-4EE1B4F99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73">
              <a:extLst>
                <a:ext uri="{FF2B5EF4-FFF2-40B4-BE49-F238E27FC236}">
                  <a16:creationId xmlns:a16="http://schemas.microsoft.com/office/drawing/2014/main" id="{1B35B8AE-52D4-5705-E2B0-DCDC5DCAA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74">
              <a:extLst>
                <a:ext uri="{FF2B5EF4-FFF2-40B4-BE49-F238E27FC236}">
                  <a16:creationId xmlns:a16="http://schemas.microsoft.com/office/drawing/2014/main" id="{88C579AE-B164-5A62-F8BD-706F377AB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Rectangle 75">
              <a:extLst>
                <a:ext uri="{FF2B5EF4-FFF2-40B4-BE49-F238E27FC236}">
                  <a16:creationId xmlns:a16="http://schemas.microsoft.com/office/drawing/2014/main" id="{45B61CE9-F365-613C-7BBA-EE3D985C8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CD5064C-E537-8D76-6633-EA2548C96B22}"/>
              </a:ext>
            </a:extLst>
          </p:cNvPr>
          <p:cNvGrpSpPr/>
          <p:nvPr/>
        </p:nvGrpSpPr>
        <p:grpSpPr>
          <a:xfrm>
            <a:off x="3732031" y="2700374"/>
            <a:ext cx="1066635" cy="827391"/>
            <a:chOff x="8809641" y="3749783"/>
            <a:chExt cx="868739" cy="673883"/>
          </a:xfrm>
        </p:grpSpPr>
        <p:sp>
          <p:nvSpPr>
            <p:cNvPr id="95" name="Rectangle 57">
              <a:extLst>
                <a:ext uri="{FF2B5EF4-FFF2-40B4-BE49-F238E27FC236}">
                  <a16:creationId xmlns:a16="http://schemas.microsoft.com/office/drawing/2014/main" id="{BA932E39-2C55-4C74-BF90-755EF1B49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19661"/>
              <a:ext cx="868739" cy="60400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6" name="Text Box 79">
              <a:extLst>
                <a:ext uri="{FF2B5EF4-FFF2-40B4-BE49-F238E27FC236}">
                  <a16:creationId xmlns:a16="http://schemas.microsoft.com/office/drawing/2014/main" id="{5C273EEF-A23C-D580-B83B-6D185E7B2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1347" y="3749783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320626E-DDF9-6AA7-3EDC-5D686556371E}"/>
              </a:ext>
            </a:extLst>
          </p:cNvPr>
          <p:cNvGrpSpPr/>
          <p:nvPr/>
        </p:nvGrpSpPr>
        <p:grpSpPr>
          <a:xfrm>
            <a:off x="3723350" y="3606862"/>
            <a:ext cx="1075700" cy="806710"/>
            <a:chOff x="8809641" y="3768755"/>
            <a:chExt cx="876122" cy="657038"/>
          </a:xfrm>
        </p:grpSpPr>
        <p:sp>
          <p:nvSpPr>
            <p:cNvPr id="98" name="Rectangle 57">
              <a:extLst>
                <a:ext uri="{FF2B5EF4-FFF2-40B4-BE49-F238E27FC236}">
                  <a16:creationId xmlns:a16="http://schemas.microsoft.com/office/drawing/2014/main" id="{5C9E6A8D-00CF-9514-85A7-01673A2C8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8"/>
              <a:ext cx="868739" cy="5998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Text Box 79">
              <a:extLst>
                <a:ext uri="{FF2B5EF4-FFF2-40B4-BE49-F238E27FC236}">
                  <a16:creationId xmlns:a16="http://schemas.microsoft.com/office/drawing/2014/main" id="{2A5294CB-9CC2-C997-90E0-A19A444B6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3176" y="3768755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EF0C4A2-FD02-F4E2-592F-02DABC326798}"/>
              </a:ext>
            </a:extLst>
          </p:cNvPr>
          <p:cNvGrpSpPr/>
          <p:nvPr/>
        </p:nvGrpSpPr>
        <p:grpSpPr>
          <a:xfrm>
            <a:off x="3742281" y="4492513"/>
            <a:ext cx="1066635" cy="794741"/>
            <a:chOff x="8809641" y="3765177"/>
            <a:chExt cx="868739" cy="647290"/>
          </a:xfrm>
        </p:grpSpPr>
        <p:sp>
          <p:nvSpPr>
            <p:cNvPr id="101" name="Rectangle 57">
              <a:extLst>
                <a:ext uri="{FF2B5EF4-FFF2-40B4-BE49-F238E27FC236}">
                  <a16:creationId xmlns:a16="http://schemas.microsoft.com/office/drawing/2014/main" id="{0C2BD124-6F2C-2D8B-242F-52399294F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0561"/>
              <a:ext cx="868739" cy="59190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79">
              <a:extLst>
                <a:ext uri="{FF2B5EF4-FFF2-40B4-BE49-F238E27FC236}">
                  <a16:creationId xmlns:a16="http://schemas.microsoft.com/office/drawing/2014/main" id="{A4009D12-B592-3AFF-C374-836E61D2B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2927" y="3765177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19" name="Group 45">
            <a:extLst>
              <a:ext uri="{FF2B5EF4-FFF2-40B4-BE49-F238E27FC236}">
                <a16:creationId xmlns:a16="http://schemas.microsoft.com/office/drawing/2014/main" id="{0332D171-0892-B334-BFD8-8061ACCCA41F}"/>
              </a:ext>
            </a:extLst>
          </p:cNvPr>
          <p:cNvGrpSpPr>
            <a:grpSpLocks/>
          </p:cNvGrpSpPr>
          <p:nvPr/>
        </p:nvGrpSpPr>
        <p:grpSpPr bwMode="auto">
          <a:xfrm>
            <a:off x="1889779" y="3769221"/>
            <a:ext cx="1565472" cy="502360"/>
            <a:chOff x="925" y="2800"/>
            <a:chExt cx="485" cy="175"/>
          </a:xfrm>
        </p:grpSpPr>
        <p:sp>
          <p:nvSpPr>
            <p:cNvPr id="120" name="Rectangle 46">
              <a:extLst>
                <a:ext uri="{FF2B5EF4-FFF2-40B4-BE49-F238E27FC236}">
                  <a16:creationId xmlns:a16="http://schemas.microsoft.com/office/drawing/2014/main" id="{324747E2-4BD0-C484-375A-91E82472C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1" name="Rectangle 47">
              <a:extLst>
                <a:ext uri="{FF2B5EF4-FFF2-40B4-BE49-F238E27FC236}">
                  <a16:creationId xmlns:a16="http://schemas.microsoft.com/office/drawing/2014/main" id="{54D51E51-9FE8-A3E6-A12D-4E68829DF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" name="Rectangle 48">
              <a:extLst>
                <a:ext uri="{FF2B5EF4-FFF2-40B4-BE49-F238E27FC236}">
                  <a16:creationId xmlns:a16="http://schemas.microsoft.com/office/drawing/2014/main" id="{293BB401-D257-40D5-E9D1-60210FAB6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Rectangle 49">
              <a:extLst>
                <a:ext uri="{FF2B5EF4-FFF2-40B4-BE49-F238E27FC236}">
                  <a16:creationId xmlns:a16="http://schemas.microsoft.com/office/drawing/2014/main" id="{D5814C54-DA29-085A-6CC0-D8BD3EF1E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D894018-048A-088A-F129-DB6E7E57B215}"/>
              </a:ext>
            </a:extLst>
          </p:cNvPr>
          <p:cNvSpPr/>
          <p:nvPr/>
        </p:nvSpPr>
        <p:spPr>
          <a:xfrm>
            <a:off x="5099929" y="2676698"/>
            <a:ext cx="3655185" cy="2643447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In every tick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/>
              <a:t>Each input sends to at most one output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/>
              <a:t>Each output receives from at most each input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27278A3-31D1-6DC9-B494-24E5A98374F7}"/>
              </a:ext>
            </a:extLst>
          </p:cNvPr>
          <p:cNvSpPr/>
          <p:nvPr/>
        </p:nvSpPr>
        <p:spPr>
          <a:xfrm>
            <a:off x="4411675" y="3079311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B1B9B3-D3B1-42C2-6660-9F9A12F76D85}"/>
              </a:ext>
            </a:extLst>
          </p:cNvPr>
          <p:cNvSpPr/>
          <p:nvPr/>
        </p:nvSpPr>
        <p:spPr>
          <a:xfrm>
            <a:off x="4072238" y="3079310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3FD5987-EE88-3020-52D0-F8B9DF39A7C2}"/>
              </a:ext>
            </a:extLst>
          </p:cNvPr>
          <p:cNvSpPr/>
          <p:nvPr/>
        </p:nvSpPr>
        <p:spPr>
          <a:xfrm>
            <a:off x="4403106" y="3983204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F1C5FC1-8548-FA57-43E3-0B870F773701}"/>
              </a:ext>
            </a:extLst>
          </p:cNvPr>
          <p:cNvSpPr/>
          <p:nvPr/>
        </p:nvSpPr>
        <p:spPr>
          <a:xfrm>
            <a:off x="4438602" y="4863384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3E58460-62E0-D3B6-483A-1FA011ABECD7}"/>
              </a:ext>
            </a:extLst>
          </p:cNvPr>
          <p:cNvSpPr/>
          <p:nvPr/>
        </p:nvSpPr>
        <p:spPr>
          <a:xfrm>
            <a:off x="4099165" y="4863383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5E0D03C-8064-E494-F553-5D60CAA02F06}"/>
              </a:ext>
            </a:extLst>
          </p:cNvPr>
          <p:cNvSpPr/>
          <p:nvPr/>
        </p:nvSpPr>
        <p:spPr>
          <a:xfrm>
            <a:off x="4029783" y="3972866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1D23825-1628-7B28-909B-016B19280C2E}"/>
              </a:ext>
            </a:extLst>
          </p:cNvPr>
          <p:cNvSpPr txBox="1"/>
          <p:nvPr/>
        </p:nvSpPr>
        <p:spPr>
          <a:xfrm>
            <a:off x="1247966" y="1674787"/>
            <a:ext cx="9038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How do we coordinate packets between inputs and outputs?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5E46549-5F14-C152-09EA-EBE4AFE4343B}"/>
              </a:ext>
            </a:extLst>
          </p:cNvPr>
          <p:cNvSpPr txBox="1"/>
          <p:nvPr/>
        </p:nvSpPr>
        <p:spPr>
          <a:xfrm>
            <a:off x="3200895" y="2599719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B61F4B1-DD8F-176B-4DFE-4EFFCAC38132}"/>
              </a:ext>
            </a:extLst>
          </p:cNvPr>
          <p:cNvSpPr txBox="1"/>
          <p:nvPr/>
        </p:nvSpPr>
        <p:spPr>
          <a:xfrm>
            <a:off x="3202660" y="3467918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C01B555-D1C1-D52C-F84F-D9FD0ED27B73}"/>
              </a:ext>
            </a:extLst>
          </p:cNvPr>
          <p:cNvSpPr txBox="1"/>
          <p:nvPr/>
        </p:nvSpPr>
        <p:spPr>
          <a:xfrm>
            <a:off x="3230023" y="42866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E12255B-4A37-6E9C-F8F6-E2CA6E39D69A}"/>
              </a:ext>
            </a:extLst>
          </p:cNvPr>
          <p:cNvSpPr txBox="1"/>
          <p:nvPr/>
        </p:nvSpPr>
        <p:spPr>
          <a:xfrm>
            <a:off x="8963599" y="2593275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6BE93F9-0A81-0B31-F07B-246142B0F9DC}"/>
              </a:ext>
            </a:extLst>
          </p:cNvPr>
          <p:cNvSpPr txBox="1"/>
          <p:nvPr/>
        </p:nvSpPr>
        <p:spPr>
          <a:xfrm>
            <a:off x="8965364" y="3461474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48DAE5E-C42F-6147-3A60-10F36924A68A}"/>
              </a:ext>
            </a:extLst>
          </p:cNvPr>
          <p:cNvSpPr txBox="1"/>
          <p:nvPr/>
        </p:nvSpPr>
        <p:spPr>
          <a:xfrm>
            <a:off x="8992727" y="42802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D5FEDD7-FCA1-97B4-6D42-419DE9BF71A6}"/>
              </a:ext>
            </a:extLst>
          </p:cNvPr>
          <p:cNvCxnSpPr>
            <a:cxnSpLocks/>
          </p:cNvCxnSpPr>
          <p:nvPr/>
        </p:nvCxnSpPr>
        <p:spPr>
          <a:xfrm flipH="1" flipV="1">
            <a:off x="7288696" y="5364780"/>
            <a:ext cx="172278" cy="3056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6C018D6-22B6-0DE4-BFA1-B3B0BFD82CA4}"/>
              </a:ext>
            </a:extLst>
          </p:cNvPr>
          <p:cNvSpPr txBox="1"/>
          <p:nvPr/>
        </p:nvSpPr>
        <p:spPr>
          <a:xfrm>
            <a:off x="5997815" y="5717995"/>
            <a:ext cx="53587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Coordinates between inputs and outputs </a:t>
            </a:r>
          </a:p>
          <a:p>
            <a:r>
              <a:rPr lang="en-US" sz="2400" dirty="0"/>
              <a:t>by solving a bi-partite matching problem!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AADEBF5-8E43-C925-62A5-C3000DADBFAD}"/>
              </a:ext>
            </a:extLst>
          </p:cNvPr>
          <p:cNvCxnSpPr>
            <a:cxnSpLocks/>
          </p:cNvCxnSpPr>
          <p:nvPr/>
        </p:nvCxnSpPr>
        <p:spPr>
          <a:xfrm flipV="1">
            <a:off x="3281549" y="5248817"/>
            <a:ext cx="339437" cy="31202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8C0513F-6CD0-E653-F1A2-7EA7699CE517}"/>
              </a:ext>
            </a:extLst>
          </p:cNvPr>
          <p:cNvSpPr txBox="1"/>
          <p:nvPr/>
        </p:nvSpPr>
        <p:spPr>
          <a:xfrm>
            <a:off x="276897" y="5542954"/>
            <a:ext cx="54567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single buffer per input can lead to head of line blocking… look up virtual output queuing for a common solution</a:t>
            </a:r>
          </a:p>
        </p:txBody>
      </p:sp>
    </p:spTree>
    <p:extLst>
      <p:ext uri="{BB962C8B-B14F-4D97-AF65-F5344CB8AC3E}">
        <p14:creationId xmlns:p14="http://schemas.microsoft.com/office/powerpoint/2010/main" val="99078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6CF0A1-0D63-C46F-42B2-8608D93EB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trends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D74956-1C7B-3057-1269-21690D854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651"/>
            <a:ext cx="10515600" cy="4896229"/>
          </a:xfrm>
        </p:spPr>
        <p:txBody>
          <a:bodyPr>
            <a:normAutofit/>
          </a:bodyPr>
          <a:lstStyle/>
          <a:p>
            <a:r>
              <a:rPr lang="en-US" dirty="0"/>
              <a:t>Today, there is a renewed interest in output-queued (and shared memory) architectures</a:t>
            </a:r>
          </a:p>
          <a:p>
            <a:r>
              <a:rPr lang="en-US" dirty="0"/>
              <a:t>Data centers have </a:t>
            </a:r>
            <a:r>
              <a:rPr lang="en-US" i="1" dirty="0"/>
              <a:t>many</a:t>
            </a:r>
            <a:r>
              <a:rPr lang="en-US" dirty="0"/>
              <a:t> switches (100s of thousands)</a:t>
            </a:r>
          </a:p>
          <a:p>
            <a:r>
              <a:rPr lang="en-US" dirty="0"/>
              <a:t>To keep the costs down, vendors have reduced the amount of memory available for buffering in these switches</a:t>
            </a:r>
          </a:p>
          <a:p>
            <a:pPr lvl="1"/>
            <a:r>
              <a:rPr lang="en-US" dirty="0"/>
              <a:t>Easier, e.g., compared to a WAN, to keep the queues shorter in DCs, specially with the help of congestion control algorithms.</a:t>
            </a:r>
          </a:p>
          <a:p>
            <a:r>
              <a:rPr lang="en-US" dirty="0"/>
              <a:t>Easier to make smaller high-speed memory with multiple enqueues and/or dequeues per tick</a:t>
            </a:r>
          </a:p>
          <a:p>
            <a:r>
              <a:rPr lang="en-US" dirty="0"/>
              <a:t>With output-queued (or shared-memory architectures), no need for dealing with efficient scheduling of a crossbar.</a:t>
            </a:r>
          </a:p>
        </p:txBody>
      </p:sp>
    </p:spTree>
    <p:extLst>
      <p:ext uri="{BB962C8B-B14F-4D97-AF65-F5344CB8AC3E}">
        <p14:creationId xmlns:p14="http://schemas.microsoft.com/office/powerpoint/2010/main" val="228664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89982-A3BA-F75F-A264-6E2F6EB27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EEEC6-3F63-00A5-E293-87F45B79F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 architecture and buffer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EFA4F-1798-91CE-EE1F-FDF0F91784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17400"/>
            <a:ext cx="10893357" cy="3054599"/>
          </a:xfrm>
        </p:spPr>
        <p:txBody>
          <a:bodyPr>
            <a:normAutofit/>
          </a:bodyPr>
          <a:lstStyle/>
          <a:p>
            <a:r>
              <a:rPr lang="en-US" sz="3200" dirty="0"/>
              <a:t>Router architecture</a:t>
            </a:r>
          </a:p>
          <a:p>
            <a:pPr lvl="1"/>
            <a:r>
              <a:rPr lang="en-US" sz="2800" u="sng" dirty="0"/>
              <a:t>Output queueing</a:t>
            </a:r>
          </a:p>
          <a:p>
            <a:pPr lvl="1"/>
            <a:r>
              <a:rPr lang="en-US" sz="2800" u="sng" dirty="0"/>
              <a:t>Input queueing</a:t>
            </a:r>
          </a:p>
          <a:p>
            <a:pPr lvl="1"/>
            <a:r>
              <a:rPr lang="en-US" sz="2800" dirty="0"/>
              <a:t>…</a:t>
            </a:r>
          </a:p>
          <a:p>
            <a:endParaRPr lang="en-US" sz="3200" dirty="0"/>
          </a:p>
          <a:p>
            <a:r>
              <a:rPr lang="en-US" sz="3200" dirty="0"/>
              <a:t>Buffer management and scheduling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08419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B07603-2D65-4CC1-B6B4-86D3BC783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693400" cy="4162423"/>
          </a:xfrm>
        </p:spPr>
        <p:txBody>
          <a:bodyPr>
            <a:normAutofit/>
          </a:bodyPr>
          <a:lstStyle/>
          <a:p>
            <a:r>
              <a:rPr lang="en-US" sz="3200" dirty="0"/>
              <a:t>Independent of where the queues are in the router architecture, there are some important questions:</a:t>
            </a:r>
          </a:p>
          <a:p>
            <a:pPr lvl="1"/>
            <a:r>
              <a:rPr lang="en-US" sz="2800" i="1" dirty="0">
                <a:solidFill>
                  <a:srgbClr val="010F90"/>
                </a:solidFill>
              </a:rPr>
              <a:t>Buffer size</a:t>
            </a:r>
            <a:r>
              <a:rPr lang="en-US" sz="2800" b="1" dirty="0"/>
              <a:t>: </a:t>
            </a:r>
            <a:r>
              <a:rPr lang="en-US" sz="2800" dirty="0"/>
              <a:t>How large should a buffer be?</a:t>
            </a:r>
          </a:p>
          <a:p>
            <a:pPr lvl="1"/>
            <a:r>
              <a:rPr lang="en-US" sz="2800" i="1" dirty="0">
                <a:solidFill>
                  <a:srgbClr val="010F90"/>
                </a:solidFill>
              </a:rPr>
              <a:t>Queue management</a:t>
            </a:r>
            <a:r>
              <a:rPr lang="en-US" sz="2800" b="1" dirty="0"/>
              <a:t>: </a:t>
            </a:r>
            <a:r>
              <a:rPr lang="en-US" sz="2800" dirty="0"/>
              <a:t>When the queue is full, which packet do we drop? What do we do when the queue starts building up?</a:t>
            </a:r>
          </a:p>
          <a:p>
            <a:pPr lvl="1"/>
            <a:r>
              <a:rPr lang="en-US" sz="2800" i="1" dirty="0">
                <a:solidFill>
                  <a:srgbClr val="010F90"/>
                </a:solidFill>
              </a:rPr>
              <a:t>Packet scheduling</a:t>
            </a:r>
            <a:r>
              <a:rPr lang="en-US" sz="2800" b="1" dirty="0"/>
              <a:t>: </a:t>
            </a:r>
            <a:r>
              <a:rPr lang="en-US" sz="2800" dirty="0"/>
              <a:t>Which packet in the queue gets dequeued first? Should it be first-in first-out? Something else?</a:t>
            </a:r>
            <a:endParaRPr lang="en-US" sz="2800" b="1" dirty="0"/>
          </a:p>
          <a:p>
            <a:pPr lvl="1"/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3163DA-D025-5ACE-FDE5-4481AF8F5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Queue/Buffer management and scheduling</a:t>
            </a:r>
          </a:p>
        </p:txBody>
      </p:sp>
    </p:spTree>
    <p:extLst>
      <p:ext uri="{BB962C8B-B14F-4D97-AF65-F5344CB8AC3E}">
        <p14:creationId xmlns:p14="http://schemas.microsoft.com/office/powerpoint/2010/main" val="1145616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0DDEC7-F1FB-3488-536C-4ACA9D5D5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3603623"/>
          </a:xfrm>
        </p:spPr>
        <p:txBody>
          <a:bodyPr>
            <a:normAutofit/>
          </a:bodyPr>
          <a:lstStyle/>
          <a:p>
            <a:pPr marL="130175" indent="0">
              <a:buNone/>
            </a:pPr>
            <a:r>
              <a:rPr lang="en-US" i="1" dirty="0">
                <a:solidFill>
                  <a:srgbClr val="C00000"/>
                </a:solidFill>
              </a:rPr>
              <a:t>There is no easy answer:</a:t>
            </a:r>
          </a:p>
          <a:p>
            <a:r>
              <a:rPr lang="en-US" dirty="0"/>
              <a:t>Too small: can’t absorb bursts, keeps dropping packets</a:t>
            </a:r>
          </a:p>
          <a:p>
            <a:r>
              <a:rPr lang="en-US" dirty="0"/>
              <a:t>Too large: can hurt performance</a:t>
            </a:r>
          </a:p>
          <a:p>
            <a:pPr lvl="1"/>
            <a:r>
              <a:rPr lang="en-US" i="1" dirty="0">
                <a:solidFill>
                  <a:srgbClr val="010F90"/>
                </a:solidFill>
              </a:rPr>
              <a:t>buffer bloat: </a:t>
            </a:r>
            <a:r>
              <a:rPr lang="en-US" dirty="0"/>
              <a:t>When the buffer is too large, it will take a long time to fill up before a packet is dropped (however, TCP only realizes there is congestion when a packet is dropped and will not decrease its sending rate). In the meantime, all packets will experience increasing queueing delay. </a:t>
            </a:r>
          </a:p>
          <a:p>
            <a:pPr lvl="1"/>
            <a:r>
              <a:rPr lang="en-US" dirty="0"/>
              <a:t>Delay-based congestion control algorithms do better here.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F7DD21-4B56-6F1A-DEDC-75E513370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large should a buffer be?</a:t>
            </a:r>
          </a:p>
        </p:txBody>
      </p:sp>
    </p:spTree>
    <p:extLst>
      <p:ext uri="{BB962C8B-B14F-4D97-AF65-F5344CB8AC3E}">
        <p14:creationId xmlns:p14="http://schemas.microsoft.com/office/powerpoint/2010/main" val="1082721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0DDEC7-F1FB-3488-536C-4ACA9D5D5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629900" cy="4351338"/>
          </a:xfrm>
        </p:spPr>
        <p:txBody>
          <a:bodyPr/>
          <a:lstStyle/>
          <a:p>
            <a:r>
              <a:rPr lang="en-US" dirty="0"/>
              <a:t>When a new packet arrives to a full queue, which packet do we drop?</a:t>
            </a:r>
          </a:p>
          <a:p>
            <a:r>
              <a:rPr lang="en-US" i="1" dirty="0">
                <a:solidFill>
                  <a:srgbClr val="010F90"/>
                </a:solidFill>
              </a:rPr>
              <a:t>Tail drop</a:t>
            </a:r>
            <a:r>
              <a:rPr lang="en-US" dirty="0"/>
              <a:t>: drop arriving packet</a:t>
            </a:r>
          </a:p>
          <a:p>
            <a:r>
              <a:rPr lang="en-US" i="1" dirty="0">
                <a:solidFill>
                  <a:srgbClr val="010F90"/>
                </a:solidFill>
              </a:rPr>
              <a:t>Priority</a:t>
            </a:r>
            <a:r>
              <a:rPr lang="en-US" dirty="0"/>
              <a:t>: drop/remove based on priority</a:t>
            </a:r>
          </a:p>
          <a:p>
            <a:pPr lvl="1"/>
            <a:r>
              <a:rPr lang="en-US" dirty="0"/>
              <a:t>E.g., if the incoming packet has higher priority than a packet already in the queue, drop the lower priority packet and insert the incoming packet into the queue.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F7DD21-4B56-6F1A-DEDC-75E513370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management – Drop policy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D2CC3AFE-1D24-C37A-0937-2ACFE4EF2801}"/>
              </a:ext>
            </a:extLst>
          </p:cNvPr>
          <p:cNvGrpSpPr>
            <a:grpSpLocks/>
          </p:cNvGrpSpPr>
          <p:nvPr/>
        </p:nvGrpSpPr>
        <p:grpSpPr bwMode="auto">
          <a:xfrm>
            <a:off x="5564917" y="4638676"/>
            <a:ext cx="939800" cy="565150"/>
            <a:chOff x="1670312" y="2562997"/>
            <a:chExt cx="940317" cy="565219"/>
          </a:xfrm>
        </p:grpSpPr>
        <p:grpSp>
          <p:nvGrpSpPr>
            <p:cNvPr id="5" name="Group 28">
              <a:extLst>
                <a:ext uri="{FF2B5EF4-FFF2-40B4-BE49-F238E27FC236}">
                  <a16:creationId xmlns:a16="http://schemas.microsoft.com/office/drawing/2014/main" id="{11596C2D-0763-2BCB-5EB6-59D7A07B20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0312" y="2562997"/>
              <a:ext cx="929822" cy="565219"/>
              <a:chOff x="1670312" y="2562997"/>
              <a:chExt cx="929822" cy="565219"/>
            </a:xfrm>
          </p:grpSpPr>
          <p:sp>
            <p:nvSpPr>
              <p:cNvPr id="7" name="Rectangle 30">
                <a:extLst>
                  <a:ext uri="{FF2B5EF4-FFF2-40B4-BE49-F238E27FC236}">
                    <a16:creationId xmlns:a16="http://schemas.microsoft.com/office/drawing/2014/main" id="{BDFFA6CD-D865-8F08-C043-CFD37FB65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0312" y="2562997"/>
                <a:ext cx="929822" cy="56315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Gill Sans MT" panose="020B0502020104020203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cxnSp>
            <p:nvCxnSpPr>
              <p:cNvPr id="8" name="Straight Connector 31">
                <a:extLst>
                  <a:ext uri="{FF2B5EF4-FFF2-40B4-BE49-F238E27FC236}">
                    <a16:creationId xmlns:a16="http://schemas.microsoft.com/office/drawing/2014/main" id="{1DC4C0D7-45B7-38FC-104E-718028D9A3A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786358" y="256753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" name="Straight Connector 32">
                <a:extLst>
                  <a:ext uri="{FF2B5EF4-FFF2-40B4-BE49-F238E27FC236}">
                    <a16:creationId xmlns:a16="http://schemas.microsoft.com/office/drawing/2014/main" id="{65778937-15E4-659E-2331-EA20C671DB0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911544" y="2566974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" name="Straight Connector 33">
                <a:extLst>
                  <a:ext uri="{FF2B5EF4-FFF2-40B4-BE49-F238E27FC236}">
                    <a16:creationId xmlns:a16="http://schemas.microsoft.com/office/drawing/2014/main" id="{79CEBDAA-CE7C-316C-7811-456E071690B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27659" y="257032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" name="Straight Connector 34">
                <a:extLst>
                  <a:ext uri="{FF2B5EF4-FFF2-40B4-BE49-F238E27FC236}">
                    <a16:creationId xmlns:a16="http://schemas.microsoft.com/office/drawing/2014/main" id="{F1E515FB-D84E-400C-D1ED-94F080AA107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134843" y="2564600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" name="Straight Connector 35">
                <a:extLst>
                  <a:ext uri="{FF2B5EF4-FFF2-40B4-BE49-F238E27FC236}">
                    <a16:creationId xmlns:a16="http://schemas.microsoft.com/office/drawing/2014/main" id="{B41B65B7-98E1-2537-32EB-52023E08A3E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44397" y="256669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" name="Straight Connector 36">
                <a:extLst>
                  <a:ext uri="{FF2B5EF4-FFF2-40B4-BE49-F238E27FC236}">
                    <a16:creationId xmlns:a16="http://schemas.microsoft.com/office/drawing/2014/main" id="{03F15B86-05C3-BBBA-E2D1-E73F37CB901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365675" y="2568786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" name="Straight Connector 37">
                <a:extLst>
                  <a:ext uri="{FF2B5EF4-FFF2-40B4-BE49-F238E27FC236}">
                    <a16:creationId xmlns:a16="http://schemas.microsoft.com/office/drawing/2014/main" id="{5520E478-BE0F-9709-12D9-C179A8E598F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483045" y="2566971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6" name="Rectangle 29">
              <a:extLst>
                <a:ext uri="{FF2B5EF4-FFF2-40B4-BE49-F238E27FC236}">
                  <a16:creationId xmlns:a16="http://schemas.microsoft.com/office/drawing/2014/main" id="{F128C076-64FB-11C9-92CB-D1F3F71BE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807" y="2571262"/>
              <a:ext cx="929822" cy="547076"/>
            </a:xfrm>
            <a:prstGeom prst="rect">
              <a:avLst/>
            </a:prstGeom>
            <a:solidFill>
              <a:srgbClr val="000099">
                <a:alpha val="7097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Gill Sans MT" panose="020B0502020104020203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sp>
        <p:nvSpPr>
          <p:cNvPr id="15" name="Oval 27">
            <a:extLst>
              <a:ext uri="{FF2B5EF4-FFF2-40B4-BE49-F238E27FC236}">
                <a16:creationId xmlns:a16="http://schemas.microsoft.com/office/drawing/2014/main" id="{D65DD3B0-FCF1-5336-7947-17F167D2B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030" y="4610101"/>
            <a:ext cx="631825" cy="6286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cxnSp>
        <p:nvCxnSpPr>
          <p:cNvPr id="16" name="Straight Arrow Connector 11">
            <a:extLst>
              <a:ext uri="{FF2B5EF4-FFF2-40B4-BE49-F238E27FC236}">
                <a16:creationId xmlns:a16="http://schemas.microsoft.com/office/drawing/2014/main" id="{9DEBC2BB-DCFB-BBEF-57D7-35B81B12AE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25080" y="4921251"/>
            <a:ext cx="1054100" cy="0"/>
          </a:xfrm>
          <a:prstGeom prst="straightConnector1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TextBox 17">
            <a:extLst>
              <a:ext uri="{FF2B5EF4-FFF2-40B4-BE49-F238E27FC236}">
                <a16:creationId xmlns:a16="http://schemas.microsoft.com/office/drawing/2014/main" id="{8AF4BFCE-E19F-FED2-46ED-72665D746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7742" y="5205413"/>
            <a:ext cx="1273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queue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(waiting area)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4FA73AE-2D4E-72AF-380B-9130E7AE6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6367" y="4965701"/>
            <a:ext cx="7635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arrivals</a:t>
            </a:r>
          </a:p>
        </p:txBody>
      </p:sp>
      <p:cxnSp>
        <p:nvCxnSpPr>
          <p:cNvPr id="19" name="Straight Arrow Connector 20">
            <a:extLst>
              <a:ext uri="{FF2B5EF4-FFF2-40B4-BE49-F238E27FC236}">
                <a16:creationId xmlns:a16="http://schemas.microsoft.com/office/drawing/2014/main" id="{A229D3AC-A6A3-0538-2854-59783CAAD11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25467" y="4906963"/>
            <a:ext cx="906463" cy="4763"/>
          </a:xfrm>
          <a:prstGeom prst="straightConnector1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22">
            <a:extLst>
              <a:ext uri="{FF2B5EF4-FFF2-40B4-BE49-F238E27FC236}">
                <a16:creationId xmlns:a16="http://schemas.microsoft.com/office/drawing/2014/main" id="{FA02D574-5AA3-7371-1962-E3E4019C7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7542" y="5014913"/>
            <a:ext cx="10429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departures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9C9D43E6-1119-65C4-2FE0-3FB6B752D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892" y="5210176"/>
            <a:ext cx="8524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 (server)</a:t>
            </a:r>
          </a:p>
        </p:txBody>
      </p:sp>
      <p:cxnSp>
        <p:nvCxnSpPr>
          <p:cNvPr id="22" name="Straight Arrow Connector 52">
            <a:extLst>
              <a:ext uri="{FF2B5EF4-FFF2-40B4-BE49-F238E27FC236}">
                <a16:creationId xmlns:a16="http://schemas.microsoft.com/office/drawing/2014/main" id="{DF07D01E-6A64-AA3D-3867-B4F9024AF3AE}"/>
              </a:ext>
            </a:extLst>
          </p:cNvPr>
          <p:cNvCxnSpPr>
            <a:cxnSpLocks noChangeShapeType="1"/>
            <a:stCxn id="6" idx="3"/>
            <a:endCxn id="15" idx="2"/>
          </p:cNvCxnSpPr>
          <p:nvPr/>
        </p:nvCxnSpPr>
        <p:spPr bwMode="auto">
          <a:xfrm>
            <a:off x="6504717" y="4920445"/>
            <a:ext cx="87313" cy="398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5680726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0DDEC7-F1FB-3488-536C-4ACA9D5D5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queue starts filling up, one strategy is to mark packets to signal the onset of congestion to the end points </a:t>
            </a:r>
          </a:p>
          <a:p>
            <a:r>
              <a:rPr lang="en-US" dirty="0"/>
              <a:t>Recall our discussion about Early Congestion Notification (ECN) and its role in congestion control</a:t>
            </a:r>
          </a:p>
          <a:p>
            <a:r>
              <a:rPr lang="en-US" dirty="0"/>
              <a:t>When should we start/stop marking packets?</a:t>
            </a:r>
          </a:p>
          <a:p>
            <a:r>
              <a:rPr lang="en-US" dirty="0"/>
              <a:t>Which packets do we mark? </a:t>
            </a:r>
          </a:p>
          <a:p>
            <a:pPr lvl="1"/>
            <a:r>
              <a:rPr lang="en-US" dirty="0"/>
              <a:t>All packets after the queue size passes a threshold?</a:t>
            </a:r>
          </a:p>
          <a:p>
            <a:pPr lvl="1"/>
            <a:r>
              <a:rPr lang="en-US" dirty="0"/>
              <a:t>From the flow with the most packets in the queue?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F7DD21-4B56-6F1A-DEDC-75E513370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management – Marking</a:t>
            </a:r>
          </a:p>
        </p:txBody>
      </p:sp>
    </p:spTree>
    <p:extLst>
      <p:ext uri="{BB962C8B-B14F-4D97-AF65-F5344CB8AC3E}">
        <p14:creationId xmlns:p14="http://schemas.microsoft.com/office/powerpoint/2010/main" val="3494452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B8210A-3975-FEBE-342C-8E9F73499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844998"/>
          </a:xfrm>
        </p:spPr>
        <p:txBody>
          <a:bodyPr/>
          <a:lstStyle/>
          <a:p>
            <a:r>
              <a:rPr lang="en-US" dirty="0"/>
              <a:t>So far, we have assumed that our queues are </a:t>
            </a:r>
            <a:r>
              <a:rPr lang="en-US" i="1" dirty="0">
                <a:solidFill>
                  <a:srgbClr val="C00000"/>
                </a:solidFill>
              </a:rPr>
              <a:t>first in first out (FIFO)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3F8F70-B134-323F-7392-77328046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scheduling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E93F5AD-3E0E-581A-EA7C-118841A08FA0}"/>
              </a:ext>
            </a:extLst>
          </p:cNvPr>
          <p:cNvGrpSpPr/>
          <p:nvPr/>
        </p:nvGrpSpPr>
        <p:grpSpPr>
          <a:xfrm>
            <a:off x="3345925" y="2883352"/>
            <a:ext cx="4335126" cy="1688698"/>
            <a:chOff x="614363" y="4257679"/>
            <a:chExt cx="4335126" cy="168869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18705E-11D0-66EB-8C2D-E2E4E760FB37}"/>
                </a:ext>
              </a:extLst>
            </p:cNvPr>
            <p:cNvGrpSpPr/>
            <p:nvPr/>
          </p:nvGrpSpPr>
          <p:grpSpPr>
            <a:xfrm>
              <a:off x="614363" y="4257679"/>
              <a:ext cx="4335126" cy="1688698"/>
              <a:chOff x="614363" y="4257679"/>
              <a:chExt cx="4335126" cy="1688698"/>
            </a:xfrm>
          </p:grpSpPr>
          <p:grpSp>
            <p:nvGrpSpPr>
              <p:cNvPr id="8" name="Group 25">
                <a:extLst>
                  <a:ext uri="{FF2B5EF4-FFF2-40B4-BE49-F238E27FC236}">
                    <a16:creationId xmlns:a16="http://schemas.microsoft.com/office/drawing/2014/main" id="{C4893A96-312B-9FD0-FAEB-AD86EADC9F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8086" y="4855765"/>
                <a:ext cx="939800" cy="565150"/>
                <a:chOff x="1670312" y="2562997"/>
                <a:chExt cx="940317" cy="565219"/>
              </a:xfrm>
            </p:grpSpPr>
            <p:grpSp>
              <p:nvGrpSpPr>
                <p:cNvPr id="18" name="Group 28">
                  <a:extLst>
                    <a:ext uri="{FF2B5EF4-FFF2-40B4-BE49-F238E27FC236}">
                      <a16:creationId xmlns:a16="http://schemas.microsoft.com/office/drawing/2014/main" id="{5C086B7D-A7DB-37D9-FF72-78C28F23A7D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70312" y="2562997"/>
                  <a:ext cx="929822" cy="565219"/>
                  <a:chOff x="1670312" y="2562997"/>
                  <a:chExt cx="929822" cy="565219"/>
                </a:xfrm>
              </p:grpSpPr>
              <p:sp>
                <p:nvSpPr>
                  <p:cNvPr id="20" name="Rectangle 30">
                    <a:extLst>
                      <a:ext uri="{FF2B5EF4-FFF2-40B4-BE49-F238E27FC236}">
                        <a16:creationId xmlns:a16="http://schemas.microsoft.com/office/drawing/2014/main" id="{4A7BF432-369E-09E3-565F-65C998460B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70312" y="2562997"/>
                    <a:ext cx="929822" cy="56315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21" name="Straight Connector 31">
                    <a:extLst>
                      <a:ext uri="{FF2B5EF4-FFF2-40B4-BE49-F238E27FC236}">
                        <a16:creationId xmlns:a16="http://schemas.microsoft.com/office/drawing/2014/main" id="{244B1EBF-8C39-CD99-49F4-5BCD631718B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1786358" y="2567533"/>
                    <a:ext cx="4536" cy="55789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2" name="Straight Connector 32">
                    <a:extLst>
                      <a:ext uri="{FF2B5EF4-FFF2-40B4-BE49-F238E27FC236}">
                        <a16:creationId xmlns:a16="http://schemas.microsoft.com/office/drawing/2014/main" id="{1656C717-D730-1607-3EA9-844073BB8B1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1911544" y="2566974"/>
                    <a:ext cx="4536" cy="55789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3" name="Straight Connector 33">
                    <a:extLst>
                      <a:ext uri="{FF2B5EF4-FFF2-40B4-BE49-F238E27FC236}">
                        <a16:creationId xmlns:a16="http://schemas.microsoft.com/office/drawing/2014/main" id="{1521D6D8-6F08-83A1-9C7B-7A6301A2EC0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2027659" y="2570323"/>
                    <a:ext cx="4536" cy="55789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4" name="Straight Connector 34">
                    <a:extLst>
                      <a:ext uri="{FF2B5EF4-FFF2-40B4-BE49-F238E27FC236}">
                        <a16:creationId xmlns:a16="http://schemas.microsoft.com/office/drawing/2014/main" id="{4C1F7E80-E81A-6C2F-1539-7E4180506C6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2134843" y="2564600"/>
                    <a:ext cx="4536" cy="55789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5" name="Straight Connector 35">
                    <a:extLst>
                      <a:ext uri="{FF2B5EF4-FFF2-40B4-BE49-F238E27FC236}">
                        <a16:creationId xmlns:a16="http://schemas.microsoft.com/office/drawing/2014/main" id="{3BC7E945-4955-1BEE-5028-E594E17EF39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2244397" y="2566693"/>
                    <a:ext cx="4536" cy="55789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6" name="Straight Connector 36">
                    <a:extLst>
                      <a:ext uri="{FF2B5EF4-FFF2-40B4-BE49-F238E27FC236}">
                        <a16:creationId xmlns:a16="http://schemas.microsoft.com/office/drawing/2014/main" id="{5E495071-F367-3F49-EDBE-FBEB49822F2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2365675" y="2568786"/>
                    <a:ext cx="4536" cy="55789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7" name="Straight Connector 37">
                    <a:extLst>
                      <a:ext uri="{FF2B5EF4-FFF2-40B4-BE49-F238E27FC236}">
                        <a16:creationId xmlns:a16="http://schemas.microsoft.com/office/drawing/2014/main" id="{592D165D-3DC9-2815-D681-6155461BDA8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2483045" y="2566971"/>
                    <a:ext cx="4536" cy="55789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sp>
              <p:nvSpPr>
                <p:cNvPr id="19" name="Rectangle 29">
                  <a:extLst>
                    <a:ext uri="{FF2B5EF4-FFF2-40B4-BE49-F238E27FC236}">
                      <a16:creationId xmlns:a16="http://schemas.microsoft.com/office/drawing/2014/main" id="{C38F9459-E6D7-C53D-6478-6CF76D1C83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16862" y="2571262"/>
                  <a:ext cx="693767" cy="552560"/>
                </a:xfrm>
                <a:prstGeom prst="rect">
                  <a:avLst/>
                </a:prstGeom>
                <a:solidFill>
                  <a:srgbClr val="FF0000">
                    <a:alpha val="70979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58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9" name="Oval 27">
                <a:extLst>
                  <a:ext uri="{FF2B5EF4-FFF2-40B4-BE49-F238E27FC236}">
                    <a16:creationId xmlns:a16="http://schemas.microsoft.com/office/drawing/2014/main" id="{781F07EA-F31E-FA4A-481E-9A074E1D82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1137" y="4827190"/>
                <a:ext cx="631825" cy="6286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3333CC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0" name="Straight Arrow Connector 11">
                <a:extLst>
                  <a:ext uri="{FF2B5EF4-FFF2-40B4-BE49-F238E27FC236}">
                    <a16:creationId xmlns:a16="http://schemas.microsoft.com/office/drawing/2014/main" id="{67AFC559-3789-3237-8016-27A3D724B9F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85813" y="5138340"/>
                <a:ext cx="628651" cy="0"/>
              </a:xfrm>
              <a:prstGeom prst="straightConnector1">
                <a:avLst/>
              </a:prstGeom>
              <a:noFill/>
              <a:ln w="25400">
                <a:solidFill>
                  <a:srgbClr val="0000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1" name="TextBox 17">
                <a:extLst>
                  <a:ext uri="{FF2B5EF4-FFF2-40B4-BE49-F238E27FC236}">
                    <a16:creationId xmlns:a16="http://schemas.microsoft.com/office/drawing/2014/main" id="{F40A1CA8-8DE7-E51E-FB6B-49BF50B8C7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2351" y="5422502"/>
                <a:ext cx="1273175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queue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(waiting area)</a:t>
                </a:r>
              </a:p>
            </p:txBody>
          </p:sp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C4919E31-AE48-B8BA-2FE4-D35B0AD2A0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008" y="5182790"/>
                <a:ext cx="763588" cy="522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packet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arrivals</a:t>
                </a:r>
              </a:p>
            </p:txBody>
          </p:sp>
          <p:cxnSp>
            <p:nvCxnSpPr>
              <p:cNvPr id="13" name="Straight Arrow Connector 20">
                <a:extLst>
                  <a:ext uri="{FF2B5EF4-FFF2-40B4-BE49-F238E27FC236}">
                    <a16:creationId xmlns:a16="http://schemas.microsoft.com/office/drawing/2014/main" id="{41EA0771-E62A-A434-B843-A4409F4E2DAB}"/>
                  </a:ext>
                </a:extLst>
              </p:cNvPr>
              <p:cNvCxnSpPr>
                <a:cxnSpLocks noChangeShapeType="1"/>
                <a:stCxn id="9" idx="6"/>
              </p:cNvCxnSpPr>
              <p:nvPr/>
            </p:nvCxnSpPr>
            <p:spPr bwMode="auto">
              <a:xfrm>
                <a:off x="3482962" y="5141515"/>
                <a:ext cx="560401" cy="0"/>
              </a:xfrm>
              <a:prstGeom prst="straightConnector1">
                <a:avLst/>
              </a:prstGeom>
              <a:noFill/>
              <a:ln w="25400">
                <a:solidFill>
                  <a:srgbClr val="1866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4" name="TextBox 22">
                <a:extLst>
                  <a:ext uri="{FF2B5EF4-FFF2-40B4-BE49-F238E27FC236}">
                    <a16:creationId xmlns:a16="http://schemas.microsoft.com/office/drawing/2014/main" id="{89616577-F56F-D6AE-0221-F4E995AC88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06501" y="4931965"/>
                <a:ext cx="1042988" cy="522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packet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departures</a:t>
                </a:r>
              </a:p>
            </p:txBody>
          </p:sp>
          <p:sp>
            <p:nvSpPr>
              <p:cNvPr id="15" name="TextBox 23">
                <a:extLst>
                  <a:ext uri="{FF2B5EF4-FFF2-40B4-BE49-F238E27FC236}">
                    <a16:creationId xmlns:a16="http://schemas.microsoft.com/office/drawing/2014/main" id="{CE064D4C-8A71-1BA2-C6DF-25F3B9BB24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61780" y="5427265"/>
                <a:ext cx="96051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scheduler</a:t>
                </a:r>
              </a:p>
            </p:txBody>
          </p:sp>
          <p:cxnSp>
            <p:nvCxnSpPr>
              <p:cNvPr id="16" name="Straight Arrow Connector 52">
                <a:extLst>
                  <a:ext uri="{FF2B5EF4-FFF2-40B4-BE49-F238E27FC236}">
                    <a16:creationId xmlns:a16="http://schemas.microsoft.com/office/drawing/2014/main" id="{7C307539-3ACC-63B3-839D-9001E99D3728}"/>
                  </a:ext>
                </a:extLst>
              </p:cNvPr>
              <p:cNvCxnSpPr>
                <a:cxnSpLocks noChangeShapeType="1"/>
                <a:stCxn id="19" idx="3"/>
                <a:endCxn id="9" idx="2"/>
              </p:cNvCxnSpPr>
              <p:nvPr/>
            </p:nvCxnSpPr>
            <p:spPr bwMode="auto">
              <a:xfrm>
                <a:off x="2407886" y="5140276"/>
                <a:ext cx="443251" cy="1239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051A03-F481-19CF-6078-F13EB6BC06D5}"/>
                  </a:ext>
                </a:extLst>
              </p:cNvPr>
              <p:cNvSpPr txBox="1"/>
              <p:nvPr/>
            </p:nvSpPr>
            <p:spPr>
              <a:xfrm>
                <a:off x="614363" y="4257679"/>
                <a:ext cx="28036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Abstraction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queue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5E237EF-4A71-976A-5DAF-F841BF4EE294}"/>
                </a:ext>
              </a:extLst>
            </p:cNvPr>
            <p:cNvSpPr txBox="1"/>
            <p:nvPr/>
          </p:nvSpPr>
          <p:spPr>
            <a:xfrm>
              <a:off x="2978728" y="490728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8" name="Content Placeholder 1">
            <a:extLst>
              <a:ext uri="{FF2B5EF4-FFF2-40B4-BE49-F238E27FC236}">
                <a16:creationId xmlns:a16="http://schemas.microsoft.com/office/drawing/2014/main" id="{82C8EFC5-AC9D-F2AB-C12A-470A57830DE8}"/>
              </a:ext>
            </a:extLst>
          </p:cNvPr>
          <p:cNvSpPr txBox="1">
            <a:spLocks/>
          </p:cNvSpPr>
          <p:nvPr/>
        </p:nvSpPr>
        <p:spPr>
          <a:xfrm>
            <a:off x="838200" y="5213653"/>
            <a:ext cx="10515600" cy="844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But, there are other packet scheduling algorithms as well.</a:t>
            </a:r>
          </a:p>
        </p:txBody>
      </p:sp>
    </p:spTree>
    <p:extLst>
      <p:ext uri="{BB962C8B-B14F-4D97-AF65-F5344CB8AC3E}">
        <p14:creationId xmlns:p14="http://schemas.microsoft.com/office/powerpoint/2010/main" val="4032451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CFEF8-F31B-D116-27FE-9ABD6AC0C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2DAC6A-1352-6BD6-9E6E-907FC36A8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Packet scheduling</a:t>
            </a:r>
            <a:endParaRPr 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0C9EA71-2688-9A34-11CD-A68A4D44265A}"/>
              </a:ext>
            </a:extLst>
          </p:cNvPr>
          <p:cNvCxnSpPr/>
          <p:nvPr/>
        </p:nvCxnSpPr>
        <p:spPr>
          <a:xfrm>
            <a:off x="5638800" y="4018249"/>
            <a:ext cx="457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Group 25">
            <a:extLst>
              <a:ext uri="{FF2B5EF4-FFF2-40B4-BE49-F238E27FC236}">
                <a16:creationId xmlns:a16="http://schemas.microsoft.com/office/drawing/2014/main" id="{F3B32589-D3BF-DCF0-6CA7-EBA02E8678BA}"/>
              </a:ext>
            </a:extLst>
          </p:cNvPr>
          <p:cNvGrpSpPr>
            <a:grpSpLocks/>
          </p:cNvGrpSpPr>
          <p:nvPr/>
        </p:nvGrpSpPr>
        <p:grpSpPr bwMode="auto">
          <a:xfrm>
            <a:off x="2873834" y="2666335"/>
            <a:ext cx="1274199" cy="760001"/>
            <a:chOff x="1670312" y="2562997"/>
            <a:chExt cx="940317" cy="565219"/>
          </a:xfrm>
        </p:grpSpPr>
        <p:grpSp>
          <p:nvGrpSpPr>
            <p:cNvPr id="142" name="Group 28">
              <a:extLst>
                <a:ext uri="{FF2B5EF4-FFF2-40B4-BE49-F238E27FC236}">
                  <a16:creationId xmlns:a16="http://schemas.microsoft.com/office/drawing/2014/main" id="{E474BDEF-C389-05A3-E4E5-479C97ED79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0312" y="2562997"/>
              <a:ext cx="929822" cy="565219"/>
              <a:chOff x="1670312" y="2562997"/>
              <a:chExt cx="929822" cy="565219"/>
            </a:xfrm>
          </p:grpSpPr>
          <p:sp>
            <p:nvSpPr>
              <p:cNvPr id="144" name="Rectangle 30">
                <a:extLst>
                  <a:ext uri="{FF2B5EF4-FFF2-40B4-BE49-F238E27FC236}">
                    <a16:creationId xmlns:a16="http://schemas.microsoft.com/office/drawing/2014/main" id="{E8EC2771-37E2-782F-8292-8993872DE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0312" y="2562997"/>
                <a:ext cx="929822" cy="56315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45" name="Straight Connector 31">
                <a:extLst>
                  <a:ext uri="{FF2B5EF4-FFF2-40B4-BE49-F238E27FC236}">
                    <a16:creationId xmlns:a16="http://schemas.microsoft.com/office/drawing/2014/main" id="{3440A2D6-6EC7-BF2B-3BAB-784AD6299A4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786358" y="256753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6" name="Straight Connector 32">
                <a:extLst>
                  <a:ext uri="{FF2B5EF4-FFF2-40B4-BE49-F238E27FC236}">
                    <a16:creationId xmlns:a16="http://schemas.microsoft.com/office/drawing/2014/main" id="{53C9D2D5-531E-826D-02FC-47DFBF0E77F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911544" y="2566974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7" name="Straight Connector 33">
                <a:extLst>
                  <a:ext uri="{FF2B5EF4-FFF2-40B4-BE49-F238E27FC236}">
                    <a16:creationId xmlns:a16="http://schemas.microsoft.com/office/drawing/2014/main" id="{8900A298-7981-601C-3482-8F49A584F74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27659" y="257032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8" name="Straight Connector 34">
                <a:extLst>
                  <a:ext uri="{FF2B5EF4-FFF2-40B4-BE49-F238E27FC236}">
                    <a16:creationId xmlns:a16="http://schemas.microsoft.com/office/drawing/2014/main" id="{11DD2DF6-7491-EFEE-B4EA-726CDE998B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134843" y="2564600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9" name="Straight Connector 35">
                <a:extLst>
                  <a:ext uri="{FF2B5EF4-FFF2-40B4-BE49-F238E27FC236}">
                    <a16:creationId xmlns:a16="http://schemas.microsoft.com/office/drawing/2014/main" id="{D8A2277F-AC94-B396-D622-BD24BED5584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44397" y="256669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0" name="Straight Connector 36">
                <a:extLst>
                  <a:ext uri="{FF2B5EF4-FFF2-40B4-BE49-F238E27FC236}">
                    <a16:creationId xmlns:a16="http://schemas.microsoft.com/office/drawing/2014/main" id="{C1DA5311-0186-5550-5AE4-2E9C704ADF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365675" y="2568786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1" name="Straight Connector 37">
                <a:extLst>
                  <a:ext uri="{FF2B5EF4-FFF2-40B4-BE49-F238E27FC236}">
                    <a16:creationId xmlns:a16="http://schemas.microsoft.com/office/drawing/2014/main" id="{F03EB510-B6FA-CFC0-60B5-89D5A7E0329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483045" y="2566971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43" name="Rectangle 29">
              <a:extLst>
                <a:ext uri="{FF2B5EF4-FFF2-40B4-BE49-F238E27FC236}">
                  <a16:creationId xmlns:a16="http://schemas.microsoft.com/office/drawing/2014/main" id="{C261C7A3-1F45-F28F-513C-C8C8CB249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862" y="2571262"/>
              <a:ext cx="693767" cy="552560"/>
            </a:xfrm>
            <a:prstGeom prst="rect">
              <a:avLst/>
            </a:prstGeom>
            <a:solidFill>
              <a:srgbClr val="FF0000">
                <a:alpha val="7097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25">
            <a:extLst>
              <a:ext uri="{FF2B5EF4-FFF2-40B4-BE49-F238E27FC236}">
                <a16:creationId xmlns:a16="http://schemas.microsoft.com/office/drawing/2014/main" id="{FF995140-0DA2-E86E-E90A-DE599EA7D404}"/>
              </a:ext>
            </a:extLst>
          </p:cNvPr>
          <p:cNvGrpSpPr>
            <a:grpSpLocks/>
          </p:cNvGrpSpPr>
          <p:nvPr/>
        </p:nvGrpSpPr>
        <p:grpSpPr bwMode="auto">
          <a:xfrm>
            <a:off x="2891597" y="3602278"/>
            <a:ext cx="1292387" cy="763274"/>
            <a:chOff x="1670312" y="2562997"/>
            <a:chExt cx="940318" cy="565219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33AE0FA8-F4F8-49F2-7DE0-B4073D864F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0312" y="2562997"/>
              <a:ext cx="929822" cy="565219"/>
              <a:chOff x="1670312" y="2562997"/>
              <a:chExt cx="929822" cy="565219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77C7A6D0-C873-C1A6-0025-3279274821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0312" y="2562997"/>
                <a:ext cx="929822" cy="56315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C1368F3F-C3BD-BDF8-B77F-837C7AAAA6F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786358" y="256753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4AD70071-A5BA-C3C8-61B2-DAD2D66B84C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911544" y="2566974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D0BAAF59-487C-4A8F-4B1C-813C2C6ED1C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27659" y="257032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40233966-7A68-55E4-7C61-A8423C002E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134843" y="2564600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7266CBC1-A545-429F-F520-5AEAD5106FD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44397" y="256669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D5177FE3-4DD0-11EA-2A7E-34F98C25631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365675" y="2568786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D2A9A3C8-6AE5-E017-F0B7-9D244FD08D0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483045" y="2566971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6A45370E-85E1-1831-72F6-C61474E3D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418" y="2571262"/>
              <a:ext cx="375212" cy="552560"/>
            </a:xfrm>
            <a:prstGeom prst="rect">
              <a:avLst/>
            </a:prstGeom>
            <a:solidFill>
              <a:srgbClr val="00B050">
                <a:alpha val="7097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1" name="Group 25">
            <a:extLst>
              <a:ext uri="{FF2B5EF4-FFF2-40B4-BE49-F238E27FC236}">
                <a16:creationId xmlns:a16="http://schemas.microsoft.com/office/drawing/2014/main" id="{E99EFD2D-44A2-83BC-7801-A4A94B0F4515}"/>
              </a:ext>
            </a:extLst>
          </p:cNvPr>
          <p:cNvGrpSpPr>
            <a:grpSpLocks/>
          </p:cNvGrpSpPr>
          <p:nvPr/>
        </p:nvGrpSpPr>
        <p:grpSpPr bwMode="auto">
          <a:xfrm>
            <a:off x="2887735" y="4510472"/>
            <a:ext cx="1292385" cy="721744"/>
            <a:chOff x="1670312" y="2562997"/>
            <a:chExt cx="940317" cy="565219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5FEBD854-7C0B-017D-EEE1-E7028CC85E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0312" y="2562997"/>
              <a:ext cx="929822" cy="565219"/>
              <a:chOff x="1670312" y="2562997"/>
              <a:chExt cx="929822" cy="565219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DBB1C1DB-F4DA-0622-3B42-6C31BF8C9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0312" y="2562997"/>
                <a:ext cx="929822" cy="56315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F087FDC9-43C8-373F-54B4-9063A3AA3F6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786358" y="256753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E9F644F4-AD84-47CD-1847-9EAEEF4668F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911544" y="2566974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ECD59A6D-FFBF-A6BE-C3AA-80C59736A07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27659" y="257032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CF303035-74A6-D8F6-BD9C-C6A030F5684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134843" y="2564600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168BFC1F-CCAD-8B8C-CEC0-C163C08CE7E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44397" y="256669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999FCEF0-830A-D656-A227-664E5DD4764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365675" y="2568786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321E54E2-01CB-72B8-AABB-0A868C4A751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483045" y="2566971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62A2B7A-E1E9-6A10-92F9-01C7E9F2E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1937" y="2571262"/>
              <a:ext cx="478692" cy="552560"/>
            </a:xfrm>
            <a:prstGeom prst="rect">
              <a:avLst/>
            </a:prstGeom>
            <a:solidFill>
              <a:srgbClr val="3333CC">
                <a:alpha val="7097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6" name="Triangle 85">
            <a:extLst>
              <a:ext uri="{FF2B5EF4-FFF2-40B4-BE49-F238E27FC236}">
                <a16:creationId xmlns:a16="http://schemas.microsoft.com/office/drawing/2014/main" id="{839E9713-DF6F-F190-8A5E-9491CE8EC744}"/>
              </a:ext>
            </a:extLst>
          </p:cNvPr>
          <p:cNvSpPr/>
          <p:nvPr/>
        </p:nvSpPr>
        <p:spPr>
          <a:xfrm rot="5400000">
            <a:off x="1765163" y="3664345"/>
            <a:ext cx="811706" cy="665402"/>
          </a:xfrm>
          <a:prstGeom prst="triangle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1275DFC-BECB-F50F-66B9-FBDA7E2887E4}"/>
              </a:ext>
            </a:extLst>
          </p:cNvPr>
          <p:cNvGrpSpPr/>
          <p:nvPr/>
        </p:nvGrpSpPr>
        <p:grpSpPr>
          <a:xfrm>
            <a:off x="1187383" y="3818957"/>
            <a:ext cx="567187" cy="339970"/>
            <a:chOff x="9460523" y="6049108"/>
            <a:chExt cx="567187" cy="339970"/>
          </a:xfrm>
        </p:grpSpPr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DBFD6FBE-55D8-B3F1-47E0-C22E991BE2C6}"/>
                </a:ext>
              </a:extLst>
            </p:cNvPr>
            <p:cNvCxnSpPr/>
            <p:nvPr/>
          </p:nvCxnSpPr>
          <p:spPr>
            <a:xfrm>
              <a:off x="9460523" y="6049108"/>
              <a:ext cx="56270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ABB780A8-AE62-3C3C-70DC-6BE24E226936}"/>
                </a:ext>
              </a:extLst>
            </p:cNvPr>
            <p:cNvCxnSpPr/>
            <p:nvPr/>
          </p:nvCxnSpPr>
          <p:spPr>
            <a:xfrm>
              <a:off x="9461050" y="6219093"/>
              <a:ext cx="562708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E2FB4863-42F6-B624-64B3-929A20786E15}"/>
                </a:ext>
              </a:extLst>
            </p:cNvPr>
            <p:cNvCxnSpPr/>
            <p:nvPr/>
          </p:nvCxnSpPr>
          <p:spPr>
            <a:xfrm>
              <a:off x="9465002" y="6389078"/>
              <a:ext cx="562708" cy="0"/>
            </a:xfrm>
            <a:prstGeom prst="straightConnector1">
              <a:avLst/>
            </a:prstGeom>
            <a:ln w="38100">
              <a:solidFill>
                <a:srgbClr val="33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B40260A-8C82-81B5-2F5A-AD52C17960CE}"/>
              </a:ext>
            </a:extLst>
          </p:cNvPr>
          <p:cNvGrpSpPr/>
          <p:nvPr/>
        </p:nvGrpSpPr>
        <p:grpSpPr>
          <a:xfrm>
            <a:off x="6129491" y="3840729"/>
            <a:ext cx="567187" cy="339970"/>
            <a:chOff x="9460523" y="6049108"/>
            <a:chExt cx="567187" cy="339970"/>
          </a:xfrm>
        </p:grpSpPr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D8745859-5CA5-E29F-2781-289928A36F76}"/>
                </a:ext>
              </a:extLst>
            </p:cNvPr>
            <p:cNvCxnSpPr/>
            <p:nvPr/>
          </p:nvCxnSpPr>
          <p:spPr>
            <a:xfrm>
              <a:off x="9460523" y="6049108"/>
              <a:ext cx="56270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DBD4C3BB-4F47-6226-FE98-C89F6CE7D983}"/>
                </a:ext>
              </a:extLst>
            </p:cNvPr>
            <p:cNvCxnSpPr/>
            <p:nvPr/>
          </p:nvCxnSpPr>
          <p:spPr>
            <a:xfrm>
              <a:off x="9461050" y="6219093"/>
              <a:ext cx="562708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AF61F4AC-3969-3883-6AC7-3098E2E214D7}"/>
                </a:ext>
              </a:extLst>
            </p:cNvPr>
            <p:cNvCxnSpPr/>
            <p:nvPr/>
          </p:nvCxnSpPr>
          <p:spPr>
            <a:xfrm>
              <a:off x="9465002" y="6389078"/>
              <a:ext cx="562708" cy="0"/>
            </a:xfrm>
            <a:prstGeom prst="straightConnector1">
              <a:avLst/>
            </a:prstGeom>
            <a:ln w="38100">
              <a:solidFill>
                <a:srgbClr val="33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ABBF5742-3FFD-FC9E-E3F7-442C14BFA454}"/>
              </a:ext>
            </a:extLst>
          </p:cNvPr>
          <p:cNvSpPr txBox="1"/>
          <p:nvPr/>
        </p:nvSpPr>
        <p:spPr>
          <a:xfrm>
            <a:off x="1460489" y="4497220"/>
            <a:ext cx="990656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classify 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arrivals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3D49765-CA7C-DCC6-C85F-44489F7CCEA9}"/>
              </a:ext>
            </a:extLst>
          </p:cNvPr>
          <p:cNvSpPr txBox="1"/>
          <p:nvPr/>
        </p:nvSpPr>
        <p:spPr>
          <a:xfrm>
            <a:off x="5706267" y="4462913"/>
            <a:ext cx="1332224" cy="34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departures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77B7B4C-FC54-AF15-2286-8BE39B4FC190}"/>
              </a:ext>
            </a:extLst>
          </p:cNvPr>
          <p:cNvCxnSpPr>
            <a:cxnSpLocks/>
            <a:stCxn id="86" idx="0"/>
          </p:cNvCxnSpPr>
          <p:nvPr/>
        </p:nvCxnSpPr>
        <p:spPr>
          <a:xfrm flipV="1">
            <a:off x="2503717" y="3014486"/>
            <a:ext cx="682573" cy="9825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09EEBFA-E3F7-D36E-E85B-312F1D3A5F7C}"/>
              </a:ext>
            </a:extLst>
          </p:cNvPr>
          <p:cNvCxnSpPr>
            <a:cxnSpLocks/>
          </p:cNvCxnSpPr>
          <p:nvPr/>
        </p:nvCxnSpPr>
        <p:spPr>
          <a:xfrm>
            <a:off x="2519178" y="3998936"/>
            <a:ext cx="69657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D54590C-1F4E-ACF2-EE76-9682E8E78FAB}"/>
              </a:ext>
            </a:extLst>
          </p:cNvPr>
          <p:cNvCxnSpPr>
            <a:cxnSpLocks/>
            <a:stCxn id="86" idx="0"/>
          </p:cNvCxnSpPr>
          <p:nvPr/>
        </p:nvCxnSpPr>
        <p:spPr>
          <a:xfrm>
            <a:off x="2503717" y="3997046"/>
            <a:ext cx="682055" cy="871416"/>
          </a:xfrm>
          <a:prstGeom prst="straightConnector1">
            <a:avLst/>
          </a:prstGeom>
          <a:ln w="38100">
            <a:solidFill>
              <a:srgbClr val="33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C655498-926D-9993-47FF-112D0C108E78}"/>
              </a:ext>
            </a:extLst>
          </p:cNvPr>
          <p:cNvCxnSpPr>
            <a:stCxn id="144" idx="3"/>
            <a:endCxn id="110" idx="2"/>
          </p:cNvCxnSpPr>
          <p:nvPr/>
        </p:nvCxnSpPr>
        <p:spPr>
          <a:xfrm>
            <a:off x="4133809" y="3044949"/>
            <a:ext cx="664252" cy="9427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CFCBC8B-2373-D650-D2C9-0FFE85752A9B}"/>
              </a:ext>
            </a:extLst>
          </p:cNvPr>
          <p:cNvCxnSpPr>
            <a:cxnSpLocks/>
            <a:stCxn id="124" idx="3"/>
            <a:endCxn id="110" idx="2"/>
          </p:cNvCxnSpPr>
          <p:nvPr/>
        </p:nvCxnSpPr>
        <p:spPr>
          <a:xfrm flipV="1">
            <a:off x="4165694" y="3987649"/>
            <a:ext cx="632367" cy="882379"/>
          </a:xfrm>
          <a:prstGeom prst="line">
            <a:avLst/>
          </a:prstGeom>
          <a:ln w="38100">
            <a:solidFill>
              <a:srgbClr val="33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2E048C6-A7AF-EBEA-86CA-1A15FDC7BF94}"/>
              </a:ext>
            </a:extLst>
          </p:cNvPr>
          <p:cNvCxnSpPr>
            <a:cxnSpLocks/>
            <a:stCxn id="133" idx="3"/>
            <a:endCxn id="110" idx="2"/>
          </p:cNvCxnSpPr>
          <p:nvPr/>
        </p:nvCxnSpPr>
        <p:spPr>
          <a:xfrm>
            <a:off x="4183980" y="3986529"/>
            <a:ext cx="614081" cy="112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B512AAB-DD16-2628-6E7E-ABD2E0B70A2E}"/>
              </a:ext>
            </a:extLst>
          </p:cNvPr>
          <p:cNvGrpSpPr/>
          <p:nvPr/>
        </p:nvGrpSpPr>
        <p:grpSpPr>
          <a:xfrm>
            <a:off x="4777507" y="3211758"/>
            <a:ext cx="1204177" cy="1212477"/>
            <a:chOff x="9806709" y="2785795"/>
            <a:chExt cx="1204177" cy="1212477"/>
          </a:xfrm>
        </p:grpSpPr>
        <p:sp>
          <p:nvSpPr>
            <p:cNvPr id="110" name="Oval 27">
              <a:extLst>
                <a:ext uri="{FF2B5EF4-FFF2-40B4-BE49-F238E27FC236}">
                  <a16:creationId xmlns:a16="http://schemas.microsoft.com/office/drawing/2014/main" id="{D81338C8-1766-D8F1-6D57-50822324B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7263" y="3125100"/>
              <a:ext cx="877582" cy="87317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0F4D618-FC39-0984-1750-F54A55FCABEC}"/>
                </a:ext>
              </a:extLst>
            </p:cNvPr>
            <p:cNvSpPr txBox="1"/>
            <p:nvPr/>
          </p:nvSpPr>
          <p:spPr>
            <a:xfrm>
              <a:off x="9806709" y="2785795"/>
              <a:ext cx="1204177" cy="34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scheduler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64DAE1FC-DAD7-E435-374F-ABBB4262996F}"/>
                </a:ext>
              </a:extLst>
            </p:cNvPr>
            <p:cNvSpPr txBox="1"/>
            <p:nvPr/>
          </p:nvSpPr>
          <p:spPr>
            <a:xfrm>
              <a:off x="10169912" y="3391108"/>
              <a:ext cx="184730" cy="395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B5FB143C-71B2-B974-B070-A3BF25C4B8DD}"/>
              </a:ext>
            </a:extLst>
          </p:cNvPr>
          <p:cNvSpPr/>
          <p:nvPr/>
        </p:nvSpPr>
        <p:spPr>
          <a:xfrm>
            <a:off x="4599936" y="3042642"/>
            <a:ext cx="195532" cy="586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A6C016C-5CF6-5E5B-27D3-6AE446A97A22}"/>
              </a:ext>
            </a:extLst>
          </p:cNvPr>
          <p:cNvCxnSpPr>
            <a:cxnSpLocks/>
          </p:cNvCxnSpPr>
          <p:nvPr/>
        </p:nvCxnSpPr>
        <p:spPr>
          <a:xfrm>
            <a:off x="4004767" y="5466114"/>
            <a:ext cx="1097239" cy="51784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494E441-E334-5AB5-6C15-AB1280509BCD}"/>
              </a:ext>
            </a:extLst>
          </p:cNvPr>
          <p:cNvSpPr txBox="1"/>
          <p:nvPr/>
        </p:nvSpPr>
        <p:spPr>
          <a:xfrm>
            <a:off x="6855586" y="1325296"/>
            <a:ext cx="30940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Priority</a:t>
            </a:r>
          </a:p>
          <a:p>
            <a:r>
              <a:rPr lang="en-US" sz="2200" dirty="0"/>
              <a:t>Round-Robin</a:t>
            </a:r>
          </a:p>
          <a:p>
            <a:r>
              <a:rPr lang="en-US" sz="2200" dirty="0"/>
              <a:t>Weighted Round Robin</a:t>
            </a:r>
          </a:p>
          <a:p>
            <a:r>
              <a:rPr lang="en-US" sz="2200" dirty="0"/>
              <a:t>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72EEDB-5B85-B685-1A16-14AC8CBC23B4}"/>
              </a:ext>
            </a:extLst>
          </p:cNvPr>
          <p:cNvSpPr txBox="1"/>
          <p:nvPr/>
        </p:nvSpPr>
        <p:spPr>
          <a:xfrm>
            <a:off x="5379595" y="5463032"/>
            <a:ext cx="6569598" cy="110799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Instead of one queue for all packets going to the same output port (in an output-queued switch), there are separate queues for different ”traffic classes”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0AEE071-F727-D182-8CD8-C9B7E1F69F74}"/>
              </a:ext>
            </a:extLst>
          </p:cNvPr>
          <p:cNvCxnSpPr>
            <a:cxnSpLocks/>
          </p:cNvCxnSpPr>
          <p:nvPr/>
        </p:nvCxnSpPr>
        <p:spPr>
          <a:xfrm flipV="1">
            <a:off x="5638800" y="2253439"/>
            <a:ext cx="1053399" cy="68456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471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5E60E6-C8F6-90D9-17AA-95EB747A3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3920EB-73C5-9365-550B-BEC64BC3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Slides</a:t>
            </a:r>
          </a:p>
        </p:txBody>
      </p:sp>
    </p:spTree>
    <p:extLst>
      <p:ext uri="{BB962C8B-B14F-4D97-AF65-F5344CB8AC3E}">
        <p14:creationId xmlns:p14="http://schemas.microsoft.com/office/powerpoint/2010/main" val="27494222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7E3EED-2F5B-4C37-F61F-B178E042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queuing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3CFDB1-DBB6-64F1-6070-69D20EC71D80}"/>
              </a:ext>
            </a:extLst>
          </p:cNvPr>
          <p:cNvSpPr txBox="1">
            <a:spLocks/>
          </p:cNvSpPr>
          <p:nvPr/>
        </p:nvSpPr>
        <p:spPr>
          <a:xfrm>
            <a:off x="7278200" y="444686"/>
            <a:ext cx="4685584" cy="1440881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0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None/>
              <a:tabLst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On each tick, we can</a:t>
            </a:r>
          </a:p>
          <a:p>
            <a:pPr marL="407987" lvl="1" indent="0">
              <a:spcBef>
                <a:spcPts val="1000"/>
              </a:spcBef>
              <a:buClr>
                <a:srgbClr val="0000A3"/>
              </a:buClr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receive a packet on each input port</a:t>
            </a:r>
          </a:p>
          <a:p>
            <a:pPr marL="407987" lvl="1" indent="0">
              <a:spcBef>
                <a:spcPts val="1000"/>
              </a:spcBef>
              <a:buClr>
                <a:srgbClr val="0000A3"/>
              </a:buClr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send a packet on each output port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4B39C8-3D39-27F2-D703-54E6A6A1FB8B}"/>
              </a:ext>
            </a:extLst>
          </p:cNvPr>
          <p:cNvSpPr txBox="1">
            <a:spLocks/>
          </p:cNvSpPr>
          <p:nvPr/>
        </p:nvSpPr>
        <p:spPr>
          <a:xfrm>
            <a:off x="694888" y="1049996"/>
            <a:ext cx="10515600" cy="3048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087" indent="0">
              <a:buNone/>
              <a:defRPr/>
            </a:pPr>
            <a:endParaRPr lang="en-US" i="1" dirty="0">
              <a:solidFill>
                <a:srgbClr val="C00000"/>
              </a:solidFill>
              <a:latin typeface="Calibri" panose="020F0502020204030204"/>
            </a:endParaRPr>
          </a:p>
          <a:p>
            <a:pPr marL="65087" indent="0">
              <a:buNone/>
              <a:defRPr/>
            </a:pPr>
            <a:r>
              <a:rPr lang="en-US" i="1" dirty="0">
                <a:solidFill>
                  <a:srgbClr val="C00000"/>
                </a:solidFill>
                <a:latin typeface="Calibri" panose="020F0502020204030204"/>
              </a:rPr>
              <a:t>For every tick:</a:t>
            </a:r>
          </a:p>
          <a:p>
            <a:pPr indent="-287338">
              <a:buFont typeface="Wingdings" charset="2"/>
              <a:buChar char="§"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each memory needs to support </a:t>
            </a:r>
            <a:r>
              <a:rPr lang="en-US" i="1" dirty="0">
                <a:solidFill>
                  <a:srgbClr val="010F90"/>
                </a:solidFill>
                <a:latin typeface="Calibri" panose="020F0502020204030204"/>
              </a:rPr>
              <a:t>N enqueues</a:t>
            </a:r>
          </a:p>
          <a:p>
            <a:pPr lvl="1" indent="-287338">
              <a:buFont typeface="Wingdings" charset="2"/>
              <a:buChar char="§"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all input ports may receive packets going to the same output port</a:t>
            </a:r>
          </a:p>
          <a:p>
            <a:pPr indent="-287338">
              <a:buFont typeface="Wingdings" charset="2"/>
              <a:buChar char="§"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each memory only needs to support 1 dequeue per tick</a:t>
            </a:r>
          </a:p>
        </p:txBody>
      </p:sp>
      <p:grpSp>
        <p:nvGrpSpPr>
          <p:cNvPr id="4" name="Group 30">
            <a:extLst>
              <a:ext uri="{FF2B5EF4-FFF2-40B4-BE49-F238E27FC236}">
                <a16:creationId xmlns:a16="http://schemas.microsoft.com/office/drawing/2014/main" id="{946E9563-D2D2-38F1-353D-379612CDDDDF}"/>
              </a:ext>
            </a:extLst>
          </p:cNvPr>
          <p:cNvGrpSpPr>
            <a:grpSpLocks/>
          </p:cNvGrpSpPr>
          <p:nvPr/>
        </p:nvGrpSpPr>
        <p:grpSpPr bwMode="auto">
          <a:xfrm>
            <a:off x="3529924" y="4153334"/>
            <a:ext cx="2029512" cy="401865"/>
            <a:chOff x="876" y="2800"/>
            <a:chExt cx="786" cy="175"/>
          </a:xfrm>
        </p:grpSpPr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F14E18DE-B5D2-8C6B-EC1A-6554C23C4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D1A945EF-9626-C3B3-F0A0-5040A711E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8F82F8D1-C7DB-85DD-6CDC-E37F3887D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AE5FC139-1B17-D303-C658-51C77DE87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29176D27-74A8-DF18-BDC5-C1486BA5F6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34"/>
              <a:ext cx="786" cy="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" name="Group 45">
            <a:extLst>
              <a:ext uri="{FF2B5EF4-FFF2-40B4-BE49-F238E27FC236}">
                <a16:creationId xmlns:a16="http://schemas.microsoft.com/office/drawing/2014/main" id="{1C3FD952-D637-7EC3-BB03-2123834FA854}"/>
              </a:ext>
            </a:extLst>
          </p:cNvPr>
          <p:cNvGrpSpPr>
            <a:grpSpLocks/>
          </p:cNvGrpSpPr>
          <p:nvPr/>
        </p:nvGrpSpPr>
        <p:grpSpPr bwMode="auto">
          <a:xfrm>
            <a:off x="3612123" y="4889102"/>
            <a:ext cx="1252306" cy="401865"/>
            <a:chOff x="925" y="2800"/>
            <a:chExt cx="485" cy="175"/>
          </a:xfrm>
        </p:grpSpPr>
        <p:sp>
          <p:nvSpPr>
            <p:cNvPr id="12" name="Rectangle 46">
              <a:extLst>
                <a:ext uri="{FF2B5EF4-FFF2-40B4-BE49-F238E27FC236}">
                  <a16:creationId xmlns:a16="http://schemas.microsoft.com/office/drawing/2014/main" id="{C7D110E9-5F5F-C522-7326-DF604CC6D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Rectangle 47">
              <a:extLst>
                <a:ext uri="{FF2B5EF4-FFF2-40B4-BE49-F238E27FC236}">
                  <a16:creationId xmlns:a16="http://schemas.microsoft.com/office/drawing/2014/main" id="{A71E1D6F-F129-6DC3-23BF-53E7031B5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" name="Rectangle 48">
              <a:extLst>
                <a:ext uri="{FF2B5EF4-FFF2-40B4-BE49-F238E27FC236}">
                  <a16:creationId xmlns:a16="http://schemas.microsoft.com/office/drawing/2014/main" id="{D6CB757D-1C9F-E613-0AC2-C4C03FA07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Rectangle 49">
              <a:extLst>
                <a:ext uri="{FF2B5EF4-FFF2-40B4-BE49-F238E27FC236}">
                  <a16:creationId xmlns:a16="http://schemas.microsoft.com/office/drawing/2014/main" id="{43F0898B-A716-53A4-EC32-F31C27AFE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" name="Group 51">
            <a:extLst>
              <a:ext uri="{FF2B5EF4-FFF2-40B4-BE49-F238E27FC236}">
                <a16:creationId xmlns:a16="http://schemas.microsoft.com/office/drawing/2014/main" id="{8F16BF56-832E-0299-AC59-D6138857D1A7}"/>
              </a:ext>
            </a:extLst>
          </p:cNvPr>
          <p:cNvGrpSpPr>
            <a:grpSpLocks/>
          </p:cNvGrpSpPr>
          <p:nvPr/>
        </p:nvGrpSpPr>
        <p:grpSpPr bwMode="auto">
          <a:xfrm>
            <a:off x="3603258" y="5683966"/>
            <a:ext cx="1252307" cy="401865"/>
            <a:chOff x="925" y="2800"/>
            <a:chExt cx="485" cy="175"/>
          </a:xfrm>
        </p:grpSpPr>
        <p:sp>
          <p:nvSpPr>
            <p:cNvPr id="17" name="Rectangle 52">
              <a:extLst>
                <a:ext uri="{FF2B5EF4-FFF2-40B4-BE49-F238E27FC236}">
                  <a16:creationId xmlns:a16="http://schemas.microsoft.com/office/drawing/2014/main" id="{C0F12928-348E-5C9C-D884-67F250682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Rectangle 53">
              <a:extLst>
                <a:ext uri="{FF2B5EF4-FFF2-40B4-BE49-F238E27FC236}">
                  <a16:creationId xmlns:a16="http://schemas.microsoft.com/office/drawing/2014/main" id="{84CD17A9-2225-0B23-DA16-09D2F0BE5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Rectangle 54">
              <a:extLst>
                <a:ext uri="{FF2B5EF4-FFF2-40B4-BE49-F238E27FC236}">
                  <a16:creationId xmlns:a16="http://schemas.microsoft.com/office/drawing/2014/main" id="{4B36A983-2DF7-D10F-D8FA-8469F789F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Rectangle 55">
              <a:extLst>
                <a:ext uri="{FF2B5EF4-FFF2-40B4-BE49-F238E27FC236}">
                  <a16:creationId xmlns:a16="http://schemas.microsoft.com/office/drawing/2014/main" id="{E5A4C3CA-01DB-B3A4-0F14-6828EEE37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1" name="Group 64">
            <a:extLst>
              <a:ext uri="{FF2B5EF4-FFF2-40B4-BE49-F238E27FC236}">
                <a16:creationId xmlns:a16="http://schemas.microsoft.com/office/drawing/2014/main" id="{FCE8BC58-B7D6-705F-6F56-BABE30B6A69C}"/>
              </a:ext>
            </a:extLst>
          </p:cNvPr>
          <p:cNvGrpSpPr>
            <a:grpSpLocks/>
          </p:cNvGrpSpPr>
          <p:nvPr/>
        </p:nvGrpSpPr>
        <p:grpSpPr bwMode="auto">
          <a:xfrm>
            <a:off x="6449354" y="4150380"/>
            <a:ext cx="1657693" cy="401865"/>
            <a:chOff x="455" y="3463"/>
            <a:chExt cx="561" cy="136"/>
          </a:xfrm>
        </p:grpSpPr>
        <p:sp>
          <p:nvSpPr>
            <p:cNvPr id="22" name="Rectangle 59">
              <a:extLst>
                <a:ext uri="{FF2B5EF4-FFF2-40B4-BE49-F238E27FC236}">
                  <a16:creationId xmlns:a16="http://schemas.microsoft.com/office/drawing/2014/main" id="{D87BDC81-B164-A346-E1CB-30FC430F0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Rectangle 60">
              <a:extLst>
                <a:ext uri="{FF2B5EF4-FFF2-40B4-BE49-F238E27FC236}">
                  <a16:creationId xmlns:a16="http://schemas.microsoft.com/office/drawing/2014/main" id="{B79D6AEB-0010-BF64-7C0A-5D374C5AB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" name="Rectangle 61">
              <a:extLst>
                <a:ext uri="{FF2B5EF4-FFF2-40B4-BE49-F238E27FC236}">
                  <a16:creationId xmlns:a16="http://schemas.microsoft.com/office/drawing/2014/main" id="{888E107C-AA8A-A821-5BBE-A7BD6B305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" name="Rectangle 62">
              <a:extLst>
                <a:ext uri="{FF2B5EF4-FFF2-40B4-BE49-F238E27FC236}">
                  <a16:creationId xmlns:a16="http://schemas.microsoft.com/office/drawing/2014/main" id="{81997AE6-78C7-2BCC-3746-ADF6F7B0A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" name="Line 63">
              <a:extLst>
                <a:ext uri="{FF2B5EF4-FFF2-40B4-BE49-F238E27FC236}">
                  <a16:creationId xmlns:a16="http://schemas.microsoft.com/office/drawing/2014/main" id="{02AC2A3C-87EC-7398-28EC-80E1174C11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" name="Group 65">
            <a:extLst>
              <a:ext uri="{FF2B5EF4-FFF2-40B4-BE49-F238E27FC236}">
                <a16:creationId xmlns:a16="http://schemas.microsoft.com/office/drawing/2014/main" id="{0E0F36E5-756E-311C-BB45-DC48FF3D14E4}"/>
              </a:ext>
            </a:extLst>
          </p:cNvPr>
          <p:cNvGrpSpPr>
            <a:grpSpLocks/>
          </p:cNvGrpSpPr>
          <p:nvPr/>
        </p:nvGrpSpPr>
        <p:grpSpPr bwMode="auto">
          <a:xfrm>
            <a:off x="6458219" y="4880237"/>
            <a:ext cx="1657692" cy="401865"/>
            <a:chOff x="455" y="3463"/>
            <a:chExt cx="561" cy="136"/>
          </a:xfrm>
        </p:grpSpPr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6B676225-FB18-8BBF-A702-2EDA7A963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" name="Rectangle 67">
              <a:extLst>
                <a:ext uri="{FF2B5EF4-FFF2-40B4-BE49-F238E27FC236}">
                  <a16:creationId xmlns:a16="http://schemas.microsoft.com/office/drawing/2014/main" id="{03F3FD3C-D4DE-A178-7E19-A35576A05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Rectangle 68">
              <a:extLst>
                <a:ext uri="{FF2B5EF4-FFF2-40B4-BE49-F238E27FC236}">
                  <a16:creationId xmlns:a16="http://schemas.microsoft.com/office/drawing/2014/main" id="{CFB7F82D-C85F-9E5E-9E34-D39923078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Rectangle 69">
              <a:extLst>
                <a:ext uri="{FF2B5EF4-FFF2-40B4-BE49-F238E27FC236}">
                  <a16:creationId xmlns:a16="http://schemas.microsoft.com/office/drawing/2014/main" id="{140F21C5-4461-222F-1FF1-5F6CBC314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" name="Line 70">
              <a:extLst>
                <a:ext uri="{FF2B5EF4-FFF2-40B4-BE49-F238E27FC236}">
                  <a16:creationId xmlns:a16="http://schemas.microsoft.com/office/drawing/2014/main" id="{6F748C8B-92B9-53F8-A9E7-28F2DAB965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" name="Group 71">
            <a:extLst>
              <a:ext uri="{FF2B5EF4-FFF2-40B4-BE49-F238E27FC236}">
                <a16:creationId xmlns:a16="http://schemas.microsoft.com/office/drawing/2014/main" id="{1E3B1205-095E-34ED-0C2E-43E5B041E87A}"/>
              </a:ext>
            </a:extLst>
          </p:cNvPr>
          <p:cNvGrpSpPr>
            <a:grpSpLocks/>
          </p:cNvGrpSpPr>
          <p:nvPr/>
        </p:nvGrpSpPr>
        <p:grpSpPr bwMode="auto">
          <a:xfrm>
            <a:off x="6449354" y="5675102"/>
            <a:ext cx="1657693" cy="401865"/>
            <a:chOff x="455" y="3463"/>
            <a:chExt cx="561" cy="136"/>
          </a:xfrm>
        </p:grpSpPr>
        <p:sp>
          <p:nvSpPr>
            <p:cNvPr id="34" name="Rectangle 72">
              <a:extLst>
                <a:ext uri="{FF2B5EF4-FFF2-40B4-BE49-F238E27FC236}">
                  <a16:creationId xmlns:a16="http://schemas.microsoft.com/office/drawing/2014/main" id="{51E1D0AB-AAC6-E852-E234-5BEE26BEF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Rectangle 73">
              <a:extLst>
                <a:ext uri="{FF2B5EF4-FFF2-40B4-BE49-F238E27FC236}">
                  <a16:creationId xmlns:a16="http://schemas.microsoft.com/office/drawing/2014/main" id="{C38DFFBB-595B-C5CE-E01A-D4E3FAC35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" name="Rectangle 74">
              <a:extLst>
                <a:ext uri="{FF2B5EF4-FFF2-40B4-BE49-F238E27FC236}">
                  <a16:creationId xmlns:a16="http://schemas.microsoft.com/office/drawing/2014/main" id="{4EFADB5B-7577-D0A7-A661-1C528A985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" name="Rectangle 75">
              <a:extLst>
                <a:ext uri="{FF2B5EF4-FFF2-40B4-BE49-F238E27FC236}">
                  <a16:creationId xmlns:a16="http://schemas.microsoft.com/office/drawing/2014/main" id="{40A04DA7-7507-5DDB-B759-C37ADCFEB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" name="Line 76">
              <a:extLst>
                <a:ext uri="{FF2B5EF4-FFF2-40B4-BE49-F238E27FC236}">
                  <a16:creationId xmlns:a16="http://schemas.microsoft.com/office/drawing/2014/main" id="{0D33F14E-0EC3-E164-72BE-11ACB70FDA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96B753D-F4E2-A51B-FAF4-3932662D056F}"/>
              </a:ext>
            </a:extLst>
          </p:cNvPr>
          <p:cNvGrpSpPr/>
          <p:nvPr/>
        </p:nvGrpSpPr>
        <p:grpSpPr>
          <a:xfrm>
            <a:off x="5571752" y="4072679"/>
            <a:ext cx="868739" cy="478294"/>
            <a:chOff x="8809641" y="3825919"/>
            <a:chExt cx="868739" cy="478294"/>
          </a:xfrm>
        </p:grpSpPr>
        <p:sp>
          <p:nvSpPr>
            <p:cNvPr id="40" name="Rectangle 57">
              <a:extLst>
                <a:ext uri="{FF2B5EF4-FFF2-40B4-BE49-F238E27FC236}">
                  <a16:creationId xmlns:a16="http://schemas.microsoft.com/office/drawing/2014/main" id="{A02B03A9-EE86-D0AB-47D9-7F3F388E5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9"/>
              <a:ext cx="868739" cy="47829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" name="Text Box 79">
              <a:extLst>
                <a:ext uri="{FF2B5EF4-FFF2-40B4-BE49-F238E27FC236}">
                  <a16:creationId xmlns:a16="http://schemas.microsoft.com/office/drawing/2014/main" id="{4A4AE664-31FC-F52C-4071-6C457E520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7204" y="3846939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06D1388-F7C0-DBBD-6473-D9C8A79D74EA}"/>
              </a:ext>
            </a:extLst>
          </p:cNvPr>
          <p:cNvGrpSpPr/>
          <p:nvPr/>
        </p:nvGrpSpPr>
        <p:grpSpPr>
          <a:xfrm>
            <a:off x="5577996" y="4829329"/>
            <a:ext cx="868739" cy="478294"/>
            <a:chOff x="8809641" y="3825919"/>
            <a:chExt cx="868739" cy="478294"/>
          </a:xfrm>
        </p:grpSpPr>
        <p:sp>
          <p:nvSpPr>
            <p:cNvPr id="43" name="Rectangle 57">
              <a:extLst>
                <a:ext uri="{FF2B5EF4-FFF2-40B4-BE49-F238E27FC236}">
                  <a16:creationId xmlns:a16="http://schemas.microsoft.com/office/drawing/2014/main" id="{44FEA6B4-C9A7-B7D5-71A8-80F9A9FF5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9"/>
              <a:ext cx="868739" cy="47829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Text Box 79">
              <a:extLst>
                <a:ext uri="{FF2B5EF4-FFF2-40B4-BE49-F238E27FC236}">
                  <a16:creationId xmlns:a16="http://schemas.microsoft.com/office/drawing/2014/main" id="{4B2A785C-CAE0-B6BD-9A0B-32C8006C59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7204" y="3846939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C180AE0-096A-9F3E-BEC8-82B904CD0650}"/>
              </a:ext>
            </a:extLst>
          </p:cNvPr>
          <p:cNvGrpSpPr/>
          <p:nvPr/>
        </p:nvGrpSpPr>
        <p:grpSpPr>
          <a:xfrm>
            <a:off x="5573764" y="5630977"/>
            <a:ext cx="868739" cy="478294"/>
            <a:chOff x="8809641" y="3825919"/>
            <a:chExt cx="868739" cy="478294"/>
          </a:xfrm>
        </p:grpSpPr>
        <p:sp>
          <p:nvSpPr>
            <p:cNvPr id="46" name="Rectangle 57">
              <a:extLst>
                <a:ext uri="{FF2B5EF4-FFF2-40B4-BE49-F238E27FC236}">
                  <a16:creationId xmlns:a16="http://schemas.microsoft.com/office/drawing/2014/main" id="{12326F91-A37D-59E5-1FEF-A8DE98DF5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9"/>
              <a:ext cx="868739" cy="47829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Text Box 79">
              <a:extLst>
                <a:ext uri="{FF2B5EF4-FFF2-40B4-BE49-F238E27FC236}">
                  <a16:creationId xmlns:a16="http://schemas.microsoft.com/office/drawing/2014/main" id="{C546ADEF-F06C-BD38-0969-748168FDC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7204" y="3846939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cxnSp>
        <p:nvCxnSpPr>
          <p:cNvPr id="48" name="Elbow Connector 129">
            <a:extLst>
              <a:ext uri="{FF2B5EF4-FFF2-40B4-BE49-F238E27FC236}">
                <a16:creationId xmlns:a16="http://schemas.microsoft.com/office/drawing/2014/main" id="{E7950415-E47A-C0D2-415C-24DBA1C90CDF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66334" y="4363027"/>
            <a:ext cx="747040" cy="476284"/>
          </a:xfrm>
          <a:prstGeom prst="bentConnector3">
            <a:avLst>
              <a:gd name="adj1" fmla="val 102576"/>
            </a:avLst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492DD54-5464-5772-E62F-C359E799A5BF}"/>
              </a:ext>
            </a:extLst>
          </p:cNvPr>
          <p:cNvCxnSpPr>
            <a:cxnSpLocks/>
          </p:cNvCxnSpPr>
          <p:nvPr/>
        </p:nvCxnSpPr>
        <p:spPr>
          <a:xfrm>
            <a:off x="3492802" y="6009435"/>
            <a:ext cx="148586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0CB5D10-5548-F88E-C606-FEDDFA225D2B}"/>
              </a:ext>
            </a:extLst>
          </p:cNvPr>
          <p:cNvCxnSpPr>
            <a:cxnSpLocks/>
          </p:cNvCxnSpPr>
          <p:nvPr/>
        </p:nvCxnSpPr>
        <p:spPr>
          <a:xfrm>
            <a:off x="5359034" y="4355414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132">
            <a:extLst>
              <a:ext uri="{FF2B5EF4-FFF2-40B4-BE49-F238E27FC236}">
                <a16:creationId xmlns:a16="http://schemas.microsoft.com/office/drawing/2014/main" id="{A72FC003-230C-80A1-2A50-8F467218D2D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00870" y="5085978"/>
            <a:ext cx="683589" cy="476286"/>
          </a:xfrm>
          <a:prstGeom prst="bentConnector2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B71B7A3-53F8-41A5-5980-B7CA01989F42}"/>
              </a:ext>
            </a:extLst>
          </p:cNvPr>
          <p:cNvSpPr txBox="1"/>
          <p:nvPr/>
        </p:nvSpPr>
        <p:spPr>
          <a:xfrm>
            <a:off x="5082772" y="410908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90DC4D1-C55C-AE93-B022-DB0D4E9EA38B}"/>
              </a:ext>
            </a:extLst>
          </p:cNvPr>
          <p:cNvCxnSpPr>
            <a:cxnSpLocks/>
          </p:cNvCxnSpPr>
          <p:nvPr/>
        </p:nvCxnSpPr>
        <p:spPr>
          <a:xfrm>
            <a:off x="5358009" y="4483266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47F458D-73BD-1617-B739-983D53E3C8C0}"/>
              </a:ext>
            </a:extLst>
          </p:cNvPr>
          <p:cNvSpPr txBox="1"/>
          <p:nvPr/>
        </p:nvSpPr>
        <p:spPr>
          <a:xfrm>
            <a:off x="5081747" y="423694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E6DCB44-33B3-7C48-45A4-0274164C8B62}"/>
              </a:ext>
            </a:extLst>
          </p:cNvPr>
          <p:cNvCxnSpPr>
            <a:cxnSpLocks/>
          </p:cNvCxnSpPr>
          <p:nvPr/>
        </p:nvCxnSpPr>
        <p:spPr>
          <a:xfrm>
            <a:off x="5388125" y="5238163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078D27A-2C8E-8AA1-B467-93F07316D987}"/>
              </a:ext>
            </a:extLst>
          </p:cNvPr>
          <p:cNvSpPr txBox="1"/>
          <p:nvPr/>
        </p:nvSpPr>
        <p:spPr>
          <a:xfrm>
            <a:off x="5111863" y="499183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B33461A-0021-BFDB-4F5B-402BCF502AEA}"/>
              </a:ext>
            </a:extLst>
          </p:cNvPr>
          <p:cNvCxnSpPr>
            <a:cxnSpLocks/>
          </p:cNvCxnSpPr>
          <p:nvPr/>
        </p:nvCxnSpPr>
        <p:spPr>
          <a:xfrm>
            <a:off x="5388487" y="5108435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E465CC7-0ACB-A4AC-983F-0516D34AECE2}"/>
              </a:ext>
            </a:extLst>
          </p:cNvPr>
          <p:cNvSpPr txBox="1"/>
          <p:nvPr/>
        </p:nvSpPr>
        <p:spPr>
          <a:xfrm>
            <a:off x="4950038" y="4867931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..…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9F944E-CC31-2235-1530-F797C06FEEB6}"/>
              </a:ext>
            </a:extLst>
          </p:cNvPr>
          <p:cNvCxnSpPr>
            <a:cxnSpLocks/>
          </p:cNvCxnSpPr>
          <p:nvPr/>
        </p:nvCxnSpPr>
        <p:spPr>
          <a:xfrm>
            <a:off x="5389285" y="5797071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B7E650A-730F-DE0E-375F-3912A6D0800E}"/>
              </a:ext>
            </a:extLst>
          </p:cNvPr>
          <p:cNvSpPr txBox="1"/>
          <p:nvPr/>
        </p:nvSpPr>
        <p:spPr>
          <a:xfrm>
            <a:off x="5113023" y="555074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C31B71F-1C52-2C5E-B04D-E47CEABA3A7E}"/>
              </a:ext>
            </a:extLst>
          </p:cNvPr>
          <p:cNvCxnSpPr>
            <a:cxnSpLocks/>
          </p:cNvCxnSpPr>
          <p:nvPr/>
        </p:nvCxnSpPr>
        <p:spPr>
          <a:xfrm>
            <a:off x="5375390" y="6011706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2822045-25A7-B078-C763-B1E045B65B0D}"/>
              </a:ext>
            </a:extLst>
          </p:cNvPr>
          <p:cNvSpPr txBox="1"/>
          <p:nvPr/>
        </p:nvSpPr>
        <p:spPr>
          <a:xfrm>
            <a:off x="4997570" y="576083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065DE48-2491-E073-1D15-8C56691A4DEB}"/>
              </a:ext>
            </a:extLst>
          </p:cNvPr>
          <p:cNvCxnSpPr>
            <a:cxnSpLocks/>
          </p:cNvCxnSpPr>
          <p:nvPr/>
        </p:nvCxnSpPr>
        <p:spPr>
          <a:xfrm>
            <a:off x="3484129" y="5110555"/>
            <a:ext cx="148586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1173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7E3EED-2F5B-4C37-F61F-B178E042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queuing</a:t>
            </a:r>
          </a:p>
        </p:txBody>
      </p:sp>
      <p:grpSp>
        <p:nvGrpSpPr>
          <p:cNvPr id="6" name="Group 30">
            <a:extLst>
              <a:ext uri="{FF2B5EF4-FFF2-40B4-BE49-F238E27FC236}">
                <a16:creationId xmlns:a16="http://schemas.microsoft.com/office/drawing/2014/main" id="{C70A71BD-D898-1C3D-D496-A9B7D01F27E4}"/>
              </a:ext>
            </a:extLst>
          </p:cNvPr>
          <p:cNvGrpSpPr>
            <a:grpSpLocks/>
          </p:cNvGrpSpPr>
          <p:nvPr/>
        </p:nvGrpSpPr>
        <p:grpSpPr bwMode="auto">
          <a:xfrm>
            <a:off x="6845303" y="3782590"/>
            <a:ext cx="2029512" cy="401865"/>
            <a:chOff x="876" y="2800"/>
            <a:chExt cx="786" cy="175"/>
          </a:xfrm>
        </p:grpSpPr>
        <p:sp>
          <p:nvSpPr>
            <p:cNvPr id="39" name="Rectangle 7">
              <a:extLst>
                <a:ext uri="{FF2B5EF4-FFF2-40B4-BE49-F238E27FC236}">
                  <a16:creationId xmlns:a16="http://schemas.microsoft.com/office/drawing/2014/main" id="{A03EC980-19BE-4130-252D-03A412232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" name="Rectangle 8">
              <a:extLst>
                <a:ext uri="{FF2B5EF4-FFF2-40B4-BE49-F238E27FC236}">
                  <a16:creationId xmlns:a16="http://schemas.microsoft.com/office/drawing/2014/main" id="{9D82968A-152E-BF37-1C45-BAB2C546D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" name="Rectangle 9">
              <a:extLst>
                <a:ext uri="{FF2B5EF4-FFF2-40B4-BE49-F238E27FC236}">
                  <a16:creationId xmlns:a16="http://schemas.microsoft.com/office/drawing/2014/main" id="{FC0EADE7-399C-0FA0-0C03-00015F882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Rectangle 10">
              <a:extLst>
                <a:ext uri="{FF2B5EF4-FFF2-40B4-BE49-F238E27FC236}">
                  <a16:creationId xmlns:a16="http://schemas.microsoft.com/office/drawing/2014/main" id="{23002987-783C-9AD0-84D4-C36E1752D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" name="Line 11">
              <a:extLst>
                <a:ext uri="{FF2B5EF4-FFF2-40B4-BE49-F238E27FC236}">
                  <a16:creationId xmlns:a16="http://schemas.microsoft.com/office/drawing/2014/main" id="{90BA6D40-142F-4DA4-7A88-1A10303819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34"/>
              <a:ext cx="786" cy="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" name="Group 45">
            <a:extLst>
              <a:ext uri="{FF2B5EF4-FFF2-40B4-BE49-F238E27FC236}">
                <a16:creationId xmlns:a16="http://schemas.microsoft.com/office/drawing/2014/main" id="{5669497C-8711-2B52-93FE-F5DAF104AB75}"/>
              </a:ext>
            </a:extLst>
          </p:cNvPr>
          <p:cNvGrpSpPr>
            <a:grpSpLocks/>
          </p:cNvGrpSpPr>
          <p:nvPr/>
        </p:nvGrpSpPr>
        <p:grpSpPr bwMode="auto">
          <a:xfrm>
            <a:off x="6927502" y="4518358"/>
            <a:ext cx="1252306" cy="401865"/>
            <a:chOff x="925" y="2800"/>
            <a:chExt cx="485" cy="175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965240E5-76B4-C7BB-0F45-38FB9BAC0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Rectangle 47">
              <a:extLst>
                <a:ext uri="{FF2B5EF4-FFF2-40B4-BE49-F238E27FC236}">
                  <a16:creationId xmlns:a16="http://schemas.microsoft.com/office/drawing/2014/main" id="{AEA4F096-8C63-B460-C7B0-BDA7C1B7D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" name="Rectangle 48">
              <a:extLst>
                <a:ext uri="{FF2B5EF4-FFF2-40B4-BE49-F238E27FC236}">
                  <a16:creationId xmlns:a16="http://schemas.microsoft.com/office/drawing/2014/main" id="{FD521FF0-89D4-8EED-5889-66AAC9049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" name="Rectangle 49">
              <a:extLst>
                <a:ext uri="{FF2B5EF4-FFF2-40B4-BE49-F238E27FC236}">
                  <a16:creationId xmlns:a16="http://schemas.microsoft.com/office/drawing/2014/main" id="{8903820D-4E84-868E-D5FD-361805F65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" name="Group 51">
            <a:extLst>
              <a:ext uri="{FF2B5EF4-FFF2-40B4-BE49-F238E27FC236}">
                <a16:creationId xmlns:a16="http://schemas.microsoft.com/office/drawing/2014/main" id="{9B30B480-08C6-CEF3-76F3-ED3AB0EF3C41}"/>
              </a:ext>
            </a:extLst>
          </p:cNvPr>
          <p:cNvGrpSpPr>
            <a:grpSpLocks/>
          </p:cNvGrpSpPr>
          <p:nvPr/>
        </p:nvGrpSpPr>
        <p:grpSpPr bwMode="auto">
          <a:xfrm>
            <a:off x="6918637" y="5313222"/>
            <a:ext cx="1252307" cy="401865"/>
            <a:chOff x="925" y="2800"/>
            <a:chExt cx="485" cy="175"/>
          </a:xfrm>
        </p:grpSpPr>
        <p:sp>
          <p:nvSpPr>
            <p:cNvPr id="29" name="Rectangle 52">
              <a:extLst>
                <a:ext uri="{FF2B5EF4-FFF2-40B4-BE49-F238E27FC236}">
                  <a16:creationId xmlns:a16="http://schemas.microsoft.com/office/drawing/2014/main" id="{F84A59C1-5C70-FD13-B47B-3B57A9D78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Rectangle 53">
              <a:extLst>
                <a:ext uri="{FF2B5EF4-FFF2-40B4-BE49-F238E27FC236}">
                  <a16:creationId xmlns:a16="http://schemas.microsoft.com/office/drawing/2014/main" id="{C45947EE-63DE-4967-BBE9-64C293CDB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Rectangle 54">
              <a:extLst>
                <a:ext uri="{FF2B5EF4-FFF2-40B4-BE49-F238E27FC236}">
                  <a16:creationId xmlns:a16="http://schemas.microsoft.com/office/drawing/2014/main" id="{7DD06125-A893-7640-F7C2-F08C7C545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" name="Rectangle 55">
              <a:extLst>
                <a:ext uri="{FF2B5EF4-FFF2-40B4-BE49-F238E27FC236}">
                  <a16:creationId xmlns:a16="http://schemas.microsoft.com/office/drawing/2014/main" id="{352780C6-B948-B062-D5C8-B91A548CB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" name="Group 64">
            <a:extLst>
              <a:ext uri="{FF2B5EF4-FFF2-40B4-BE49-F238E27FC236}">
                <a16:creationId xmlns:a16="http://schemas.microsoft.com/office/drawing/2014/main" id="{ECC9507C-A42D-1833-FC32-C10EA5C3B01A}"/>
              </a:ext>
            </a:extLst>
          </p:cNvPr>
          <p:cNvGrpSpPr>
            <a:grpSpLocks/>
          </p:cNvGrpSpPr>
          <p:nvPr/>
        </p:nvGrpSpPr>
        <p:grpSpPr bwMode="auto">
          <a:xfrm>
            <a:off x="9764733" y="3779636"/>
            <a:ext cx="1657693" cy="401865"/>
            <a:chOff x="455" y="3463"/>
            <a:chExt cx="561" cy="136"/>
          </a:xfrm>
        </p:grpSpPr>
        <p:sp>
          <p:nvSpPr>
            <p:cNvPr id="24" name="Rectangle 59">
              <a:extLst>
                <a:ext uri="{FF2B5EF4-FFF2-40B4-BE49-F238E27FC236}">
                  <a16:creationId xmlns:a16="http://schemas.microsoft.com/office/drawing/2014/main" id="{D15032AA-2C2F-09B2-DFD9-F403FBDD0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" name="Rectangle 60">
              <a:extLst>
                <a:ext uri="{FF2B5EF4-FFF2-40B4-BE49-F238E27FC236}">
                  <a16:creationId xmlns:a16="http://schemas.microsoft.com/office/drawing/2014/main" id="{80567055-08B2-B9D3-1030-DC2EDD85F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" name="Rectangle 61">
              <a:extLst>
                <a:ext uri="{FF2B5EF4-FFF2-40B4-BE49-F238E27FC236}">
                  <a16:creationId xmlns:a16="http://schemas.microsoft.com/office/drawing/2014/main" id="{FE9CE6ED-5974-2FF3-8D42-B08DFA94B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" name="Rectangle 62">
              <a:extLst>
                <a:ext uri="{FF2B5EF4-FFF2-40B4-BE49-F238E27FC236}">
                  <a16:creationId xmlns:a16="http://schemas.microsoft.com/office/drawing/2014/main" id="{780D399E-5D05-CE58-7A2B-C60C5BBD6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Line 63">
              <a:extLst>
                <a:ext uri="{FF2B5EF4-FFF2-40B4-BE49-F238E27FC236}">
                  <a16:creationId xmlns:a16="http://schemas.microsoft.com/office/drawing/2014/main" id="{D888ACB0-984C-157F-E7B6-1F7DCD9A1B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" name="Group 65">
            <a:extLst>
              <a:ext uri="{FF2B5EF4-FFF2-40B4-BE49-F238E27FC236}">
                <a16:creationId xmlns:a16="http://schemas.microsoft.com/office/drawing/2014/main" id="{D78B17BE-46CF-11A7-2241-5325E4384C27}"/>
              </a:ext>
            </a:extLst>
          </p:cNvPr>
          <p:cNvGrpSpPr>
            <a:grpSpLocks/>
          </p:cNvGrpSpPr>
          <p:nvPr/>
        </p:nvGrpSpPr>
        <p:grpSpPr bwMode="auto">
          <a:xfrm>
            <a:off x="9773598" y="4509493"/>
            <a:ext cx="1657692" cy="401865"/>
            <a:chOff x="455" y="3463"/>
            <a:chExt cx="561" cy="136"/>
          </a:xfrm>
        </p:grpSpPr>
        <p:sp>
          <p:nvSpPr>
            <p:cNvPr id="19" name="Rectangle 66">
              <a:extLst>
                <a:ext uri="{FF2B5EF4-FFF2-40B4-BE49-F238E27FC236}">
                  <a16:creationId xmlns:a16="http://schemas.microsoft.com/office/drawing/2014/main" id="{CE6CA541-5686-5A25-D720-A53A223BD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Rectangle 67">
              <a:extLst>
                <a:ext uri="{FF2B5EF4-FFF2-40B4-BE49-F238E27FC236}">
                  <a16:creationId xmlns:a16="http://schemas.microsoft.com/office/drawing/2014/main" id="{A14116ED-7A88-A7C9-1E9D-94AF34E96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E1A8338D-4A9D-6590-664B-A99CAFACD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" name="Rectangle 69">
              <a:extLst>
                <a:ext uri="{FF2B5EF4-FFF2-40B4-BE49-F238E27FC236}">
                  <a16:creationId xmlns:a16="http://schemas.microsoft.com/office/drawing/2014/main" id="{E5C6E105-9981-9DE6-573E-BF28EE293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Line 70">
              <a:extLst>
                <a:ext uri="{FF2B5EF4-FFF2-40B4-BE49-F238E27FC236}">
                  <a16:creationId xmlns:a16="http://schemas.microsoft.com/office/drawing/2014/main" id="{AE5F5D1C-4458-9026-474A-A1DC12FD30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" name="Group 71">
            <a:extLst>
              <a:ext uri="{FF2B5EF4-FFF2-40B4-BE49-F238E27FC236}">
                <a16:creationId xmlns:a16="http://schemas.microsoft.com/office/drawing/2014/main" id="{2955FCF0-1754-3D96-7D12-DBFA2C5415B2}"/>
              </a:ext>
            </a:extLst>
          </p:cNvPr>
          <p:cNvGrpSpPr>
            <a:grpSpLocks/>
          </p:cNvGrpSpPr>
          <p:nvPr/>
        </p:nvGrpSpPr>
        <p:grpSpPr bwMode="auto">
          <a:xfrm>
            <a:off x="9764733" y="5304358"/>
            <a:ext cx="1657693" cy="401865"/>
            <a:chOff x="455" y="3463"/>
            <a:chExt cx="561" cy="136"/>
          </a:xfrm>
        </p:grpSpPr>
        <p:sp>
          <p:nvSpPr>
            <p:cNvPr id="14" name="Rectangle 72">
              <a:extLst>
                <a:ext uri="{FF2B5EF4-FFF2-40B4-BE49-F238E27FC236}">
                  <a16:creationId xmlns:a16="http://schemas.microsoft.com/office/drawing/2014/main" id="{1B9B67DE-4E89-1FDE-20BA-738AA56D6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Rectangle 73">
              <a:extLst>
                <a:ext uri="{FF2B5EF4-FFF2-40B4-BE49-F238E27FC236}">
                  <a16:creationId xmlns:a16="http://schemas.microsoft.com/office/drawing/2014/main" id="{5175B094-FF3B-EA79-FCAC-A10591A83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Rectangle 74">
              <a:extLst>
                <a:ext uri="{FF2B5EF4-FFF2-40B4-BE49-F238E27FC236}">
                  <a16:creationId xmlns:a16="http://schemas.microsoft.com/office/drawing/2014/main" id="{63D92695-650C-D2EA-0FAE-F245DF6CD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Rectangle 75">
              <a:extLst>
                <a:ext uri="{FF2B5EF4-FFF2-40B4-BE49-F238E27FC236}">
                  <a16:creationId xmlns:a16="http://schemas.microsoft.com/office/drawing/2014/main" id="{9C1538A8-8E37-9CD6-0C8E-CE7FB3D45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Line 76">
              <a:extLst>
                <a:ext uri="{FF2B5EF4-FFF2-40B4-BE49-F238E27FC236}">
                  <a16:creationId xmlns:a16="http://schemas.microsoft.com/office/drawing/2014/main" id="{5859CEDB-69D5-CEFC-2128-A8CA642CCC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76A38F3-BDD3-F5DE-3C61-93F152CD6B04}"/>
              </a:ext>
            </a:extLst>
          </p:cNvPr>
          <p:cNvGrpSpPr/>
          <p:nvPr/>
        </p:nvGrpSpPr>
        <p:grpSpPr>
          <a:xfrm>
            <a:off x="8887131" y="3701935"/>
            <a:ext cx="868739" cy="478294"/>
            <a:chOff x="8809641" y="3825919"/>
            <a:chExt cx="868739" cy="478294"/>
          </a:xfrm>
        </p:grpSpPr>
        <p:sp>
          <p:nvSpPr>
            <p:cNvPr id="9" name="Rectangle 57">
              <a:extLst>
                <a:ext uri="{FF2B5EF4-FFF2-40B4-BE49-F238E27FC236}">
                  <a16:creationId xmlns:a16="http://schemas.microsoft.com/office/drawing/2014/main" id="{A1FFBA49-B9A8-46E5-A2AA-B58A44826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9"/>
              <a:ext cx="868739" cy="47829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Text Box 79">
              <a:extLst>
                <a:ext uri="{FF2B5EF4-FFF2-40B4-BE49-F238E27FC236}">
                  <a16:creationId xmlns:a16="http://schemas.microsoft.com/office/drawing/2014/main" id="{7634D01C-4EC6-2A6C-E3D2-67249E1E9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7204" y="3846939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EB036D1-FA0D-8D14-64DD-88B0B63F5AB8}"/>
              </a:ext>
            </a:extLst>
          </p:cNvPr>
          <p:cNvGrpSpPr/>
          <p:nvPr/>
        </p:nvGrpSpPr>
        <p:grpSpPr>
          <a:xfrm>
            <a:off x="8893375" y="4458585"/>
            <a:ext cx="868739" cy="478294"/>
            <a:chOff x="8809641" y="3825919"/>
            <a:chExt cx="868739" cy="478294"/>
          </a:xfrm>
        </p:grpSpPr>
        <p:sp>
          <p:nvSpPr>
            <p:cNvPr id="46" name="Rectangle 57">
              <a:extLst>
                <a:ext uri="{FF2B5EF4-FFF2-40B4-BE49-F238E27FC236}">
                  <a16:creationId xmlns:a16="http://schemas.microsoft.com/office/drawing/2014/main" id="{FF0AEB3C-1E2A-0EB5-CE6D-B2E2C9509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9"/>
              <a:ext cx="868739" cy="47829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Text Box 79">
              <a:extLst>
                <a:ext uri="{FF2B5EF4-FFF2-40B4-BE49-F238E27FC236}">
                  <a16:creationId xmlns:a16="http://schemas.microsoft.com/office/drawing/2014/main" id="{9324058F-42A8-C1D6-AC69-40E0E47F43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7204" y="3846939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2FFC60F-ABB9-325A-D56C-41935C256226}"/>
              </a:ext>
            </a:extLst>
          </p:cNvPr>
          <p:cNvGrpSpPr/>
          <p:nvPr/>
        </p:nvGrpSpPr>
        <p:grpSpPr>
          <a:xfrm>
            <a:off x="8889143" y="5260233"/>
            <a:ext cx="868739" cy="478294"/>
            <a:chOff x="8809641" y="3825919"/>
            <a:chExt cx="868739" cy="478294"/>
          </a:xfrm>
        </p:grpSpPr>
        <p:sp>
          <p:nvSpPr>
            <p:cNvPr id="49" name="Rectangle 57">
              <a:extLst>
                <a:ext uri="{FF2B5EF4-FFF2-40B4-BE49-F238E27FC236}">
                  <a16:creationId xmlns:a16="http://schemas.microsoft.com/office/drawing/2014/main" id="{D0A5EB0B-942F-587B-D6D2-1990EC6EE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9"/>
              <a:ext cx="868739" cy="47829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Text Box 79">
              <a:extLst>
                <a:ext uri="{FF2B5EF4-FFF2-40B4-BE49-F238E27FC236}">
                  <a16:creationId xmlns:a16="http://schemas.microsoft.com/office/drawing/2014/main" id="{F879A2AB-E323-5912-63CB-3C389C348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7204" y="3846939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535A269D-E09B-B299-0C9B-F713EE187A77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81713" y="3992283"/>
            <a:ext cx="747040" cy="476284"/>
          </a:xfrm>
          <a:prstGeom prst="bentConnector3">
            <a:avLst>
              <a:gd name="adj1" fmla="val 102576"/>
            </a:avLst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DFAAF27-2246-CCCF-2500-BB8CE63A0AC9}"/>
              </a:ext>
            </a:extLst>
          </p:cNvPr>
          <p:cNvCxnSpPr>
            <a:cxnSpLocks/>
          </p:cNvCxnSpPr>
          <p:nvPr/>
        </p:nvCxnSpPr>
        <p:spPr>
          <a:xfrm>
            <a:off x="6808181" y="5638691"/>
            <a:ext cx="148586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37A9601-E7F0-A742-2AFE-35AF8C7B15DC}"/>
              </a:ext>
            </a:extLst>
          </p:cNvPr>
          <p:cNvCxnSpPr>
            <a:cxnSpLocks/>
          </p:cNvCxnSpPr>
          <p:nvPr/>
        </p:nvCxnSpPr>
        <p:spPr>
          <a:xfrm>
            <a:off x="8674413" y="3984670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C698328-8E7F-41A6-33A6-2146D46963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16249" y="4715234"/>
            <a:ext cx="683589" cy="476286"/>
          </a:xfrm>
          <a:prstGeom prst="bentConnector2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BEA7D17-0383-F7F5-7228-E4C9A8AA0C09}"/>
              </a:ext>
            </a:extLst>
          </p:cNvPr>
          <p:cNvSpPr txBox="1"/>
          <p:nvPr/>
        </p:nvSpPr>
        <p:spPr>
          <a:xfrm>
            <a:off x="8398151" y="373834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2630621-92D0-EBD2-DF4F-FFE8624DBD9E}"/>
              </a:ext>
            </a:extLst>
          </p:cNvPr>
          <p:cNvCxnSpPr>
            <a:cxnSpLocks/>
          </p:cNvCxnSpPr>
          <p:nvPr/>
        </p:nvCxnSpPr>
        <p:spPr>
          <a:xfrm>
            <a:off x="8673388" y="4112522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60CCFED9-EB5F-7F1B-1133-E79A5A2148D6}"/>
              </a:ext>
            </a:extLst>
          </p:cNvPr>
          <p:cNvSpPr txBox="1"/>
          <p:nvPr/>
        </p:nvSpPr>
        <p:spPr>
          <a:xfrm>
            <a:off x="8397126" y="38661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2825D6C-4C71-EC7C-14F2-43B1AD674D0C}"/>
              </a:ext>
            </a:extLst>
          </p:cNvPr>
          <p:cNvCxnSpPr>
            <a:cxnSpLocks/>
          </p:cNvCxnSpPr>
          <p:nvPr/>
        </p:nvCxnSpPr>
        <p:spPr>
          <a:xfrm>
            <a:off x="8703504" y="4867419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AA0701F-9816-0C13-1069-2C0A606AD5E6}"/>
              </a:ext>
            </a:extLst>
          </p:cNvPr>
          <p:cNvSpPr txBox="1"/>
          <p:nvPr/>
        </p:nvSpPr>
        <p:spPr>
          <a:xfrm>
            <a:off x="8427242" y="462109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6042FC1-3249-673D-DDF8-AC5A1EEA8574}"/>
              </a:ext>
            </a:extLst>
          </p:cNvPr>
          <p:cNvCxnSpPr>
            <a:cxnSpLocks/>
          </p:cNvCxnSpPr>
          <p:nvPr/>
        </p:nvCxnSpPr>
        <p:spPr>
          <a:xfrm>
            <a:off x="8703866" y="4737691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71336E0C-17BE-0641-E459-E4DD4D95A8CA}"/>
              </a:ext>
            </a:extLst>
          </p:cNvPr>
          <p:cNvSpPr txBox="1"/>
          <p:nvPr/>
        </p:nvSpPr>
        <p:spPr>
          <a:xfrm>
            <a:off x="8265417" y="4497187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..…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A265D44-5C6C-CABB-61A4-45CC2670FB7F}"/>
              </a:ext>
            </a:extLst>
          </p:cNvPr>
          <p:cNvCxnSpPr>
            <a:cxnSpLocks/>
          </p:cNvCxnSpPr>
          <p:nvPr/>
        </p:nvCxnSpPr>
        <p:spPr>
          <a:xfrm>
            <a:off x="8704664" y="5426327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2F3C35EB-1A03-D7C7-3463-4C0A03073568}"/>
              </a:ext>
            </a:extLst>
          </p:cNvPr>
          <p:cNvSpPr txBox="1"/>
          <p:nvPr/>
        </p:nvSpPr>
        <p:spPr>
          <a:xfrm>
            <a:off x="8428402" y="518000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A197C4C-FC6A-BDAA-34F9-1116A87C7327}"/>
              </a:ext>
            </a:extLst>
          </p:cNvPr>
          <p:cNvCxnSpPr>
            <a:cxnSpLocks/>
          </p:cNvCxnSpPr>
          <p:nvPr/>
        </p:nvCxnSpPr>
        <p:spPr>
          <a:xfrm>
            <a:off x="8690769" y="5640962"/>
            <a:ext cx="1915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0C834B7F-0042-23E6-15E8-04FE817C0E4C}"/>
              </a:ext>
            </a:extLst>
          </p:cNvPr>
          <p:cNvSpPr txBox="1"/>
          <p:nvPr/>
        </p:nvSpPr>
        <p:spPr>
          <a:xfrm>
            <a:off x="8312949" y="539009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AC04E34-9758-2B88-FC5B-D18F3ECE717A}"/>
              </a:ext>
            </a:extLst>
          </p:cNvPr>
          <p:cNvCxnSpPr>
            <a:cxnSpLocks/>
          </p:cNvCxnSpPr>
          <p:nvPr/>
        </p:nvCxnSpPr>
        <p:spPr>
          <a:xfrm>
            <a:off x="6799508" y="4739811"/>
            <a:ext cx="148586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563193B3-12F5-E746-4EB9-7C2219CC1C9D}"/>
              </a:ext>
            </a:extLst>
          </p:cNvPr>
          <p:cNvSpPr txBox="1">
            <a:spLocks/>
          </p:cNvSpPr>
          <p:nvPr/>
        </p:nvSpPr>
        <p:spPr>
          <a:xfrm>
            <a:off x="694888" y="1049996"/>
            <a:ext cx="10515600" cy="3048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/>
            </a:endParaRPr>
          </a:p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10F9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r each memory, 1 dequeue per tick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9041F837-7887-9DFC-457B-22648DA61C0E}"/>
              </a:ext>
            </a:extLst>
          </p:cNvPr>
          <p:cNvSpPr txBox="1">
            <a:spLocks/>
          </p:cNvSpPr>
          <p:nvPr/>
        </p:nvSpPr>
        <p:spPr>
          <a:xfrm>
            <a:off x="675088" y="1794223"/>
            <a:ext cx="5950401" cy="4513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/>
            </a:endParaRPr>
          </a:p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lang="en-US" sz="3200" dirty="0">
                <a:solidFill>
                  <a:srgbClr val="010F90"/>
                </a:solidFill>
                <a:latin typeface="Calibri" panose="020F0502020204030204"/>
              </a:rPr>
              <a:t>Cons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: </a:t>
            </a:r>
          </a:p>
          <a:p>
            <a:pPr lvl="1" indent="-287338">
              <a:spcBef>
                <a:spcPts val="1000"/>
              </a:spcBef>
              <a:buClr>
                <a:srgbClr val="0000A3"/>
              </a:buClr>
              <a:buFont typeface="Wingdings" charset="2"/>
              <a:buChar char="§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Static allocation of memory to output ports: if port 1 is not getting too much traffic and port 2 is, can’t give port 1’s unused memory to port 2 </a:t>
            </a:r>
          </a:p>
          <a:p>
            <a:pPr lvl="1" indent="-287338">
              <a:spcBef>
                <a:spcPts val="1000"/>
              </a:spcBef>
              <a:buClr>
                <a:srgbClr val="0000A3"/>
              </a:buClr>
              <a:buFont typeface="Wingdings" charset="2"/>
              <a:buChar char="§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memory has to support N enqueues per tick </a:t>
            </a:r>
          </a:p>
        </p:txBody>
      </p:sp>
    </p:spTree>
    <p:extLst>
      <p:ext uri="{BB962C8B-B14F-4D97-AF65-F5344CB8AC3E}">
        <p14:creationId xmlns:p14="http://schemas.microsoft.com/office/powerpoint/2010/main" val="395251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F3311B-08D4-91A6-4EA0-0B0DBA1A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queuing 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A6CF4F6-6740-70D1-4608-A08CEBBFE257}"/>
              </a:ext>
            </a:extLst>
          </p:cNvPr>
          <p:cNvGrpSpPr/>
          <p:nvPr/>
        </p:nvGrpSpPr>
        <p:grpSpPr>
          <a:xfrm>
            <a:off x="5074877" y="2022313"/>
            <a:ext cx="3655185" cy="2490677"/>
            <a:chOff x="4298122" y="2868411"/>
            <a:chExt cx="2179044" cy="1484821"/>
          </a:xfrm>
        </p:grpSpPr>
        <p:sp>
          <p:nvSpPr>
            <p:cNvPr id="10" name="Line 155">
              <a:extLst>
                <a:ext uri="{FF2B5EF4-FFF2-40B4-BE49-F238E27FC236}">
                  <a16:creationId xmlns:a16="http://schemas.microsoft.com/office/drawing/2014/main" id="{E70B6BBA-D95B-98A9-2897-0C7ABE508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291851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Line 156">
              <a:extLst>
                <a:ext uri="{FF2B5EF4-FFF2-40B4-BE49-F238E27FC236}">
                  <a16:creationId xmlns:a16="http://schemas.microsoft.com/office/drawing/2014/main" id="{43527E50-4FE4-0F92-076C-A9E33B2FE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8122" y="3432087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Line 157">
              <a:extLst>
                <a:ext uri="{FF2B5EF4-FFF2-40B4-BE49-F238E27FC236}">
                  <a16:creationId xmlns:a16="http://schemas.microsoft.com/office/drawing/2014/main" id="{A768626D-D5A2-D044-0EF4-3BDB0426F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399576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Line 158">
              <a:extLst>
                <a:ext uri="{FF2B5EF4-FFF2-40B4-BE49-F238E27FC236}">
                  <a16:creationId xmlns:a16="http://schemas.microsoft.com/office/drawing/2014/main" id="{61904F93-76E4-A2FB-E6A5-D5C5D631D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513" y="2918515"/>
              <a:ext cx="0" cy="14347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" name="Line 159">
              <a:extLst>
                <a:ext uri="{FF2B5EF4-FFF2-40B4-BE49-F238E27FC236}">
                  <a16:creationId xmlns:a16="http://schemas.microsoft.com/office/drawing/2014/main" id="{6F1C84A9-6B93-010F-68B1-876945EB4F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9236" y="2918516"/>
              <a:ext cx="12312" cy="143471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Line 160">
              <a:extLst>
                <a:ext uri="{FF2B5EF4-FFF2-40B4-BE49-F238E27FC236}">
                  <a16:creationId xmlns:a16="http://schemas.microsoft.com/office/drawing/2014/main" id="{D76F42D5-D5F3-5F48-207A-0E86695B9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62026" y="2905989"/>
              <a:ext cx="7710" cy="143471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Oval 161">
              <a:extLst>
                <a:ext uri="{FF2B5EF4-FFF2-40B4-BE49-F238E27FC236}">
                  <a16:creationId xmlns:a16="http://schemas.microsoft.com/office/drawing/2014/main" id="{1A1BA95B-1F69-50D6-8B2F-28B8CAB1D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Oval 162">
              <a:extLst>
                <a:ext uri="{FF2B5EF4-FFF2-40B4-BE49-F238E27FC236}">
                  <a16:creationId xmlns:a16="http://schemas.microsoft.com/office/drawing/2014/main" id="{E5D02ED7-7215-5636-E8B0-166842CFD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Oval 163">
              <a:extLst>
                <a:ext uri="{FF2B5EF4-FFF2-40B4-BE49-F238E27FC236}">
                  <a16:creationId xmlns:a16="http://schemas.microsoft.com/office/drawing/2014/main" id="{7F46BECF-DA3C-6B0E-751F-2142A68BE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93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Oval 164">
              <a:extLst>
                <a:ext uri="{FF2B5EF4-FFF2-40B4-BE49-F238E27FC236}">
                  <a16:creationId xmlns:a16="http://schemas.microsoft.com/office/drawing/2014/main" id="{D7FD571B-D76E-A0B9-96CF-E5BF59FA4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Oval 165">
              <a:extLst>
                <a:ext uri="{FF2B5EF4-FFF2-40B4-BE49-F238E27FC236}">
                  <a16:creationId xmlns:a16="http://schemas.microsoft.com/office/drawing/2014/main" id="{29D14690-46A3-549C-4D94-BE18BC73B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Oval 166">
              <a:extLst>
                <a:ext uri="{FF2B5EF4-FFF2-40B4-BE49-F238E27FC236}">
                  <a16:creationId xmlns:a16="http://schemas.microsoft.com/office/drawing/2014/main" id="{42821082-DD22-2646-654C-7B6143EF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07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" name="Oval 167">
              <a:extLst>
                <a:ext uri="{FF2B5EF4-FFF2-40B4-BE49-F238E27FC236}">
                  <a16:creationId xmlns:a16="http://schemas.microsoft.com/office/drawing/2014/main" id="{0BB5213A-B687-6B43-CD50-AC1C1D460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Oval 168">
              <a:extLst>
                <a:ext uri="{FF2B5EF4-FFF2-40B4-BE49-F238E27FC236}">
                  <a16:creationId xmlns:a16="http://schemas.microsoft.com/office/drawing/2014/main" id="{2B36417D-7666-85CD-0155-04C9FEA4D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" name="Oval 169">
              <a:extLst>
                <a:ext uri="{FF2B5EF4-FFF2-40B4-BE49-F238E27FC236}">
                  <a16:creationId xmlns:a16="http://schemas.microsoft.com/office/drawing/2014/main" id="{747B5CBA-5EEE-FE99-70A1-1D5D52056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8048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6" name="Group 45">
            <a:extLst>
              <a:ext uri="{FF2B5EF4-FFF2-40B4-BE49-F238E27FC236}">
                <a16:creationId xmlns:a16="http://schemas.microsoft.com/office/drawing/2014/main" id="{36BB48E7-3F62-C64C-C5B7-6154E2C4EC02}"/>
              </a:ext>
            </a:extLst>
          </p:cNvPr>
          <p:cNvGrpSpPr>
            <a:grpSpLocks/>
          </p:cNvGrpSpPr>
          <p:nvPr/>
        </p:nvGrpSpPr>
        <p:grpSpPr bwMode="auto">
          <a:xfrm>
            <a:off x="1840244" y="1922365"/>
            <a:ext cx="1565472" cy="502360"/>
            <a:chOff x="925" y="2800"/>
            <a:chExt cx="485" cy="175"/>
          </a:xfrm>
        </p:grpSpPr>
        <p:sp>
          <p:nvSpPr>
            <p:cNvPr id="67" name="Rectangle 46">
              <a:extLst>
                <a:ext uri="{FF2B5EF4-FFF2-40B4-BE49-F238E27FC236}">
                  <a16:creationId xmlns:a16="http://schemas.microsoft.com/office/drawing/2014/main" id="{2B946E0C-BB77-B0E3-41E0-41D8E20E7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Rectangle 47">
              <a:extLst>
                <a:ext uri="{FF2B5EF4-FFF2-40B4-BE49-F238E27FC236}">
                  <a16:creationId xmlns:a16="http://schemas.microsoft.com/office/drawing/2014/main" id="{FFBECFDC-7362-5D69-D9ED-B40543BE5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Rectangle 48">
              <a:extLst>
                <a:ext uri="{FF2B5EF4-FFF2-40B4-BE49-F238E27FC236}">
                  <a16:creationId xmlns:a16="http://schemas.microsoft.com/office/drawing/2014/main" id="{706DFE44-CBF8-E5A5-B48F-C19823C7A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Rectangle 49">
              <a:extLst>
                <a:ext uri="{FF2B5EF4-FFF2-40B4-BE49-F238E27FC236}">
                  <a16:creationId xmlns:a16="http://schemas.microsoft.com/office/drawing/2014/main" id="{69D71E09-28A6-6AAC-DA3F-F03775033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1" name="Group 51">
            <a:extLst>
              <a:ext uri="{FF2B5EF4-FFF2-40B4-BE49-F238E27FC236}">
                <a16:creationId xmlns:a16="http://schemas.microsoft.com/office/drawing/2014/main" id="{B1201A91-6755-5E5A-BC22-4A82FE52076F}"/>
              </a:ext>
            </a:extLst>
          </p:cNvPr>
          <p:cNvGrpSpPr>
            <a:grpSpLocks/>
          </p:cNvGrpSpPr>
          <p:nvPr/>
        </p:nvGrpSpPr>
        <p:grpSpPr bwMode="auto">
          <a:xfrm>
            <a:off x="1871482" y="3572604"/>
            <a:ext cx="1565473" cy="502360"/>
            <a:chOff x="925" y="2800"/>
            <a:chExt cx="485" cy="175"/>
          </a:xfrm>
        </p:grpSpPr>
        <p:sp>
          <p:nvSpPr>
            <p:cNvPr id="72" name="Rectangle 52">
              <a:extLst>
                <a:ext uri="{FF2B5EF4-FFF2-40B4-BE49-F238E27FC236}">
                  <a16:creationId xmlns:a16="http://schemas.microsoft.com/office/drawing/2014/main" id="{10A099FB-5395-38D4-616A-35AA4A2E8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53">
              <a:extLst>
                <a:ext uri="{FF2B5EF4-FFF2-40B4-BE49-F238E27FC236}">
                  <a16:creationId xmlns:a16="http://schemas.microsoft.com/office/drawing/2014/main" id="{39276418-9888-0BDA-B494-4182C49E4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54">
              <a:extLst>
                <a:ext uri="{FF2B5EF4-FFF2-40B4-BE49-F238E27FC236}">
                  <a16:creationId xmlns:a16="http://schemas.microsoft.com/office/drawing/2014/main" id="{B53718F5-485E-9592-921C-735F90252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Rectangle 55">
              <a:extLst>
                <a:ext uri="{FF2B5EF4-FFF2-40B4-BE49-F238E27FC236}">
                  <a16:creationId xmlns:a16="http://schemas.microsoft.com/office/drawing/2014/main" id="{0406EDDE-DD75-E442-0AB7-9397F7B87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CD5064C-E537-8D76-6633-EA2548C96B22}"/>
              </a:ext>
            </a:extLst>
          </p:cNvPr>
          <p:cNvGrpSpPr/>
          <p:nvPr/>
        </p:nvGrpSpPr>
        <p:grpSpPr>
          <a:xfrm>
            <a:off x="3706979" y="1701913"/>
            <a:ext cx="1066635" cy="827391"/>
            <a:chOff x="8809641" y="3749783"/>
            <a:chExt cx="868739" cy="673883"/>
          </a:xfrm>
        </p:grpSpPr>
        <p:sp>
          <p:nvSpPr>
            <p:cNvPr id="95" name="Rectangle 57">
              <a:extLst>
                <a:ext uri="{FF2B5EF4-FFF2-40B4-BE49-F238E27FC236}">
                  <a16:creationId xmlns:a16="http://schemas.microsoft.com/office/drawing/2014/main" id="{BA932E39-2C55-4C74-BF90-755EF1B49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19661"/>
              <a:ext cx="868739" cy="60400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6" name="Text Box 79">
              <a:extLst>
                <a:ext uri="{FF2B5EF4-FFF2-40B4-BE49-F238E27FC236}">
                  <a16:creationId xmlns:a16="http://schemas.microsoft.com/office/drawing/2014/main" id="{5C273EEF-A23C-D580-B83B-6D185E7B2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1347" y="3749783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320626E-DDF9-6AA7-3EDC-5D686556371E}"/>
              </a:ext>
            </a:extLst>
          </p:cNvPr>
          <p:cNvGrpSpPr/>
          <p:nvPr/>
        </p:nvGrpSpPr>
        <p:grpSpPr>
          <a:xfrm>
            <a:off x="3698298" y="2608401"/>
            <a:ext cx="1075700" cy="806710"/>
            <a:chOff x="8809641" y="3768755"/>
            <a:chExt cx="876122" cy="657038"/>
          </a:xfrm>
        </p:grpSpPr>
        <p:sp>
          <p:nvSpPr>
            <p:cNvPr id="98" name="Rectangle 57">
              <a:extLst>
                <a:ext uri="{FF2B5EF4-FFF2-40B4-BE49-F238E27FC236}">
                  <a16:creationId xmlns:a16="http://schemas.microsoft.com/office/drawing/2014/main" id="{5C9E6A8D-00CF-9514-85A7-01673A2C8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8"/>
              <a:ext cx="868739" cy="5998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Text Box 79">
              <a:extLst>
                <a:ext uri="{FF2B5EF4-FFF2-40B4-BE49-F238E27FC236}">
                  <a16:creationId xmlns:a16="http://schemas.microsoft.com/office/drawing/2014/main" id="{2A5294CB-9CC2-C997-90E0-A19A444B6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3176" y="3768755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EF0C4A2-FD02-F4E2-592F-02DABC326798}"/>
              </a:ext>
            </a:extLst>
          </p:cNvPr>
          <p:cNvGrpSpPr/>
          <p:nvPr/>
        </p:nvGrpSpPr>
        <p:grpSpPr>
          <a:xfrm>
            <a:off x="3717229" y="3494052"/>
            <a:ext cx="1066635" cy="794741"/>
            <a:chOff x="8809641" y="3765177"/>
            <a:chExt cx="868739" cy="647290"/>
          </a:xfrm>
        </p:grpSpPr>
        <p:sp>
          <p:nvSpPr>
            <p:cNvPr id="101" name="Rectangle 57">
              <a:extLst>
                <a:ext uri="{FF2B5EF4-FFF2-40B4-BE49-F238E27FC236}">
                  <a16:creationId xmlns:a16="http://schemas.microsoft.com/office/drawing/2014/main" id="{0C2BD124-6F2C-2D8B-242F-52399294F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0561"/>
              <a:ext cx="868739" cy="59190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79">
              <a:extLst>
                <a:ext uri="{FF2B5EF4-FFF2-40B4-BE49-F238E27FC236}">
                  <a16:creationId xmlns:a16="http://schemas.microsoft.com/office/drawing/2014/main" id="{A4009D12-B592-3AFF-C374-836E61D2B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2927" y="3765177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19" name="Group 45">
            <a:extLst>
              <a:ext uri="{FF2B5EF4-FFF2-40B4-BE49-F238E27FC236}">
                <a16:creationId xmlns:a16="http://schemas.microsoft.com/office/drawing/2014/main" id="{0332D171-0892-B334-BFD8-8061ACCCA41F}"/>
              </a:ext>
            </a:extLst>
          </p:cNvPr>
          <p:cNvGrpSpPr>
            <a:grpSpLocks/>
          </p:cNvGrpSpPr>
          <p:nvPr/>
        </p:nvGrpSpPr>
        <p:grpSpPr bwMode="auto">
          <a:xfrm>
            <a:off x="1864727" y="2770760"/>
            <a:ext cx="1565472" cy="502360"/>
            <a:chOff x="925" y="2800"/>
            <a:chExt cx="485" cy="175"/>
          </a:xfrm>
        </p:grpSpPr>
        <p:sp>
          <p:nvSpPr>
            <p:cNvPr id="120" name="Rectangle 46">
              <a:extLst>
                <a:ext uri="{FF2B5EF4-FFF2-40B4-BE49-F238E27FC236}">
                  <a16:creationId xmlns:a16="http://schemas.microsoft.com/office/drawing/2014/main" id="{324747E2-4BD0-C484-375A-91E82472C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1" name="Rectangle 47">
              <a:extLst>
                <a:ext uri="{FF2B5EF4-FFF2-40B4-BE49-F238E27FC236}">
                  <a16:creationId xmlns:a16="http://schemas.microsoft.com/office/drawing/2014/main" id="{54D51E51-9FE8-A3E6-A12D-4E68829DF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" name="Rectangle 48">
              <a:extLst>
                <a:ext uri="{FF2B5EF4-FFF2-40B4-BE49-F238E27FC236}">
                  <a16:creationId xmlns:a16="http://schemas.microsoft.com/office/drawing/2014/main" id="{293BB401-D257-40D5-E9D1-60210FAB6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Rectangle 49">
              <a:extLst>
                <a:ext uri="{FF2B5EF4-FFF2-40B4-BE49-F238E27FC236}">
                  <a16:creationId xmlns:a16="http://schemas.microsoft.com/office/drawing/2014/main" id="{D5814C54-DA29-085A-6CC0-D8BD3EF1E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27278A3-31D1-6DC9-B494-24E5A98374F7}"/>
              </a:ext>
            </a:extLst>
          </p:cNvPr>
          <p:cNvSpPr/>
          <p:nvPr/>
        </p:nvSpPr>
        <p:spPr>
          <a:xfrm>
            <a:off x="4386623" y="2080850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B1B9B3-D3B1-42C2-6660-9F9A12F76D85}"/>
              </a:ext>
            </a:extLst>
          </p:cNvPr>
          <p:cNvSpPr/>
          <p:nvPr/>
        </p:nvSpPr>
        <p:spPr>
          <a:xfrm>
            <a:off x="4047186" y="2080849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3FD5987-EE88-3020-52D0-F8B9DF39A7C2}"/>
              </a:ext>
            </a:extLst>
          </p:cNvPr>
          <p:cNvSpPr/>
          <p:nvPr/>
        </p:nvSpPr>
        <p:spPr>
          <a:xfrm>
            <a:off x="4378054" y="2984743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F1C5FC1-8548-FA57-43E3-0B870F773701}"/>
              </a:ext>
            </a:extLst>
          </p:cNvPr>
          <p:cNvSpPr/>
          <p:nvPr/>
        </p:nvSpPr>
        <p:spPr>
          <a:xfrm>
            <a:off x="4413550" y="3864923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3E58460-62E0-D3B6-483A-1FA011ABECD7}"/>
              </a:ext>
            </a:extLst>
          </p:cNvPr>
          <p:cNvSpPr/>
          <p:nvPr/>
        </p:nvSpPr>
        <p:spPr>
          <a:xfrm>
            <a:off x="4074113" y="3864922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5E0D03C-8064-E494-F553-5D60CAA02F06}"/>
              </a:ext>
            </a:extLst>
          </p:cNvPr>
          <p:cNvSpPr/>
          <p:nvPr/>
        </p:nvSpPr>
        <p:spPr>
          <a:xfrm>
            <a:off x="4004731" y="2974405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5E46549-5F14-C152-09EA-EBE4AFE4343B}"/>
              </a:ext>
            </a:extLst>
          </p:cNvPr>
          <p:cNvSpPr txBox="1"/>
          <p:nvPr/>
        </p:nvSpPr>
        <p:spPr>
          <a:xfrm>
            <a:off x="3175843" y="1601258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B61F4B1-DD8F-176B-4DFE-4EFFCAC38132}"/>
              </a:ext>
            </a:extLst>
          </p:cNvPr>
          <p:cNvSpPr txBox="1"/>
          <p:nvPr/>
        </p:nvSpPr>
        <p:spPr>
          <a:xfrm>
            <a:off x="3177608" y="2469457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C01B555-D1C1-D52C-F84F-D9FD0ED27B73}"/>
              </a:ext>
            </a:extLst>
          </p:cNvPr>
          <p:cNvSpPr txBox="1"/>
          <p:nvPr/>
        </p:nvSpPr>
        <p:spPr>
          <a:xfrm>
            <a:off x="3204971" y="32881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grpSp>
        <p:nvGrpSpPr>
          <p:cNvPr id="76" name="Group 64">
            <a:extLst>
              <a:ext uri="{FF2B5EF4-FFF2-40B4-BE49-F238E27FC236}">
                <a16:creationId xmlns:a16="http://schemas.microsoft.com/office/drawing/2014/main" id="{879D23FF-1B5A-236E-C4B7-4B9F50F73D14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014100" y="5204386"/>
            <a:ext cx="1566181" cy="502360"/>
            <a:chOff x="498" y="3463"/>
            <a:chExt cx="424" cy="136"/>
          </a:xfrm>
        </p:grpSpPr>
        <p:sp>
          <p:nvSpPr>
            <p:cNvPr id="77" name="Rectangle 59">
              <a:extLst>
                <a:ext uri="{FF2B5EF4-FFF2-40B4-BE49-F238E27FC236}">
                  <a16:creationId xmlns:a16="http://schemas.microsoft.com/office/drawing/2014/main" id="{56F17991-C0AB-A3DA-21DF-1E071A1A9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D01C0BE0-E93A-A0B4-62CE-2527908D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Rectangle 61">
              <a:extLst>
                <a:ext uri="{FF2B5EF4-FFF2-40B4-BE49-F238E27FC236}">
                  <a16:creationId xmlns:a16="http://schemas.microsoft.com/office/drawing/2014/main" id="{FE6A9FA2-6E0D-8405-4BB1-74487AD38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Rectangle 62">
              <a:extLst>
                <a:ext uri="{FF2B5EF4-FFF2-40B4-BE49-F238E27FC236}">
                  <a16:creationId xmlns:a16="http://schemas.microsoft.com/office/drawing/2014/main" id="{FB3407C5-BD0F-F6E5-0650-995E057F3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2" name="Group 65">
            <a:extLst>
              <a:ext uri="{FF2B5EF4-FFF2-40B4-BE49-F238E27FC236}">
                <a16:creationId xmlns:a16="http://schemas.microsoft.com/office/drawing/2014/main" id="{BFF5242A-B916-E813-ADE3-405AD3DEFD59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6143703" y="5184984"/>
            <a:ext cx="1566180" cy="502360"/>
            <a:chOff x="498" y="3463"/>
            <a:chExt cx="424" cy="136"/>
          </a:xfrm>
        </p:grpSpPr>
        <p:sp>
          <p:nvSpPr>
            <p:cNvPr id="83" name="Rectangle 66">
              <a:extLst>
                <a:ext uri="{FF2B5EF4-FFF2-40B4-BE49-F238E27FC236}">
                  <a16:creationId xmlns:a16="http://schemas.microsoft.com/office/drawing/2014/main" id="{6E5BFACF-22F8-EDB8-0262-2D478E527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Rectangle 67">
              <a:extLst>
                <a:ext uri="{FF2B5EF4-FFF2-40B4-BE49-F238E27FC236}">
                  <a16:creationId xmlns:a16="http://schemas.microsoft.com/office/drawing/2014/main" id="{699EA885-6E2F-DF3B-66F8-1768513FC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Rectangle 68">
              <a:extLst>
                <a:ext uri="{FF2B5EF4-FFF2-40B4-BE49-F238E27FC236}">
                  <a16:creationId xmlns:a16="http://schemas.microsoft.com/office/drawing/2014/main" id="{956CD487-E555-93C8-4013-DFA7A2296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Rectangle 69">
              <a:extLst>
                <a:ext uri="{FF2B5EF4-FFF2-40B4-BE49-F238E27FC236}">
                  <a16:creationId xmlns:a16="http://schemas.microsoft.com/office/drawing/2014/main" id="{4F2AF461-F248-9205-FDED-14E0272B3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8" name="Group 71">
            <a:extLst>
              <a:ext uri="{FF2B5EF4-FFF2-40B4-BE49-F238E27FC236}">
                <a16:creationId xmlns:a16="http://schemas.microsoft.com/office/drawing/2014/main" id="{E9597DD1-CB48-3A16-BA20-ECFD41ABA9AC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269891" y="5191776"/>
            <a:ext cx="1566181" cy="502360"/>
            <a:chOff x="498" y="3463"/>
            <a:chExt cx="424" cy="136"/>
          </a:xfrm>
        </p:grpSpPr>
        <p:sp>
          <p:nvSpPr>
            <p:cNvPr id="89" name="Rectangle 72">
              <a:extLst>
                <a:ext uri="{FF2B5EF4-FFF2-40B4-BE49-F238E27FC236}">
                  <a16:creationId xmlns:a16="http://schemas.microsoft.com/office/drawing/2014/main" id="{3C0702F2-E8A8-0F62-45F8-4EE1B4F99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73">
              <a:extLst>
                <a:ext uri="{FF2B5EF4-FFF2-40B4-BE49-F238E27FC236}">
                  <a16:creationId xmlns:a16="http://schemas.microsoft.com/office/drawing/2014/main" id="{1B35B8AE-52D4-5705-E2B0-DCDC5DCAA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74">
              <a:extLst>
                <a:ext uri="{FF2B5EF4-FFF2-40B4-BE49-F238E27FC236}">
                  <a16:creationId xmlns:a16="http://schemas.microsoft.com/office/drawing/2014/main" id="{88C579AE-B164-5A62-F8BD-706F377AB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Rectangle 75">
              <a:extLst>
                <a:ext uri="{FF2B5EF4-FFF2-40B4-BE49-F238E27FC236}">
                  <a16:creationId xmlns:a16="http://schemas.microsoft.com/office/drawing/2014/main" id="{45B61CE9-F365-613C-7BBA-EE3D985C8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FE12255B-4A37-6E9C-F8F6-E2CA6E39D69A}"/>
              </a:ext>
            </a:extLst>
          </p:cNvPr>
          <p:cNvSpPr txBox="1"/>
          <p:nvPr/>
        </p:nvSpPr>
        <p:spPr>
          <a:xfrm>
            <a:off x="6259977" y="4551253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6BE93F9-0A81-0B31-F07B-246142B0F9DC}"/>
              </a:ext>
            </a:extLst>
          </p:cNvPr>
          <p:cNvSpPr txBox="1"/>
          <p:nvPr/>
        </p:nvSpPr>
        <p:spPr>
          <a:xfrm>
            <a:off x="7154533" y="4567524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48DAE5E-C42F-6147-3A60-10F36924A68A}"/>
              </a:ext>
            </a:extLst>
          </p:cNvPr>
          <p:cNvSpPr txBox="1"/>
          <p:nvPr/>
        </p:nvSpPr>
        <p:spPr>
          <a:xfrm>
            <a:off x="8098169" y="45806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587E5F-2E79-14E8-A17A-4CA034B98577}"/>
              </a:ext>
            </a:extLst>
          </p:cNvPr>
          <p:cNvSpPr/>
          <p:nvPr/>
        </p:nvSpPr>
        <p:spPr>
          <a:xfrm>
            <a:off x="8321046" y="95560"/>
            <a:ext cx="3455985" cy="180437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In every tick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Each input sends to at most one output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Each output receives from at most each input</a:t>
            </a:r>
          </a:p>
        </p:txBody>
      </p:sp>
    </p:spTree>
    <p:extLst>
      <p:ext uri="{BB962C8B-B14F-4D97-AF65-F5344CB8AC3E}">
        <p14:creationId xmlns:p14="http://schemas.microsoft.com/office/powerpoint/2010/main" val="776618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F3311B-08D4-91A6-4EA0-0B0DBA1A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queuing 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A6CF4F6-6740-70D1-4608-A08CEBBFE257}"/>
              </a:ext>
            </a:extLst>
          </p:cNvPr>
          <p:cNvGrpSpPr/>
          <p:nvPr/>
        </p:nvGrpSpPr>
        <p:grpSpPr>
          <a:xfrm>
            <a:off x="5074877" y="2022313"/>
            <a:ext cx="3655185" cy="2490677"/>
            <a:chOff x="4298122" y="2868411"/>
            <a:chExt cx="2179044" cy="1484821"/>
          </a:xfrm>
        </p:grpSpPr>
        <p:sp>
          <p:nvSpPr>
            <p:cNvPr id="10" name="Line 155">
              <a:extLst>
                <a:ext uri="{FF2B5EF4-FFF2-40B4-BE49-F238E27FC236}">
                  <a16:creationId xmlns:a16="http://schemas.microsoft.com/office/drawing/2014/main" id="{E70B6BBA-D95B-98A9-2897-0C7ABE508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291851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Line 156">
              <a:extLst>
                <a:ext uri="{FF2B5EF4-FFF2-40B4-BE49-F238E27FC236}">
                  <a16:creationId xmlns:a16="http://schemas.microsoft.com/office/drawing/2014/main" id="{43527E50-4FE4-0F92-076C-A9E33B2FE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8122" y="3432087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Line 157">
              <a:extLst>
                <a:ext uri="{FF2B5EF4-FFF2-40B4-BE49-F238E27FC236}">
                  <a16:creationId xmlns:a16="http://schemas.microsoft.com/office/drawing/2014/main" id="{A768626D-D5A2-D044-0EF4-3BDB0426F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399576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Line 158">
              <a:extLst>
                <a:ext uri="{FF2B5EF4-FFF2-40B4-BE49-F238E27FC236}">
                  <a16:creationId xmlns:a16="http://schemas.microsoft.com/office/drawing/2014/main" id="{61904F93-76E4-A2FB-E6A5-D5C5D631D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513" y="2918515"/>
              <a:ext cx="0" cy="14347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" name="Line 159">
              <a:extLst>
                <a:ext uri="{FF2B5EF4-FFF2-40B4-BE49-F238E27FC236}">
                  <a16:creationId xmlns:a16="http://schemas.microsoft.com/office/drawing/2014/main" id="{6F1C84A9-6B93-010F-68B1-876945EB4F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9236" y="2918516"/>
              <a:ext cx="12312" cy="143471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Line 160">
              <a:extLst>
                <a:ext uri="{FF2B5EF4-FFF2-40B4-BE49-F238E27FC236}">
                  <a16:creationId xmlns:a16="http://schemas.microsoft.com/office/drawing/2014/main" id="{D76F42D5-D5F3-5F48-207A-0E86695B9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62026" y="2905989"/>
              <a:ext cx="7710" cy="143471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Oval 161">
              <a:extLst>
                <a:ext uri="{FF2B5EF4-FFF2-40B4-BE49-F238E27FC236}">
                  <a16:creationId xmlns:a16="http://schemas.microsoft.com/office/drawing/2014/main" id="{1A1BA95B-1F69-50D6-8B2F-28B8CAB1D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Oval 162">
              <a:extLst>
                <a:ext uri="{FF2B5EF4-FFF2-40B4-BE49-F238E27FC236}">
                  <a16:creationId xmlns:a16="http://schemas.microsoft.com/office/drawing/2014/main" id="{E5D02ED7-7215-5636-E8B0-166842CFD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3373633"/>
              <a:ext cx="142954" cy="11691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Oval 163">
              <a:extLst>
                <a:ext uri="{FF2B5EF4-FFF2-40B4-BE49-F238E27FC236}">
                  <a16:creationId xmlns:a16="http://schemas.microsoft.com/office/drawing/2014/main" id="{7F46BECF-DA3C-6B0E-751F-2142A68BE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93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Oval 164">
              <a:extLst>
                <a:ext uri="{FF2B5EF4-FFF2-40B4-BE49-F238E27FC236}">
                  <a16:creationId xmlns:a16="http://schemas.microsoft.com/office/drawing/2014/main" id="{D7FD571B-D76E-A0B9-96CF-E5BF59FA4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Oval 165">
              <a:extLst>
                <a:ext uri="{FF2B5EF4-FFF2-40B4-BE49-F238E27FC236}">
                  <a16:creationId xmlns:a16="http://schemas.microsoft.com/office/drawing/2014/main" id="{29D14690-46A3-549C-4D94-BE18BC73B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Oval 166">
              <a:extLst>
                <a:ext uri="{FF2B5EF4-FFF2-40B4-BE49-F238E27FC236}">
                  <a16:creationId xmlns:a16="http://schemas.microsoft.com/office/drawing/2014/main" id="{42821082-DD22-2646-654C-7B6143EF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07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" name="Oval 167">
              <a:extLst>
                <a:ext uri="{FF2B5EF4-FFF2-40B4-BE49-F238E27FC236}">
                  <a16:creationId xmlns:a16="http://schemas.microsoft.com/office/drawing/2014/main" id="{0BB5213A-B687-6B43-CD50-AC1C1D460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2868411"/>
              <a:ext cx="142954" cy="11691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Oval 168">
              <a:extLst>
                <a:ext uri="{FF2B5EF4-FFF2-40B4-BE49-F238E27FC236}">
                  <a16:creationId xmlns:a16="http://schemas.microsoft.com/office/drawing/2014/main" id="{2B36417D-7666-85CD-0155-04C9FEA4D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" name="Oval 169">
              <a:extLst>
                <a:ext uri="{FF2B5EF4-FFF2-40B4-BE49-F238E27FC236}">
                  <a16:creationId xmlns:a16="http://schemas.microsoft.com/office/drawing/2014/main" id="{747B5CBA-5EEE-FE99-70A1-1D5D52056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8048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6" name="Group 45">
            <a:extLst>
              <a:ext uri="{FF2B5EF4-FFF2-40B4-BE49-F238E27FC236}">
                <a16:creationId xmlns:a16="http://schemas.microsoft.com/office/drawing/2014/main" id="{36BB48E7-3F62-C64C-C5B7-6154E2C4EC02}"/>
              </a:ext>
            </a:extLst>
          </p:cNvPr>
          <p:cNvGrpSpPr>
            <a:grpSpLocks/>
          </p:cNvGrpSpPr>
          <p:nvPr/>
        </p:nvGrpSpPr>
        <p:grpSpPr bwMode="auto">
          <a:xfrm>
            <a:off x="1840244" y="1922365"/>
            <a:ext cx="1565472" cy="502360"/>
            <a:chOff x="925" y="2800"/>
            <a:chExt cx="485" cy="175"/>
          </a:xfrm>
        </p:grpSpPr>
        <p:sp>
          <p:nvSpPr>
            <p:cNvPr id="67" name="Rectangle 46">
              <a:extLst>
                <a:ext uri="{FF2B5EF4-FFF2-40B4-BE49-F238E27FC236}">
                  <a16:creationId xmlns:a16="http://schemas.microsoft.com/office/drawing/2014/main" id="{2B946E0C-BB77-B0E3-41E0-41D8E20E7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Rectangle 47">
              <a:extLst>
                <a:ext uri="{FF2B5EF4-FFF2-40B4-BE49-F238E27FC236}">
                  <a16:creationId xmlns:a16="http://schemas.microsoft.com/office/drawing/2014/main" id="{FFBECFDC-7362-5D69-D9ED-B40543BE5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Rectangle 48">
              <a:extLst>
                <a:ext uri="{FF2B5EF4-FFF2-40B4-BE49-F238E27FC236}">
                  <a16:creationId xmlns:a16="http://schemas.microsoft.com/office/drawing/2014/main" id="{706DFE44-CBF8-E5A5-B48F-C19823C7A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Rectangle 49">
              <a:extLst>
                <a:ext uri="{FF2B5EF4-FFF2-40B4-BE49-F238E27FC236}">
                  <a16:creationId xmlns:a16="http://schemas.microsoft.com/office/drawing/2014/main" id="{69D71E09-28A6-6AAC-DA3F-F03775033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1" name="Group 51">
            <a:extLst>
              <a:ext uri="{FF2B5EF4-FFF2-40B4-BE49-F238E27FC236}">
                <a16:creationId xmlns:a16="http://schemas.microsoft.com/office/drawing/2014/main" id="{B1201A91-6755-5E5A-BC22-4A82FE52076F}"/>
              </a:ext>
            </a:extLst>
          </p:cNvPr>
          <p:cNvGrpSpPr>
            <a:grpSpLocks/>
          </p:cNvGrpSpPr>
          <p:nvPr/>
        </p:nvGrpSpPr>
        <p:grpSpPr bwMode="auto">
          <a:xfrm>
            <a:off x="1871482" y="3572604"/>
            <a:ext cx="1565473" cy="502360"/>
            <a:chOff x="925" y="2800"/>
            <a:chExt cx="485" cy="175"/>
          </a:xfrm>
        </p:grpSpPr>
        <p:sp>
          <p:nvSpPr>
            <p:cNvPr id="72" name="Rectangle 52">
              <a:extLst>
                <a:ext uri="{FF2B5EF4-FFF2-40B4-BE49-F238E27FC236}">
                  <a16:creationId xmlns:a16="http://schemas.microsoft.com/office/drawing/2014/main" id="{10A099FB-5395-38D4-616A-35AA4A2E8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53">
              <a:extLst>
                <a:ext uri="{FF2B5EF4-FFF2-40B4-BE49-F238E27FC236}">
                  <a16:creationId xmlns:a16="http://schemas.microsoft.com/office/drawing/2014/main" id="{39276418-9888-0BDA-B494-4182C49E4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54">
              <a:extLst>
                <a:ext uri="{FF2B5EF4-FFF2-40B4-BE49-F238E27FC236}">
                  <a16:creationId xmlns:a16="http://schemas.microsoft.com/office/drawing/2014/main" id="{B53718F5-485E-9592-921C-735F90252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Rectangle 55">
              <a:extLst>
                <a:ext uri="{FF2B5EF4-FFF2-40B4-BE49-F238E27FC236}">
                  <a16:creationId xmlns:a16="http://schemas.microsoft.com/office/drawing/2014/main" id="{0406EDDE-DD75-E442-0AB7-9397F7B87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CD5064C-E537-8D76-6633-EA2548C96B22}"/>
              </a:ext>
            </a:extLst>
          </p:cNvPr>
          <p:cNvGrpSpPr/>
          <p:nvPr/>
        </p:nvGrpSpPr>
        <p:grpSpPr>
          <a:xfrm>
            <a:off x="3706979" y="1701913"/>
            <a:ext cx="1066635" cy="827391"/>
            <a:chOff x="8809641" y="3749783"/>
            <a:chExt cx="868739" cy="673883"/>
          </a:xfrm>
        </p:grpSpPr>
        <p:sp>
          <p:nvSpPr>
            <p:cNvPr id="95" name="Rectangle 57">
              <a:extLst>
                <a:ext uri="{FF2B5EF4-FFF2-40B4-BE49-F238E27FC236}">
                  <a16:creationId xmlns:a16="http://schemas.microsoft.com/office/drawing/2014/main" id="{BA932E39-2C55-4C74-BF90-755EF1B49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19661"/>
              <a:ext cx="868739" cy="60400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6" name="Text Box 79">
              <a:extLst>
                <a:ext uri="{FF2B5EF4-FFF2-40B4-BE49-F238E27FC236}">
                  <a16:creationId xmlns:a16="http://schemas.microsoft.com/office/drawing/2014/main" id="{5C273EEF-A23C-D580-B83B-6D185E7B2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1347" y="3749783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320626E-DDF9-6AA7-3EDC-5D686556371E}"/>
              </a:ext>
            </a:extLst>
          </p:cNvPr>
          <p:cNvGrpSpPr/>
          <p:nvPr/>
        </p:nvGrpSpPr>
        <p:grpSpPr>
          <a:xfrm>
            <a:off x="3698298" y="2608401"/>
            <a:ext cx="1075700" cy="806710"/>
            <a:chOff x="8809641" y="3768755"/>
            <a:chExt cx="876122" cy="657038"/>
          </a:xfrm>
        </p:grpSpPr>
        <p:sp>
          <p:nvSpPr>
            <p:cNvPr id="98" name="Rectangle 57">
              <a:extLst>
                <a:ext uri="{FF2B5EF4-FFF2-40B4-BE49-F238E27FC236}">
                  <a16:creationId xmlns:a16="http://schemas.microsoft.com/office/drawing/2014/main" id="{5C9E6A8D-00CF-9514-85A7-01673A2C8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8"/>
              <a:ext cx="868739" cy="5998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Text Box 79">
              <a:extLst>
                <a:ext uri="{FF2B5EF4-FFF2-40B4-BE49-F238E27FC236}">
                  <a16:creationId xmlns:a16="http://schemas.microsoft.com/office/drawing/2014/main" id="{2A5294CB-9CC2-C997-90E0-A19A444B6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3176" y="3768755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EF0C4A2-FD02-F4E2-592F-02DABC326798}"/>
              </a:ext>
            </a:extLst>
          </p:cNvPr>
          <p:cNvGrpSpPr/>
          <p:nvPr/>
        </p:nvGrpSpPr>
        <p:grpSpPr>
          <a:xfrm>
            <a:off x="3717229" y="3494052"/>
            <a:ext cx="1066635" cy="794741"/>
            <a:chOff x="8809641" y="3765177"/>
            <a:chExt cx="868739" cy="647290"/>
          </a:xfrm>
        </p:grpSpPr>
        <p:sp>
          <p:nvSpPr>
            <p:cNvPr id="101" name="Rectangle 57">
              <a:extLst>
                <a:ext uri="{FF2B5EF4-FFF2-40B4-BE49-F238E27FC236}">
                  <a16:creationId xmlns:a16="http://schemas.microsoft.com/office/drawing/2014/main" id="{0C2BD124-6F2C-2D8B-242F-52399294F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0561"/>
              <a:ext cx="868739" cy="59190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79">
              <a:extLst>
                <a:ext uri="{FF2B5EF4-FFF2-40B4-BE49-F238E27FC236}">
                  <a16:creationId xmlns:a16="http://schemas.microsoft.com/office/drawing/2014/main" id="{A4009D12-B592-3AFF-C374-836E61D2B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2927" y="3765177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19" name="Group 45">
            <a:extLst>
              <a:ext uri="{FF2B5EF4-FFF2-40B4-BE49-F238E27FC236}">
                <a16:creationId xmlns:a16="http://schemas.microsoft.com/office/drawing/2014/main" id="{0332D171-0892-B334-BFD8-8061ACCCA41F}"/>
              </a:ext>
            </a:extLst>
          </p:cNvPr>
          <p:cNvGrpSpPr>
            <a:grpSpLocks/>
          </p:cNvGrpSpPr>
          <p:nvPr/>
        </p:nvGrpSpPr>
        <p:grpSpPr bwMode="auto">
          <a:xfrm>
            <a:off x="1864727" y="2770760"/>
            <a:ext cx="1565472" cy="502360"/>
            <a:chOff x="925" y="2800"/>
            <a:chExt cx="485" cy="175"/>
          </a:xfrm>
        </p:grpSpPr>
        <p:sp>
          <p:nvSpPr>
            <p:cNvPr id="120" name="Rectangle 46">
              <a:extLst>
                <a:ext uri="{FF2B5EF4-FFF2-40B4-BE49-F238E27FC236}">
                  <a16:creationId xmlns:a16="http://schemas.microsoft.com/office/drawing/2014/main" id="{324747E2-4BD0-C484-375A-91E82472C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1" name="Rectangle 47">
              <a:extLst>
                <a:ext uri="{FF2B5EF4-FFF2-40B4-BE49-F238E27FC236}">
                  <a16:creationId xmlns:a16="http://schemas.microsoft.com/office/drawing/2014/main" id="{54D51E51-9FE8-A3E6-A12D-4E68829DF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" name="Rectangle 48">
              <a:extLst>
                <a:ext uri="{FF2B5EF4-FFF2-40B4-BE49-F238E27FC236}">
                  <a16:creationId xmlns:a16="http://schemas.microsoft.com/office/drawing/2014/main" id="{293BB401-D257-40D5-E9D1-60210FAB6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Rectangle 49">
              <a:extLst>
                <a:ext uri="{FF2B5EF4-FFF2-40B4-BE49-F238E27FC236}">
                  <a16:creationId xmlns:a16="http://schemas.microsoft.com/office/drawing/2014/main" id="{D5814C54-DA29-085A-6CC0-D8BD3EF1E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27278A3-31D1-6DC9-B494-24E5A98374F7}"/>
              </a:ext>
            </a:extLst>
          </p:cNvPr>
          <p:cNvSpPr/>
          <p:nvPr/>
        </p:nvSpPr>
        <p:spPr>
          <a:xfrm>
            <a:off x="4386623" y="2080850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B1B9B3-D3B1-42C2-6660-9F9A12F76D85}"/>
              </a:ext>
            </a:extLst>
          </p:cNvPr>
          <p:cNvSpPr/>
          <p:nvPr/>
        </p:nvSpPr>
        <p:spPr>
          <a:xfrm>
            <a:off x="4047186" y="2080849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3FD5987-EE88-3020-52D0-F8B9DF39A7C2}"/>
              </a:ext>
            </a:extLst>
          </p:cNvPr>
          <p:cNvSpPr/>
          <p:nvPr/>
        </p:nvSpPr>
        <p:spPr>
          <a:xfrm>
            <a:off x="4378054" y="2984743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F1C5FC1-8548-FA57-43E3-0B870F773701}"/>
              </a:ext>
            </a:extLst>
          </p:cNvPr>
          <p:cNvSpPr/>
          <p:nvPr/>
        </p:nvSpPr>
        <p:spPr>
          <a:xfrm>
            <a:off x="4413550" y="3864923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3E58460-62E0-D3B6-483A-1FA011ABECD7}"/>
              </a:ext>
            </a:extLst>
          </p:cNvPr>
          <p:cNvSpPr/>
          <p:nvPr/>
        </p:nvSpPr>
        <p:spPr>
          <a:xfrm>
            <a:off x="4074113" y="3864922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5E0D03C-8064-E494-F553-5D60CAA02F06}"/>
              </a:ext>
            </a:extLst>
          </p:cNvPr>
          <p:cNvSpPr/>
          <p:nvPr/>
        </p:nvSpPr>
        <p:spPr>
          <a:xfrm>
            <a:off x="4004731" y="2974405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5E46549-5F14-C152-09EA-EBE4AFE4343B}"/>
              </a:ext>
            </a:extLst>
          </p:cNvPr>
          <p:cNvSpPr txBox="1"/>
          <p:nvPr/>
        </p:nvSpPr>
        <p:spPr>
          <a:xfrm>
            <a:off x="3175843" y="1601258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B61F4B1-DD8F-176B-4DFE-4EFFCAC38132}"/>
              </a:ext>
            </a:extLst>
          </p:cNvPr>
          <p:cNvSpPr txBox="1"/>
          <p:nvPr/>
        </p:nvSpPr>
        <p:spPr>
          <a:xfrm>
            <a:off x="3177608" y="2469457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C01B555-D1C1-D52C-F84F-D9FD0ED27B73}"/>
              </a:ext>
            </a:extLst>
          </p:cNvPr>
          <p:cNvSpPr txBox="1"/>
          <p:nvPr/>
        </p:nvSpPr>
        <p:spPr>
          <a:xfrm>
            <a:off x="3204971" y="32881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grpSp>
        <p:nvGrpSpPr>
          <p:cNvPr id="76" name="Group 64">
            <a:extLst>
              <a:ext uri="{FF2B5EF4-FFF2-40B4-BE49-F238E27FC236}">
                <a16:creationId xmlns:a16="http://schemas.microsoft.com/office/drawing/2014/main" id="{879D23FF-1B5A-236E-C4B7-4B9F50F73D14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014100" y="5204386"/>
            <a:ext cx="1566181" cy="502360"/>
            <a:chOff x="498" y="3463"/>
            <a:chExt cx="424" cy="136"/>
          </a:xfrm>
        </p:grpSpPr>
        <p:sp>
          <p:nvSpPr>
            <p:cNvPr id="77" name="Rectangle 59">
              <a:extLst>
                <a:ext uri="{FF2B5EF4-FFF2-40B4-BE49-F238E27FC236}">
                  <a16:creationId xmlns:a16="http://schemas.microsoft.com/office/drawing/2014/main" id="{56F17991-C0AB-A3DA-21DF-1E071A1A9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D01C0BE0-E93A-A0B4-62CE-2527908D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Rectangle 61">
              <a:extLst>
                <a:ext uri="{FF2B5EF4-FFF2-40B4-BE49-F238E27FC236}">
                  <a16:creationId xmlns:a16="http://schemas.microsoft.com/office/drawing/2014/main" id="{FE6A9FA2-6E0D-8405-4BB1-74487AD38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Rectangle 62">
              <a:extLst>
                <a:ext uri="{FF2B5EF4-FFF2-40B4-BE49-F238E27FC236}">
                  <a16:creationId xmlns:a16="http://schemas.microsoft.com/office/drawing/2014/main" id="{FB3407C5-BD0F-F6E5-0650-995E057F3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2" name="Group 65">
            <a:extLst>
              <a:ext uri="{FF2B5EF4-FFF2-40B4-BE49-F238E27FC236}">
                <a16:creationId xmlns:a16="http://schemas.microsoft.com/office/drawing/2014/main" id="{BFF5242A-B916-E813-ADE3-405AD3DEFD59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6143703" y="5184984"/>
            <a:ext cx="1566180" cy="502360"/>
            <a:chOff x="498" y="3463"/>
            <a:chExt cx="424" cy="136"/>
          </a:xfrm>
        </p:grpSpPr>
        <p:sp>
          <p:nvSpPr>
            <p:cNvPr id="83" name="Rectangle 66">
              <a:extLst>
                <a:ext uri="{FF2B5EF4-FFF2-40B4-BE49-F238E27FC236}">
                  <a16:creationId xmlns:a16="http://schemas.microsoft.com/office/drawing/2014/main" id="{6E5BFACF-22F8-EDB8-0262-2D478E527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Rectangle 67">
              <a:extLst>
                <a:ext uri="{FF2B5EF4-FFF2-40B4-BE49-F238E27FC236}">
                  <a16:creationId xmlns:a16="http://schemas.microsoft.com/office/drawing/2014/main" id="{699EA885-6E2F-DF3B-66F8-1768513FC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Rectangle 68">
              <a:extLst>
                <a:ext uri="{FF2B5EF4-FFF2-40B4-BE49-F238E27FC236}">
                  <a16:creationId xmlns:a16="http://schemas.microsoft.com/office/drawing/2014/main" id="{956CD487-E555-93C8-4013-DFA7A2296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Rectangle 69">
              <a:extLst>
                <a:ext uri="{FF2B5EF4-FFF2-40B4-BE49-F238E27FC236}">
                  <a16:creationId xmlns:a16="http://schemas.microsoft.com/office/drawing/2014/main" id="{4F2AF461-F248-9205-FDED-14E0272B3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8" name="Group 71">
            <a:extLst>
              <a:ext uri="{FF2B5EF4-FFF2-40B4-BE49-F238E27FC236}">
                <a16:creationId xmlns:a16="http://schemas.microsoft.com/office/drawing/2014/main" id="{E9597DD1-CB48-3A16-BA20-ECFD41ABA9AC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269891" y="5191776"/>
            <a:ext cx="1566181" cy="502360"/>
            <a:chOff x="498" y="3463"/>
            <a:chExt cx="424" cy="136"/>
          </a:xfrm>
        </p:grpSpPr>
        <p:sp>
          <p:nvSpPr>
            <p:cNvPr id="89" name="Rectangle 72">
              <a:extLst>
                <a:ext uri="{FF2B5EF4-FFF2-40B4-BE49-F238E27FC236}">
                  <a16:creationId xmlns:a16="http://schemas.microsoft.com/office/drawing/2014/main" id="{3C0702F2-E8A8-0F62-45F8-4EE1B4F99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73">
              <a:extLst>
                <a:ext uri="{FF2B5EF4-FFF2-40B4-BE49-F238E27FC236}">
                  <a16:creationId xmlns:a16="http://schemas.microsoft.com/office/drawing/2014/main" id="{1B35B8AE-52D4-5705-E2B0-DCDC5DCAA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74">
              <a:extLst>
                <a:ext uri="{FF2B5EF4-FFF2-40B4-BE49-F238E27FC236}">
                  <a16:creationId xmlns:a16="http://schemas.microsoft.com/office/drawing/2014/main" id="{88C579AE-B164-5A62-F8BD-706F377AB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Rectangle 75">
              <a:extLst>
                <a:ext uri="{FF2B5EF4-FFF2-40B4-BE49-F238E27FC236}">
                  <a16:creationId xmlns:a16="http://schemas.microsoft.com/office/drawing/2014/main" id="{45B61CE9-F365-613C-7BBA-EE3D985C8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FE12255B-4A37-6E9C-F8F6-E2CA6E39D69A}"/>
              </a:ext>
            </a:extLst>
          </p:cNvPr>
          <p:cNvSpPr txBox="1"/>
          <p:nvPr/>
        </p:nvSpPr>
        <p:spPr>
          <a:xfrm>
            <a:off x="6259977" y="4551253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6BE93F9-0A81-0B31-F07B-246142B0F9DC}"/>
              </a:ext>
            </a:extLst>
          </p:cNvPr>
          <p:cNvSpPr txBox="1"/>
          <p:nvPr/>
        </p:nvSpPr>
        <p:spPr>
          <a:xfrm>
            <a:off x="7154533" y="4567524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48DAE5E-C42F-6147-3A60-10F36924A68A}"/>
              </a:ext>
            </a:extLst>
          </p:cNvPr>
          <p:cNvSpPr txBox="1"/>
          <p:nvPr/>
        </p:nvSpPr>
        <p:spPr>
          <a:xfrm>
            <a:off x="8098169" y="45806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587E5F-2E79-14E8-A17A-4CA034B98577}"/>
              </a:ext>
            </a:extLst>
          </p:cNvPr>
          <p:cNvSpPr/>
          <p:nvPr/>
        </p:nvSpPr>
        <p:spPr>
          <a:xfrm>
            <a:off x="8321046" y="95560"/>
            <a:ext cx="3455985" cy="180437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In every tick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Each input sends to at most one output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Each output receives from at most each input</a:t>
            </a:r>
          </a:p>
        </p:txBody>
      </p:sp>
    </p:spTree>
    <p:extLst>
      <p:ext uri="{BB962C8B-B14F-4D97-AF65-F5344CB8AC3E}">
        <p14:creationId xmlns:p14="http://schemas.microsoft.com/office/powerpoint/2010/main" val="16893685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71">
            <a:extLst>
              <a:ext uri="{FF2B5EF4-FFF2-40B4-BE49-F238E27FC236}">
                <a16:creationId xmlns:a16="http://schemas.microsoft.com/office/drawing/2014/main" id="{E9597DD1-CB48-3A16-BA20-ECFD41ABA9AC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269891" y="5191776"/>
            <a:ext cx="1566181" cy="502360"/>
            <a:chOff x="498" y="3463"/>
            <a:chExt cx="424" cy="136"/>
          </a:xfrm>
        </p:grpSpPr>
        <p:sp>
          <p:nvSpPr>
            <p:cNvPr id="89" name="Rectangle 72">
              <a:extLst>
                <a:ext uri="{FF2B5EF4-FFF2-40B4-BE49-F238E27FC236}">
                  <a16:creationId xmlns:a16="http://schemas.microsoft.com/office/drawing/2014/main" id="{3C0702F2-E8A8-0F62-45F8-4EE1B4F99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73">
              <a:extLst>
                <a:ext uri="{FF2B5EF4-FFF2-40B4-BE49-F238E27FC236}">
                  <a16:creationId xmlns:a16="http://schemas.microsoft.com/office/drawing/2014/main" id="{1B35B8AE-52D4-5705-E2B0-DCDC5DCAA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74">
              <a:extLst>
                <a:ext uri="{FF2B5EF4-FFF2-40B4-BE49-F238E27FC236}">
                  <a16:creationId xmlns:a16="http://schemas.microsoft.com/office/drawing/2014/main" id="{88C579AE-B164-5A62-F8BD-706F377AB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Rectangle 75">
              <a:extLst>
                <a:ext uri="{FF2B5EF4-FFF2-40B4-BE49-F238E27FC236}">
                  <a16:creationId xmlns:a16="http://schemas.microsoft.com/office/drawing/2014/main" id="{45B61CE9-F365-613C-7BBA-EE3D985C8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6" name="Group 64">
            <a:extLst>
              <a:ext uri="{FF2B5EF4-FFF2-40B4-BE49-F238E27FC236}">
                <a16:creationId xmlns:a16="http://schemas.microsoft.com/office/drawing/2014/main" id="{879D23FF-1B5A-236E-C4B7-4B9F50F73D14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014100" y="5204386"/>
            <a:ext cx="1566181" cy="502360"/>
            <a:chOff x="498" y="3463"/>
            <a:chExt cx="424" cy="136"/>
          </a:xfrm>
        </p:grpSpPr>
        <p:sp>
          <p:nvSpPr>
            <p:cNvPr id="77" name="Rectangle 59">
              <a:extLst>
                <a:ext uri="{FF2B5EF4-FFF2-40B4-BE49-F238E27FC236}">
                  <a16:creationId xmlns:a16="http://schemas.microsoft.com/office/drawing/2014/main" id="{56F17991-C0AB-A3DA-21DF-1E071A1A9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D01C0BE0-E93A-A0B4-62CE-2527908D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Rectangle 61">
              <a:extLst>
                <a:ext uri="{FF2B5EF4-FFF2-40B4-BE49-F238E27FC236}">
                  <a16:creationId xmlns:a16="http://schemas.microsoft.com/office/drawing/2014/main" id="{FE6A9FA2-6E0D-8405-4BB1-74487AD38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Rectangle 62">
              <a:extLst>
                <a:ext uri="{FF2B5EF4-FFF2-40B4-BE49-F238E27FC236}">
                  <a16:creationId xmlns:a16="http://schemas.microsoft.com/office/drawing/2014/main" id="{FB3407C5-BD0F-F6E5-0650-995E057F3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A8F3311B-08D4-91A6-4EA0-0B0DBA1A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queuing 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A6CF4F6-6740-70D1-4608-A08CEBBFE257}"/>
              </a:ext>
            </a:extLst>
          </p:cNvPr>
          <p:cNvGrpSpPr/>
          <p:nvPr/>
        </p:nvGrpSpPr>
        <p:grpSpPr>
          <a:xfrm>
            <a:off x="5074877" y="2022313"/>
            <a:ext cx="3655185" cy="2490677"/>
            <a:chOff x="4298122" y="2868411"/>
            <a:chExt cx="2179044" cy="1484821"/>
          </a:xfrm>
        </p:grpSpPr>
        <p:sp>
          <p:nvSpPr>
            <p:cNvPr id="10" name="Line 155">
              <a:extLst>
                <a:ext uri="{FF2B5EF4-FFF2-40B4-BE49-F238E27FC236}">
                  <a16:creationId xmlns:a16="http://schemas.microsoft.com/office/drawing/2014/main" id="{E70B6BBA-D95B-98A9-2897-0C7ABE508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291851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Line 156">
              <a:extLst>
                <a:ext uri="{FF2B5EF4-FFF2-40B4-BE49-F238E27FC236}">
                  <a16:creationId xmlns:a16="http://schemas.microsoft.com/office/drawing/2014/main" id="{43527E50-4FE4-0F92-076C-A9E33B2FE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8122" y="3432087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Line 157">
              <a:extLst>
                <a:ext uri="{FF2B5EF4-FFF2-40B4-BE49-F238E27FC236}">
                  <a16:creationId xmlns:a16="http://schemas.microsoft.com/office/drawing/2014/main" id="{A768626D-D5A2-D044-0EF4-3BDB0426F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399576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Line 158">
              <a:extLst>
                <a:ext uri="{FF2B5EF4-FFF2-40B4-BE49-F238E27FC236}">
                  <a16:creationId xmlns:a16="http://schemas.microsoft.com/office/drawing/2014/main" id="{61904F93-76E4-A2FB-E6A5-D5C5D631D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513" y="2918515"/>
              <a:ext cx="0" cy="14347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" name="Line 159">
              <a:extLst>
                <a:ext uri="{FF2B5EF4-FFF2-40B4-BE49-F238E27FC236}">
                  <a16:creationId xmlns:a16="http://schemas.microsoft.com/office/drawing/2014/main" id="{6F1C84A9-6B93-010F-68B1-876945EB4F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9236" y="2918516"/>
              <a:ext cx="12312" cy="143471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Line 160">
              <a:extLst>
                <a:ext uri="{FF2B5EF4-FFF2-40B4-BE49-F238E27FC236}">
                  <a16:creationId xmlns:a16="http://schemas.microsoft.com/office/drawing/2014/main" id="{D76F42D5-D5F3-5F48-207A-0E86695B9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62026" y="2905989"/>
              <a:ext cx="7710" cy="143471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Oval 161">
              <a:extLst>
                <a:ext uri="{FF2B5EF4-FFF2-40B4-BE49-F238E27FC236}">
                  <a16:creationId xmlns:a16="http://schemas.microsoft.com/office/drawing/2014/main" id="{1A1BA95B-1F69-50D6-8B2F-28B8CAB1D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Oval 162">
              <a:extLst>
                <a:ext uri="{FF2B5EF4-FFF2-40B4-BE49-F238E27FC236}">
                  <a16:creationId xmlns:a16="http://schemas.microsoft.com/office/drawing/2014/main" id="{E5D02ED7-7215-5636-E8B0-166842CFD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3373633"/>
              <a:ext cx="142954" cy="11691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Oval 163">
              <a:extLst>
                <a:ext uri="{FF2B5EF4-FFF2-40B4-BE49-F238E27FC236}">
                  <a16:creationId xmlns:a16="http://schemas.microsoft.com/office/drawing/2014/main" id="{7F46BECF-DA3C-6B0E-751F-2142A68BE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93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Oval 164">
              <a:extLst>
                <a:ext uri="{FF2B5EF4-FFF2-40B4-BE49-F238E27FC236}">
                  <a16:creationId xmlns:a16="http://schemas.microsoft.com/office/drawing/2014/main" id="{D7FD571B-D76E-A0B9-96CF-E5BF59FA4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Oval 165">
              <a:extLst>
                <a:ext uri="{FF2B5EF4-FFF2-40B4-BE49-F238E27FC236}">
                  <a16:creationId xmlns:a16="http://schemas.microsoft.com/office/drawing/2014/main" id="{29D14690-46A3-549C-4D94-BE18BC73B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Oval 166">
              <a:extLst>
                <a:ext uri="{FF2B5EF4-FFF2-40B4-BE49-F238E27FC236}">
                  <a16:creationId xmlns:a16="http://schemas.microsoft.com/office/drawing/2014/main" id="{42821082-DD22-2646-654C-7B6143EF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07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" name="Oval 167">
              <a:extLst>
                <a:ext uri="{FF2B5EF4-FFF2-40B4-BE49-F238E27FC236}">
                  <a16:creationId xmlns:a16="http://schemas.microsoft.com/office/drawing/2014/main" id="{0BB5213A-B687-6B43-CD50-AC1C1D460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2868411"/>
              <a:ext cx="142954" cy="11691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Oval 168">
              <a:extLst>
                <a:ext uri="{FF2B5EF4-FFF2-40B4-BE49-F238E27FC236}">
                  <a16:creationId xmlns:a16="http://schemas.microsoft.com/office/drawing/2014/main" id="{2B36417D-7666-85CD-0155-04C9FEA4D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" name="Oval 169">
              <a:extLst>
                <a:ext uri="{FF2B5EF4-FFF2-40B4-BE49-F238E27FC236}">
                  <a16:creationId xmlns:a16="http://schemas.microsoft.com/office/drawing/2014/main" id="{747B5CBA-5EEE-FE99-70A1-1D5D52056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8048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6" name="Group 45">
            <a:extLst>
              <a:ext uri="{FF2B5EF4-FFF2-40B4-BE49-F238E27FC236}">
                <a16:creationId xmlns:a16="http://schemas.microsoft.com/office/drawing/2014/main" id="{36BB48E7-3F62-C64C-C5B7-6154E2C4EC02}"/>
              </a:ext>
            </a:extLst>
          </p:cNvPr>
          <p:cNvGrpSpPr>
            <a:grpSpLocks/>
          </p:cNvGrpSpPr>
          <p:nvPr/>
        </p:nvGrpSpPr>
        <p:grpSpPr bwMode="auto">
          <a:xfrm>
            <a:off x="1840244" y="1922365"/>
            <a:ext cx="1565472" cy="502360"/>
            <a:chOff x="925" y="2800"/>
            <a:chExt cx="485" cy="175"/>
          </a:xfrm>
        </p:grpSpPr>
        <p:sp>
          <p:nvSpPr>
            <p:cNvPr id="67" name="Rectangle 46">
              <a:extLst>
                <a:ext uri="{FF2B5EF4-FFF2-40B4-BE49-F238E27FC236}">
                  <a16:creationId xmlns:a16="http://schemas.microsoft.com/office/drawing/2014/main" id="{2B946E0C-BB77-B0E3-41E0-41D8E20E7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Rectangle 47">
              <a:extLst>
                <a:ext uri="{FF2B5EF4-FFF2-40B4-BE49-F238E27FC236}">
                  <a16:creationId xmlns:a16="http://schemas.microsoft.com/office/drawing/2014/main" id="{FFBECFDC-7362-5D69-D9ED-B40543BE5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Rectangle 48">
              <a:extLst>
                <a:ext uri="{FF2B5EF4-FFF2-40B4-BE49-F238E27FC236}">
                  <a16:creationId xmlns:a16="http://schemas.microsoft.com/office/drawing/2014/main" id="{706DFE44-CBF8-E5A5-B48F-C19823C7A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Rectangle 49">
              <a:extLst>
                <a:ext uri="{FF2B5EF4-FFF2-40B4-BE49-F238E27FC236}">
                  <a16:creationId xmlns:a16="http://schemas.microsoft.com/office/drawing/2014/main" id="{69D71E09-28A6-6AAC-DA3F-F03775033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1" name="Group 51">
            <a:extLst>
              <a:ext uri="{FF2B5EF4-FFF2-40B4-BE49-F238E27FC236}">
                <a16:creationId xmlns:a16="http://schemas.microsoft.com/office/drawing/2014/main" id="{B1201A91-6755-5E5A-BC22-4A82FE52076F}"/>
              </a:ext>
            </a:extLst>
          </p:cNvPr>
          <p:cNvGrpSpPr>
            <a:grpSpLocks/>
          </p:cNvGrpSpPr>
          <p:nvPr/>
        </p:nvGrpSpPr>
        <p:grpSpPr bwMode="auto">
          <a:xfrm>
            <a:off x="1871482" y="3572604"/>
            <a:ext cx="1565473" cy="502360"/>
            <a:chOff x="925" y="2800"/>
            <a:chExt cx="485" cy="175"/>
          </a:xfrm>
        </p:grpSpPr>
        <p:sp>
          <p:nvSpPr>
            <p:cNvPr id="72" name="Rectangle 52">
              <a:extLst>
                <a:ext uri="{FF2B5EF4-FFF2-40B4-BE49-F238E27FC236}">
                  <a16:creationId xmlns:a16="http://schemas.microsoft.com/office/drawing/2014/main" id="{10A099FB-5395-38D4-616A-35AA4A2E8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53">
              <a:extLst>
                <a:ext uri="{FF2B5EF4-FFF2-40B4-BE49-F238E27FC236}">
                  <a16:creationId xmlns:a16="http://schemas.microsoft.com/office/drawing/2014/main" id="{39276418-9888-0BDA-B494-4182C49E4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54">
              <a:extLst>
                <a:ext uri="{FF2B5EF4-FFF2-40B4-BE49-F238E27FC236}">
                  <a16:creationId xmlns:a16="http://schemas.microsoft.com/office/drawing/2014/main" id="{B53718F5-485E-9592-921C-735F90252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Rectangle 55">
              <a:extLst>
                <a:ext uri="{FF2B5EF4-FFF2-40B4-BE49-F238E27FC236}">
                  <a16:creationId xmlns:a16="http://schemas.microsoft.com/office/drawing/2014/main" id="{0406EDDE-DD75-E442-0AB7-9397F7B87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CD5064C-E537-8D76-6633-EA2548C96B22}"/>
              </a:ext>
            </a:extLst>
          </p:cNvPr>
          <p:cNvGrpSpPr/>
          <p:nvPr/>
        </p:nvGrpSpPr>
        <p:grpSpPr>
          <a:xfrm>
            <a:off x="3706979" y="1701913"/>
            <a:ext cx="1066635" cy="827391"/>
            <a:chOff x="8809641" y="3749783"/>
            <a:chExt cx="868739" cy="673883"/>
          </a:xfrm>
        </p:grpSpPr>
        <p:sp>
          <p:nvSpPr>
            <p:cNvPr id="95" name="Rectangle 57">
              <a:extLst>
                <a:ext uri="{FF2B5EF4-FFF2-40B4-BE49-F238E27FC236}">
                  <a16:creationId xmlns:a16="http://schemas.microsoft.com/office/drawing/2014/main" id="{BA932E39-2C55-4C74-BF90-755EF1B49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19661"/>
              <a:ext cx="868739" cy="60400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6" name="Text Box 79">
              <a:extLst>
                <a:ext uri="{FF2B5EF4-FFF2-40B4-BE49-F238E27FC236}">
                  <a16:creationId xmlns:a16="http://schemas.microsoft.com/office/drawing/2014/main" id="{5C273EEF-A23C-D580-B83B-6D185E7B2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1347" y="3749783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320626E-DDF9-6AA7-3EDC-5D686556371E}"/>
              </a:ext>
            </a:extLst>
          </p:cNvPr>
          <p:cNvGrpSpPr/>
          <p:nvPr/>
        </p:nvGrpSpPr>
        <p:grpSpPr>
          <a:xfrm>
            <a:off x="3698298" y="2608401"/>
            <a:ext cx="1075700" cy="806710"/>
            <a:chOff x="8809641" y="3768755"/>
            <a:chExt cx="876122" cy="657038"/>
          </a:xfrm>
        </p:grpSpPr>
        <p:sp>
          <p:nvSpPr>
            <p:cNvPr id="98" name="Rectangle 57">
              <a:extLst>
                <a:ext uri="{FF2B5EF4-FFF2-40B4-BE49-F238E27FC236}">
                  <a16:creationId xmlns:a16="http://schemas.microsoft.com/office/drawing/2014/main" id="{5C9E6A8D-00CF-9514-85A7-01673A2C8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8"/>
              <a:ext cx="868739" cy="5998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Text Box 79">
              <a:extLst>
                <a:ext uri="{FF2B5EF4-FFF2-40B4-BE49-F238E27FC236}">
                  <a16:creationId xmlns:a16="http://schemas.microsoft.com/office/drawing/2014/main" id="{2A5294CB-9CC2-C997-90E0-A19A444B6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3176" y="3768755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EF0C4A2-FD02-F4E2-592F-02DABC326798}"/>
              </a:ext>
            </a:extLst>
          </p:cNvPr>
          <p:cNvGrpSpPr/>
          <p:nvPr/>
        </p:nvGrpSpPr>
        <p:grpSpPr>
          <a:xfrm>
            <a:off x="3717229" y="3494052"/>
            <a:ext cx="1066635" cy="794741"/>
            <a:chOff x="8809641" y="3765177"/>
            <a:chExt cx="868739" cy="647290"/>
          </a:xfrm>
        </p:grpSpPr>
        <p:sp>
          <p:nvSpPr>
            <p:cNvPr id="101" name="Rectangle 57">
              <a:extLst>
                <a:ext uri="{FF2B5EF4-FFF2-40B4-BE49-F238E27FC236}">
                  <a16:creationId xmlns:a16="http://schemas.microsoft.com/office/drawing/2014/main" id="{0C2BD124-6F2C-2D8B-242F-52399294F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0561"/>
              <a:ext cx="868739" cy="59190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79">
              <a:extLst>
                <a:ext uri="{FF2B5EF4-FFF2-40B4-BE49-F238E27FC236}">
                  <a16:creationId xmlns:a16="http://schemas.microsoft.com/office/drawing/2014/main" id="{A4009D12-B592-3AFF-C374-836E61D2B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2927" y="3765177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19" name="Group 45">
            <a:extLst>
              <a:ext uri="{FF2B5EF4-FFF2-40B4-BE49-F238E27FC236}">
                <a16:creationId xmlns:a16="http://schemas.microsoft.com/office/drawing/2014/main" id="{0332D171-0892-B334-BFD8-8061ACCCA41F}"/>
              </a:ext>
            </a:extLst>
          </p:cNvPr>
          <p:cNvGrpSpPr>
            <a:grpSpLocks/>
          </p:cNvGrpSpPr>
          <p:nvPr/>
        </p:nvGrpSpPr>
        <p:grpSpPr bwMode="auto">
          <a:xfrm>
            <a:off x="1864727" y="2770760"/>
            <a:ext cx="1565472" cy="502360"/>
            <a:chOff x="925" y="2800"/>
            <a:chExt cx="485" cy="175"/>
          </a:xfrm>
        </p:grpSpPr>
        <p:sp>
          <p:nvSpPr>
            <p:cNvPr id="120" name="Rectangle 46">
              <a:extLst>
                <a:ext uri="{FF2B5EF4-FFF2-40B4-BE49-F238E27FC236}">
                  <a16:creationId xmlns:a16="http://schemas.microsoft.com/office/drawing/2014/main" id="{324747E2-4BD0-C484-375A-91E82472C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1" name="Rectangle 47">
              <a:extLst>
                <a:ext uri="{FF2B5EF4-FFF2-40B4-BE49-F238E27FC236}">
                  <a16:creationId xmlns:a16="http://schemas.microsoft.com/office/drawing/2014/main" id="{54D51E51-9FE8-A3E6-A12D-4E68829DF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" name="Rectangle 48">
              <a:extLst>
                <a:ext uri="{FF2B5EF4-FFF2-40B4-BE49-F238E27FC236}">
                  <a16:creationId xmlns:a16="http://schemas.microsoft.com/office/drawing/2014/main" id="{293BB401-D257-40D5-E9D1-60210FAB6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Rectangle 49">
              <a:extLst>
                <a:ext uri="{FF2B5EF4-FFF2-40B4-BE49-F238E27FC236}">
                  <a16:creationId xmlns:a16="http://schemas.microsoft.com/office/drawing/2014/main" id="{D5814C54-DA29-085A-6CC0-D8BD3EF1E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27278A3-31D1-6DC9-B494-24E5A98374F7}"/>
              </a:ext>
            </a:extLst>
          </p:cNvPr>
          <p:cNvSpPr/>
          <p:nvPr/>
        </p:nvSpPr>
        <p:spPr>
          <a:xfrm>
            <a:off x="4386623" y="2080850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B1B9B3-D3B1-42C2-6660-9F9A12F76D85}"/>
              </a:ext>
            </a:extLst>
          </p:cNvPr>
          <p:cNvSpPr/>
          <p:nvPr/>
        </p:nvSpPr>
        <p:spPr>
          <a:xfrm>
            <a:off x="4047186" y="2080849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3FD5987-EE88-3020-52D0-F8B9DF39A7C2}"/>
              </a:ext>
            </a:extLst>
          </p:cNvPr>
          <p:cNvSpPr/>
          <p:nvPr/>
        </p:nvSpPr>
        <p:spPr>
          <a:xfrm>
            <a:off x="4378054" y="2984743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F1C5FC1-8548-FA57-43E3-0B870F773701}"/>
              </a:ext>
            </a:extLst>
          </p:cNvPr>
          <p:cNvSpPr/>
          <p:nvPr/>
        </p:nvSpPr>
        <p:spPr>
          <a:xfrm>
            <a:off x="4413550" y="3864923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3E58460-62E0-D3B6-483A-1FA011ABECD7}"/>
              </a:ext>
            </a:extLst>
          </p:cNvPr>
          <p:cNvSpPr/>
          <p:nvPr/>
        </p:nvSpPr>
        <p:spPr>
          <a:xfrm>
            <a:off x="4074113" y="3864922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5E0D03C-8064-E494-F553-5D60CAA02F06}"/>
              </a:ext>
            </a:extLst>
          </p:cNvPr>
          <p:cNvSpPr/>
          <p:nvPr/>
        </p:nvSpPr>
        <p:spPr>
          <a:xfrm>
            <a:off x="4004731" y="2974405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5E46549-5F14-C152-09EA-EBE4AFE4343B}"/>
              </a:ext>
            </a:extLst>
          </p:cNvPr>
          <p:cNvSpPr txBox="1"/>
          <p:nvPr/>
        </p:nvSpPr>
        <p:spPr>
          <a:xfrm>
            <a:off x="3175843" y="1601258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B61F4B1-DD8F-176B-4DFE-4EFFCAC38132}"/>
              </a:ext>
            </a:extLst>
          </p:cNvPr>
          <p:cNvSpPr txBox="1"/>
          <p:nvPr/>
        </p:nvSpPr>
        <p:spPr>
          <a:xfrm>
            <a:off x="3177608" y="2469457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C01B555-D1C1-D52C-F84F-D9FD0ED27B73}"/>
              </a:ext>
            </a:extLst>
          </p:cNvPr>
          <p:cNvSpPr txBox="1"/>
          <p:nvPr/>
        </p:nvSpPr>
        <p:spPr>
          <a:xfrm>
            <a:off x="3204971" y="32881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grpSp>
        <p:nvGrpSpPr>
          <p:cNvPr id="82" name="Group 65">
            <a:extLst>
              <a:ext uri="{FF2B5EF4-FFF2-40B4-BE49-F238E27FC236}">
                <a16:creationId xmlns:a16="http://schemas.microsoft.com/office/drawing/2014/main" id="{BFF5242A-B916-E813-ADE3-405AD3DEFD59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6143703" y="5184984"/>
            <a:ext cx="1566180" cy="502360"/>
            <a:chOff x="498" y="3463"/>
            <a:chExt cx="424" cy="136"/>
          </a:xfrm>
        </p:grpSpPr>
        <p:sp>
          <p:nvSpPr>
            <p:cNvPr id="83" name="Rectangle 66">
              <a:extLst>
                <a:ext uri="{FF2B5EF4-FFF2-40B4-BE49-F238E27FC236}">
                  <a16:creationId xmlns:a16="http://schemas.microsoft.com/office/drawing/2014/main" id="{6E5BFACF-22F8-EDB8-0262-2D478E527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Rectangle 67">
              <a:extLst>
                <a:ext uri="{FF2B5EF4-FFF2-40B4-BE49-F238E27FC236}">
                  <a16:creationId xmlns:a16="http://schemas.microsoft.com/office/drawing/2014/main" id="{699EA885-6E2F-DF3B-66F8-1768513FC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Rectangle 68">
              <a:extLst>
                <a:ext uri="{FF2B5EF4-FFF2-40B4-BE49-F238E27FC236}">
                  <a16:creationId xmlns:a16="http://schemas.microsoft.com/office/drawing/2014/main" id="{956CD487-E555-93C8-4013-DFA7A2296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Rectangle 69">
              <a:extLst>
                <a:ext uri="{FF2B5EF4-FFF2-40B4-BE49-F238E27FC236}">
                  <a16:creationId xmlns:a16="http://schemas.microsoft.com/office/drawing/2014/main" id="{4F2AF461-F248-9205-FDED-14E0272B3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FE12255B-4A37-6E9C-F8F6-E2CA6E39D69A}"/>
              </a:ext>
            </a:extLst>
          </p:cNvPr>
          <p:cNvSpPr txBox="1"/>
          <p:nvPr/>
        </p:nvSpPr>
        <p:spPr>
          <a:xfrm>
            <a:off x="6259977" y="4551253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6BE93F9-0A81-0B31-F07B-246142B0F9DC}"/>
              </a:ext>
            </a:extLst>
          </p:cNvPr>
          <p:cNvSpPr txBox="1"/>
          <p:nvPr/>
        </p:nvSpPr>
        <p:spPr>
          <a:xfrm>
            <a:off x="7154533" y="4567524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48DAE5E-C42F-6147-3A60-10F36924A68A}"/>
              </a:ext>
            </a:extLst>
          </p:cNvPr>
          <p:cNvSpPr txBox="1"/>
          <p:nvPr/>
        </p:nvSpPr>
        <p:spPr>
          <a:xfrm>
            <a:off x="8098169" y="45806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587E5F-2E79-14E8-A17A-4CA034B98577}"/>
              </a:ext>
            </a:extLst>
          </p:cNvPr>
          <p:cNvSpPr/>
          <p:nvPr/>
        </p:nvSpPr>
        <p:spPr>
          <a:xfrm>
            <a:off x="8321046" y="95560"/>
            <a:ext cx="3455985" cy="180437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In every tick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Each input sends to at most one output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Each output receives from at most each input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CD9617-5B4B-69DF-E749-EF8475C3EB80}"/>
              </a:ext>
            </a:extLst>
          </p:cNvPr>
          <p:cNvSpPr txBox="1"/>
          <p:nvPr/>
        </p:nvSpPr>
        <p:spPr>
          <a:xfrm>
            <a:off x="9104208" y="4380559"/>
            <a:ext cx="2579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Known as the crossbar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9ACE41-D674-8D14-26BA-3F21D9125721}"/>
              </a:ext>
            </a:extLst>
          </p:cNvPr>
          <p:cNvCxnSpPr/>
          <p:nvPr/>
        </p:nvCxnSpPr>
        <p:spPr>
          <a:xfrm>
            <a:off x="8861097" y="3351170"/>
            <a:ext cx="826913" cy="937623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64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555 -0.00926 L 0.27409 0.41111 L 0.27409 0.41111 " pathEditMode="relative" ptsTypes="AAAA">
                                      <p:cBhvr>
                                        <p:cTn id="6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0625 -0.02176 L 0.12149 0.28032 L 0.12149 0.28032 L 0.12149 0.28032 " pathEditMode="relative" ptsTypes="AAAAA">
                                      <p:cBhvr>
                                        <p:cTn id="8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  <p:bldP spid="128" grpId="0" animBg="1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71">
            <a:extLst>
              <a:ext uri="{FF2B5EF4-FFF2-40B4-BE49-F238E27FC236}">
                <a16:creationId xmlns:a16="http://schemas.microsoft.com/office/drawing/2014/main" id="{E9597DD1-CB48-3A16-BA20-ECFD41ABA9AC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269891" y="5191776"/>
            <a:ext cx="1566181" cy="502360"/>
            <a:chOff x="498" y="3463"/>
            <a:chExt cx="424" cy="136"/>
          </a:xfrm>
        </p:grpSpPr>
        <p:sp>
          <p:nvSpPr>
            <p:cNvPr id="89" name="Rectangle 72">
              <a:extLst>
                <a:ext uri="{FF2B5EF4-FFF2-40B4-BE49-F238E27FC236}">
                  <a16:creationId xmlns:a16="http://schemas.microsoft.com/office/drawing/2014/main" id="{3C0702F2-E8A8-0F62-45F8-4EE1B4F99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73">
              <a:extLst>
                <a:ext uri="{FF2B5EF4-FFF2-40B4-BE49-F238E27FC236}">
                  <a16:creationId xmlns:a16="http://schemas.microsoft.com/office/drawing/2014/main" id="{1B35B8AE-52D4-5705-E2B0-DCDC5DCAA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74">
              <a:extLst>
                <a:ext uri="{FF2B5EF4-FFF2-40B4-BE49-F238E27FC236}">
                  <a16:creationId xmlns:a16="http://schemas.microsoft.com/office/drawing/2014/main" id="{88C579AE-B164-5A62-F8BD-706F377AB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Rectangle 75">
              <a:extLst>
                <a:ext uri="{FF2B5EF4-FFF2-40B4-BE49-F238E27FC236}">
                  <a16:creationId xmlns:a16="http://schemas.microsoft.com/office/drawing/2014/main" id="{45B61CE9-F365-613C-7BBA-EE3D985C8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6" name="Group 64">
            <a:extLst>
              <a:ext uri="{FF2B5EF4-FFF2-40B4-BE49-F238E27FC236}">
                <a16:creationId xmlns:a16="http://schemas.microsoft.com/office/drawing/2014/main" id="{879D23FF-1B5A-236E-C4B7-4B9F50F73D14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014100" y="5204386"/>
            <a:ext cx="1566181" cy="502360"/>
            <a:chOff x="498" y="3463"/>
            <a:chExt cx="424" cy="136"/>
          </a:xfrm>
        </p:grpSpPr>
        <p:sp>
          <p:nvSpPr>
            <p:cNvPr id="77" name="Rectangle 59">
              <a:extLst>
                <a:ext uri="{FF2B5EF4-FFF2-40B4-BE49-F238E27FC236}">
                  <a16:creationId xmlns:a16="http://schemas.microsoft.com/office/drawing/2014/main" id="{56F17991-C0AB-A3DA-21DF-1E071A1A9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D01C0BE0-E93A-A0B4-62CE-2527908D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Rectangle 61">
              <a:extLst>
                <a:ext uri="{FF2B5EF4-FFF2-40B4-BE49-F238E27FC236}">
                  <a16:creationId xmlns:a16="http://schemas.microsoft.com/office/drawing/2014/main" id="{FE6A9FA2-6E0D-8405-4BB1-74487AD38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Rectangle 62">
              <a:extLst>
                <a:ext uri="{FF2B5EF4-FFF2-40B4-BE49-F238E27FC236}">
                  <a16:creationId xmlns:a16="http://schemas.microsoft.com/office/drawing/2014/main" id="{FB3407C5-BD0F-F6E5-0650-995E057F3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A8F3311B-08D4-91A6-4EA0-0B0DBA1A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queuing 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A6CF4F6-6740-70D1-4608-A08CEBBFE257}"/>
              </a:ext>
            </a:extLst>
          </p:cNvPr>
          <p:cNvGrpSpPr/>
          <p:nvPr/>
        </p:nvGrpSpPr>
        <p:grpSpPr>
          <a:xfrm>
            <a:off x="5074877" y="2022313"/>
            <a:ext cx="3655185" cy="2490677"/>
            <a:chOff x="4298122" y="2868411"/>
            <a:chExt cx="2179044" cy="1484821"/>
          </a:xfrm>
        </p:grpSpPr>
        <p:sp>
          <p:nvSpPr>
            <p:cNvPr id="10" name="Line 155">
              <a:extLst>
                <a:ext uri="{FF2B5EF4-FFF2-40B4-BE49-F238E27FC236}">
                  <a16:creationId xmlns:a16="http://schemas.microsoft.com/office/drawing/2014/main" id="{E70B6BBA-D95B-98A9-2897-0C7ABE508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291851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Line 156">
              <a:extLst>
                <a:ext uri="{FF2B5EF4-FFF2-40B4-BE49-F238E27FC236}">
                  <a16:creationId xmlns:a16="http://schemas.microsoft.com/office/drawing/2014/main" id="{43527E50-4FE4-0F92-076C-A9E33B2FE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8122" y="3432087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Line 157">
              <a:extLst>
                <a:ext uri="{FF2B5EF4-FFF2-40B4-BE49-F238E27FC236}">
                  <a16:creationId xmlns:a16="http://schemas.microsoft.com/office/drawing/2014/main" id="{A768626D-D5A2-D044-0EF4-3BDB0426F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399576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Line 158">
              <a:extLst>
                <a:ext uri="{FF2B5EF4-FFF2-40B4-BE49-F238E27FC236}">
                  <a16:creationId xmlns:a16="http://schemas.microsoft.com/office/drawing/2014/main" id="{61904F93-76E4-A2FB-E6A5-D5C5D631D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513" y="2918515"/>
              <a:ext cx="0" cy="14347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" name="Line 159">
              <a:extLst>
                <a:ext uri="{FF2B5EF4-FFF2-40B4-BE49-F238E27FC236}">
                  <a16:creationId xmlns:a16="http://schemas.microsoft.com/office/drawing/2014/main" id="{6F1C84A9-6B93-010F-68B1-876945EB4F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9236" y="2918516"/>
              <a:ext cx="12312" cy="143471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Line 160">
              <a:extLst>
                <a:ext uri="{FF2B5EF4-FFF2-40B4-BE49-F238E27FC236}">
                  <a16:creationId xmlns:a16="http://schemas.microsoft.com/office/drawing/2014/main" id="{D76F42D5-D5F3-5F48-207A-0E86695B9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62026" y="2905989"/>
              <a:ext cx="7710" cy="143471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Oval 161">
              <a:extLst>
                <a:ext uri="{FF2B5EF4-FFF2-40B4-BE49-F238E27FC236}">
                  <a16:creationId xmlns:a16="http://schemas.microsoft.com/office/drawing/2014/main" id="{1A1BA95B-1F69-50D6-8B2F-28B8CAB1D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Oval 162">
              <a:extLst>
                <a:ext uri="{FF2B5EF4-FFF2-40B4-BE49-F238E27FC236}">
                  <a16:creationId xmlns:a16="http://schemas.microsoft.com/office/drawing/2014/main" id="{E5D02ED7-7215-5636-E8B0-166842CFD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Oval 163">
              <a:extLst>
                <a:ext uri="{FF2B5EF4-FFF2-40B4-BE49-F238E27FC236}">
                  <a16:creationId xmlns:a16="http://schemas.microsoft.com/office/drawing/2014/main" id="{7F46BECF-DA3C-6B0E-751F-2142A68BE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93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Oval 164">
              <a:extLst>
                <a:ext uri="{FF2B5EF4-FFF2-40B4-BE49-F238E27FC236}">
                  <a16:creationId xmlns:a16="http://schemas.microsoft.com/office/drawing/2014/main" id="{D7FD571B-D76E-A0B9-96CF-E5BF59FA4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Oval 165">
              <a:extLst>
                <a:ext uri="{FF2B5EF4-FFF2-40B4-BE49-F238E27FC236}">
                  <a16:creationId xmlns:a16="http://schemas.microsoft.com/office/drawing/2014/main" id="{29D14690-46A3-549C-4D94-BE18BC73B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Oval 166">
              <a:extLst>
                <a:ext uri="{FF2B5EF4-FFF2-40B4-BE49-F238E27FC236}">
                  <a16:creationId xmlns:a16="http://schemas.microsoft.com/office/drawing/2014/main" id="{42821082-DD22-2646-654C-7B6143EF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07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" name="Oval 167">
              <a:extLst>
                <a:ext uri="{FF2B5EF4-FFF2-40B4-BE49-F238E27FC236}">
                  <a16:creationId xmlns:a16="http://schemas.microsoft.com/office/drawing/2014/main" id="{0BB5213A-B687-6B43-CD50-AC1C1D460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Oval 168">
              <a:extLst>
                <a:ext uri="{FF2B5EF4-FFF2-40B4-BE49-F238E27FC236}">
                  <a16:creationId xmlns:a16="http://schemas.microsoft.com/office/drawing/2014/main" id="{2B36417D-7666-85CD-0155-04C9FEA4D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" name="Oval 169">
              <a:extLst>
                <a:ext uri="{FF2B5EF4-FFF2-40B4-BE49-F238E27FC236}">
                  <a16:creationId xmlns:a16="http://schemas.microsoft.com/office/drawing/2014/main" id="{747B5CBA-5EEE-FE99-70A1-1D5D52056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8048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6" name="Group 45">
            <a:extLst>
              <a:ext uri="{FF2B5EF4-FFF2-40B4-BE49-F238E27FC236}">
                <a16:creationId xmlns:a16="http://schemas.microsoft.com/office/drawing/2014/main" id="{36BB48E7-3F62-C64C-C5B7-6154E2C4EC02}"/>
              </a:ext>
            </a:extLst>
          </p:cNvPr>
          <p:cNvGrpSpPr>
            <a:grpSpLocks/>
          </p:cNvGrpSpPr>
          <p:nvPr/>
        </p:nvGrpSpPr>
        <p:grpSpPr bwMode="auto">
          <a:xfrm>
            <a:off x="1840244" y="1922365"/>
            <a:ext cx="1565472" cy="502360"/>
            <a:chOff x="925" y="2800"/>
            <a:chExt cx="485" cy="175"/>
          </a:xfrm>
        </p:grpSpPr>
        <p:sp>
          <p:nvSpPr>
            <p:cNvPr id="67" name="Rectangle 46">
              <a:extLst>
                <a:ext uri="{FF2B5EF4-FFF2-40B4-BE49-F238E27FC236}">
                  <a16:creationId xmlns:a16="http://schemas.microsoft.com/office/drawing/2014/main" id="{2B946E0C-BB77-B0E3-41E0-41D8E20E7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Rectangle 47">
              <a:extLst>
                <a:ext uri="{FF2B5EF4-FFF2-40B4-BE49-F238E27FC236}">
                  <a16:creationId xmlns:a16="http://schemas.microsoft.com/office/drawing/2014/main" id="{FFBECFDC-7362-5D69-D9ED-B40543BE5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Rectangle 48">
              <a:extLst>
                <a:ext uri="{FF2B5EF4-FFF2-40B4-BE49-F238E27FC236}">
                  <a16:creationId xmlns:a16="http://schemas.microsoft.com/office/drawing/2014/main" id="{706DFE44-CBF8-E5A5-B48F-C19823C7A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Rectangle 49">
              <a:extLst>
                <a:ext uri="{FF2B5EF4-FFF2-40B4-BE49-F238E27FC236}">
                  <a16:creationId xmlns:a16="http://schemas.microsoft.com/office/drawing/2014/main" id="{69D71E09-28A6-6AAC-DA3F-F03775033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1" name="Group 51">
            <a:extLst>
              <a:ext uri="{FF2B5EF4-FFF2-40B4-BE49-F238E27FC236}">
                <a16:creationId xmlns:a16="http://schemas.microsoft.com/office/drawing/2014/main" id="{B1201A91-6755-5E5A-BC22-4A82FE52076F}"/>
              </a:ext>
            </a:extLst>
          </p:cNvPr>
          <p:cNvGrpSpPr>
            <a:grpSpLocks/>
          </p:cNvGrpSpPr>
          <p:nvPr/>
        </p:nvGrpSpPr>
        <p:grpSpPr bwMode="auto">
          <a:xfrm>
            <a:off x="1871482" y="3572604"/>
            <a:ext cx="1565473" cy="502360"/>
            <a:chOff x="925" y="2800"/>
            <a:chExt cx="485" cy="175"/>
          </a:xfrm>
        </p:grpSpPr>
        <p:sp>
          <p:nvSpPr>
            <p:cNvPr id="72" name="Rectangle 52">
              <a:extLst>
                <a:ext uri="{FF2B5EF4-FFF2-40B4-BE49-F238E27FC236}">
                  <a16:creationId xmlns:a16="http://schemas.microsoft.com/office/drawing/2014/main" id="{10A099FB-5395-38D4-616A-35AA4A2E8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53">
              <a:extLst>
                <a:ext uri="{FF2B5EF4-FFF2-40B4-BE49-F238E27FC236}">
                  <a16:creationId xmlns:a16="http://schemas.microsoft.com/office/drawing/2014/main" id="{39276418-9888-0BDA-B494-4182C49E4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54">
              <a:extLst>
                <a:ext uri="{FF2B5EF4-FFF2-40B4-BE49-F238E27FC236}">
                  <a16:creationId xmlns:a16="http://schemas.microsoft.com/office/drawing/2014/main" id="{B53718F5-485E-9592-921C-735F90252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Rectangle 55">
              <a:extLst>
                <a:ext uri="{FF2B5EF4-FFF2-40B4-BE49-F238E27FC236}">
                  <a16:creationId xmlns:a16="http://schemas.microsoft.com/office/drawing/2014/main" id="{0406EDDE-DD75-E442-0AB7-9397F7B87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CD5064C-E537-8D76-6633-EA2548C96B22}"/>
              </a:ext>
            </a:extLst>
          </p:cNvPr>
          <p:cNvGrpSpPr/>
          <p:nvPr/>
        </p:nvGrpSpPr>
        <p:grpSpPr>
          <a:xfrm>
            <a:off x="3706979" y="1701913"/>
            <a:ext cx="1066635" cy="827391"/>
            <a:chOff x="8809641" y="3749783"/>
            <a:chExt cx="868739" cy="673883"/>
          </a:xfrm>
        </p:grpSpPr>
        <p:sp>
          <p:nvSpPr>
            <p:cNvPr id="95" name="Rectangle 57">
              <a:extLst>
                <a:ext uri="{FF2B5EF4-FFF2-40B4-BE49-F238E27FC236}">
                  <a16:creationId xmlns:a16="http://schemas.microsoft.com/office/drawing/2014/main" id="{BA932E39-2C55-4C74-BF90-755EF1B49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19661"/>
              <a:ext cx="868739" cy="60400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6" name="Text Box 79">
              <a:extLst>
                <a:ext uri="{FF2B5EF4-FFF2-40B4-BE49-F238E27FC236}">
                  <a16:creationId xmlns:a16="http://schemas.microsoft.com/office/drawing/2014/main" id="{5C273EEF-A23C-D580-B83B-6D185E7B2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1347" y="3749783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320626E-DDF9-6AA7-3EDC-5D686556371E}"/>
              </a:ext>
            </a:extLst>
          </p:cNvPr>
          <p:cNvGrpSpPr/>
          <p:nvPr/>
        </p:nvGrpSpPr>
        <p:grpSpPr>
          <a:xfrm>
            <a:off x="3698298" y="2608401"/>
            <a:ext cx="1075700" cy="806710"/>
            <a:chOff x="8809641" y="3768755"/>
            <a:chExt cx="876122" cy="657038"/>
          </a:xfrm>
        </p:grpSpPr>
        <p:sp>
          <p:nvSpPr>
            <p:cNvPr id="98" name="Rectangle 57">
              <a:extLst>
                <a:ext uri="{FF2B5EF4-FFF2-40B4-BE49-F238E27FC236}">
                  <a16:creationId xmlns:a16="http://schemas.microsoft.com/office/drawing/2014/main" id="{5C9E6A8D-00CF-9514-85A7-01673A2C8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8"/>
              <a:ext cx="868739" cy="5998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Text Box 79">
              <a:extLst>
                <a:ext uri="{FF2B5EF4-FFF2-40B4-BE49-F238E27FC236}">
                  <a16:creationId xmlns:a16="http://schemas.microsoft.com/office/drawing/2014/main" id="{2A5294CB-9CC2-C997-90E0-A19A444B6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3176" y="3768755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EF0C4A2-FD02-F4E2-592F-02DABC326798}"/>
              </a:ext>
            </a:extLst>
          </p:cNvPr>
          <p:cNvGrpSpPr/>
          <p:nvPr/>
        </p:nvGrpSpPr>
        <p:grpSpPr>
          <a:xfrm>
            <a:off x="3717229" y="3494052"/>
            <a:ext cx="1066635" cy="794741"/>
            <a:chOff x="8809641" y="3765177"/>
            <a:chExt cx="868739" cy="647290"/>
          </a:xfrm>
        </p:grpSpPr>
        <p:sp>
          <p:nvSpPr>
            <p:cNvPr id="101" name="Rectangle 57">
              <a:extLst>
                <a:ext uri="{FF2B5EF4-FFF2-40B4-BE49-F238E27FC236}">
                  <a16:creationId xmlns:a16="http://schemas.microsoft.com/office/drawing/2014/main" id="{0C2BD124-6F2C-2D8B-242F-52399294F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0561"/>
              <a:ext cx="868739" cy="59190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79">
              <a:extLst>
                <a:ext uri="{FF2B5EF4-FFF2-40B4-BE49-F238E27FC236}">
                  <a16:creationId xmlns:a16="http://schemas.microsoft.com/office/drawing/2014/main" id="{A4009D12-B592-3AFF-C374-836E61D2B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2927" y="3765177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19" name="Group 45">
            <a:extLst>
              <a:ext uri="{FF2B5EF4-FFF2-40B4-BE49-F238E27FC236}">
                <a16:creationId xmlns:a16="http://schemas.microsoft.com/office/drawing/2014/main" id="{0332D171-0892-B334-BFD8-8061ACCCA41F}"/>
              </a:ext>
            </a:extLst>
          </p:cNvPr>
          <p:cNvGrpSpPr>
            <a:grpSpLocks/>
          </p:cNvGrpSpPr>
          <p:nvPr/>
        </p:nvGrpSpPr>
        <p:grpSpPr bwMode="auto">
          <a:xfrm>
            <a:off x="1864727" y="2770760"/>
            <a:ext cx="1565472" cy="502360"/>
            <a:chOff x="925" y="2800"/>
            <a:chExt cx="485" cy="175"/>
          </a:xfrm>
        </p:grpSpPr>
        <p:sp>
          <p:nvSpPr>
            <p:cNvPr id="120" name="Rectangle 46">
              <a:extLst>
                <a:ext uri="{FF2B5EF4-FFF2-40B4-BE49-F238E27FC236}">
                  <a16:creationId xmlns:a16="http://schemas.microsoft.com/office/drawing/2014/main" id="{324747E2-4BD0-C484-375A-91E82472C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1" name="Rectangle 47">
              <a:extLst>
                <a:ext uri="{FF2B5EF4-FFF2-40B4-BE49-F238E27FC236}">
                  <a16:creationId xmlns:a16="http://schemas.microsoft.com/office/drawing/2014/main" id="{54D51E51-9FE8-A3E6-A12D-4E68829DF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" name="Rectangle 48">
              <a:extLst>
                <a:ext uri="{FF2B5EF4-FFF2-40B4-BE49-F238E27FC236}">
                  <a16:creationId xmlns:a16="http://schemas.microsoft.com/office/drawing/2014/main" id="{293BB401-D257-40D5-E9D1-60210FAB6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Rectangle 49">
              <a:extLst>
                <a:ext uri="{FF2B5EF4-FFF2-40B4-BE49-F238E27FC236}">
                  <a16:creationId xmlns:a16="http://schemas.microsoft.com/office/drawing/2014/main" id="{D5814C54-DA29-085A-6CC0-D8BD3EF1E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B1B9B3-D3B1-42C2-6660-9F9A12F76D85}"/>
              </a:ext>
            </a:extLst>
          </p:cNvPr>
          <p:cNvSpPr/>
          <p:nvPr/>
        </p:nvSpPr>
        <p:spPr>
          <a:xfrm>
            <a:off x="4359308" y="2070622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F1C5FC1-8548-FA57-43E3-0B870F773701}"/>
              </a:ext>
            </a:extLst>
          </p:cNvPr>
          <p:cNvSpPr/>
          <p:nvPr/>
        </p:nvSpPr>
        <p:spPr>
          <a:xfrm>
            <a:off x="4413550" y="3864923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3E58460-62E0-D3B6-483A-1FA011ABECD7}"/>
              </a:ext>
            </a:extLst>
          </p:cNvPr>
          <p:cNvSpPr/>
          <p:nvPr/>
        </p:nvSpPr>
        <p:spPr>
          <a:xfrm>
            <a:off x="4074113" y="3864922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5E0D03C-8064-E494-F553-5D60CAA02F06}"/>
              </a:ext>
            </a:extLst>
          </p:cNvPr>
          <p:cNvSpPr/>
          <p:nvPr/>
        </p:nvSpPr>
        <p:spPr>
          <a:xfrm>
            <a:off x="4350177" y="2984743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5E46549-5F14-C152-09EA-EBE4AFE4343B}"/>
              </a:ext>
            </a:extLst>
          </p:cNvPr>
          <p:cNvSpPr txBox="1"/>
          <p:nvPr/>
        </p:nvSpPr>
        <p:spPr>
          <a:xfrm>
            <a:off x="3175843" y="1601258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B61F4B1-DD8F-176B-4DFE-4EFFCAC38132}"/>
              </a:ext>
            </a:extLst>
          </p:cNvPr>
          <p:cNvSpPr txBox="1"/>
          <p:nvPr/>
        </p:nvSpPr>
        <p:spPr>
          <a:xfrm>
            <a:off x="3177608" y="2469457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C01B555-D1C1-D52C-F84F-D9FD0ED27B73}"/>
              </a:ext>
            </a:extLst>
          </p:cNvPr>
          <p:cNvSpPr txBox="1"/>
          <p:nvPr/>
        </p:nvSpPr>
        <p:spPr>
          <a:xfrm>
            <a:off x="3204971" y="32881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grpSp>
        <p:nvGrpSpPr>
          <p:cNvPr id="82" name="Group 65">
            <a:extLst>
              <a:ext uri="{FF2B5EF4-FFF2-40B4-BE49-F238E27FC236}">
                <a16:creationId xmlns:a16="http://schemas.microsoft.com/office/drawing/2014/main" id="{BFF5242A-B916-E813-ADE3-405AD3DEFD59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6143703" y="5184984"/>
            <a:ext cx="1566180" cy="502360"/>
            <a:chOff x="498" y="3463"/>
            <a:chExt cx="424" cy="136"/>
          </a:xfrm>
        </p:grpSpPr>
        <p:sp>
          <p:nvSpPr>
            <p:cNvPr id="83" name="Rectangle 66">
              <a:extLst>
                <a:ext uri="{FF2B5EF4-FFF2-40B4-BE49-F238E27FC236}">
                  <a16:creationId xmlns:a16="http://schemas.microsoft.com/office/drawing/2014/main" id="{6E5BFACF-22F8-EDB8-0262-2D478E527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Rectangle 67">
              <a:extLst>
                <a:ext uri="{FF2B5EF4-FFF2-40B4-BE49-F238E27FC236}">
                  <a16:creationId xmlns:a16="http://schemas.microsoft.com/office/drawing/2014/main" id="{699EA885-6E2F-DF3B-66F8-1768513FC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Rectangle 68">
              <a:extLst>
                <a:ext uri="{FF2B5EF4-FFF2-40B4-BE49-F238E27FC236}">
                  <a16:creationId xmlns:a16="http://schemas.microsoft.com/office/drawing/2014/main" id="{956CD487-E555-93C8-4013-DFA7A2296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Rectangle 69">
              <a:extLst>
                <a:ext uri="{FF2B5EF4-FFF2-40B4-BE49-F238E27FC236}">
                  <a16:creationId xmlns:a16="http://schemas.microsoft.com/office/drawing/2014/main" id="{4F2AF461-F248-9205-FDED-14E0272B3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FE12255B-4A37-6E9C-F8F6-E2CA6E39D69A}"/>
              </a:ext>
            </a:extLst>
          </p:cNvPr>
          <p:cNvSpPr txBox="1"/>
          <p:nvPr/>
        </p:nvSpPr>
        <p:spPr>
          <a:xfrm>
            <a:off x="6259977" y="4551253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6BE93F9-0A81-0B31-F07B-246142B0F9DC}"/>
              </a:ext>
            </a:extLst>
          </p:cNvPr>
          <p:cNvSpPr txBox="1"/>
          <p:nvPr/>
        </p:nvSpPr>
        <p:spPr>
          <a:xfrm>
            <a:off x="7154533" y="4567524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48DAE5E-C42F-6147-3A60-10F36924A68A}"/>
              </a:ext>
            </a:extLst>
          </p:cNvPr>
          <p:cNvSpPr txBox="1"/>
          <p:nvPr/>
        </p:nvSpPr>
        <p:spPr>
          <a:xfrm>
            <a:off x="8098169" y="45806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587E5F-2E79-14E8-A17A-4CA034B98577}"/>
              </a:ext>
            </a:extLst>
          </p:cNvPr>
          <p:cNvSpPr/>
          <p:nvPr/>
        </p:nvSpPr>
        <p:spPr>
          <a:xfrm>
            <a:off x="8321046" y="95560"/>
            <a:ext cx="3455985" cy="180437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In every tick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Each input sends to at most one output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Each output receives from at most each input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CD9617-5B4B-69DF-E749-EF8475C3EB80}"/>
              </a:ext>
            </a:extLst>
          </p:cNvPr>
          <p:cNvSpPr txBox="1"/>
          <p:nvPr/>
        </p:nvSpPr>
        <p:spPr>
          <a:xfrm>
            <a:off x="9104208" y="4380559"/>
            <a:ext cx="2579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Known as the crossbar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9ACE41-D674-8D14-26BA-3F21D9125721}"/>
              </a:ext>
            </a:extLst>
          </p:cNvPr>
          <p:cNvCxnSpPr/>
          <p:nvPr/>
        </p:nvCxnSpPr>
        <p:spPr>
          <a:xfrm>
            <a:off x="8861097" y="3351170"/>
            <a:ext cx="826913" cy="937623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7449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65">
            <a:extLst>
              <a:ext uri="{FF2B5EF4-FFF2-40B4-BE49-F238E27FC236}">
                <a16:creationId xmlns:a16="http://schemas.microsoft.com/office/drawing/2014/main" id="{BFF5242A-B916-E813-ADE3-405AD3DEFD59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6143703" y="5184984"/>
            <a:ext cx="1566180" cy="502360"/>
            <a:chOff x="498" y="3463"/>
            <a:chExt cx="424" cy="136"/>
          </a:xfrm>
        </p:grpSpPr>
        <p:sp>
          <p:nvSpPr>
            <p:cNvPr id="83" name="Rectangle 66">
              <a:extLst>
                <a:ext uri="{FF2B5EF4-FFF2-40B4-BE49-F238E27FC236}">
                  <a16:creationId xmlns:a16="http://schemas.microsoft.com/office/drawing/2014/main" id="{6E5BFACF-22F8-EDB8-0262-2D478E527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Rectangle 67">
              <a:extLst>
                <a:ext uri="{FF2B5EF4-FFF2-40B4-BE49-F238E27FC236}">
                  <a16:creationId xmlns:a16="http://schemas.microsoft.com/office/drawing/2014/main" id="{699EA885-6E2F-DF3B-66F8-1768513FC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Rectangle 68">
              <a:extLst>
                <a:ext uri="{FF2B5EF4-FFF2-40B4-BE49-F238E27FC236}">
                  <a16:creationId xmlns:a16="http://schemas.microsoft.com/office/drawing/2014/main" id="{956CD487-E555-93C8-4013-DFA7A2296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Rectangle 69">
              <a:extLst>
                <a:ext uri="{FF2B5EF4-FFF2-40B4-BE49-F238E27FC236}">
                  <a16:creationId xmlns:a16="http://schemas.microsoft.com/office/drawing/2014/main" id="{4F2AF461-F248-9205-FDED-14E0272B3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8" name="Group 71">
            <a:extLst>
              <a:ext uri="{FF2B5EF4-FFF2-40B4-BE49-F238E27FC236}">
                <a16:creationId xmlns:a16="http://schemas.microsoft.com/office/drawing/2014/main" id="{E9597DD1-CB48-3A16-BA20-ECFD41ABA9AC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269891" y="5191776"/>
            <a:ext cx="1566181" cy="502360"/>
            <a:chOff x="498" y="3463"/>
            <a:chExt cx="424" cy="136"/>
          </a:xfrm>
        </p:grpSpPr>
        <p:sp>
          <p:nvSpPr>
            <p:cNvPr id="89" name="Rectangle 72">
              <a:extLst>
                <a:ext uri="{FF2B5EF4-FFF2-40B4-BE49-F238E27FC236}">
                  <a16:creationId xmlns:a16="http://schemas.microsoft.com/office/drawing/2014/main" id="{3C0702F2-E8A8-0F62-45F8-4EE1B4F99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73">
              <a:extLst>
                <a:ext uri="{FF2B5EF4-FFF2-40B4-BE49-F238E27FC236}">
                  <a16:creationId xmlns:a16="http://schemas.microsoft.com/office/drawing/2014/main" id="{1B35B8AE-52D4-5705-E2B0-DCDC5DCAA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74">
              <a:extLst>
                <a:ext uri="{FF2B5EF4-FFF2-40B4-BE49-F238E27FC236}">
                  <a16:creationId xmlns:a16="http://schemas.microsoft.com/office/drawing/2014/main" id="{88C579AE-B164-5A62-F8BD-706F377AB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Rectangle 75">
              <a:extLst>
                <a:ext uri="{FF2B5EF4-FFF2-40B4-BE49-F238E27FC236}">
                  <a16:creationId xmlns:a16="http://schemas.microsoft.com/office/drawing/2014/main" id="{45B61CE9-F365-613C-7BBA-EE3D985C8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6" name="Group 64">
            <a:extLst>
              <a:ext uri="{FF2B5EF4-FFF2-40B4-BE49-F238E27FC236}">
                <a16:creationId xmlns:a16="http://schemas.microsoft.com/office/drawing/2014/main" id="{879D23FF-1B5A-236E-C4B7-4B9F50F73D14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014100" y="5204386"/>
            <a:ext cx="1566181" cy="502360"/>
            <a:chOff x="498" y="3463"/>
            <a:chExt cx="424" cy="136"/>
          </a:xfrm>
        </p:grpSpPr>
        <p:sp>
          <p:nvSpPr>
            <p:cNvPr id="77" name="Rectangle 59">
              <a:extLst>
                <a:ext uri="{FF2B5EF4-FFF2-40B4-BE49-F238E27FC236}">
                  <a16:creationId xmlns:a16="http://schemas.microsoft.com/office/drawing/2014/main" id="{56F17991-C0AB-A3DA-21DF-1E071A1A9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D01C0BE0-E93A-A0B4-62CE-2527908D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Rectangle 61">
              <a:extLst>
                <a:ext uri="{FF2B5EF4-FFF2-40B4-BE49-F238E27FC236}">
                  <a16:creationId xmlns:a16="http://schemas.microsoft.com/office/drawing/2014/main" id="{FE6A9FA2-6E0D-8405-4BB1-74487AD38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Rectangle 62">
              <a:extLst>
                <a:ext uri="{FF2B5EF4-FFF2-40B4-BE49-F238E27FC236}">
                  <a16:creationId xmlns:a16="http://schemas.microsoft.com/office/drawing/2014/main" id="{FB3407C5-BD0F-F6E5-0650-995E057F3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A8F3311B-08D4-91A6-4EA0-0B0DBA1A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queuing 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A6CF4F6-6740-70D1-4608-A08CEBBFE257}"/>
              </a:ext>
            </a:extLst>
          </p:cNvPr>
          <p:cNvGrpSpPr/>
          <p:nvPr/>
        </p:nvGrpSpPr>
        <p:grpSpPr>
          <a:xfrm>
            <a:off x="5074877" y="2022313"/>
            <a:ext cx="3655185" cy="2490677"/>
            <a:chOff x="4298122" y="2868411"/>
            <a:chExt cx="2179044" cy="1484821"/>
          </a:xfrm>
        </p:grpSpPr>
        <p:sp>
          <p:nvSpPr>
            <p:cNvPr id="10" name="Line 155">
              <a:extLst>
                <a:ext uri="{FF2B5EF4-FFF2-40B4-BE49-F238E27FC236}">
                  <a16:creationId xmlns:a16="http://schemas.microsoft.com/office/drawing/2014/main" id="{E70B6BBA-D95B-98A9-2897-0C7ABE508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291851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Line 156">
              <a:extLst>
                <a:ext uri="{FF2B5EF4-FFF2-40B4-BE49-F238E27FC236}">
                  <a16:creationId xmlns:a16="http://schemas.microsoft.com/office/drawing/2014/main" id="{43527E50-4FE4-0F92-076C-A9E33B2FE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8122" y="3432087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Line 157">
              <a:extLst>
                <a:ext uri="{FF2B5EF4-FFF2-40B4-BE49-F238E27FC236}">
                  <a16:creationId xmlns:a16="http://schemas.microsoft.com/office/drawing/2014/main" id="{A768626D-D5A2-D044-0EF4-3BDB0426F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399576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Line 158">
              <a:extLst>
                <a:ext uri="{FF2B5EF4-FFF2-40B4-BE49-F238E27FC236}">
                  <a16:creationId xmlns:a16="http://schemas.microsoft.com/office/drawing/2014/main" id="{61904F93-76E4-A2FB-E6A5-D5C5D631D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513" y="2918515"/>
              <a:ext cx="0" cy="14347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" name="Line 159">
              <a:extLst>
                <a:ext uri="{FF2B5EF4-FFF2-40B4-BE49-F238E27FC236}">
                  <a16:creationId xmlns:a16="http://schemas.microsoft.com/office/drawing/2014/main" id="{6F1C84A9-6B93-010F-68B1-876945EB4F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9236" y="2918516"/>
              <a:ext cx="12312" cy="143471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Line 160">
              <a:extLst>
                <a:ext uri="{FF2B5EF4-FFF2-40B4-BE49-F238E27FC236}">
                  <a16:creationId xmlns:a16="http://schemas.microsoft.com/office/drawing/2014/main" id="{D76F42D5-D5F3-5F48-207A-0E86695B9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62026" y="2905989"/>
              <a:ext cx="7710" cy="143471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Oval 161">
              <a:extLst>
                <a:ext uri="{FF2B5EF4-FFF2-40B4-BE49-F238E27FC236}">
                  <a16:creationId xmlns:a16="http://schemas.microsoft.com/office/drawing/2014/main" id="{1A1BA95B-1F69-50D6-8B2F-28B8CAB1D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Oval 162">
              <a:extLst>
                <a:ext uri="{FF2B5EF4-FFF2-40B4-BE49-F238E27FC236}">
                  <a16:creationId xmlns:a16="http://schemas.microsoft.com/office/drawing/2014/main" id="{E5D02ED7-7215-5636-E8B0-166842CFD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Oval 163">
              <a:extLst>
                <a:ext uri="{FF2B5EF4-FFF2-40B4-BE49-F238E27FC236}">
                  <a16:creationId xmlns:a16="http://schemas.microsoft.com/office/drawing/2014/main" id="{7F46BECF-DA3C-6B0E-751F-2142A68BE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930" y="3933135"/>
              <a:ext cx="142954" cy="11691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Oval 164">
              <a:extLst>
                <a:ext uri="{FF2B5EF4-FFF2-40B4-BE49-F238E27FC236}">
                  <a16:creationId xmlns:a16="http://schemas.microsoft.com/office/drawing/2014/main" id="{D7FD571B-D76E-A0B9-96CF-E5BF59FA4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2868411"/>
              <a:ext cx="142954" cy="11691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Oval 165">
              <a:extLst>
                <a:ext uri="{FF2B5EF4-FFF2-40B4-BE49-F238E27FC236}">
                  <a16:creationId xmlns:a16="http://schemas.microsoft.com/office/drawing/2014/main" id="{29D14690-46A3-549C-4D94-BE18BC73B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Oval 166">
              <a:extLst>
                <a:ext uri="{FF2B5EF4-FFF2-40B4-BE49-F238E27FC236}">
                  <a16:creationId xmlns:a16="http://schemas.microsoft.com/office/drawing/2014/main" id="{42821082-DD22-2646-654C-7B6143EF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07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" name="Oval 167">
              <a:extLst>
                <a:ext uri="{FF2B5EF4-FFF2-40B4-BE49-F238E27FC236}">
                  <a16:creationId xmlns:a16="http://schemas.microsoft.com/office/drawing/2014/main" id="{0BB5213A-B687-6B43-CD50-AC1C1D460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Oval 168">
              <a:extLst>
                <a:ext uri="{FF2B5EF4-FFF2-40B4-BE49-F238E27FC236}">
                  <a16:creationId xmlns:a16="http://schemas.microsoft.com/office/drawing/2014/main" id="{2B36417D-7666-85CD-0155-04C9FEA4D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3373633"/>
              <a:ext cx="142954" cy="11691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" name="Oval 169">
              <a:extLst>
                <a:ext uri="{FF2B5EF4-FFF2-40B4-BE49-F238E27FC236}">
                  <a16:creationId xmlns:a16="http://schemas.microsoft.com/office/drawing/2014/main" id="{747B5CBA-5EEE-FE99-70A1-1D5D52056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8048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6" name="Group 45">
            <a:extLst>
              <a:ext uri="{FF2B5EF4-FFF2-40B4-BE49-F238E27FC236}">
                <a16:creationId xmlns:a16="http://schemas.microsoft.com/office/drawing/2014/main" id="{36BB48E7-3F62-C64C-C5B7-6154E2C4EC02}"/>
              </a:ext>
            </a:extLst>
          </p:cNvPr>
          <p:cNvGrpSpPr>
            <a:grpSpLocks/>
          </p:cNvGrpSpPr>
          <p:nvPr/>
        </p:nvGrpSpPr>
        <p:grpSpPr bwMode="auto">
          <a:xfrm>
            <a:off x="1840244" y="1922365"/>
            <a:ext cx="1565472" cy="502360"/>
            <a:chOff x="925" y="2800"/>
            <a:chExt cx="485" cy="175"/>
          </a:xfrm>
        </p:grpSpPr>
        <p:sp>
          <p:nvSpPr>
            <p:cNvPr id="67" name="Rectangle 46">
              <a:extLst>
                <a:ext uri="{FF2B5EF4-FFF2-40B4-BE49-F238E27FC236}">
                  <a16:creationId xmlns:a16="http://schemas.microsoft.com/office/drawing/2014/main" id="{2B946E0C-BB77-B0E3-41E0-41D8E20E7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Rectangle 47">
              <a:extLst>
                <a:ext uri="{FF2B5EF4-FFF2-40B4-BE49-F238E27FC236}">
                  <a16:creationId xmlns:a16="http://schemas.microsoft.com/office/drawing/2014/main" id="{FFBECFDC-7362-5D69-D9ED-B40543BE5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Rectangle 48">
              <a:extLst>
                <a:ext uri="{FF2B5EF4-FFF2-40B4-BE49-F238E27FC236}">
                  <a16:creationId xmlns:a16="http://schemas.microsoft.com/office/drawing/2014/main" id="{706DFE44-CBF8-E5A5-B48F-C19823C7A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Rectangle 49">
              <a:extLst>
                <a:ext uri="{FF2B5EF4-FFF2-40B4-BE49-F238E27FC236}">
                  <a16:creationId xmlns:a16="http://schemas.microsoft.com/office/drawing/2014/main" id="{69D71E09-28A6-6AAC-DA3F-F03775033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1" name="Group 51">
            <a:extLst>
              <a:ext uri="{FF2B5EF4-FFF2-40B4-BE49-F238E27FC236}">
                <a16:creationId xmlns:a16="http://schemas.microsoft.com/office/drawing/2014/main" id="{B1201A91-6755-5E5A-BC22-4A82FE52076F}"/>
              </a:ext>
            </a:extLst>
          </p:cNvPr>
          <p:cNvGrpSpPr>
            <a:grpSpLocks/>
          </p:cNvGrpSpPr>
          <p:nvPr/>
        </p:nvGrpSpPr>
        <p:grpSpPr bwMode="auto">
          <a:xfrm>
            <a:off x="1871482" y="3572604"/>
            <a:ext cx="1565473" cy="502360"/>
            <a:chOff x="925" y="2800"/>
            <a:chExt cx="485" cy="175"/>
          </a:xfrm>
        </p:grpSpPr>
        <p:sp>
          <p:nvSpPr>
            <p:cNvPr id="72" name="Rectangle 52">
              <a:extLst>
                <a:ext uri="{FF2B5EF4-FFF2-40B4-BE49-F238E27FC236}">
                  <a16:creationId xmlns:a16="http://schemas.microsoft.com/office/drawing/2014/main" id="{10A099FB-5395-38D4-616A-35AA4A2E8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53">
              <a:extLst>
                <a:ext uri="{FF2B5EF4-FFF2-40B4-BE49-F238E27FC236}">
                  <a16:creationId xmlns:a16="http://schemas.microsoft.com/office/drawing/2014/main" id="{39276418-9888-0BDA-B494-4182C49E4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54">
              <a:extLst>
                <a:ext uri="{FF2B5EF4-FFF2-40B4-BE49-F238E27FC236}">
                  <a16:creationId xmlns:a16="http://schemas.microsoft.com/office/drawing/2014/main" id="{B53718F5-485E-9592-921C-735F90252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Rectangle 55">
              <a:extLst>
                <a:ext uri="{FF2B5EF4-FFF2-40B4-BE49-F238E27FC236}">
                  <a16:creationId xmlns:a16="http://schemas.microsoft.com/office/drawing/2014/main" id="{0406EDDE-DD75-E442-0AB7-9397F7B87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CD5064C-E537-8D76-6633-EA2548C96B22}"/>
              </a:ext>
            </a:extLst>
          </p:cNvPr>
          <p:cNvGrpSpPr/>
          <p:nvPr/>
        </p:nvGrpSpPr>
        <p:grpSpPr>
          <a:xfrm>
            <a:off x="3706979" y="1701913"/>
            <a:ext cx="1066635" cy="827391"/>
            <a:chOff x="8809641" y="3749783"/>
            <a:chExt cx="868739" cy="673883"/>
          </a:xfrm>
        </p:grpSpPr>
        <p:sp>
          <p:nvSpPr>
            <p:cNvPr id="95" name="Rectangle 57">
              <a:extLst>
                <a:ext uri="{FF2B5EF4-FFF2-40B4-BE49-F238E27FC236}">
                  <a16:creationId xmlns:a16="http://schemas.microsoft.com/office/drawing/2014/main" id="{BA932E39-2C55-4C74-BF90-755EF1B49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19661"/>
              <a:ext cx="868739" cy="60400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6" name="Text Box 79">
              <a:extLst>
                <a:ext uri="{FF2B5EF4-FFF2-40B4-BE49-F238E27FC236}">
                  <a16:creationId xmlns:a16="http://schemas.microsoft.com/office/drawing/2014/main" id="{5C273EEF-A23C-D580-B83B-6D185E7B2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1347" y="3749783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320626E-DDF9-6AA7-3EDC-5D686556371E}"/>
              </a:ext>
            </a:extLst>
          </p:cNvPr>
          <p:cNvGrpSpPr/>
          <p:nvPr/>
        </p:nvGrpSpPr>
        <p:grpSpPr>
          <a:xfrm>
            <a:off x="3698298" y="2608401"/>
            <a:ext cx="1075700" cy="806710"/>
            <a:chOff x="8809641" y="3768755"/>
            <a:chExt cx="876122" cy="657038"/>
          </a:xfrm>
        </p:grpSpPr>
        <p:sp>
          <p:nvSpPr>
            <p:cNvPr id="98" name="Rectangle 57">
              <a:extLst>
                <a:ext uri="{FF2B5EF4-FFF2-40B4-BE49-F238E27FC236}">
                  <a16:creationId xmlns:a16="http://schemas.microsoft.com/office/drawing/2014/main" id="{5C9E6A8D-00CF-9514-85A7-01673A2C8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8"/>
              <a:ext cx="868739" cy="5998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Text Box 79">
              <a:extLst>
                <a:ext uri="{FF2B5EF4-FFF2-40B4-BE49-F238E27FC236}">
                  <a16:creationId xmlns:a16="http://schemas.microsoft.com/office/drawing/2014/main" id="{2A5294CB-9CC2-C997-90E0-A19A444B6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3176" y="3768755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EF0C4A2-FD02-F4E2-592F-02DABC326798}"/>
              </a:ext>
            </a:extLst>
          </p:cNvPr>
          <p:cNvGrpSpPr/>
          <p:nvPr/>
        </p:nvGrpSpPr>
        <p:grpSpPr>
          <a:xfrm>
            <a:off x="3717229" y="3494052"/>
            <a:ext cx="1066635" cy="794741"/>
            <a:chOff x="8809641" y="3765177"/>
            <a:chExt cx="868739" cy="647290"/>
          </a:xfrm>
        </p:grpSpPr>
        <p:sp>
          <p:nvSpPr>
            <p:cNvPr id="101" name="Rectangle 57">
              <a:extLst>
                <a:ext uri="{FF2B5EF4-FFF2-40B4-BE49-F238E27FC236}">
                  <a16:creationId xmlns:a16="http://schemas.microsoft.com/office/drawing/2014/main" id="{0C2BD124-6F2C-2D8B-242F-52399294F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0561"/>
              <a:ext cx="868739" cy="59190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79">
              <a:extLst>
                <a:ext uri="{FF2B5EF4-FFF2-40B4-BE49-F238E27FC236}">
                  <a16:creationId xmlns:a16="http://schemas.microsoft.com/office/drawing/2014/main" id="{A4009D12-B592-3AFF-C374-836E61D2B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2927" y="3765177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19" name="Group 45">
            <a:extLst>
              <a:ext uri="{FF2B5EF4-FFF2-40B4-BE49-F238E27FC236}">
                <a16:creationId xmlns:a16="http://schemas.microsoft.com/office/drawing/2014/main" id="{0332D171-0892-B334-BFD8-8061ACCCA41F}"/>
              </a:ext>
            </a:extLst>
          </p:cNvPr>
          <p:cNvGrpSpPr>
            <a:grpSpLocks/>
          </p:cNvGrpSpPr>
          <p:nvPr/>
        </p:nvGrpSpPr>
        <p:grpSpPr bwMode="auto">
          <a:xfrm>
            <a:off x="1864727" y="2770760"/>
            <a:ext cx="1565472" cy="502360"/>
            <a:chOff x="925" y="2800"/>
            <a:chExt cx="485" cy="175"/>
          </a:xfrm>
        </p:grpSpPr>
        <p:sp>
          <p:nvSpPr>
            <p:cNvPr id="120" name="Rectangle 46">
              <a:extLst>
                <a:ext uri="{FF2B5EF4-FFF2-40B4-BE49-F238E27FC236}">
                  <a16:creationId xmlns:a16="http://schemas.microsoft.com/office/drawing/2014/main" id="{324747E2-4BD0-C484-375A-91E82472C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1" name="Rectangle 47">
              <a:extLst>
                <a:ext uri="{FF2B5EF4-FFF2-40B4-BE49-F238E27FC236}">
                  <a16:creationId xmlns:a16="http://schemas.microsoft.com/office/drawing/2014/main" id="{54D51E51-9FE8-A3E6-A12D-4E68829DF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" name="Rectangle 48">
              <a:extLst>
                <a:ext uri="{FF2B5EF4-FFF2-40B4-BE49-F238E27FC236}">
                  <a16:creationId xmlns:a16="http://schemas.microsoft.com/office/drawing/2014/main" id="{293BB401-D257-40D5-E9D1-60210FAB6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Rectangle 49">
              <a:extLst>
                <a:ext uri="{FF2B5EF4-FFF2-40B4-BE49-F238E27FC236}">
                  <a16:creationId xmlns:a16="http://schemas.microsoft.com/office/drawing/2014/main" id="{D5814C54-DA29-085A-6CC0-D8BD3EF1E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B1B9B3-D3B1-42C2-6660-9F9A12F76D85}"/>
              </a:ext>
            </a:extLst>
          </p:cNvPr>
          <p:cNvSpPr/>
          <p:nvPr/>
        </p:nvSpPr>
        <p:spPr>
          <a:xfrm>
            <a:off x="4359308" y="2070622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F1C5FC1-8548-FA57-43E3-0B870F773701}"/>
              </a:ext>
            </a:extLst>
          </p:cNvPr>
          <p:cNvSpPr/>
          <p:nvPr/>
        </p:nvSpPr>
        <p:spPr>
          <a:xfrm>
            <a:off x="4413550" y="3864923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3E58460-62E0-D3B6-483A-1FA011ABECD7}"/>
              </a:ext>
            </a:extLst>
          </p:cNvPr>
          <p:cNvSpPr/>
          <p:nvPr/>
        </p:nvSpPr>
        <p:spPr>
          <a:xfrm>
            <a:off x="4074113" y="3864922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5E0D03C-8064-E494-F553-5D60CAA02F06}"/>
              </a:ext>
            </a:extLst>
          </p:cNvPr>
          <p:cNvSpPr/>
          <p:nvPr/>
        </p:nvSpPr>
        <p:spPr>
          <a:xfrm>
            <a:off x="4350177" y="2984743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5E46549-5F14-C152-09EA-EBE4AFE4343B}"/>
              </a:ext>
            </a:extLst>
          </p:cNvPr>
          <p:cNvSpPr txBox="1"/>
          <p:nvPr/>
        </p:nvSpPr>
        <p:spPr>
          <a:xfrm>
            <a:off x="3175843" y="1601258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B61F4B1-DD8F-176B-4DFE-4EFFCAC38132}"/>
              </a:ext>
            </a:extLst>
          </p:cNvPr>
          <p:cNvSpPr txBox="1"/>
          <p:nvPr/>
        </p:nvSpPr>
        <p:spPr>
          <a:xfrm>
            <a:off x="3177608" y="2469457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C01B555-D1C1-D52C-F84F-D9FD0ED27B73}"/>
              </a:ext>
            </a:extLst>
          </p:cNvPr>
          <p:cNvSpPr txBox="1"/>
          <p:nvPr/>
        </p:nvSpPr>
        <p:spPr>
          <a:xfrm>
            <a:off x="3204971" y="32881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E12255B-4A37-6E9C-F8F6-E2CA6E39D69A}"/>
              </a:ext>
            </a:extLst>
          </p:cNvPr>
          <p:cNvSpPr txBox="1"/>
          <p:nvPr/>
        </p:nvSpPr>
        <p:spPr>
          <a:xfrm>
            <a:off x="6259977" y="4551253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6BE93F9-0A81-0B31-F07B-246142B0F9DC}"/>
              </a:ext>
            </a:extLst>
          </p:cNvPr>
          <p:cNvSpPr txBox="1"/>
          <p:nvPr/>
        </p:nvSpPr>
        <p:spPr>
          <a:xfrm>
            <a:off x="7154533" y="4567524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48DAE5E-C42F-6147-3A60-10F36924A68A}"/>
              </a:ext>
            </a:extLst>
          </p:cNvPr>
          <p:cNvSpPr txBox="1"/>
          <p:nvPr/>
        </p:nvSpPr>
        <p:spPr>
          <a:xfrm>
            <a:off x="8098169" y="45806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587E5F-2E79-14E8-A17A-4CA034B98577}"/>
              </a:ext>
            </a:extLst>
          </p:cNvPr>
          <p:cNvSpPr/>
          <p:nvPr/>
        </p:nvSpPr>
        <p:spPr>
          <a:xfrm>
            <a:off x="8321046" y="95560"/>
            <a:ext cx="3455985" cy="180437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In every tick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Each input sends to at most one output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Each output receives from at most each input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CD9617-5B4B-69DF-E749-EF8475C3EB80}"/>
              </a:ext>
            </a:extLst>
          </p:cNvPr>
          <p:cNvSpPr txBox="1"/>
          <p:nvPr/>
        </p:nvSpPr>
        <p:spPr>
          <a:xfrm>
            <a:off x="9104208" y="4380559"/>
            <a:ext cx="2579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Known as the crossbar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9ACE41-D674-8D14-26BA-3F21D9125721}"/>
              </a:ext>
            </a:extLst>
          </p:cNvPr>
          <p:cNvCxnSpPr/>
          <p:nvPr/>
        </p:nvCxnSpPr>
        <p:spPr>
          <a:xfrm>
            <a:off x="8861097" y="3351170"/>
            <a:ext cx="826913" cy="937623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286B3BC-E58D-FA36-FA0C-5F060B2E1653}"/>
              </a:ext>
            </a:extLst>
          </p:cNvPr>
          <p:cNvSpPr txBox="1"/>
          <p:nvPr/>
        </p:nvSpPr>
        <p:spPr>
          <a:xfrm>
            <a:off x="9004789" y="4752190"/>
            <a:ext cx="27783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Scheduling the crossbar:</a:t>
            </a:r>
          </a:p>
          <a:p>
            <a:r>
              <a:rPr lang="en-US" sz="2000" b="1" dirty="0"/>
              <a:t>Bipartite matching</a:t>
            </a:r>
          </a:p>
        </p:txBody>
      </p:sp>
    </p:spTree>
    <p:extLst>
      <p:ext uri="{BB962C8B-B14F-4D97-AF65-F5344CB8AC3E}">
        <p14:creationId xmlns:p14="http://schemas.microsoft.com/office/powerpoint/2010/main" val="276740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69 -0.01389 L 0.20143 -0.02384 L 0.19753 0.39791 L 0.19753 0.39791 L 0.19753 0.39791 " pathEditMode="relative" ptsTypes="AAAAA">
                                      <p:cBhvr>
                                        <p:cTn id="6" dur="2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427 -0.01342 L 0.27812 0.28704 L 0.27812 0.28704 " pathEditMode="relative" ptsTypes="AAAA">
                                      <p:cBhvr>
                                        <p:cTn id="8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0338 -0.00995 L 0.12343 0.15556 " pathEditMode="relative" ptsTypes="AAA">
                                      <p:cBhvr>
                                        <p:cTn id="10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  <p:bldP spid="130" grpId="0" animBg="1"/>
      <p:bldP spid="132" grpId="0" animBg="1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989A1E-8AF1-0515-1BE8-C223484FF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331" y="1705520"/>
            <a:ext cx="590205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10F90"/>
                </a:solidFill>
              </a:rPr>
              <a:t>Pros</a:t>
            </a:r>
            <a:r>
              <a:rPr lang="en-US" dirty="0"/>
              <a:t>:</a:t>
            </a:r>
          </a:p>
          <a:p>
            <a:pPr lvl="1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For each memory, 1 enqueue and 1 dequeue per tick</a:t>
            </a:r>
          </a:p>
          <a:p>
            <a:r>
              <a:rPr lang="en-US" dirty="0">
                <a:solidFill>
                  <a:srgbClr val="010F90"/>
                </a:solidFill>
                <a:latin typeface="Calibri" panose="020F0502020204030204"/>
              </a:rPr>
              <a:t>Cons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:</a:t>
            </a:r>
          </a:p>
          <a:p>
            <a:pPr lvl="1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Static allocation of memory resources to input ports</a:t>
            </a: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 panose="020F0502020204030204"/>
              </a:rPr>
              <a:t>Head of line blocking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(</a:t>
            </a:r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HoL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blocking) </a:t>
            </a: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F3311B-08D4-91A6-4EA0-0B0DBA1A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queuing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F44E3A-12FA-6AB9-531E-AE839A9ED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461" y="2445249"/>
            <a:ext cx="4601083" cy="312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57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F3311B-08D4-91A6-4EA0-0B0DBA1A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 of line blocking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A6CF4F6-6740-70D1-4608-A08CEBBFE257}"/>
              </a:ext>
            </a:extLst>
          </p:cNvPr>
          <p:cNvGrpSpPr/>
          <p:nvPr/>
        </p:nvGrpSpPr>
        <p:grpSpPr>
          <a:xfrm>
            <a:off x="7524163" y="1767498"/>
            <a:ext cx="3655185" cy="2490677"/>
            <a:chOff x="4298122" y="2868411"/>
            <a:chExt cx="2179044" cy="1484821"/>
          </a:xfrm>
        </p:grpSpPr>
        <p:sp>
          <p:nvSpPr>
            <p:cNvPr id="10" name="Line 155">
              <a:extLst>
                <a:ext uri="{FF2B5EF4-FFF2-40B4-BE49-F238E27FC236}">
                  <a16:creationId xmlns:a16="http://schemas.microsoft.com/office/drawing/2014/main" id="{E70B6BBA-D95B-98A9-2897-0C7ABE508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291851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Line 156">
              <a:extLst>
                <a:ext uri="{FF2B5EF4-FFF2-40B4-BE49-F238E27FC236}">
                  <a16:creationId xmlns:a16="http://schemas.microsoft.com/office/drawing/2014/main" id="{43527E50-4FE4-0F92-076C-A9E33B2FE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8122" y="3432087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Line 157">
              <a:extLst>
                <a:ext uri="{FF2B5EF4-FFF2-40B4-BE49-F238E27FC236}">
                  <a16:creationId xmlns:a16="http://schemas.microsoft.com/office/drawing/2014/main" id="{A768626D-D5A2-D044-0EF4-3BDB0426F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399576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Line 158">
              <a:extLst>
                <a:ext uri="{FF2B5EF4-FFF2-40B4-BE49-F238E27FC236}">
                  <a16:creationId xmlns:a16="http://schemas.microsoft.com/office/drawing/2014/main" id="{61904F93-76E4-A2FB-E6A5-D5C5D631D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513" y="2918515"/>
              <a:ext cx="0" cy="14347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" name="Line 159">
              <a:extLst>
                <a:ext uri="{FF2B5EF4-FFF2-40B4-BE49-F238E27FC236}">
                  <a16:creationId xmlns:a16="http://schemas.microsoft.com/office/drawing/2014/main" id="{6F1C84A9-6B93-010F-68B1-876945EB4F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9236" y="2918516"/>
              <a:ext cx="12312" cy="143471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Line 160">
              <a:extLst>
                <a:ext uri="{FF2B5EF4-FFF2-40B4-BE49-F238E27FC236}">
                  <a16:creationId xmlns:a16="http://schemas.microsoft.com/office/drawing/2014/main" id="{D76F42D5-D5F3-5F48-207A-0E86695B9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62026" y="2905989"/>
              <a:ext cx="7710" cy="143471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Oval 161">
              <a:extLst>
                <a:ext uri="{FF2B5EF4-FFF2-40B4-BE49-F238E27FC236}">
                  <a16:creationId xmlns:a16="http://schemas.microsoft.com/office/drawing/2014/main" id="{1A1BA95B-1F69-50D6-8B2F-28B8CAB1D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Oval 162">
              <a:extLst>
                <a:ext uri="{FF2B5EF4-FFF2-40B4-BE49-F238E27FC236}">
                  <a16:creationId xmlns:a16="http://schemas.microsoft.com/office/drawing/2014/main" id="{E5D02ED7-7215-5636-E8B0-166842CFD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3373633"/>
              <a:ext cx="142954" cy="11691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Oval 163">
              <a:extLst>
                <a:ext uri="{FF2B5EF4-FFF2-40B4-BE49-F238E27FC236}">
                  <a16:creationId xmlns:a16="http://schemas.microsoft.com/office/drawing/2014/main" id="{7F46BECF-DA3C-6B0E-751F-2142A68BE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93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Oval 164">
              <a:extLst>
                <a:ext uri="{FF2B5EF4-FFF2-40B4-BE49-F238E27FC236}">
                  <a16:creationId xmlns:a16="http://schemas.microsoft.com/office/drawing/2014/main" id="{D7FD571B-D76E-A0B9-96CF-E5BF59FA4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Oval 165">
              <a:extLst>
                <a:ext uri="{FF2B5EF4-FFF2-40B4-BE49-F238E27FC236}">
                  <a16:creationId xmlns:a16="http://schemas.microsoft.com/office/drawing/2014/main" id="{29D14690-46A3-549C-4D94-BE18BC73B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Oval 166">
              <a:extLst>
                <a:ext uri="{FF2B5EF4-FFF2-40B4-BE49-F238E27FC236}">
                  <a16:creationId xmlns:a16="http://schemas.microsoft.com/office/drawing/2014/main" id="{42821082-DD22-2646-654C-7B6143EF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070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" name="Oval 167">
              <a:extLst>
                <a:ext uri="{FF2B5EF4-FFF2-40B4-BE49-F238E27FC236}">
                  <a16:creationId xmlns:a16="http://schemas.microsoft.com/office/drawing/2014/main" id="{0BB5213A-B687-6B43-CD50-AC1C1D460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2868411"/>
              <a:ext cx="142954" cy="11691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Oval 168">
              <a:extLst>
                <a:ext uri="{FF2B5EF4-FFF2-40B4-BE49-F238E27FC236}">
                  <a16:creationId xmlns:a16="http://schemas.microsoft.com/office/drawing/2014/main" id="{2B36417D-7666-85CD-0155-04C9FEA4D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33736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" name="Oval 169">
              <a:extLst>
                <a:ext uri="{FF2B5EF4-FFF2-40B4-BE49-F238E27FC236}">
                  <a16:creationId xmlns:a16="http://schemas.microsoft.com/office/drawing/2014/main" id="{747B5CBA-5EEE-FE99-70A1-1D5D52056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8048" y="393313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6" name="Group 45">
            <a:extLst>
              <a:ext uri="{FF2B5EF4-FFF2-40B4-BE49-F238E27FC236}">
                <a16:creationId xmlns:a16="http://schemas.microsoft.com/office/drawing/2014/main" id="{36BB48E7-3F62-C64C-C5B7-6154E2C4EC02}"/>
              </a:ext>
            </a:extLst>
          </p:cNvPr>
          <p:cNvGrpSpPr>
            <a:grpSpLocks/>
          </p:cNvGrpSpPr>
          <p:nvPr/>
        </p:nvGrpSpPr>
        <p:grpSpPr bwMode="auto">
          <a:xfrm>
            <a:off x="4289530" y="1667550"/>
            <a:ext cx="1565472" cy="502360"/>
            <a:chOff x="925" y="2800"/>
            <a:chExt cx="485" cy="175"/>
          </a:xfrm>
        </p:grpSpPr>
        <p:sp>
          <p:nvSpPr>
            <p:cNvPr id="67" name="Rectangle 46">
              <a:extLst>
                <a:ext uri="{FF2B5EF4-FFF2-40B4-BE49-F238E27FC236}">
                  <a16:creationId xmlns:a16="http://schemas.microsoft.com/office/drawing/2014/main" id="{2B946E0C-BB77-B0E3-41E0-41D8E20E7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Rectangle 47">
              <a:extLst>
                <a:ext uri="{FF2B5EF4-FFF2-40B4-BE49-F238E27FC236}">
                  <a16:creationId xmlns:a16="http://schemas.microsoft.com/office/drawing/2014/main" id="{FFBECFDC-7362-5D69-D9ED-B40543BE5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Rectangle 48">
              <a:extLst>
                <a:ext uri="{FF2B5EF4-FFF2-40B4-BE49-F238E27FC236}">
                  <a16:creationId xmlns:a16="http://schemas.microsoft.com/office/drawing/2014/main" id="{706DFE44-CBF8-E5A5-B48F-C19823C7A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Rectangle 49">
              <a:extLst>
                <a:ext uri="{FF2B5EF4-FFF2-40B4-BE49-F238E27FC236}">
                  <a16:creationId xmlns:a16="http://schemas.microsoft.com/office/drawing/2014/main" id="{69D71E09-28A6-6AAC-DA3F-F03775033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1" name="Group 51">
            <a:extLst>
              <a:ext uri="{FF2B5EF4-FFF2-40B4-BE49-F238E27FC236}">
                <a16:creationId xmlns:a16="http://schemas.microsoft.com/office/drawing/2014/main" id="{B1201A91-6755-5E5A-BC22-4A82FE52076F}"/>
              </a:ext>
            </a:extLst>
          </p:cNvPr>
          <p:cNvGrpSpPr>
            <a:grpSpLocks/>
          </p:cNvGrpSpPr>
          <p:nvPr/>
        </p:nvGrpSpPr>
        <p:grpSpPr bwMode="auto">
          <a:xfrm>
            <a:off x="4320768" y="3317789"/>
            <a:ext cx="1565473" cy="502360"/>
            <a:chOff x="925" y="2800"/>
            <a:chExt cx="485" cy="175"/>
          </a:xfrm>
        </p:grpSpPr>
        <p:sp>
          <p:nvSpPr>
            <p:cNvPr id="72" name="Rectangle 52">
              <a:extLst>
                <a:ext uri="{FF2B5EF4-FFF2-40B4-BE49-F238E27FC236}">
                  <a16:creationId xmlns:a16="http://schemas.microsoft.com/office/drawing/2014/main" id="{10A099FB-5395-38D4-616A-35AA4A2E8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53">
              <a:extLst>
                <a:ext uri="{FF2B5EF4-FFF2-40B4-BE49-F238E27FC236}">
                  <a16:creationId xmlns:a16="http://schemas.microsoft.com/office/drawing/2014/main" id="{39276418-9888-0BDA-B494-4182C49E4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54">
              <a:extLst>
                <a:ext uri="{FF2B5EF4-FFF2-40B4-BE49-F238E27FC236}">
                  <a16:creationId xmlns:a16="http://schemas.microsoft.com/office/drawing/2014/main" id="{B53718F5-485E-9592-921C-735F90252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Rectangle 55">
              <a:extLst>
                <a:ext uri="{FF2B5EF4-FFF2-40B4-BE49-F238E27FC236}">
                  <a16:creationId xmlns:a16="http://schemas.microsoft.com/office/drawing/2014/main" id="{0406EDDE-DD75-E442-0AB7-9397F7B87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CD5064C-E537-8D76-6633-EA2548C96B22}"/>
              </a:ext>
            </a:extLst>
          </p:cNvPr>
          <p:cNvGrpSpPr/>
          <p:nvPr/>
        </p:nvGrpSpPr>
        <p:grpSpPr>
          <a:xfrm>
            <a:off x="6156265" y="1447098"/>
            <a:ext cx="1066635" cy="827391"/>
            <a:chOff x="8809641" y="3749783"/>
            <a:chExt cx="868739" cy="673883"/>
          </a:xfrm>
        </p:grpSpPr>
        <p:sp>
          <p:nvSpPr>
            <p:cNvPr id="95" name="Rectangle 57">
              <a:extLst>
                <a:ext uri="{FF2B5EF4-FFF2-40B4-BE49-F238E27FC236}">
                  <a16:creationId xmlns:a16="http://schemas.microsoft.com/office/drawing/2014/main" id="{BA932E39-2C55-4C74-BF90-755EF1B49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19661"/>
              <a:ext cx="868739" cy="60400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6" name="Text Box 79">
              <a:extLst>
                <a:ext uri="{FF2B5EF4-FFF2-40B4-BE49-F238E27FC236}">
                  <a16:creationId xmlns:a16="http://schemas.microsoft.com/office/drawing/2014/main" id="{5C273EEF-A23C-D580-B83B-6D185E7B2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1347" y="3749783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320626E-DDF9-6AA7-3EDC-5D686556371E}"/>
              </a:ext>
            </a:extLst>
          </p:cNvPr>
          <p:cNvGrpSpPr/>
          <p:nvPr/>
        </p:nvGrpSpPr>
        <p:grpSpPr>
          <a:xfrm>
            <a:off x="6147584" y="2353586"/>
            <a:ext cx="1075700" cy="806710"/>
            <a:chOff x="8809641" y="3768755"/>
            <a:chExt cx="876122" cy="657038"/>
          </a:xfrm>
        </p:grpSpPr>
        <p:sp>
          <p:nvSpPr>
            <p:cNvPr id="98" name="Rectangle 57">
              <a:extLst>
                <a:ext uri="{FF2B5EF4-FFF2-40B4-BE49-F238E27FC236}">
                  <a16:creationId xmlns:a16="http://schemas.microsoft.com/office/drawing/2014/main" id="{5C9E6A8D-00CF-9514-85A7-01673A2C8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5918"/>
              <a:ext cx="868739" cy="5998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Text Box 79">
              <a:extLst>
                <a:ext uri="{FF2B5EF4-FFF2-40B4-BE49-F238E27FC236}">
                  <a16:creationId xmlns:a16="http://schemas.microsoft.com/office/drawing/2014/main" id="{2A5294CB-9CC2-C997-90E0-A19A444B6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3176" y="3768755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EF0C4A2-FD02-F4E2-592F-02DABC326798}"/>
              </a:ext>
            </a:extLst>
          </p:cNvPr>
          <p:cNvGrpSpPr/>
          <p:nvPr/>
        </p:nvGrpSpPr>
        <p:grpSpPr>
          <a:xfrm>
            <a:off x="6166515" y="3239237"/>
            <a:ext cx="1066635" cy="794741"/>
            <a:chOff x="8809641" y="3765177"/>
            <a:chExt cx="868739" cy="647290"/>
          </a:xfrm>
        </p:grpSpPr>
        <p:sp>
          <p:nvSpPr>
            <p:cNvPr id="101" name="Rectangle 57">
              <a:extLst>
                <a:ext uri="{FF2B5EF4-FFF2-40B4-BE49-F238E27FC236}">
                  <a16:creationId xmlns:a16="http://schemas.microsoft.com/office/drawing/2014/main" id="{0C2BD124-6F2C-2D8B-242F-52399294F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641" y="3820561"/>
              <a:ext cx="868739" cy="59190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79">
              <a:extLst>
                <a:ext uri="{FF2B5EF4-FFF2-40B4-BE49-F238E27FC236}">
                  <a16:creationId xmlns:a16="http://schemas.microsoft.com/office/drawing/2014/main" id="{A4009D12-B592-3AFF-C374-836E61D2B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2927" y="3765177"/>
              <a:ext cx="78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</a:t>
              </a:r>
            </a:p>
          </p:txBody>
        </p:sp>
      </p:grpSp>
      <p:grpSp>
        <p:nvGrpSpPr>
          <p:cNvPr id="119" name="Group 45">
            <a:extLst>
              <a:ext uri="{FF2B5EF4-FFF2-40B4-BE49-F238E27FC236}">
                <a16:creationId xmlns:a16="http://schemas.microsoft.com/office/drawing/2014/main" id="{0332D171-0892-B334-BFD8-8061ACCCA41F}"/>
              </a:ext>
            </a:extLst>
          </p:cNvPr>
          <p:cNvGrpSpPr>
            <a:grpSpLocks/>
          </p:cNvGrpSpPr>
          <p:nvPr/>
        </p:nvGrpSpPr>
        <p:grpSpPr bwMode="auto">
          <a:xfrm>
            <a:off x="4314013" y="2515945"/>
            <a:ext cx="1565472" cy="502360"/>
            <a:chOff x="925" y="2800"/>
            <a:chExt cx="485" cy="175"/>
          </a:xfrm>
        </p:grpSpPr>
        <p:sp>
          <p:nvSpPr>
            <p:cNvPr id="120" name="Rectangle 46">
              <a:extLst>
                <a:ext uri="{FF2B5EF4-FFF2-40B4-BE49-F238E27FC236}">
                  <a16:creationId xmlns:a16="http://schemas.microsoft.com/office/drawing/2014/main" id="{324747E2-4BD0-C484-375A-91E82472C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1" name="Rectangle 47">
              <a:extLst>
                <a:ext uri="{FF2B5EF4-FFF2-40B4-BE49-F238E27FC236}">
                  <a16:creationId xmlns:a16="http://schemas.microsoft.com/office/drawing/2014/main" id="{54D51E51-9FE8-A3E6-A12D-4E68829DF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" name="Rectangle 48">
              <a:extLst>
                <a:ext uri="{FF2B5EF4-FFF2-40B4-BE49-F238E27FC236}">
                  <a16:creationId xmlns:a16="http://schemas.microsoft.com/office/drawing/2014/main" id="{293BB401-D257-40D5-E9D1-60210FAB6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Rectangle 49">
              <a:extLst>
                <a:ext uri="{FF2B5EF4-FFF2-40B4-BE49-F238E27FC236}">
                  <a16:creationId xmlns:a16="http://schemas.microsoft.com/office/drawing/2014/main" id="{D5814C54-DA29-085A-6CC0-D8BD3EF1E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27278A3-31D1-6DC9-B494-24E5A98374F7}"/>
              </a:ext>
            </a:extLst>
          </p:cNvPr>
          <p:cNvSpPr/>
          <p:nvPr/>
        </p:nvSpPr>
        <p:spPr>
          <a:xfrm>
            <a:off x="6835909" y="1826035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B1B9B3-D3B1-42C2-6660-9F9A12F76D85}"/>
              </a:ext>
            </a:extLst>
          </p:cNvPr>
          <p:cNvSpPr/>
          <p:nvPr/>
        </p:nvSpPr>
        <p:spPr>
          <a:xfrm>
            <a:off x="6496472" y="1826034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3FD5987-EE88-3020-52D0-F8B9DF39A7C2}"/>
              </a:ext>
            </a:extLst>
          </p:cNvPr>
          <p:cNvSpPr/>
          <p:nvPr/>
        </p:nvSpPr>
        <p:spPr>
          <a:xfrm>
            <a:off x="6827340" y="2729928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F1C5FC1-8548-FA57-43E3-0B870F773701}"/>
              </a:ext>
            </a:extLst>
          </p:cNvPr>
          <p:cNvSpPr/>
          <p:nvPr/>
        </p:nvSpPr>
        <p:spPr>
          <a:xfrm>
            <a:off x="6862836" y="3610108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3E58460-62E0-D3B6-483A-1FA011ABECD7}"/>
              </a:ext>
            </a:extLst>
          </p:cNvPr>
          <p:cNvSpPr/>
          <p:nvPr/>
        </p:nvSpPr>
        <p:spPr>
          <a:xfrm>
            <a:off x="6523399" y="3610107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5E0D03C-8064-E494-F553-5D60CAA02F06}"/>
              </a:ext>
            </a:extLst>
          </p:cNvPr>
          <p:cNvSpPr/>
          <p:nvPr/>
        </p:nvSpPr>
        <p:spPr>
          <a:xfrm>
            <a:off x="6454017" y="2719590"/>
            <a:ext cx="304345" cy="37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5E46549-5F14-C152-09EA-EBE4AFE4343B}"/>
              </a:ext>
            </a:extLst>
          </p:cNvPr>
          <p:cNvSpPr txBox="1"/>
          <p:nvPr/>
        </p:nvSpPr>
        <p:spPr>
          <a:xfrm>
            <a:off x="5625129" y="1346443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B61F4B1-DD8F-176B-4DFE-4EFFCAC38132}"/>
              </a:ext>
            </a:extLst>
          </p:cNvPr>
          <p:cNvSpPr txBox="1"/>
          <p:nvPr/>
        </p:nvSpPr>
        <p:spPr>
          <a:xfrm>
            <a:off x="5626894" y="2214642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C01B555-D1C1-D52C-F84F-D9FD0ED27B73}"/>
              </a:ext>
            </a:extLst>
          </p:cNvPr>
          <p:cNvSpPr txBox="1"/>
          <p:nvPr/>
        </p:nvSpPr>
        <p:spPr>
          <a:xfrm>
            <a:off x="5654257" y="30333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grpSp>
        <p:nvGrpSpPr>
          <p:cNvPr id="76" name="Group 64">
            <a:extLst>
              <a:ext uri="{FF2B5EF4-FFF2-40B4-BE49-F238E27FC236}">
                <a16:creationId xmlns:a16="http://schemas.microsoft.com/office/drawing/2014/main" id="{879D23FF-1B5A-236E-C4B7-4B9F50F73D14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9463386" y="4949571"/>
            <a:ext cx="1566181" cy="502360"/>
            <a:chOff x="498" y="3463"/>
            <a:chExt cx="424" cy="136"/>
          </a:xfrm>
        </p:grpSpPr>
        <p:sp>
          <p:nvSpPr>
            <p:cNvPr id="77" name="Rectangle 59">
              <a:extLst>
                <a:ext uri="{FF2B5EF4-FFF2-40B4-BE49-F238E27FC236}">
                  <a16:creationId xmlns:a16="http://schemas.microsoft.com/office/drawing/2014/main" id="{56F17991-C0AB-A3DA-21DF-1E071A1A9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D01C0BE0-E93A-A0B4-62CE-2527908D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Rectangle 61">
              <a:extLst>
                <a:ext uri="{FF2B5EF4-FFF2-40B4-BE49-F238E27FC236}">
                  <a16:creationId xmlns:a16="http://schemas.microsoft.com/office/drawing/2014/main" id="{FE6A9FA2-6E0D-8405-4BB1-74487AD38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Rectangle 62">
              <a:extLst>
                <a:ext uri="{FF2B5EF4-FFF2-40B4-BE49-F238E27FC236}">
                  <a16:creationId xmlns:a16="http://schemas.microsoft.com/office/drawing/2014/main" id="{FB3407C5-BD0F-F6E5-0650-995E057F3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2" name="Group 65">
            <a:extLst>
              <a:ext uri="{FF2B5EF4-FFF2-40B4-BE49-F238E27FC236}">
                <a16:creationId xmlns:a16="http://schemas.microsoft.com/office/drawing/2014/main" id="{BFF5242A-B916-E813-ADE3-405AD3DEFD59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8592989" y="4930169"/>
            <a:ext cx="1566180" cy="502360"/>
            <a:chOff x="498" y="3463"/>
            <a:chExt cx="424" cy="136"/>
          </a:xfrm>
        </p:grpSpPr>
        <p:sp>
          <p:nvSpPr>
            <p:cNvPr id="83" name="Rectangle 66">
              <a:extLst>
                <a:ext uri="{FF2B5EF4-FFF2-40B4-BE49-F238E27FC236}">
                  <a16:creationId xmlns:a16="http://schemas.microsoft.com/office/drawing/2014/main" id="{6E5BFACF-22F8-EDB8-0262-2D478E527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Rectangle 67">
              <a:extLst>
                <a:ext uri="{FF2B5EF4-FFF2-40B4-BE49-F238E27FC236}">
                  <a16:creationId xmlns:a16="http://schemas.microsoft.com/office/drawing/2014/main" id="{699EA885-6E2F-DF3B-66F8-1768513FC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Rectangle 68">
              <a:extLst>
                <a:ext uri="{FF2B5EF4-FFF2-40B4-BE49-F238E27FC236}">
                  <a16:creationId xmlns:a16="http://schemas.microsoft.com/office/drawing/2014/main" id="{956CD487-E555-93C8-4013-DFA7A2296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Rectangle 69">
              <a:extLst>
                <a:ext uri="{FF2B5EF4-FFF2-40B4-BE49-F238E27FC236}">
                  <a16:creationId xmlns:a16="http://schemas.microsoft.com/office/drawing/2014/main" id="{4F2AF461-F248-9205-FDED-14E0272B3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8" name="Group 71">
            <a:extLst>
              <a:ext uri="{FF2B5EF4-FFF2-40B4-BE49-F238E27FC236}">
                <a16:creationId xmlns:a16="http://schemas.microsoft.com/office/drawing/2014/main" id="{E9597DD1-CB48-3A16-BA20-ECFD41ABA9AC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719177" y="4936961"/>
            <a:ext cx="1566181" cy="502360"/>
            <a:chOff x="498" y="3463"/>
            <a:chExt cx="424" cy="136"/>
          </a:xfrm>
        </p:grpSpPr>
        <p:sp>
          <p:nvSpPr>
            <p:cNvPr id="89" name="Rectangle 72">
              <a:extLst>
                <a:ext uri="{FF2B5EF4-FFF2-40B4-BE49-F238E27FC236}">
                  <a16:creationId xmlns:a16="http://schemas.microsoft.com/office/drawing/2014/main" id="{3C0702F2-E8A8-0F62-45F8-4EE1B4F99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73">
              <a:extLst>
                <a:ext uri="{FF2B5EF4-FFF2-40B4-BE49-F238E27FC236}">
                  <a16:creationId xmlns:a16="http://schemas.microsoft.com/office/drawing/2014/main" id="{1B35B8AE-52D4-5705-E2B0-DCDC5DCAA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74">
              <a:extLst>
                <a:ext uri="{FF2B5EF4-FFF2-40B4-BE49-F238E27FC236}">
                  <a16:creationId xmlns:a16="http://schemas.microsoft.com/office/drawing/2014/main" id="{88C579AE-B164-5A62-F8BD-706F377AB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Rectangle 75">
              <a:extLst>
                <a:ext uri="{FF2B5EF4-FFF2-40B4-BE49-F238E27FC236}">
                  <a16:creationId xmlns:a16="http://schemas.microsoft.com/office/drawing/2014/main" id="{45B61CE9-F365-613C-7BBA-EE3D985C8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FE12255B-4A37-6E9C-F8F6-E2CA6E39D69A}"/>
              </a:ext>
            </a:extLst>
          </p:cNvPr>
          <p:cNvSpPr txBox="1"/>
          <p:nvPr/>
        </p:nvSpPr>
        <p:spPr>
          <a:xfrm>
            <a:off x="8709263" y="4296438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6BE93F9-0A81-0B31-F07B-246142B0F9DC}"/>
              </a:ext>
            </a:extLst>
          </p:cNvPr>
          <p:cNvSpPr txBox="1"/>
          <p:nvPr/>
        </p:nvSpPr>
        <p:spPr>
          <a:xfrm>
            <a:off x="9603819" y="4312709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48DAE5E-C42F-6147-3A60-10F36924A68A}"/>
              </a:ext>
            </a:extLst>
          </p:cNvPr>
          <p:cNvSpPr txBox="1"/>
          <p:nvPr/>
        </p:nvSpPr>
        <p:spPr>
          <a:xfrm>
            <a:off x="10547455" y="43257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9484B1-7A38-A489-055F-E63FB0D8BCDB}"/>
              </a:ext>
            </a:extLst>
          </p:cNvPr>
          <p:cNvCxnSpPr>
            <a:cxnSpLocks/>
          </p:cNvCxnSpPr>
          <p:nvPr/>
        </p:nvCxnSpPr>
        <p:spPr>
          <a:xfrm flipV="1">
            <a:off x="5625129" y="4035882"/>
            <a:ext cx="995726" cy="727357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580F06-9B96-ACF2-7731-F120ACE0DFA2}"/>
              </a:ext>
            </a:extLst>
          </p:cNvPr>
          <p:cNvSpPr txBox="1"/>
          <p:nvPr/>
        </p:nvSpPr>
        <p:spPr>
          <a:xfrm>
            <a:off x="212585" y="4118992"/>
            <a:ext cx="60317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“path” between 3 and 2 is open!</a:t>
            </a:r>
          </a:p>
          <a:p>
            <a:r>
              <a:rPr lang="en-US" sz="2400" dirty="0"/>
              <a:t>(does not collide with any other transfer)</a:t>
            </a:r>
          </a:p>
          <a:p>
            <a:endParaRPr lang="en-US" sz="2400" dirty="0"/>
          </a:p>
          <a:p>
            <a:r>
              <a:rPr lang="en-US" sz="2400" dirty="0"/>
              <a:t>But, the </a:t>
            </a:r>
            <a:r>
              <a:rPr lang="en-US" sz="2400" i="1" dirty="0"/>
              <a:t>head of the line</a:t>
            </a:r>
            <a:r>
              <a:rPr lang="en-US" sz="2400" dirty="0"/>
              <a:t> (packet going to 1) is </a:t>
            </a:r>
            <a:r>
              <a:rPr lang="en-US" sz="2400" i="1" dirty="0"/>
              <a:t>blocking </a:t>
            </a:r>
            <a:r>
              <a:rPr lang="en-US" sz="2400" dirty="0"/>
              <a:t>this packet to get to output port 2 </a:t>
            </a:r>
          </a:p>
        </p:txBody>
      </p:sp>
    </p:spTree>
    <p:extLst>
      <p:ext uri="{BB962C8B-B14F-4D97-AF65-F5344CB8AC3E}">
        <p14:creationId xmlns:p14="http://schemas.microsoft.com/office/powerpoint/2010/main" val="29060185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F3311B-08D4-91A6-4EA0-0B0DBA1A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output queuing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425DF7-4CCE-010A-7E16-25682F858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398" y="1851641"/>
            <a:ext cx="5459955" cy="4351338"/>
          </a:xfrm>
        </p:spPr>
        <p:txBody>
          <a:bodyPr>
            <a:normAutofit/>
          </a:bodyPr>
          <a:lstStyle/>
          <a:p>
            <a:r>
              <a:rPr lang="en-US" dirty="0"/>
              <a:t>Instead of one queue at each input port, have N queues at each input port, one for the packets destined to one output port.</a:t>
            </a:r>
          </a:p>
          <a:p>
            <a:r>
              <a:rPr lang="en-US" i="1" dirty="0">
                <a:solidFill>
                  <a:srgbClr val="010F90"/>
                </a:solidFill>
              </a:rPr>
              <a:t>Virtual output queue</a:t>
            </a:r>
            <a:r>
              <a:rPr lang="en-US" dirty="0"/>
              <a:t> </a:t>
            </a:r>
            <a:r>
              <a:rPr lang="en-US" i="1" dirty="0"/>
              <a:t>(VOQ)</a:t>
            </a:r>
            <a:r>
              <a:rPr lang="en-US" dirty="0"/>
              <a:t> j at input port </a:t>
            </a:r>
            <a:r>
              <a:rPr lang="en-US" dirty="0" err="1"/>
              <a:t>i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is located in input port i’s memory</a:t>
            </a:r>
          </a:p>
          <a:p>
            <a:pPr lvl="1"/>
            <a:r>
              <a:rPr lang="en-US" dirty="0"/>
              <a:t>buffers the packets entering from input port </a:t>
            </a:r>
            <a:r>
              <a:rPr lang="en-US" dirty="0" err="1"/>
              <a:t>i</a:t>
            </a:r>
            <a:r>
              <a:rPr lang="en-US" dirty="0"/>
              <a:t> and destined towards output port j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A50F0D-8FCD-9765-303C-293B45B58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648" y="1558049"/>
            <a:ext cx="5541407" cy="484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924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F3311B-08D4-91A6-4EA0-0B0DBA1A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output queuing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A6CF4F6-6740-70D1-4608-A08CEBBFE257}"/>
              </a:ext>
            </a:extLst>
          </p:cNvPr>
          <p:cNvGrpSpPr/>
          <p:nvPr/>
        </p:nvGrpSpPr>
        <p:grpSpPr>
          <a:xfrm>
            <a:off x="7524163" y="1767494"/>
            <a:ext cx="3655185" cy="3787553"/>
            <a:chOff x="4298122" y="2868411"/>
            <a:chExt cx="2179044" cy="2257957"/>
          </a:xfrm>
        </p:grpSpPr>
        <p:sp>
          <p:nvSpPr>
            <p:cNvPr id="10" name="Line 155">
              <a:extLst>
                <a:ext uri="{FF2B5EF4-FFF2-40B4-BE49-F238E27FC236}">
                  <a16:creationId xmlns:a16="http://schemas.microsoft.com/office/drawing/2014/main" id="{E70B6BBA-D95B-98A9-2897-0C7ABE508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291851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Line 156">
              <a:extLst>
                <a:ext uri="{FF2B5EF4-FFF2-40B4-BE49-F238E27FC236}">
                  <a16:creationId xmlns:a16="http://schemas.microsoft.com/office/drawing/2014/main" id="{43527E50-4FE4-0F92-076C-A9E33B2FE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8122" y="3770443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Line 157">
              <a:extLst>
                <a:ext uri="{FF2B5EF4-FFF2-40B4-BE49-F238E27FC236}">
                  <a16:creationId xmlns:a16="http://schemas.microsoft.com/office/drawing/2014/main" id="{A768626D-D5A2-D044-0EF4-3BDB0426F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4728863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Line 158">
              <a:extLst>
                <a:ext uri="{FF2B5EF4-FFF2-40B4-BE49-F238E27FC236}">
                  <a16:creationId xmlns:a16="http://schemas.microsoft.com/office/drawing/2014/main" id="{61904F93-76E4-A2FB-E6A5-D5C5D631D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513" y="2918515"/>
              <a:ext cx="0" cy="22078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" name="Line 159">
              <a:extLst>
                <a:ext uri="{FF2B5EF4-FFF2-40B4-BE49-F238E27FC236}">
                  <a16:creationId xmlns:a16="http://schemas.microsoft.com/office/drawing/2014/main" id="{6F1C84A9-6B93-010F-68B1-876945EB4F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2685" y="2918515"/>
              <a:ext cx="18863" cy="21981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Line 160">
              <a:extLst>
                <a:ext uri="{FF2B5EF4-FFF2-40B4-BE49-F238E27FC236}">
                  <a16:creationId xmlns:a16="http://schemas.microsoft.com/office/drawing/2014/main" id="{D76F42D5-D5F3-5F48-207A-0E86695B9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54421" y="2905988"/>
              <a:ext cx="15315" cy="219814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Oval 161">
              <a:extLst>
                <a:ext uri="{FF2B5EF4-FFF2-40B4-BE49-F238E27FC236}">
                  <a16:creationId xmlns:a16="http://schemas.microsoft.com/office/drawing/2014/main" id="{1A1BA95B-1F69-50D6-8B2F-28B8CAB1D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Oval 162">
              <a:extLst>
                <a:ext uri="{FF2B5EF4-FFF2-40B4-BE49-F238E27FC236}">
                  <a16:creationId xmlns:a16="http://schemas.microsoft.com/office/drawing/2014/main" id="{E5D02ED7-7215-5636-E8B0-166842CFD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3711985"/>
              <a:ext cx="142954" cy="11691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Oval 163">
              <a:extLst>
                <a:ext uri="{FF2B5EF4-FFF2-40B4-BE49-F238E27FC236}">
                  <a16:creationId xmlns:a16="http://schemas.microsoft.com/office/drawing/2014/main" id="{7F46BECF-DA3C-6B0E-751F-2142A68BE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930" y="46662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Oval 164">
              <a:extLst>
                <a:ext uri="{FF2B5EF4-FFF2-40B4-BE49-F238E27FC236}">
                  <a16:creationId xmlns:a16="http://schemas.microsoft.com/office/drawing/2014/main" id="{D7FD571B-D76E-A0B9-96CF-E5BF59FA4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Oval 165">
              <a:extLst>
                <a:ext uri="{FF2B5EF4-FFF2-40B4-BE49-F238E27FC236}">
                  <a16:creationId xmlns:a16="http://schemas.microsoft.com/office/drawing/2014/main" id="{29D14690-46A3-549C-4D94-BE18BC73B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371198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Oval 166">
              <a:extLst>
                <a:ext uri="{FF2B5EF4-FFF2-40B4-BE49-F238E27FC236}">
                  <a16:creationId xmlns:a16="http://schemas.microsoft.com/office/drawing/2014/main" id="{42821082-DD22-2646-654C-7B6143EF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070" y="4666230"/>
              <a:ext cx="142954" cy="11691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" name="Oval 167">
              <a:extLst>
                <a:ext uri="{FF2B5EF4-FFF2-40B4-BE49-F238E27FC236}">
                  <a16:creationId xmlns:a16="http://schemas.microsoft.com/office/drawing/2014/main" id="{0BB5213A-B687-6B43-CD50-AC1C1D460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2868411"/>
              <a:ext cx="142954" cy="11691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Oval 168">
              <a:extLst>
                <a:ext uri="{FF2B5EF4-FFF2-40B4-BE49-F238E27FC236}">
                  <a16:creationId xmlns:a16="http://schemas.microsoft.com/office/drawing/2014/main" id="{2B36417D-7666-85CD-0155-04C9FEA4D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371198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" name="Oval 169">
              <a:extLst>
                <a:ext uri="{FF2B5EF4-FFF2-40B4-BE49-F238E27FC236}">
                  <a16:creationId xmlns:a16="http://schemas.microsoft.com/office/drawing/2014/main" id="{747B5CBA-5EEE-FE99-70A1-1D5D52056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8048" y="4666230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6" name="Group 45">
            <a:extLst>
              <a:ext uri="{FF2B5EF4-FFF2-40B4-BE49-F238E27FC236}">
                <a16:creationId xmlns:a16="http://schemas.microsoft.com/office/drawing/2014/main" id="{36BB48E7-3F62-C64C-C5B7-6154E2C4EC02}"/>
              </a:ext>
            </a:extLst>
          </p:cNvPr>
          <p:cNvGrpSpPr>
            <a:grpSpLocks/>
          </p:cNvGrpSpPr>
          <p:nvPr/>
        </p:nvGrpSpPr>
        <p:grpSpPr bwMode="auto">
          <a:xfrm>
            <a:off x="4289530" y="1667550"/>
            <a:ext cx="1565472" cy="502360"/>
            <a:chOff x="925" y="2800"/>
            <a:chExt cx="485" cy="175"/>
          </a:xfrm>
        </p:grpSpPr>
        <p:sp>
          <p:nvSpPr>
            <p:cNvPr id="67" name="Rectangle 46">
              <a:extLst>
                <a:ext uri="{FF2B5EF4-FFF2-40B4-BE49-F238E27FC236}">
                  <a16:creationId xmlns:a16="http://schemas.microsoft.com/office/drawing/2014/main" id="{2B946E0C-BB77-B0E3-41E0-41D8E20E7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Rectangle 47">
              <a:extLst>
                <a:ext uri="{FF2B5EF4-FFF2-40B4-BE49-F238E27FC236}">
                  <a16:creationId xmlns:a16="http://schemas.microsoft.com/office/drawing/2014/main" id="{FFBECFDC-7362-5D69-D9ED-B40543BE5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Rectangle 48">
              <a:extLst>
                <a:ext uri="{FF2B5EF4-FFF2-40B4-BE49-F238E27FC236}">
                  <a16:creationId xmlns:a16="http://schemas.microsoft.com/office/drawing/2014/main" id="{706DFE44-CBF8-E5A5-B48F-C19823C7A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Rectangle 49">
              <a:extLst>
                <a:ext uri="{FF2B5EF4-FFF2-40B4-BE49-F238E27FC236}">
                  <a16:creationId xmlns:a16="http://schemas.microsoft.com/office/drawing/2014/main" id="{69D71E09-28A6-6AAC-DA3F-F03775033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1" name="Group 51">
            <a:extLst>
              <a:ext uri="{FF2B5EF4-FFF2-40B4-BE49-F238E27FC236}">
                <a16:creationId xmlns:a16="http://schemas.microsoft.com/office/drawing/2014/main" id="{B1201A91-6755-5E5A-BC22-4A82FE52076F}"/>
              </a:ext>
            </a:extLst>
          </p:cNvPr>
          <p:cNvGrpSpPr>
            <a:grpSpLocks/>
          </p:cNvGrpSpPr>
          <p:nvPr/>
        </p:nvGrpSpPr>
        <p:grpSpPr bwMode="auto">
          <a:xfrm>
            <a:off x="4320768" y="4460800"/>
            <a:ext cx="1565473" cy="502360"/>
            <a:chOff x="925" y="2800"/>
            <a:chExt cx="485" cy="175"/>
          </a:xfrm>
        </p:grpSpPr>
        <p:sp>
          <p:nvSpPr>
            <p:cNvPr id="72" name="Rectangle 52">
              <a:extLst>
                <a:ext uri="{FF2B5EF4-FFF2-40B4-BE49-F238E27FC236}">
                  <a16:creationId xmlns:a16="http://schemas.microsoft.com/office/drawing/2014/main" id="{10A099FB-5395-38D4-616A-35AA4A2E8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53">
              <a:extLst>
                <a:ext uri="{FF2B5EF4-FFF2-40B4-BE49-F238E27FC236}">
                  <a16:creationId xmlns:a16="http://schemas.microsoft.com/office/drawing/2014/main" id="{39276418-9888-0BDA-B494-4182C49E4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54">
              <a:extLst>
                <a:ext uri="{FF2B5EF4-FFF2-40B4-BE49-F238E27FC236}">
                  <a16:creationId xmlns:a16="http://schemas.microsoft.com/office/drawing/2014/main" id="{B53718F5-485E-9592-921C-735F90252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Rectangle 55">
              <a:extLst>
                <a:ext uri="{FF2B5EF4-FFF2-40B4-BE49-F238E27FC236}">
                  <a16:creationId xmlns:a16="http://schemas.microsoft.com/office/drawing/2014/main" id="{0406EDDE-DD75-E442-0AB7-9397F7B87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5" name="Rectangle 57">
            <a:extLst>
              <a:ext uri="{FF2B5EF4-FFF2-40B4-BE49-F238E27FC236}">
                <a16:creationId xmlns:a16="http://schemas.microsoft.com/office/drawing/2014/main" id="{BA932E39-2C55-4C74-BF90-755EF1B49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875" y="1210236"/>
            <a:ext cx="1066635" cy="1314652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19" name="Group 45">
            <a:extLst>
              <a:ext uri="{FF2B5EF4-FFF2-40B4-BE49-F238E27FC236}">
                <a16:creationId xmlns:a16="http://schemas.microsoft.com/office/drawing/2014/main" id="{0332D171-0892-B334-BFD8-8061ACCCA41F}"/>
              </a:ext>
            </a:extLst>
          </p:cNvPr>
          <p:cNvGrpSpPr>
            <a:grpSpLocks/>
          </p:cNvGrpSpPr>
          <p:nvPr/>
        </p:nvGrpSpPr>
        <p:grpSpPr bwMode="auto">
          <a:xfrm>
            <a:off x="4314013" y="2924167"/>
            <a:ext cx="1565472" cy="502360"/>
            <a:chOff x="925" y="2800"/>
            <a:chExt cx="485" cy="175"/>
          </a:xfrm>
        </p:grpSpPr>
        <p:sp>
          <p:nvSpPr>
            <p:cNvPr id="120" name="Rectangle 46">
              <a:extLst>
                <a:ext uri="{FF2B5EF4-FFF2-40B4-BE49-F238E27FC236}">
                  <a16:creationId xmlns:a16="http://schemas.microsoft.com/office/drawing/2014/main" id="{324747E2-4BD0-C484-375A-91E82472C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1" name="Rectangle 47">
              <a:extLst>
                <a:ext uri="{FF2B5EF4-FFF2-40B4-BE49-F238E27FC236}">
                  <a16:creationId xmlns:a16="http://schemas.microsoft.com/office/drawing/2014/main" id="{54D51E51-9FE8-A3E6-A12D-4E68829DF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" name="Rectangle 48">
              <a:extLst>
                <a:ext uri="{FF2B5EF4-FFF2-40B4-BE49-F238E27FC236}">
                  <a16:creationId xmlns:a16="http://schemas.microsoft.com/office/drawing/2014/main" id="{293BB401-D257-40D5-E9D1-60210FAB6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Rectangle 49">
              <a:extLst>
                <a:ext uri="{FF2B5EF4-FFF2-40B4-BE49-F238E27FC236}">
                  <a16:creationId xmlns:a16="http://schemas.microsoft.com/office/drawing/2014/main" id="{D5814C54-DA29-085A-6CC0-D8BD3EF1E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27278A3-31D1-6DC9-B494-24E5A98374F7}"/>
              </a:ext>
            </a:extLst>
          </p:cNvPr>
          <p:cNvSpPr/>
          <p:nvPr/>
        </p:nvSpPr>
        <p:spPr>
          <a:xfrm>
            <a:off x="6835909" y="2106003"/>
            <a:ext cx="304345" cy="296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B1B9B3-D3B1-42C2-6660-9F9A12F76D85}"/>
              </a:ext>
            </a:extLst>
          </p:cNvPr>
          <p:cNvSpPr/>
          <p:nvPr/>
        </p:nvSpPr>
        <p:spPr>
          <a:xfrm>
            <a:off x="6828979" y="1719221"/>
            <a:ext cx="304345" cy="296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5E46549-5F14-C152-09EA-EBE4AFE4343B}"/>
              </a:ext>
            </a:extLst>
          </p:cNvPr>
          <p:cNvSpPr txBox="1"/>
          <p:nvPr/>
        </p:nvSpPr>
        <p:spPr>
          <a:xfrm>
            <a:off x="5625129" y="1346443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B61F4B1-DD8F-176B-4DFE-4EFFCAC38132}"/>
              </a:ext>
            </a:extLst>
          </p:cNvPr>
          <p:cNvSpPr txBox="1"/>
          <p:nvPr/>
        </p:nvSpPr>
        <p:spPr>
          <a:xfrm>
            <a:off x="5626894" y="2524888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C01B555-D1C1-D52C-F84F-D9FD0ED27B73}"/>
              </a:ext>
            </a:extLst>
          </p:cNvPr>
          <p:cNvSpPr txBox="1"/>
          <p:nvPr/>
        </p:nvSpPr>
        <p:spPr>
          <a:xfrm>
            <a:off x="5654257" y="417638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grpSp>
        <p:nvGrpSpPr>
          <p:cNvPr id="76" name="Group 64">
            <a:extLst>
              <a:ext uri="{FF2B5EF4-FFF2-40B4-BE49-F238E27FC236}">
                <a16:creationId xmlns:a16="http://schemas.microsoft.com/office/drawing/2014/main" id="{879D23FF-1B5A-236E-C4B7-4B9F50F73D14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9638580" y="6191909"/>
            <a:ext cx="1566181" cy="502360"/>
            <a:chOff x="498" y="3463"/>
            <a:chExt cx="424" cy="136"/>
          </a:xfrm>
        </p:grpSpPr>
        <p:sp>
          <p:nvSpPr>
            <p:cNvPr id="77" name="Rectangle 59">
              <a:extLst>
                <a:ext uri="{FF2B5EF4-FFF2-40B4-BE49-F238E27FC236}">
                  <a16:creationId xmlns:a16="http://schemas.microsoft.com/office/drawing/2014/main" id="{56F17991-C0AB-A3DA-21DF-1E071A1A9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D01C0BE0-E93A-A0B4-62CE-2527908D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Rectangle 61">
              <a:extLst>
                <a:ext uri="{FF2B5EF4-FFF2-40B4-BE49-F238E27FC236}">
                  <a16:creationId xmlns:a16="http://schemas.microsoft.com/office/drawing/2014/main" id="{FE6A9FA2-6E0D-8405-4BB1-74487AD38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Rectangle 62">
              <a:extLst>
                <a:ext uri="{FF2B5EF4-FFF2-40B4-BE49-F238E27FC236}">
                  <a16:creationId xmlns:a16="http://schemas.microsoft.com/office/drawing/2014/main" id="{FB3407C5-BD0F-F6E5-0650-995E057F3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2" name="Group 65">
            <a:extLst>
              <a:ext uri="{FF2B5EF4-FFF2-40B4-BE49-F238E27FC236}">
                <a16:creationId xmlns:a16="http://schemas.microsoft.com/office/drawing/2014/main" id="{BFF5242A-B916-E813-ADE3-405AD3DEFD59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8589506" y="6172507"/>
            <a:ext cx="1566180" cy="502360"/>
            <a:chOff x="498" y="3463"/>
            <a:chExt cx="424" cy="136"/>
          </a:xfrm>
        </p:grpSpPr>
        <p:sp>
          <p:nvSpPr>
            <p:cNvPr id="83" name="Rectangle 66">
              <a:extLst>
                <a:ext uri="{FF2B5EF4-FFF2-40B4-BE49-F238E27FC236}">
                  <a16:creationId xmlns:a16="http://schemas.microsoft.com/office/drawing/2014/main" id="{6E5BFACF-22F8-EDB8-0262-2D478E527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Rectangle 67">
              <a:extLst>
                <a:ext uri="{FF2B5EF4-FFF2-40B4-BE49-F238E27FC236}">
                  <a16:creationId xmlns:a16="http://schemas.microsoft.com/office/drawing/2014/main" id="{699EA885-6E2F-DF3B-66F8-1768513FC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Rectangle 68">
              <a:extLst>
                <a:ext uri="{FF2B5EF4-FFF2-40B4-BE49-F238E27FC236}">
                  <a16:creationId xmlns:a16="http://schemas.microsoft.com/office/drawing/2014/main" id="{956CD487-E555-93C8-4013-DFA7A2296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Rectangle 69">
              <a:extLst>
                <a:ext uri="{FF2B5EF4-FFF2-40B4-BE49-F238E27FC236}">
                  <a16:creationId xmlns:a16="http://schemas.microsoft.com/office/drawing/2014/main" id="{4F2AF461-F248-9205-FDED-14E0272B3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8" name="Group 71">
            <a:extLst>
              <a:ext uri="{FF2B5EF4-FFF2-40B4-BE49-F238E27FC236}">
                <a16:creationId xmlns:a16="http://schemas.microsoft.com/office/drawing/2014/main" id="{E9597DD1-CB48-3A16-BA20-ECFD41ABA9AC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631614" y="6179299"/>
            <a:ext cx="1566181" cy="502360"/>
            <a:chOff x="498" y="3463"/>
            <a:chExt cx="424" cy="136"/>
          </a:xfrm>
        </p:grpSpPr>
        <p:sp>
          <p:nvSpPr>
            <p:cNvPr id="89" name="Rectangle 72">
              <a:extLst>
                <a:ext uri="{FF2B5EF4-FFF2-40B4-BE49-F238E27FC236}">
                  <a16:creationId xmlns:a16="http://schemas.microsoft.com/office/drawing/2014/main" id="{3C0702F2-E8A8-0F62-45F8-4EE1B4F99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73">
              <a:extLst>
                <a:ext uri="{FF2B5EF4-FFF2-40B4-BE49-F238E27FC236}">
                  <a16:creationId xmlns:a16="http://schemas.microsoft.com/office/drawing/2014/main" id="{1B35B8AE-52D4-5705-E2B0-DCDC5DCAA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74">
              <a:extLst>
                <a:ext uri="{FF2B5EF4-FFF2-40B4-BE49-F238E27FC236}">
                  <a16:creationId xmlns:a16="http://schemas.microsoft.com/office/drawing/2014/main" id="{88C579AE-B164-5A62-F8BD-706F377AB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Rectangle 75">
              <a:extLst>
                <a:ext uri="{FF2B5EF4-FFF2-40B4-BE49-F238E27FC236}">
                  <a16:creationId xmlns:a16="http://schemas.microsoft.com/office/drawing/2014/main" id="{45B61CE9-F365-613C-7BBA-EE3D985C8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FE12255B-4A37-6E9C-F8F6-E2CA6E39D69A}"/>
              </a:ext>
            </a:extLst>
          </p:cNvPr>
          <p:cNvSpPr txBox="1"/>
          <p:nvPr/>
        </p:nvSpPr>
        <p:spPr>
          <a:xfrm>
            <a:off x="8621700" y="5538776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6BE93F9-0A81-0B31-F07B-246142B0F9DC}"/>
              </a:ext>
            </a:extLst>
          </p:cNvPr>
          <p:cNvSpPr txBox="1"/>
          <p:nvPr/>
        </p:nvSpPr>
        <p:spPr>
          <a:xfrm>
            <a:off x="9600336" y="5555047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48DAE5E-C42F-6147-3A60-10F36924A68A}"/>
              </a:ext>
            </a:extLst>
          </p:cNvPr>
          <p:cNvSpPr txBox="1"/>
          <p:nvPr/>
        </p:nvSpPr>
        <p:spPr>
          <a:xfrm>
            <a:off x="10722649" y="5568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731A82-1DA4-2E75-CF96-609C3598482A}"/>
              </a:ext>
            </a:extLst>
          </p:cNvPr>
          <p:cNvGrpSpPr/>
          <p:nvPr/>
        </p:nvGrpSpPr>
        <p:grpSpPr>
          <a:xfrm>
            <a:off x="6365387" y="2072935"/>
            <a:ext cx="805586" cy="369429"/>
            <a:chOff x="6365387" y="2072935"/>
            <a:chExt cx="805586" cy="369429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E736C08-30DC-4BD8-6835-7F543D54544D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FB419E3-3609-A47A-74A6-541BA383413D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F292243-5B01-854F-95BF-7E094BEAA2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8E58163-9EE9-AE60-A909-9628AB4BB022}"/>
              </a:ext>
            </a:extLst>
          </p:cNvPr>
          <p:cNvGrpSpPr/>
          <p:nvPr/>
        </p:nvGrpSpPr>
        <p:grpSpPr>
          <a:xfrm>
            <a:off x="6359697" y="1678274"/>
            <a:ext cx="805586" cy="369429"/>
            <a:chOff x="6365387" y="2072935"/>
            <a:chExt cx="805586" cy="369429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B612ECF-BC9B-11EF-D2EE-1AEEF9EDF102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07C174-DD58-4836-7330-509BEA39C3A1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57F45EA-AF3E-870F-0C4E-99D075E6A0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4B4F0E2-1583-A747-5854-523BF4DF7A0D}"/>
              </a:ext>
            </a:extLst>
          </p:cNvPr>
          <p:cNvGrpSpPr/>
          <p:nvPr/>
        </p:nvGrpSpPr>
        <p:grpSpPr>
          <a:xfrm>
            <a:off x="6365387" y="1289628"/>
            <a:ext cx="805586" cy="369429"/>
            <a:chOff x="6365387" y="2072935"/>
            <a:chExt cx="805586" cy="369429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05A29FE-113C-FAA4-9130-3BF46D377142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51CBD6F-1546-57A1-A0AE-1F6F6E1A58B3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FCF7071-AC2E-B286-9647-4ED2090252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57">
            <a:extLst>
              <a:ext uri="{FF2B5EF4-FFF2-40B4-BE49-F238E27FC236}">
                <a16:creationId xmlns:a16="http://schemas.microsoft.com/office/drawing/2014/main" id="{CD9C327C-9876-BB2D-05F4-F24E8D91E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988" y="2693612"/>
            <a:ext cx="1066635" cy="1314652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DF1AEF8-37AA-2A05-1EF4-87C00973E077}"/>
              </a:ext>
            </a:extLst>
          </p:cNvPr>
          <p:cNvSpPr/>
          <p:nvPr/>
        </p:nvSpPr>
        <p:spPr>
          <a:xfrm>
            <a:off x="6835022" y="3589379"/>
            <a:ext cx="304345" cy="296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0D656B-4002-9904-0057-5ACF1F3E3B17}"/>
              </a:ext>
            </a:extLst>
          </p:cNvPr>
          <p:cNvSpPr/>
          <p:nvPr/>
        </p:nvSpPr>
        <p:spPr>
          <a:xfrm>
            <a:off x="6836416" y="2813535"/>
            <a:ext cx="304345" cy="296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3605ECA-BFE0-728C-BBEF-8443D73C2912}"/>
              </a:ext>
            </a:extLst>
          </p:cNvPr>
          <p:cNvGrpSpPr/>
          <p:nvPr/>
        </p:nvGrpSpPr>
        <p:grpSpPr>
          <a:xfrm>
            <a:off x="6364500" y="3556311"/>
            <a:ext cx="805586" cy="369429"/>
            <a:chOff x="6365387" y="2072935"/>
            <a:chExt cx="805586" cy="369429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E0340E3-BBF7-B3B3-E5F8-564F3A027C88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5EFA7FF-8EA0-9191-B446-EB866712CD38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0ED1391-7FB0-00D6-92AF-7426898E6F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CC7A65D-BFB9-8671-A0D6-B2977C61CA01}"/>
              </a:ext>
            </a:extLst>
          </p:cNvPr>
          <p:cNvGrpSpPr/>
          <p:nvPr/>
        </p:nvGrpSpPr>
        <p:grpSpPr>
          <a:xfrm>
            <a:off x="6358810" y="3161650"/>
            <a:ext cx="805586" cy="369429"/>
            <a:chOff x="6365387" y="2072935"/>
            <a:chExt cx="805586" cy="369429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7B6BD04-282B-B616-31B9-C8912D164F8D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2CFA651-42AB-A981-0FE7-718BC7030FAB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32F71CF-871E-2B2C-5F3A-89ED77C4D3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F26AD10-A720-78DA-E667-AF9E56E084F2}"/>
              </a:ext>
            </a:extLst>
          </p:cNvPr>
          <p:cNvGrpSpPr/>
          <p:nvPr/>
        </p:nvGrpSpPr>
        <p:grpSpPr>
          <a:xfrm>
            <a:off x="6364500" y="2773004"/>
            <a:ext cx="805586" cy="369429"/>
            <a:chOff x="6365387" y="2072935"/>
            <a:chExt cx="805586" cy="369429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F137B77-3D37-F70E-0E8E-75E9762F1F96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788BD3F-823C-4450-0B19-2300472BE7F4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C1DE3B1-19B8-D49F-A3B8-55D967572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tangle 57">
            <a:extLst>
              <a:ext uri="{FF2B5EF4-FFF2-40B4-BE49-F238E27FC236}">
                <a16:creationId xmlns:a16="http://schemas.microsoft.com/office/drawing/2014/main" id="{A9397953-C8BC-2964-5FEA-C32DB5E47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0657" y="4168044"/>
            <a:ext cx="1066635" cy="1314652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432ACDC-611A-021E-338F-16749AA872DA}"/>
              </a:ext>
            </a:extLst>
          </p:cNvPr>
          <p:cNvSpPr/>
          <p:nvPr/>
        </p:nvSpPr>
        <p:spPr>
          <a:xfrm>
            <a:off x="6811169" y="4676243"/>
            <a:ext cx="304345" cy="296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322222E-1DFC-8361-257F-7FC6AFACD2FE}"/>
              </a:ext>
            </a:extLst>
          </p:cNvPr>
          <p:cNvSpPr/>
          <p:nvPr/>
        </p:nvSpPr>
        <p:spPr>
          <a:xfrm>
            <a:off x="6823085" y="4287967"/>
            <a:ext cx="304345" cy="296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B93D2B0-9708-B68B-509F-BEE861BCFADD}"/>
              </a:ext>
            </a:extLst>
          </p:cNvPr>
          <p:cNvGrpSpPr/>
          <p:nvPr/>
        </p:nvGrpSpPr>
        <p:grpSpPr>
          <a:xfrm>
            <a:off x="6351169" y="5030743"/>
            <a:ext cx="805586" cy="369429"/>
            <a:chOff x="6365387" y="2072935"/>
            <a:chExt cx="805586" cy="369429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19F9066-47C3-7E0E-E21C-13B4DD0E2342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A4995E2-DAE1-1081-A04D-2022EB4025B8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9C3FF3E-29DB-F45C-6A16-6667EA5485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BEFC5C6-F356-2FCC-0B6B-B0BE3071F398}"/>
              </a:ext>
            </a:extLst>
          </p:cNvPr>
          <p:cNvGrpSpPr/>
          <p:nvPr/>
        </p:nvGrpSpPr>
        <p:grpSpPr>
          <a:xfrm>
            <a:off x="6345479" y="4636082"/>
            <a:ext cx="805586" cy="369429"/>
            <a:chOff x="6365387" y="2072935"/>
            <a:chExt cx="805586" cy="369429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4C3A0EC-8E16-1C20-A646-5DDBA840AE5E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3E2FE49-EBCE-B52D-4139-CA5EB78AF67A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986DD93-D51B-65D9-AF15-49757B36FF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D449FA1-E246-4C99-97D3-79DEDECB6FD0}"/>
              </a:ext>
            </a:extLst>
          </p:cNvPr>
          <p:cNvGrpSpPr/>
          <p:nvPr/>
        </p:nvGrpSpPr>
        <p:grpSpPr>
          <a:xfrm>
            <a:off x="6351169" y="4247436"/>
            <a:ext cx="805586" cy="369429"/>
            <a:chOff x="6365387" y="2072935"/>
            <a:chExt cx="805586" cy="369429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A609434-DE30-3F0A-C81C-2E854519A6F3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9860F22-B4F2-A9B1-AF5E-1E875EE058A1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779E1C8-2CF4-89E1-4FAB-BE59DD7760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F0E07BB-657A-30CC-6502-C4E226518E9F}"/>
              </a:ext>
            </a:extLst>
          </p:cNvPr>
          <p:cNvCxnSpPr>
            <a:cxnSpLocks/>
          </p:cNvCxnSpPr>
          <p:nvPr/>
        </p:nvCxnSpPr>
        <p:spPr>
          <a:xfrm flipV="1">
            <a:off x="5904852" y="4840780"/>
            <a:ext cx="1008217" cy="1172249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E4D62F1-A783-782F-968C-BBB86A45A4DC}"/>
              </a:ext>
            </a:extLst>
          </p:cNvPr>
          <p:cNvSpPr txBox="1"/>
          <p:nvPr/>
        </p:nvSpPr>
        <p:spPr>
          <a:xfrm>
            <a:off x="200492" y="5797512"/>
            <a:ext cx="6031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 stuck behind the packet going to output port 1 anymore</a:t>
            </a:r>
          </a:p>
        </p:txBody>
      </p:sp>
    </p:spTree>
    <p:extLst>
      <p:ext uri="{BB962C8B-B14F-4D97-AF65-F5344CB8AC3E}">
        <p14:creationId xmlns:p14="http://schemas.microsoft.com/office/powerpoint/2010/main" val="8034905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64">
            <a:extLst>
              <a:ext uri="{FF2B5EF4-FFF2-40B4-BE49-F238E27FC236}">
                <a16:creationId xmlns:a16="http://schemas.microsoft.com/office/drawing/2014/main" id="{879D23FF-1B5A-236E-C4B7-4B9F50F73D14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9638580" y="6191909"/>
            <a:ext cx="1566181" cy="502360"/>
            <a:chOff x="498" y="3463"/>
            <a:chExt cx="424" cy="136"/>
          </a:xfrm>
        </p:grpSpPr>
        <p:sp>
          <p:nvSpPr>
            <p:cNvPr id="77" name="Rectangle 59">
              <a:extLst>
                <a:ext uri="{FF2B5EF4-FFF2-40B4-BE49-F238E27FC236}">
                  <a16:creationId xmlns:a16="http://schemas.microsoft.com/office/drawing/2014/main" id="{56F17991-C0AB-A3DA-21DF-1E071A1A9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D01C0BE0-E93A-A0B4-62CE-2527908D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Rectangle 61">
              <a:extLst>
                <a:ext uri="{FF2B5EF4-FFF2-40B4-BE49-F238E27FC236}">
                  <a16:creationId xmlns:a16="http://schemas.microsoft.com/office/drawing/2014/main" id="{FE6A9FA2-6E0D-8405-4BB1-74487AD38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Rectangle 62">
              <a:extLst>
                <a:ext uri="{FF2B5EF4-FFF2-40B4-BE49-F238E27FC236}">
                  <a16:creationId xmlns:a16="http://schemas.microsoft.com/office/drawing/2014/main" id="{FB3407C5-BD0F-F6E5-0650-995E057F3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A8F3311B-08D4-91A6-4EA0-0B0DBA1A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output queuing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A6CF4F6-6740-70D1-4608-A08CEBBFE257}"/>
              </a:ext>
            </a:extLst>
          </p:cNvPr>
          <p:cNvGrpSpPr/>
          <p:nvPr/>
        </p:nvGrpSpPr>
        <p:grpSpPr>
          <a:xfrm>
            <a:off x="7524163" y="1767494"/>
            <a:ext cx="3655185" cy="3787553"/>
            <a:chOff x="4298122" y="2868411"/>
            <a:chExt cx="2179044" cy="2257957"/>
          </a:xfrm>
        </p:grpSpPr>
        <p:sp>
          <p:nvSpPr>
            <p:cNvPr id="10" name="Line 155">
              <a:extLst>
                <a:ext uri="{FF2B5EF4-FFF2-40B4-BE49-F238E27FC236}">
                  <a16:creationId xmlns:a16="http://schemas.microsoft.com/office/drawing/2014/main" id="{E70B6BBA-D95B-98A9-2897-0C7ABE508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2918516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Line 156">
              <a:extLst>
                <a:ext uri="{FF2B5EF4-FFF2-40B4-BE49-F238E27FC236}">
                  <a16:creationId xmlns:a16="http://schemas.microsoft.com/office/drawing/2014/main" id="{43527E50-4FE4-0F92-076C-A9E33B2FE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8122" y="3770443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Line 157">
              <a:extLst>
                <a:ext uri="{FF2B5EF4-FFF2-40B4-BE49-F238E27FC236}">
                  <a16:creationId xmlns:a16="http://schemas.microsoft.com/office/drawing/2014/main" id="{A768626D-D5A2-D044-0EF4-3BDB0426F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122" y="4728863"/>
              <a:ext cx="21790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Line 158">
              <a:extLst>
                <a:ext uri="{FF2B5EF4-FFF2-40B4-BE49-F238E27FC236}">
                  <a16:creationId xmlns:a16="http://schemas.microsoft.com/office/drawing/2014/main" id="{61904F93-76E4-A2FB-E6A5-D5C5D631D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513" y="2918515"/>
              <a:ext cx="0" cy="22078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" name="Line 159">
              <a:extLst>
                <a:ext uri="{FF2B5EF4-FFF2-40B4-BE49-F238E27FC236}">
                  <a16:creationId xmlns:a16="http://schemas.microsoft.com/office/drawing/2014/main" id="{6F1C84A9-6B93-010F-68B1-876945EB4F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2685" y="2918515"/>
              <a:ext cx="18863" cy="21981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Line 160">
              <a:extLst>
                <a:ext uri="{FF2B5EF4-FFF2-40B4-BE49-F238E27FC236}">
                  <a16:creationId xmlns:a16="http://schemas.microsoft.com/office/drawing/2014/main" id="{D76F42D5-D5F3-5F48-207A-0E86695B9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54421" y="2905988"/>
              <a:ext cx="15315" cy="219814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Oval 161">
              <a:extLst>
                <a:ext uri="{FF2B5EF4-FFF2-40B4-BE49-F238E27FC236}">
                  <a16:creationId xmlns:a16="http://schemas.microsoft.com/office/drawing/2014/main" id="{1A1BA95B-1F69-50D6-8B2F-28B8CAB1D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Oval 162">
              <a:extLst>
                <a:ext uri="{FF2B5EF4-FFF2-40B4-BE49-F238E27FC236}">
                  <a16:creationId xmlns:a16="http://schemas.microsoft.com/office/drawing/2014/main" id="{E5D02ED7-7215-5636-E8B0-166842CFD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141" y="3711985"/>
              <a:ext cx="142954" cy="11691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" name="Oval 163">
              <a:extLst>
                <a:ext uri="{FF2B5EF4-FFF2-40B4-BE49-F238E27FC236}">
                  <a16:creationId xmlns:a16="http://schemas.microsoft.com/office/drawing/2014/main" id="{7F46BECF-DA3C-6B0E-751F-2142A68BE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930" y="4666233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Oval 164">
              <a:extLst>
                <a:ext uri="{FF2B5EF4-FFF2-40B4-BE49-F238E27FC236}">
                  <a16:creationId xmlns:a16="http://schemas.microsoft.com/office/drawing/2014/main" id="{D7FD571B-D76E-A0B9-96CF-E5BF59FA4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2868411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Oval 165">
              <a:extLst>
                <a:ext uri="{FF2B5EF4-FFF2-40B4-BE49-F238E27FC236}">
                  <a16:creationId xmlns:a16="http://schemas.microsoft.com/office/drawing/2014/main" id="{29D14690-46A3-549C-4D94-BE18BC73B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281" y="371198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Oval 166">
              <a:extLst>
                <a:ext uri="{FF2B5EF4-FFF2-40B4-BE49-F238E27FC236}">
                  <a16:creationId xmlns:a16="http://schemas.microsoft.com/office/drawing/2014/main" id="{42821082-DD22-2646-654C-7B6143EF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070" y="4666230"/>
              <a:ext cx="142954" cy="11691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" name="Oval 167">
              <a:extLst>
                <a:ext uri="{FF2B5EF4-FFF2-40B4-BE49-F238E27FC236}">
                  <a16:creationId xmlns:a16="http://schemas.microsoft.com/office/drawing/2014/main" id="{0BB5213A-B687-6B43-CD50-AC1C1D460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2868411"/>
              <a:ext cx="142954" cy="11691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Oval 168">
              <a:extLst>
                <a:ext uri="{FF2B5EF4-FFF2-40B4-BE49-F238E27FC236}">
                  <a16:creationId xmlns:a16="http://schemas.microsoft.com/office/drawing/2014/main" id="{2B36417D-7666-85CD-0155-04C9FEA4D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259" y="3711985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" name="Oval 169">
              <a:extLst>
                <a:ext uri="{FF2B5EF4-FFF2-40B4-BE49-F238E27FC236}">
                  <a16:creationId xmlns:a16="http://schemas.microsoft.com/office/drawing/2014/main" id="{747B5CBA-5EEE-FE99-70A1-1D5D52056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8048" y="4666230"/>
              <a:ext cx="142954" cy="1169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6" name="Group 45">
            <a:extLst>
              <a:ext uri="{FF2B5EF4-FFF2-40B4-BE49-F238E27FC236}">
                <a16:creationId xmlns:a16="http://schemas.microsoft.com/office/drawing/2014/main" id="{36BB48E7-3F62-C64C-C5B7-6154E2C4EC02}"/>
              </a:ext>
            </a:extLst>
          </p:cNvPr>
          <p:cNvGrpSpPr>
            <a:grpSpLocks/>
          </p:cNvGrpSpPr>
          <p:nvPr/>
        </p:nvGrpSpPr>
        <p:grpSpPr bwMode="auto">
          <a:xfrm>
            <a:off x="4289530" y="1667550"/>
            <a:ext cx="1565472" cy="502360"/>
            <a:chOff x="925" y="2800"/>
            <a:chExt cx="485" cy="175"/>
          </a:xfrm>
        </p:grpSpPr>
        <p:sp>
          <p:nvSpPr>
            <p:cNvPr id="67" name="Rectangle 46">
              <a:extLst>
                <a:ext uri="{FF2B5EF4-FFF2-40B4-BE49-F238E27FC236}">
                  <a16:creationId xmlns:a16="http://schemas.microsoft.com/office/drawing/2014/main" id="{2B946E0C-BB77-B0E3-41E0-41D8E20E7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Rectangle 47">
              <a:extLst>
                <a:ext uri="{FF2B5EF4-FFF2-40B4-BE49-F238E27FC236}">
                  <a16:creationId xmlns:a16="http://schemas.microsoft.com/office/drawing/2014/main" id="{FFBECFDC-7362-5D69-D9ED-B40543BE5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Rectangle 48">
              <a:extLst>
                <a:ext uri="{FF2B5EF4-FFF2-40B4-BE49-F238E27FC236}">
                  <a16:creationId xmlns:a16="http://schemas.microsoft.com/office/drawing/2014/main" id="{706DFE44-CBF8-E5A5-B48F-C19823C7A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Rectangle 49">
              <a:extLst>
                <a:ext uri="{FF2B5EF4-FFF2-40B4-BE49-F238E27FC236}">
                  <a16:creationId xmlns:a16="http://schemas.microsoft.com/office/drawing/2014/main" id="{69D71E09-28A6-6AAC-DA3F-F03775033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1" name="Group 51">
            <a:extLst>
              <a:ext uri="{FF2B5EF4-FFF2-40B4-BE49-F238E27FC236}">
                <a16:creationId xmlns:a16="http://schemas.microsoft.com/office/drawing/2014/main" id="{B1201A91-6755-5E5A-BC22-4A82FE52076F}"/>
              </a:ext>
            </a:extLst>
          </p:cNvPr>
          <p:cNvGrpSpPr>
            <a:grpSpLocks/>
          </p:cNvGrpSpPr>
          <p:nvPr/>
        </p:nvGrpSpPr>
        <p:grpSpPr bwMode="auto">
          <a:xfrm>
            <a:off x="4320768" y="4460800"/>
            <a:ext cx="1565473" cy="502360"/>
            <a:chOff x="925" y="2800"/>
            <a:chExt cx="485" cy="175"/>
          </a:xfrm>
        </p:grpSpPr>
        <p:sp>
          <p:nvSpPr>
            <p:cNvPr id="72" name="Rectangle 52">
              <a:extLst>
                <a:ext uri="{FF2B5EF4-FFF2-40B4-BE49-F238E27FC236}">
                  <a16:creationId xmlns:a16="http://schemas.microsoft.com/office/drawing/2014/main" id="{10A099FB-5395-38D4-616A-35AA4A2E8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53">
              <a:extLst>
                <a:ext uri="{FF2B5EF4-FFF2-40B4-BE49-F238E27FC236}">
                  <a16:creationId xmlns:a16="http://schemas.microsoft.com/office/drawing/2014/main" id="{39276418-9888-0BDA-B494-4182C49E4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54">
              <a:extLst>
                <a:ext uri="{FF2B5EF4-FFF2-40B4-BE49-F238E27FC236}">
                  <a16:creationId xmlns:a16="http://schemas.microsoft.com/office/drawing/2014/main" id="{B53718F5-485E-9592-921C-735F90252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Rectangle 55">
              <a:extLst>
                <a:ext uri="{FF2B5EF4-FFF2-40B4-BE49-F238E27FC236}">
                  <a16:creationId xmlns:a16="http://schemas.microsoft.com/office/drawing/2014/main" id="{0406EDDE-DD75-E442-0AB7-9397F7B87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5" name="Rectangle 57">
            <a:extLst>
              <a:ext uri="{FF2B5EF4-FFF2-40B4-BE49-F238E27FC236}">
                <a16:creationId xmlns:a16="http://schemas.microsoft.com/office/drawing/2014/main" id="{BA932E39-2C55-4C74-BF90-755EF1B49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875" y="1210236"/>
            <a:ext cx="1066635" cy="1314652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19" name="Group 45">
            <a:extLst>
              <a:ext uri="{FF2B5EF4-FFF2-40B4-BE49-F238E27FC236}">
                <a16:creationId xmlns:a16="http://schemas.microsoft.com/office/drawing/2014/main" id="{0332D171-0892-B334-BFD8-8061ACCCA41F}"/>
              </a:ext>
            </a:extLst>
          </p:cNvPr>
          <p:cNvGrpSpPr>
            <a:grpSpLocks/>
          </p:cNvGrpSpPr>
          <p:nvPr/>
        </p:nvGrpSpPr>
        <p:grpSpPr bwMode="auto">
          <a:xfrm>
            <a:off x="4314013" y="2924167"/>
            <a:ext cx="1565472" cy="502360"/>
            <a:chOff x="925" y="2800"/>
            <a:chExt cx="485" cy="175"/>
          </a:xfrm>
        </p:grpSpPr>
        <p:sp>
          <p:nvSpPr>
            <p:cNvPr id="120" name="Rectangle 46">
              <a:extLst>
                <a:ext uri="{FF2B5EF4-FFF2-40B4-BE49-F238E27FC236}">
                  <a16:creationId xmlns:a16="http://schemas.microsoft.com/office/drawing/2014/main" id="{324747E2-4BD0-C484-375A-91E82472C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1" name="Rectangle 47">
              <a:extLst>
                <a:ext uri="{FF2B5EF4-FFF2-40B4-BE49-F238E27FC236}">
                  <a16:creationId xmlns:a16="http://schemas.microsoft.com/office/drawing/2014/main" id="{54D51E51-9FE8-A3E6-A12D-4E68829DF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" name="Rectangle 48">
              <a:extLst>
                <a:ext uri="{FF2B5EF4-FFF2-40B4-BE49-F238E27FC236}">
                  <a16:creationId xmlns:a16="http://schemas.microsoft.com/office/drawing/2014/main" id="{293BB401-D257-40D5-E9D1-60210FAB6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Rectangle 49">
              <a:extLst>
                <a:ext uri="{FF2B5EF4-FFF2-40B4-BE49-F238E27FC236}">
                  <a16:creationId xmlns:a16="http://schemas.microsoft.com/office/drawing/2014/main" id="{D5814C54-DA29-085A-6CC0-D8BD3EF1E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27278A3-31D1-6DC9-B494-24E5A98374F7}"/>
              </a:ext>
            </a:extLst>
          </p:cNvPr>
          <p:cNvSpPr/>
          <p:nvPr/>
        </p:nvSpPr>
        <p:spPr>
          <a:xfrm>
            <a:off x="6835909" y="2106003"/>
            <a:ext cx="304345" cy="296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B1B9B3-D3B1-42C2-6660-9F9A12F76D85}"/>
              </a:ext>
            </a:extLst>
          </p:cNvPr>
          <p:cNvSpPr/>
          <p:nvPr/>
        </p:nvSpPr>
        <p:spPr>
          <a:xfrm>
            <a:off x="6828979" y="1719221"/>
            <a:ext cx="304345" cy="296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5E46549-5F14-C152-09EA-EBE4AFE4343B}"/>
              </a:ext>
            </a:extLst>
          </p:cNvPr>
          <p:cNvSpPr txBox="1"/>
          <p:nvPr/>
        </p:nvSpPr>
        <p:spPr>
          <a:xfrm>
            <a:off x="5625129" y="1346443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B61F4B1-DD8F-176B-4DFE-4EFFCAC38132}"/>
              </a:ext>
            </a:extLst>
          </p:cNvPr>
          <p:cNvSpPr txBox="1"/>
          <p:nvPr/>
        </p:nvSpPr>
        <p:spPr>
          <a:xfrm>
            <a:off x="5626894" y="2524888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C01B555-D1C1-D52C-F84F-D9FD0ED27B73}"/>
              </a:ext>
            </a:extLst>
          </p:cNvPr>
          <p:cNvSpPr txBox="1"/>
          <p:nvPr/>
        </p:nvSpPr>
        <p:spPr>
          <a:xfrm>
            <a:off x="5654257" y="417638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grpSp>
        <p:nvGrpSpPr>
          <p:cNvPr id="82" name="Group 65">
            <a:extLst>
              <a:ext uri="{FF2B5EF4-FFF2-40B4-BE49-F238E27FC236}">
                <a16:creationId xmlns:a16="http://schemas.microsoft.com/office/drawing/2014/main" id="{BFF5242A-B916-E813-ADE3-405AD3DEFD59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8589506" y="6172507"/>
            <a:ext cx="1566180" cy="502360"/>
            <a:chOff x="498" y="3463"/>
            <a:chExt cx="424" cy="136"/>
          </a:xfrm>
        </p:grpSpPr>
        <p:sp>
          <p:nvSpPr>
            <p:cNvPr id="83" name="Rectangle 66">
              <a:extLst>
                <a:ext uri="{FF2B5EF4-FFF2-40B4-BE49-F238E27FC236}">
                  <a16:creationId xmlns:a16="http://schemas.microsoft.com/office/drawing/2014/main" id="{6E5BFACF-22F8-EDB8-0262-2D478E527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Rectangle 67">
              <a:extLst>
                <a:ext uri="{FF2B5EF4-FFF2-40B4-BE49-F238E27FC236}">
                  <a16:creationId xmlns:a16="http://schemas.microsoft.com/office/drawing/2014/main" id="{699EA885-6E2F-DF3B-66F8-1768513FC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Rectangle 68">
              <a:extLst>
                <a:ext uri="{FF2B5EF4-FFF2-40B4-BE49-F238E27FC236}">
                  <a16:creationId xmlns:a16="http://schemas.microsoft.com/office/drawing/2014/main" id="{956CD487-E555-93C8-4013-DFA7A2296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Rectangle 69">
              <a:extLst>
                <a:ext uri="{FF2B5EF4-FFF2-40B4-BE49-F238E27FC236}">
                  <a16:creationId xmlns:a16="http://schemas.microsoft.com/office/drawing/2014/main" id="{4F2AF461-F248-9205-FDED-14E0272B3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8" name="Group 71">
            <a:extLst>
              <a:ext uri="{FF2B5EF4-FFF2-40B4-BE49-F238E27FC236}">
                <a16:creationId xmlns:a16="http://schemas.microsoft.com/office/drawing/2014/main" id="{E9597DD1-CB48-3A16-BA20-ECFD41ABA9AC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631614" y="6179299"/>
            <a:ext cx="1566181" cy="502360"/>
            <a:chOff x="498" y="3463"/>
            <a:chExt cx="424" cy="136"/>
          </a:xfrm>
        </p:grpSpPr>
        <p:sp>
          <p:nvSpPr>
            <p:cNvPr id="89" name="Rectangle 72">
              <a:extLst>
                <a:ext uri="{FF2B5EF4-FFF2-40B4-BE49-F238E27FC236}">
                  <a16:creationId xmlns:a16="http://schemas.microsoft.com/office/drawing/2014/main" id="{3C0702F2-E8A8-0F62-45F8-4EE1B4F99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73">
              <a:extLst>
                <a:ext uri="{FF2B5EF4-FFF2-40B4-BE49-F238E27FC236}">
                  <a16:creationId xmlns:a16="http://schemas.microsoft.com/office/drawing/2014/main" id="{1B35B8AE-52D4-5705-E2B0-DCDC5DCAA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74">
              <a:extLst>
                <a:ext uri="{FF2B5EF4-FFF2-40B4-BE49-F238E27FC236}">
                  <a16:creationId xmlns:a16="http://schemas.microsoft.com/office/drawing/2014/main" id="{88C579AE-B164-5A62-F8BD-706F377AB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Rectangle 75">
              <a:extLst>
                <a:ext uri="{FF2B5EF4-FFF2-40B4-BE49-F238E27FC236}">
                  <a16:creationId xmlns:a16="http://schemas.microsoft.com/office/drawing/2014/main" id="{45B61CE9-F365-613C-7BBA-EE3D985C8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FE12255B-4A37-6E9C-F8F6-E2CA6E39D69A}"/>
              </a:ext>
            </a:extLst>
          </p:cNvPr>
          <p:cNvSpPr txBox="1"/>
          <p:nvPr/>
        </p:nvSpPr>
        <p:spPr>
          <a:xfrm>
            <a:off x="8621700" y="5538776"/>
            <a:ext cx="3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6BE93F9-0A81-0B31-F07B-246142B0F9DC}"/>
              </a:ext>
            </a:extLst>
          </p:cNvPr>
          <p:cNvSpPr txBox="1"/>
          <p:nvPr/>
        </p:nvSpPr>
        <p:spPr>
          <a:xfrm>
            <a:off x="9600336" y="5555047"/>
            <a:ext cx="46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48DAE5E-C42F-6147-3A60-10F36924A68A}"/>
              </a:ext>
            </a:extLst>
          </p:cNvPr>
          <p:cNvSpPr txBox="1"/>
          <p:nvPr/>
        </p:nvSpPr>
        <p:spPr>
          <a:xfrm>
            <a:off x="10722649" y="5568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731A82-1DA4-2E75-CF96-609C3598482A}"/>
              </a:ext>
            </a:extLst>
          </p:cNvPr>
          <p:cNvGrpSpPr/>
          <p:nvPr/>
        </p:nvGrpSpPr>
        <p:grpSpPr>
          <a:xfrm>
            <a:off x="6365387" y="2072935"/>
            <a:ext cx="805586" cy="369429"/>
            <a:chOff x="6365387" y="2072935"/>
            <a:chExt cx="805586" cy="369429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E736C08-30DC-4BD8-6835-7F543D54544D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FB419E3-3609-A47A-74A6-541BA383413D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F292243-5B01-854F-95BF-7E094BEAA2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8E58163-9EE9-AE60-A909-9628AB4BB022}"/>
              </a:ext>
            </a:extLst>
          </p:cNvPr>
          <p:cNvGrpSpPr/>
          <p:nvPr/>
        </p:nvGrpSpPr>
        <p:grpSpPr>
          <a:xfrm>
            <a:off x="6359697" y="1678274"/>
            <a:ext cx="805586" cy="369429"/>
            <a:chOff x="6365387" y="2072935"/>
            <a:chExt cx="805586" cy="369429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B612ECF-BC9B-11EF-D2EE-1AEEF9EDF102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07C174-DD58-4836-7330-509BEA39C3A1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57F45EA-AF3E-870F-0C4E-99D075E6A0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4B4F0E2-1583-A747-5854-523BF4DF7A0D}"/>
              </a:ext>
            </a:extLst>
          </p:cNvPr>
          <p:cNvGrpSpPr/>
          <p:nvPr/>
        </p:nvGrpSpPr>
        <p:grpSpPr>
          <a:xfrm>
            <a:off x="6365387" y="1289628"/>
            <a:ext cx="805586" cy="369429"/>
            <a:chOff x="6365387" y="2072935"/>
            <a:chExt cx="805586" cy="369429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05A29FE-113C-FAA4-9130-3BF46D377142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51CBD6F-1546-57A1-A0AE-1F6F6E1A58B3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FCF7071-AC2E-B286-9647-4ED2090252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57">
            <a:extLst>
              <a:ext uri="{FF2B5EF4-FFF2-40B4-BE49-F238E27FC236}">
                <a16:creationId xmlns:a16="http://schemas.microsoft.com/office/drawing/2014/main" id="{CD9C327C-9876-BB2D-05F4-F24E8D91E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988" y="2693612"/>
            <a:ext cx="1066635" cy="1314652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DF1AEF8-37AA-2A05-1EF4-87C00973E077}"/>
              </a:ext>
            </a:extLst>
          </p:cNvPr>
          <p:cNvSpPr/>
          <p:nvPr/>
        </p:nvSpPr>
        <p:spPr>
          <a:xfrm>
            <a:off x="6835022" y="3589379"/>
            <a:ext cx="304345" cy="296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0D656B-4002-9904-0057-5ACF1F3E3B17}"/>
              </a:ext>
            </a:extLst>
          </p:cNvPr>
          <p:cNvSpPr/>
          <p:nvPr/>
        </p:nvSpPr>
        <p:spPr>
          <a:xfrm>
            <a:off x="6836416" y="2813535"/>
            <a:ext cx="304345" cy="296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3605ECA-BFE0-728C-BBEF-8443D73C2912}"/>
              </a:ext>
            </a:extLst>
          </p:cNvPr>
          <p:cNvGrpSpPr/>
          <p:nvPr/>
        </p:nvGrpSpPr>
        <p:grpSpPr>
          <a:xfrm>
            <a:off x="6364500" y="3556311"/>
            <a:ext cx="805586" cy="369429"/>
            <a:chOff x="6365387" y="2072935"/>
            <a:chExt cx="805586" cy="369429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E0340E3-BBF7-B3B3-E5F8-564F3A027C88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5EFA7FF-8EA0-9191-B446-EB866712CD38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0ED1391-7FB0-00D6-92AF-7426898E6F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CC7A65D-BFB9-8671-A0D6-B2977C61CA01}"/>
              </a:ext>
            </a:extLst>
          </p:cNvPr>
          <p:cNvGrpSpPr/>
          <p:nvPr/>
        </p:nvGrpSpPr>
        <p:grpSpPr>
          <a:xfrm>
            <a:off x="6358810" y="3161650"/>
            <a:ext cx="805586" cy="369429"/>
            <a:chOff x="6365387" y="2072935"/>
            <a:chExt cx="805586" cy="369429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7B6BD04-282B-B616-31B9-C8912D164F8D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2CFA651-42AB-A981-0FE7-718BC7030FAB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32F71CF-871E-2B2C-5F3A-89ED77C4D3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F26AD10-A720-78DA-E667-AF9E56E084F2}"/>
              </a:ext>
            </a:extLst>
          </p:cNvPr>
          <p:cNvGrpSpPr/>
          <p:nvPr/>
        </p:nvGrpSpPr>
        <p:grpSpPr>
          <a:xfrm>
            <a:off x="6364500" y="2773004"/>
            <a:ext cx="805586" cy="369429"/>
            <a:chOff x="6365387" y="2072935"/>
            <a:chExt cx="805586" cy="369429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F137B77-3D37-F70E-0E8E-75E9762F1F96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788BD3F-823C-4450-0B19-2300472BE7F4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C1DE3B1-19B8-D49F-A3B8-55D967572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tangle 57">
            <a:extLst>
              <a:ext uri="{FF2B5EF4-FFF2-40B4-BE49-F238E27FC236}">
                <a16:creationId xmlns:a16="http://schemas.microsoft.com/office/drawing/2014/main" id="{A9397953-C8BC-2964-5FEA-C32DB5E47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0657" y="4168044"/>
            <a:ext cx="1066635" cy="1314652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432ACDC-611A-021E-338F-16749AA872DA}"/>
              </a:ext>
            </a:extLst>
          </p:cNvPr>
          <p:cNvSpPr/>
          <p:nvPr/>
        </p:nvSpPr>
        <p:spPr>
          <a:xfrm>
            <a:off x="6811169" y="4676243"/>
            <a:ext cx="304345" cy="296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322222E-1DFC-8361-257F-7FC6AFACD2FE}"/>
              </a:ext>
            </a:extLst>
          </p:cNvPr>
          <p:cNvSpPr/>
          <p:nvPr/>
        </p:nvSpPr>
        <p:spPr>
          <a:xfrm>
            <a:off x="6823085" y="4287967"/>
            <a:ext cx="304345" cy="296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B93D2B0-9708-B68B-509F-BEE861BCFADD}"/>
              </a:ext>
            </a:extLst>
          </p:cNvPr>
          <p:cNvGrpSpPr/>
          <p:nvPr/>
        </p:nvGrpSpPr>
        <p:grpSpPr>
          <a:xfrm>
            <a:off x="6351169" y="5030743"/>
            <a:ext cx="805586" cy="369429"/>
            <a:chOff x="6365387" y="2072935"/>
            <a:chExt cx="805586" cy="369429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19F9066-47C3-7E0E-E21C-13B4DD0E2342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A4995E2-DAE1-1081-A04D-2022EB4025B8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9C3FF3E-29DB-F45C-6A16-6667EA5485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BEFC5C6-F356-2FCC-0B6B-B0BE3071F398}"/>
              </a:ext>
            </a:extLst>
          </p:cNvPr>
          <p:cNvGrpSpPr/>
          <p:nvPr/>
        </p:nvGrpSpPr>
        <p:grpSpPr>
          <a:xfrm>
            <a:off x="6345479" y="4636082"/>
            <a:ext cx="805586" cy="369429"/>
            <a:chOff x="6365387" y="2072935"/>
            <a:chExt cx="805586" cy="369429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4C3A0EC-8E16-1C20-A646-5DDBA840AE5E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3E2FE49-EBCE-B52D-4139-CA5EB78AF67A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986DD93-D51B-65D9-AF15-49757B36FF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D449FA1-E246-4C99-97D3-79DEDECB6FD0}"/>
              </a:ext>
            </a:extLst>
          </p:cNvPr>
          <p:cNvGrpSpPr/>
          <p:nvPr/>
        </p:nvGrpSpPr>
        <p:grpSpPr>
          <a:xfrm>
            <a:off x="6351169" y="4247436"/>
            <a:ext cx="805586" cy="369429"/>
            <a:chOff x="6365387" y="2072935"/>
            <a:chExt cx="805586" cy="369429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A609434-DE30-3F0A-C81C-2E854519A6F3}"/>
                </a:ext>
              </a:extLst>
            </p:cNvPr>
            <p:cNvCxnSpPr/>
            <p:nvPr/>
          </p:nvCxnSpPr>
          <p:spPr>
            <a:xfrm>
              <a:off x="6365387" y="2080770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9860F22-B4F2-A9B1-AF5E-1E875EE058A1}"/>
                </a:ext>
              </a:extLst>
            </p:cNvPr>
            <p:cNvCxnSpPr/>
            <p:nvPr/>
          </p:nvCxnSpPr>
          <p:spPr>
            <a:xfrm>
              <a:off x="6369526" y="2442364"/>
              <a:ext cx="80144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779E1C8-2CF4-89E1-4FAB-BE59DD7760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747" y="2072935"/>
              <a:ext cx="87" cy="369429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F0E07BB-657A-30CC-6502-C4E226518E9F}"/>
              </a:ext>
            </a:extLst>
          </p:cNvPr>
          <p:cNvCxnSpPr>
            <a:cxnSpLocks/>
          </p:cNvCxnSpPr>
          <p:nvPr/>
        </p:nvCxnSpPr>
        <p:spPr>
          <a:xfrm flipV="1">
            <a:off x="5904852" y="4840780"/>
            <a:ext cx="1008217" cy="1172249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E4D62F1-A783-782F-968C-BBB86A45A4DC}"/>
              </a:ext>
            </a:extLst>
          </p:cNvPr>
          <p:cNvSpPr txBox="1"/>
          <p:nvPr/>
        </p:nvSpPr>
        <p:spPr>
          <a:xfrm>
            <a:off x="200492" y="5797512"/>
            <a:ext cx="6031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 stuck behind the packet going to output port 1 anymore</a:t>
            </a:r>
          </a:p>
        </p:txBody>
      </p:sp>
    </p:spTree>
    <p:extLst>
      <p:ext uri="{BB962C8B-B14F-4D97-AF65-F5344CB8AC3E}">
        <p14:creationId xmlns:p14="http://schemas.microsoft.com/office/powerpoint/2010/main" val="287813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86 0.00186 L 0.29231 -0.05393 L 0.28476 0.52986 " pathEditMode="relative" ptsTypes="AAA">
                                      <p:cBhvr>
                                        <p:cTn id="6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0195 0.0426 L 0.11107 0.43473 " pathEditMode="relative" ptsTypes="AAA">
                                      <p:cBhvr>
                                        <p:cTn id="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948 0.00787 L 0.19493 0.15185 " pathEditMode="relative" ptsTypes="AAA">
                                      <p:cBhvr>
                                        <p:cTn id="1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  <p:bldP spid="40" grpId="0" animBg="1"/>
      <p:bldP spid="5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673C0F-EEA6-3549-BFCE-D83173D8E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861" y="1498943"/>
            <a:ext cx="5084299" cy="268117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Priority scheduling: </a:t>
            </a:r>
          </a:p>
          <a:p>
            <a:pPr marL="515938" indent="-277813"/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arriving traffic classified to figure out priority</a:t>
            </a:r>
          </a:p>
          <a:p>
            <a:pPr marL="804863" lvl="1" indent="-223838"/>
            <a:r>
              <a:rPr lang="en-US" altLang="en-US" sz="28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any header fields can be used for classification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Packet scheduling: priority</a:t>
            </a:r>
            <a:endParaRPr lang="en-US" dirty="0"/>
          </a:p>
        </p:txBody>
      </p:sp>
      <p:grpSp>
        <p:nvGrpSpPr>
          <p:cNvPr id="172" name="Group 25">
            <a:extLst>
              <a:ext uri="{FF2B5EF4-FFF2-40B4-BE49-F238E27FC236}">
                <a16:creationId xmlns:a16="http://schemas.microsoft.com/office/drawing/2014/main" id="{D29AA7AB-4B29-484B-B16E-5A0377B37697}"/>
              </a:ext>
            </a:extLst>
          </p:cNvPr>
          <p:cNvGrpSpPr>
            <a:grpSpLocks/>
          </p:cNvGrpSpPr>
          <p:nvPr/>
        </p:nvGrpSpPr>
        <p:grpSpPr bwMode="auto">
          <a:xfrm>
            <a:off x="8435655" y="2539998"/>
            <a:ext cx="932498" cy="580347"/>
            <a:chOff x="1670312" y="2557567"/>
            <a:chExt cx="932470" cy="580220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4F27A407-CAD2-654D-B519-29624580BA51}"/>
                </a:ext>
              </a:extLst>
            </p:cNvPr>
            <p:cNvSpPr/>
            <p:nvPr/>
          </p:nvSpPr>
          <p:spPr>
            <a:xfrm>
              <a:off x="2254738" y="2557567"/>
              <a:ext cx="348044" cy="580220"/>
            </a:xfrm>
            <a:prstGeom prst="rect">
              <a:avLst/>
            </a:prstGeom>
            <a:solidFill>
              <a:srgbClr val="00B050"/>
            </a:solidFill>
            <a:ln w="15875">
              <a:noFill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186" name="Group 39">
              <a:extLst>
                <a:ext uri="{FF2B5EF4-FFF2-40B4-BE49-F238E27FC236}">
                  <a16:creationId xmlns:a16="http://schemas.microsoft.com/office/drawing/2014/main" id="{1F49319F-C1B9-5448-8932-EDC4FDA07A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0312" y="2562997"/>
              <a:ext cx="929822" cy="565219"/>
              <a:chOff x="1670312" y="2562997"/>
              <a:chExt cx="929822" cy="565219"/>
            </a:xfrm>
          </p:grpSpPr>
          <p:sp>
            <p:nvSpPr>
              <p:cNvPr id="188" name="Rectangle 41">
                <a:extLst>
                  <a:ext uri="{FF2B5EF4-FFF2-40B4-BE49-F238E27FC236}">
                    <a16:creationId xmlns:a16="http://schemas.microsoft.com/office/drawing/2014/main" id="{419B0B07-E14F-574A-A6D3-5EF2081F5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0312" y="2562997"/>
                <a:ext cx="929822" cy="563157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89" name="Straight Connector 42">
                <a:extLst>
                  <a:ext uri="{FF2B5EF4-FFF2-40B4-BE49-F238E27FC236}">
                    <a16:creationId xmlns:a16="http://schemas.microsoft.com/office/drawing/2014/main" id="{092A6E7E-73F6-2849-B5B2-C6955AC9F6F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786358" y="2567533"/>
                <a:ext cx="4536" cy="55789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0" name="Straight Connector 43">
                <a:extLst>
                  <a:ext uri="{FF2B5EF4-FFF2-40B4-BE49-F238E27FC236}">
                    <a16:creationId xmlns:a16="http://schemas.microsoft.com/office/drawing/2014/main" id="{80314DF4-FA34-A749-807A-6B5E4D9827C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911544" y="2566974"/>
                <a:ext cx="4536" cy="55789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1" name="Straight Connector 44">
                <a:extLst>
                  <a:ext uri="{FF2B5EF4-FFF2-40B4-BE49-F238E27FC236}">
                    <a16:creationId xmlns:a16="http://schemas.microsoft.com/office/drawing/2014/main" id="{151DE241-B625-BC49-B4B6-56DFF1F4858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27659" y="2570323"/>
                <a:ext cx="4536" cy="55789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2" name="Straight Connector 45">
                <a:extLst>
                  <a:ext uri="{FF2B5EF4-FFF2-40B4-BE49-F238E27FC236}">
                    <a16:creationId xmlns:a16="http://schemas.microsoft.com/office/drawing/2014/main" id="{DAA11CD9-3EF6-6548-909A-06733C38809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134843" y="2564600"/>
                <a:ext cx="4536" cy="55789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3" name="Straight Connector 46">
                <a:extLst>
                  <a:ext uri="{FF2B5EF4-FFF2-40B4-BE49-F238E27FC236}">
                    <a16:creationId xmlns:a16="http://schemas.microsoft.com/office/drawing/2014/main" id="{AECF307B-27BA-2244-B46E-31F0A1B4522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44397" y="2566693"/>
                <a:ext cx="4536" cy="55789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4" name="Straight Connector 47">
                <a:extLst>
                  <a:ext uri="{FF2B5EF4-FFF2-40B4-BE49-F238E27FC236}">
                    <a16:creationId xmlns:a16="http://schemas.microsoft.com/office/drawing/2014/main" id="{ED8A1684-6836-3741-B33E-B3955A845CE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365675" y="2568786"/>
                <a:ext cx="4536" cy="55789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5" name="Straight Connector 48">
                <a:extLst>
                  <a:ext uri="{FF2B5EF4-FFF2-40B4-BE49-F238E27FC236}">
                    <a16:creationId xmlns:a16="http://schemas.microsoft.com/office/drawing/2014/main" id="{2EDC3350-9B5F-E74E-96B1-C12522F74AD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483045" y="2566971"/>
                <a:ext cx="4536" cy="55789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173" name="Group 26">
            <a:extLst>
              <a:ext uri="{FF2B5EF4-FFF2-40B4-BE49-F238E27FC236}">
                <a16:creationId xmlns:a16="http://schemas.microsoft.com/office/drawing/2014/main" id="{EBCAE18E-9192-9743-9EDB-C1BF166860C5}"/>
              </a:ext>
            </a:extLst>
          </p:cNvPr>
          <p:cNvGrpSpPr>
            <a:grpSpLocks/>
          </p:cNvGrpSpPr>
          <p:nvPr/>
        </p:nvGrpSpPr>
        <p:grpSpPr bwMode="auto">
          <a:xfrm>
            <a:off x="8402535" y="1868555"/>
            <a:ext cx="940346" cy="566869"/>
            <a:chOff x="1670312" y="2561471"/>
            <a:chExt cx="940317" cy="5667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7" name="Rectangle 30">
              <a:extLst>
                <a:ext uri="{FF2B5EF4-FFF2-40B4-BE49-F238E27FC236}">
                  <a16:creationId xmlns:a16="http://schemas.microsoft.com/office/drawing/2014/main" id="{1EC31351-D048-AB4C-9597-34C78CD42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862" y="2561471"/>
              <a:ext cx="693767" cy="561283"/>
            </a:xfrm>
            <a:prstGeom prst="rect">
              <a:avLst/>
            </a:prstGeom>
            <a:solidFill>
              <a:srgbClr val="FF0000">
                <a:alpha val="7097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6" name="Group 29">
              <a:extLst>
                <a:ext uri="{FF2B5EF4-FFF2-40B4-BE49-F238E27FC236}">
                  <a16:creationId xmlns:a16="http://schemas.microsoft.com/office/drawing/2014/main" id="{C9195E19-089C-0F4A-A590-A8DFCA59B1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0312" y="2562997"/>
              <a:ext cx="929822" cy="565219"/>
              <a:chOff x="1670312" y="2562997"/>
              <a:chExt cx="929822" cy="565219"/>
            </a:xfrm>
          </p:grpSpPr>
          <p:sp>
            <p:nvSpPr>
              <p:cNvPr id="178" name="Rectangle 31">
                <a:extLst>
                  <a:ext uri="{FF2B5EF4-FFF2-40B4-BE49-F238E27FC236}">
                    <a16:creationId xmlns:a16="http://schemas.microsoft.com/office/drawing/2014/main" id="{4601C83D-8525-6C46-A5A1-282E20FBC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0312" y="2562997"/>
                <a:ext cx="929822" cy="563157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79" name="Straight Connector 32">
                <a:extLst>
                  <a:ext uri="{FF2B5EF4-FFF2-40B4-BE49-F238E27FC236}">
                    <a16:creationId xmlns:a16="http://schemas.microsoft.com/office/drawing/2014/main" id="{46FEDEF7-94ED-654C-A714-5DA44949241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786358" y="2567533"/>
                <a:ext cx="4536" cy="55789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0" name="Straight Connector 33">
                <a:extLst>
                  <a:ext uri="{FF2B5EF4-FFF2-40B4-BE49-F238E27FC236}">
                    <a16:creationId xmlns:a16="http://schemas.microsoft.com/office/drawing/2014/main" id="{8AEE757F-2AA1-A049-996E-CD65BB439B4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911544" y="2566974"/>
                <a:ext cx="4536" cy="55789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1" name="Straight Connector 34">
                <a:extLst>
                  <a:ext uri="{FF2B5EF4-FFF2-40B4-BE49-F238E27FC236}">
                    <a16:creationId xmlns:a16="http://schemas.microsoft.com/office/drawing/2014/main" id="{6FBD7A30-4DFE-9741-94DF-756F5091DAC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27659" y="2570323"/>
                <a:ext cx="4536" cy="55789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2" name="Straight Connector 35">
                <a:extLst>
                  <a:ext uri="{FF2B5EF4-FFF2-40B4-BE49-F238E27FC236}">
                    <a16:creationId xmlns:a16="http://schemas.microsoft.com/office/drawing/2014/main" id="{A2413EBD-2230-9C4C-A1EF-E4D4691AE36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134843" y="2564600"/>
                <a:ext cx="4536" cy="55789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3" name="Straight Connector 36">
                <a:extLst>
                  <a:ext uri="{FF2B5EF4-FFF2-40B4-BE49-F238E27FC236}">
                    <a16:creationId xmlns:a16="http://schemas.microsoft.com/office/drawing/2014/main" id="{50DF05E5-CAE1-2548-9217-F3494FEAF90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44397" y="2566693"/>
                <a:ext cx="4536" cy="55789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4" name="Straight Connector 37">
                <a:extLst>
                  <a:ext uri="{FF2B5EF4-FFF2-40B4-BE49-F238E27FC236}">
                    <a16:creationId xmlns:a16="http://schemas.microsoft.com/office/drawing/2014/main" id="{4899B61A-4B5B-1C46-9B4B-0AEEACEDC2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365675" y="2568786"/>
                <a:ext cx="4536" cy="55789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5" name="Straight Connector 38">
                <a:extLst>
                  <a:ext uri="{FF2B5EF4-FFF2-40B4-BE49-F238E27FC236}">
                    <a16:creationId xmlns:a16="http://schemas.microsoft.com/office/drawing/2014/main" id="{22354FFA-0AC0-4B4E-B017-379116B17B9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483045" y="2566971"/>
                <a:ext cx="4536" cy="55789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174" name="Isosceles Triangle 27">
            <a:extLst>
              <a:ext uri="{FF2B5EF4-FFF2-40B4-BE49-F238E27FC236}">
                <a16:creationId xmlns:a16="http://schemas.microsoft.com/office/drawing/2014/main" id="{6B600212-9DCE-FA45-84A4-EE6D55AC00D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601944" y="2250962"/>
            <a:ext cx="575153" cy="430249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1905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Oval 28">
            <a:extLst>
              <a:ext uri="{FF2B5EF4-FFF2-40B4-BE49-F238E27FC236}">
                <a16:creationId xmlns:a16="http://schemas.microsoft.com/office/drawing/2014/main" id="{D78010AB-EF5A-6941-809F-F93A8141A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2762" y="2171496"/>
            <a:ext cx="632958" cy="628951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157" name="Straight Arrow Connector 10">
            <a:extLst>
              <a:ext uri="{FF2B5EF4-FFF2-40B4-BE49-F238E27FC236}">
                <a16:creationId xmlns:a16="http://schemas.microsoft.com/office/drawing/2014/main" id="{807EF7CE-15BB-0345-80AA-C72219B530DE}"/>
              </a:ext>
            </a:extLst>
          </p:cNvPr>
          <p:cNvCxnSpPr>
            <a:cxnSpLocks noChangeShapeType="1"/>
            <a:stCxn id="174" idx="0"/>
            <a:endCxn id="178" idx="1"/>
          </p:cNvCxnSpPr>
          <p:nvPr/>
        </p:nvCxnSpPr>
        <p:spPr bwMode="auto">
          <a:xfrm flipV="1">
            <a:off x="8104645" y="2151723"/>
            <a:ext cx="297890" cy="314364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8" name="Straight Arrow Connector 11">
            <a:extLst>
              <a:ext uri="{FF2B5EF4-FFF2-40B4-BE49-F238E27FC236}">
                <a16:creationId xmlns:a16="http://schemas.microsoft.com/office/drawing/2014/main" id="{F55CECDF-4CB3-5843-AF94-3B368134102E}"/>
              </a:ext>
            </a:extLst>
          </p:cNvPr>
          <p:cNvCxnSpPr>
            <a:cxnSpLocks noChangeShapeType="1"/>
            <a:stCxn id="174" idx="0"/>
            <a:endCxn id="188" idx="1"/>
          </p:cNvCxnSpPr>
          <p:nvPr/>
        </p:nvCxnSpPr>
        <p:spPr bwMode="auto">
          <a:xfrm>
            <a:off x="8104645" y="2466087"/>
            <a:ext cx="331010" cy="360983"/>
          </a:xfrm>
          <a:prstGeom prst="straightConnector1">
            <a:avLst/>
          </a:prstGeom>
          <a:noFill/>
          <a:ln w="1905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1" name="Straight Arrow Connector 14">
            <a:extLst>
              <a:ext uri="{FF2B5EF4-FFF2-40B4-BE49-F238E27FC236}">
                <a16:creationId xmlns:a16="http://schemas.microsoft.com/office/drawing/2014/main" id="{4F6FF0FC-694A-FB4A-B7BF-730824E84E13}"/>
              </a:ext>
            </a:extLst>
          </p:cNvPr>
          <p:cNvCxnSpPr>
            <a:cxnSpLocks noChangeShapeType="1"/>
            <a:endCxn id="175" idx="1"/>
          </p:cNvCxnSpPr>
          <p:nvPr/>
        </p:nvCxnSpPr>
        <p:spPr bwMode="auto">
          <a:xfrm>
            <a:off x="9341082" y="2139198"/>
            <a:ext cx="224375" cy="124406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2" name="Straight Arrow Connector 15">
            <a:extLst>
              <a:ext uri="{FF2B5EF4-FFF2-40B4-BE49-F238E27FC236}">
                <a16:creationId xmlns:a16="http://schemas.microsoft.com/office/drawing/2014/main" id="{014D0138-D0C8-754D-892F-A6B42C7D3FC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364554" y="2686901"/>
            <a:ext cx="185647" cy="157163"/>
          </a:xfrm>
          <a:prstGeom prst="straightConnector1">
            <a:avLst/>
          </a:prstGeom>
          <a:noFill/>
          <a:ln w="1905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" name="Straight Arrow Connector 16">
            <a:extLst>
              <a:ext uri="{FF2B5EF4-FFF2-40B4-BE49-F238E27FC236}">
                <a16:creationId xmlns:a16="http://schemas.microsoft.com/office/drawing/2014/main" id="{A4B2BAE5-CB5A-6145-9067-070F0828B96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101254" y="2497723"/>
            <a:ext cx="390980" cy="116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4" name="TextBox 17">
            <a:extLst>
              <a:ext uri="{FF2B5EF4-FFF2-40B4-BE49-F238E27FC236}">
                <a16:creationId xmlns:a16="http://schemas.microsoft.com/office/drawing/2014/main" id="{2E543E50-C3C7-E541-9ECB-BF1EF2474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2013" y="1532962"/>
            <a:ext cx="16562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 priority queue</a:t>
            </a:r>
          </a:p>
        </p:txBody>
      </p:sp>
      <p:sp>
        <p:nvSpPr>
          <p:cNvPr id="165" name="TextBox 18">
            <a:extLst>
              <a:ext uri="{FF2B5EF4-FFF2-40B4-BE49-F238E27FC236}">
                <a16:creationId xmlns:a16="http://schemas.microsoft.com/office/drawing/2014/main" id="{D33A6E20-61AB-3A46-BAD3-72B639231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776" y="3161687"/>
            <a:ext cx="15872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low priority queue</a:t>
            </a:r>
          </a:p>
        </p:txBody>
      </p:sp>
      <p:sp>
        <p:nvSpPr>
          <p:cNvPr id="166" name="TextBox 19">
            <a:extLst>
              <a:ext uri="{FF2B5EF4-FFF2-40B4-BE49-F238E27FC236}">
                <a16:creationId xmlns:a16="http://schemas.microsoft.com/office/drawing/2014/main" id="{18CA292A-DA82-0843-80BD-20E9FC633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6660" y="2012062"/>
            <a:ext cx="763273" cy="307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arrivals</a:t>
            </a:r>
          </a:p>
        </p:txBody>
      </p:sp>
      <p:sp>
        <p:nvSpPr>
          <p:cNvPr id="167" name="TextBox 20">
            <a:extLst>
              <a:ext uri="{FF2B5EF4-FFF2-40B4-BE49-F238E27FC236}">
                <a16:creationId xmlns:a16="http://schemas.microsoft.com/office/drawing/2014/main" id="{66963E56-8D94-1F47-9283-561C942DF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3654" y="2744465"/>
            <a:ext cx="787419" cy="307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classify</a:t>
            </a:r>
          </a:p>
        </p:txBody>
      </p:sp>
      <p:sp>
        <p:nvSpPr>
          <p:cNvPr id="170" name="TextBox 23">
            <a:extLst>
              <a:ext uri="{FF2B5EF4-FFF2-40B4-BE49-F238E27FC236}">
                <a16:creationId xmlns:a16="http://schemas.microsoft.com/office/drawing/2014/main" id="{C50F9624-DB30-D841-8393-1591753B2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7672" y="2765634"/>
            <a:ext cx="1043018" cy="307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departures</a:t>
            </a:r>
          </a:p>
        </p:txBody>
      </p:sp>
      <p:sp>
        <p:nvSpPr>
          <p:cNvPr id="171" name="TextBox 24">
            <a:extLst>
              <a:ext uri="{FF2B5EF4-FFF2-40B4-BE49-F238E27FC236}">
                <a16:creationId xmlns:a16="http://schemas.microsoft.com/office/drawing/2014/main" id="{3D12E165-AACD-FC4D-9133-E5299E6E1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2426" y="2771503"/>
            <a:ext cx="9605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scheduler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CA413330-497F-ED47-B78A-AF3BCDFF5B9A}"/>
              </a:ext>
            </a:extLst>
          </p:cNvPr>
          <p:cNvGrpSpPr>
            <a:grpSpLocks/>
          </p:cNvGrpSpPr>
          <p:nvPr/>
        </p:nvGrpSpPr>
        <p:grpSpPr bwMode="auto">
          <a:xfrm>
            <a:off x="7832648" y="4587146"/>
            <a:ext cx="347662" cy="754063"/>
            <a:chOff x="2797204" y="2989241"/>
            <a:chExt cx="347099" cy="755477"/>
          </a:xfrm>
        </p:grpSpPr>
        <p:sp>
          <p:nvSpPr>
            <p:cNvPr id="199" name="Rectangle 52">
              <a:extLst>
                <a:ext uri="{FF2B5EF4-FFF2-40B4-BE49-F238E27FC236}">
                  <a16:creationId xmlns:a16="http://schemas.microsoft.com/office/drawing/2014/main" id="{B91332E7-A11F-9347-AEBB-461467FDA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7204" y="2989241"/>
              <a:ext cx="347099" cy="755477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0" name="Group 53">
              <a:extLst>
                <a:ext uri="{FF2B5EF4-FFF2-40B4-BE49-F238E27FC236}">
                  <a16:creationId xmlns:a16="http://schemas.microsoft.com/office/drawing/2014/main" id="{F4ACB128-10F8-694B-81EE-797A0DD600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1701" y="3197503"/>
              <a:ext cx="298780" cy="338554"/>
              <a:chOff x="2821701" y="3197503"/>
              <a:chExt cx="298780" cy="338554"/>
            </a:xfrm>
          </p:grpSpPr>
          <p:sp>
            <p:nvSpPr>
              <p:cNvPr id="201" name="Oval 54">
                <a:extLst>
                  <a:ext uri="{FF2B5EF4-FFF2-40B4-BE49-F238E27FC236}">
                    <a16:creationId xmlns:a16="http://schemas.microsoft.com/office/drawing/2014/main" id="{FEC2E554-32AB-DB43-AF65-3677E1404F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2541" y="3271013"/>
                <a:ext cx="220510" cy="20009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2" name="TextBox 55">
                <a:extLst>
                  <a:ext uri="{FF2B5EF4-FFF2-40B4-BE49-F238E27FC236}">
                    <a16:creationId xmlns:a16="http://schemas.microsoft.com/office/drawing/2014/main" id="{3038C36E-D4FE-2D43-81C4-8CBEF283A6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1701" y="3197503"/>
                <a:ext cx="29878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1</a:t>
                </a:r>
              </a:p>
            </p:txBody>
          </p:sp>
        </p:grp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0D5CDCB5-8BD7-8449-9EE8-522A6E1EC58E}"/>
              </a:ext>
            </a:extLst>
          </p:cNvPr>
          <p:cNvGrpSpPr>
            <a:grpSpLocks/>
          </p:cNvGrpSpPr>
          <p:nvPr/>
        </p:nvGrpSpPr>
        <p:grpSpPr bwMode="auto">
          <a:xfrm>
            <a:off x="8181898" y="4591909"/>
            <a:ext cx="346075" cy="755650"/>
            <a:chOff x="2797204" y="2989241"/>
            <a:chExt cx="347099" cy="755477"/>
          </a:xfrm>
        </p:grpSpPr>
        <p:sp>
          <p:nvSpPr>
            <p:cNvPr id="204" name="Rectangle 57">
              <a:extLst>
                <a:ext uri="{FF2B5EF4-FFF2-40B4-BE49-F238E27FC236}">
                  <a16:creationId xmlns:a16="http://schemas.microsoft.com/office/drawing/2014/main" id="{79C763B8-181E-C545-8EDE-2006D8C79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7204" y="2989241"/>
              <a:ext cx="347099" cy="755477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5" name="Group 58">
              <a:extLst>
                <a:ext uri="{FF2B5EF4-FFF2-40B4-BE49-F238E27FC236}">
                  <a16:creationId xmlns:a16="http://schemas.microsoft.com/office/drawing/2014/main" id="{BB006118-96E2-A144-A976-280D82D624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1701" y="3197503"/>
              <a:ext cx="298780" cy="338554"/>
              <a:chOff x="2821701" y="3197503"/>
              <a:chExt cx="298780" cy="338554"/>
            </a:xfrm>
          </p:grpSpPr>
          <p:sp>
            <p:nvSpPr>
              <p:cNvPr id="206" name="Oval 59">
                <a:extLst>
                  <a:ext uri="{FF2B5EF4-FFF2-40B4-BE49-F238E27FC236}">
                    <a16:creationId xmlns:a16="http://schemas.microsoft.com/office/drawing/2014/main" id="{4A938029-DCC0-0240-A47F-3D1EAA258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2541" y="3271013"/>
                <a:ext cx="220510" cy="20009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7" name="TextBox 60">
                <a:extLst>
                  <a:ext uri="{FF2B5EF4-FFF2-40B4-BE49-F238E27FC236}">
                    <a16:creationId xmlns:a16="http://schemas.microsoft.com/office/drawing/2014/main" id="{0D6BFA59-6951-BA4F-849A-B320C9CA97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1701" y="3197503"/>
                <a:ext cx="29878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3</a:t>
                </a:r>
              </a:p>
            </p:txBody>
          </p:sp>
        </p:grp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628CDD20-1F91-BA48-AEEC-082272BFE385}"/>
              </a:ext>
            </a:extLst>
          </p:cNvPr>
          <p:cNvGrpSpPr>
            <a:grpSpLocks/>
          </p:cNvGrpSpPr>
          <p:nvPr/>
        </p:nvGrpSpPr>
        <p:grpSpPr bwMode="auto">
          <a:xfrm>
            <a:off x="8532735" y="4587146"/>
            <a:ext cx="346075" cy="755650"/>
            <a:chOff x="997686" y="3954289"/>
            <a:chExt cx="347099" cy="755477"/>
          </a:xfrm>
        </p:grpSpPr>
        <p:sp>
          <p:nvSpPr>
            <p:cNvPr id="209" name="Rectangle 62">
              <a:extLst>
                <a:ext uri="{FF2B5EF4-FFF2-40B4-BE49-F238E27FC236}">
                  <a16:creationId xmlns:a16="http://schemas.microsoft.com/office/drawing/2014/main" id="{5601D88E-9405-1B4E-B7D8-10891DF1E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7686" y="3954289"/>
              <a:ext cx="347099" cy="755477"/>
            </a:xfrm>
            <a:prstGeom prst="rect">
              <a:avLst/>
            </a:prstGeom>
            <a:solidFill>
              <a:srgbClr val="00B05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0" name="Group 63">
              <a:extLst>
                <a:ext uri="{FF2B5EF4-FFF2-40B4-BE49-F238E27FC236}">
                  <a16:creationId xmlns:a16="http://schemas.microsoft.com/office/drawing/2014/main" id="{22469F56-B5A8-A44E-A5FF-04A4C3A4F1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2183" y="4162551"/>
              <a:ext cx="298780" cy="338554"/>
              <a:chOff x="2821701" y="3197503"/>
              <a:chExt cx="298780" cy="338554"/>
            </a:xfrm>
          </p:grpSpPr>
          <p:sp>
            <p:nvSpPr>
              <p:cNvPr id="211" name="Oval 64">
                <a:extLst>
                  <a:ext uri="{FF2B5EF4-FFF2-40B4-BE49-F238E27FC236}">
                    <a16:creationId xmlns:a16="http://schemas.microsoft.com/office/drawing/2014/main" id="{60743089-7BBE-7A47-8B6F-9BA958266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2541" y="3271013"/>
                <a:ext cx="220510" cy="20009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2" name="TextBox 65">
                <a:extLst>
                  <a:ext uri="{FF2B5EF4-FFF2-40B4-BE49-F238E27FC236}">
                    <a16:creationId xmlns:a16="http://schemas.microsoft.com/office/drawing/2014/main" id="{97AE9EDF-FCD8-A44E-830F-C938E1028A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1701" y="3197503"/>
                <a:ext cx="29878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2</a:t>
                </a:r>
              </a:p>
            </p:txBody>
          </p: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AED8E6B2-55F7-A842-BF00-1FDEAB5B96FB}"/>
              </a:ext>
            </a:extLst>
          </p:cNvPr>
          <p:cNvGrpSpPr>
            <a:grpSpLocks/>
          </p:cNvGrpSpPr>
          <p:nvPr/>
        </p:nvGrpSpPr>
        <p:grpSpPr bwMode="auto">
          <a:xfrm>
            <a:off x="8888335" y="4585559"/>
            <a:ext cx="347663" cy="754062"/>
            <a:chOff x="2797204" y="2989241"/>
            <a:chExt cx="347099" cy="755477"/>
          </a:xfrm>
        </p:grpSpPr>
        <p:sp>
          <p:nvSpPr>
            <p:cNvPr id="214" name="Rectangle 67">
              <a:extLst>
                <a:ext uri="{FF2B5EF4-FFF2-40B4-BE49-F238E27FC236}">
                  <a16:creationId xmlns:a16="http://schemas.microsoft.com/office/drawing/2014/main" id="{17877A5D-7221-1B44-A820-C6CA50DDF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7204" y="2989241"/>
              <a:ext cx="347099" cy="755477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5" name="Group 68">
              <a:extLst>
                <a:ext uri="{FF2B5EF4-FFF2-40B4-BE49-F238E27FC236}">
                  <a16:creationId xmlns:a16="http://schemas.microsoft.com/office/drawing/2014/main" id="{971AF330-877D-B346-8636-720417511D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1701" y="3197503"/>
              <a:ext cx="298780" cy="338554"/>
              <a:chOff x="2821701" y="3197503"/>
              <a:chExt cx="298780" cy="338554"/>
            </a:xfrm>
          </p:grpSpPr>
          <p:sp>
            <p:nvSpPr>
              <p:cNvPr id="216" name="Oval 69">
                <a:extLst>
                  <a:ext uri="{FF2B5EF4-FFF2-40B4-BE49-F238E27FC236}">
                    <a16:creationId xmlns:a16="http://schemas.microsoft.com/office/drawing/2014/main" id="{BBC6CE4C-69C6-3442-856D-E7AE545D2A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2541" y="3271013"/>
                <a:ext cx="220510" cy="20009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7" name="TextBox 70">
                <a:extLst>
                  <a:ext uri="{FF2B5EF4-FFF2-40B4-BE49-F238E27FC236}">
                    <a16:creationId xmlns:a16="http://schemas.microsoft.com/office/drawing/2014/main" id="{6651BEED-1878-374C-8A7F-971D8CFEEA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1701" y="3197503"/>
                <a:ext cx="29878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4</a:t>
                </a:r>
              </a:p>
            </p:txBody>
          </p:sp>
        </p:grp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2C52832B-CB92-454D-9FA5-397F33ED018E}"/>
              </a:ext>
            </a:extLst>
          </p:cNvPr>
          <p:cNvGrpSpPr>
            <a:grpSpLocks/>
          </p:cNvGrpSpPr>
          <p:nvPr/>
        </p:nvGrpSpPr>
        <p:grpSpPr bwMode="auto">
          <a:xfrm>
            <a:off x="9950373" y="4593496"/>
            <a:ext cx="347662" cy="755650"/>
            <a:chOff x="997686" y="3954289"/>
            <a:chExt cx="347099" cy="755477"/>
          </a:xfrm>
        </p:grpSpPr>
        <p:sp>
          <p:nvSpPr>
            <p:cNvPr id="219" name="Rectangle 72">
              <a:extLst>
                <a:ext uri="{FF2B5EF4-FFF2-40B4-BE49-F238E27FC236}">
                  <a16:creationId xmlns:a16="http://schemas.microsoft.com/office/drawing/2014/main" id="{E8EB6424-F905-7341-B066-9F8E5F627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7686" y="3954289"/>
              <a:ext cx="347099" cy="755477"/>
            </a:xfrm>
            <a:prstGeom prst="rect">
              <a:avLst/>
            </a:prstGeom>
            <a:solidFill>
              <a:srgbClr val="00B05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20" name="Group 73">
              <a:extLst>
                <a:ext uri="{FF2B5EF4-FFF2-40B4-BE49-F238E27FC236}">
                  <a16:creationId xmlns:a16="http://schemas.microsoft.com/office/drawing/2014/main" id="{EAE329E5-B657-7E46-AF92-0B794854B2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2183" y="4162551"/>
              <a:ext cx="298780" cy="338554"/>
              <a:chOff x="2821701" y="3197503"/>
              <a:chExt cx="298780" cy="338554"/>
            </a:xfrm>
          </p:grpSpPr>
          <p:sp>
            <p:nvSpPr>
              <p:cNvPr id="221" name="Oval 74">
                <a:extLst>
                  <a:ext uri="{FF2B5EF4-FFF2-40B4-BE49-F238E27FC236}">
                    <a16:creationId xmlns:a16="http://schemas.microsoft.com/office/drawing/2014/main" id="{14299EB1-5355-4344-8A2B-DA7E42F81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2541" y="3271013"/>
                <a:ext cx="220510" cy="20009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2" name="TextBox 75">
                <a:extLst>
                  <a:ext uri="{FF2B5EF4-FFF2-40B4-BE49-F238E27FC236}">
                    <a16:creationId xmlns:a16="http://schemas.microsoft.com/office/drawing/2014/main" id="{0910BB6C-C974-2D4C-91BD-0C41CB78E0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1701" y="3197503"/>
                <a:ext cx="29878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5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414A69-7A4D-E94C-9166-A43D26F738FB}"/>
              </a:ext>
            </a:extLst>
          </p:cNvPr>
          <p:cNvGrpSpPr/>
          <p:nvPr/>
        </p:nvGrpSpPr>
        <p:grpSpPr>
          <a:xfrm>
            <a:off x="6976985" y="4182334"/>
            <a:ext cx="3978275" cy="1506537"/>
            <a:chOff x="6976985" y="4182334"/>
            <a:chExt cx="3978275" cy="1506537"/>
          </a:xfrm>
        </p:grpSpPr>
        <p:cxnSp>
          <p:nvCxnSpPr>
            <p:cNvPr id="196" name="Straight Connector 49">
              <a:extLst>
                <a:ext uri="{FF2B5EF4-FFF2-40B4-BE49-F238E27FC236}">
                  <a16:creationId xmlns:a16="http://schemas.microsoft.com/office/drawing/2014/main" id="{09FBCBE2-0BE6-0B41-8BDC-3994B6A0EE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23110" y="4580796"/>
              <a:ext cx="32305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7" name="Straight Connector 50">
              <a:extLst>
                <a:ext uri="{FF2B5EF4-FFF2-40B4-BE49-F238E27FC236}">
                  <a16:creationId xmlns:a16="http://schemas.microsoft.com/office/drawing/2014/main" id="{7F18FA76-7AB2-2240-83F5-7ECCE2B761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24698" y="5352321"/>
              <a:ext cx="32305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TextBox 126">
              <a:extLst>
                <a:ext uri="{FF2B5EF4-FFF2-40B4-BE49-F238E27FC236}">
                  <a16:creationId xmlns:a16="http://schemas.microsoft.com/office/drawing/2014/main" id="{0D4C74E0-D72A-AB40-AFD9-B2B842FE1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6985" y="4182334"/>
              <a:ext cx="80645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arrivals</a:t>
              </a:r>
            </a:p>
          </p:txBody>
        </p:sp>
        <p:sp>
          <p:nvSpPr>
            <p:cNvPr id="274" name="TextBox 127">
              <a:extLst>
                <a:ext uri="{FF2B5EF4-FFF2-40B4-BE49-F238E27FC236}">
                  <a16:creationId xmlns:a16="http://schemas.microsoft.com/office/drawing/2014/main" id="{53975E93-967F-ED41-83F1-9D88A6965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0798" y="5380896"/>
              <a:ext cx="108743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departures</a:t>
              </a:r>
            </a:p>
          </p:txBody>
        </p:sp>
        <p:sp>
          <p:nvSpPr>
            <p:cNvPr id="275" name="TextBox 128">
              <a:extLst>
                <a:ext uri="{FF2B5EF4-FFF2-40B4-BE49-F238E27FC236}">
                  <a16:creationId xmlns:a16="http://schemas.microsoft.com/office/drawing/2014/main" id="{B40D0F1D-D7DC-5742-9077-05BB3F474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023" y="4687159"/>
              <a:ext cx="860425" cy="593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2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packet in service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77129A8-85BC-6440-85AB-254D43D1F548}"/>
              </a:ext>
            </a:extLst>
          </p:cNvPr>
          <p:cNvGrpSpPr/>
          <p:nvPr/>
        </p:nvGrpSpPr>
        <p:grpSpPr>
          <a:xfrm>
            <a:off x="7015641" y="2371233"/>
            <a:ext cx="563235" cy="169985"/>
            <a:chOff x="6268765" y="2496876"/>
            <a:chExt cx="563235" cy="169985"/>
          </a:xfrm>
        </p:grpSpPr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DA779E9A-02A9-6644-AD69-61CB27E5FD57}"/>
                </a:ext>
              </a:extLst>
            </p:cNvPr>
            <p:cNvCxnSpPr/>
            <p:nvPr/>
          </p:nvCxnSpPr>
          <p:spPr>
            <a:xfrm>
              <a:off x="6268765" y="2496876"/>
              <a:ext cx="56270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EC9A69F9-D799-2D40-8176-B02399B60E4C}"/>
                </a:ext>
              </a:extLst>
            </p:cNvPr>
            <p:cNvCxnSpPr/>
            <p:nvPr/>
          </p:nvCxnSpPr>
          <p:spPr>
            <a:xfrm>
              <a:off x="6269292" y="2666861"/>
              <a:ext cx="562708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2529E63-DBF0-6744-92EC-AF13D4CB549F}"/>
              </a:ext>
            </a:extLst>
          </p:cNvPr>
          <p:cNvGrpSpPr/>
          <p:nvPr/>
        </p:nvGrpSpPr>
        <p:grpSpPr>
          <a:xfrm>
            <a:off x="10518514" y="2335168"/>
            <a:ext cx="563235" cy="352190"/>
            <a:chOff x="6268765" y="2496876"/>
            <a:chExt cx="563235" cy="169985"/>
          </a:xfrm>
        </p:grpSpPr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11813BBB-45F9-4545-A44C-AB5AAFCFF57C}"/>
                </a:ext>
              </a:extLst>
            </p:cNvPr>
            <p:cNvCxnSpPr/>
            <p:nvPr/>
          </p:nvCxnSpPr>
          <p:spPr>
            <a:xfrm>
              <a:off x="6268765" y="2496876"/>
              <a:ext cx="56270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87AFC330-0A49-7843-90F0-1955543FA463}"/>
                </a:ext>
              </a:extLst>
            </p:cNvPr>
            <p:cNvCxnSpPr/>
            <p:nvPr/>
          </p:nvCxnSpPr>
          <p:spPr>
            <a:xfrm>
              <a:off x="6269292" y="2666861"/>
              <a:ext cx="562708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Content Placeholder 1">
            <a:extLst>
              <a:ext uri="{FF2B5EF4-FFF2-40B4-BE49-F238E27FC236}">
                <a16:creationId xmlns:a16="http://schemas.microsoft.com/office/drawing/2014/main" id="{F749212D-A689-B143-9931-DD5E944728A3}"/>
              </a:ext>
            </a:extLst>
          </p:cNvPr>
          <p:cNvSpPr txBox="1">
            <a:spLocks/>
          </p:cNvSpPr>
          <p:nvPr/>
        </p:nvSpPr>
        <p:spPr>
          <a:xfrm>
            <a:off x="767862" y="3915571"/>
            <a:ext cx="5084299" cy="1962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5938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send packet from highest priority queue that has buffered packets</a:t>
            </a:r>
          </a:p>
          <a:p>
            <a:pPr marL="804863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FIFO within priority class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B5BFDA1-472B-D44C-AF4F-687F704E3348}"/>
              </a:ext>
            </a:extLst>
          </p:cNvPr>
          <p:cNvGrpSpPr/>
          <p:nvPr/>
        </p:nvGrpSpPr>
        <p:grpSpPr>
          <a:xfrm>
            <a:off x="7671174" y="3917372"/>
            <a:ext cx="298450" cy="651303"/>
            <a:chOff x="7398516" y="3578212"/>
            <a:chExt cx="298450" cy="651303"/>
          </a:xfrm>
        </p:grpSpPr>
        <p:sp>
          <p:nvSpPr>
            <p:cNvPr id="246" name="Oval 99">
              <a:extLst>
                <a:ext uri="{FF2B5EF4-FFF2-40B4-BE49-F238E27FC236}">
                  <a16:creationId xmlns:a16="http://schemas.microsoft.com/office/drawing/2014/main" id="{0A08FE43-AF40-AA44-97C2-598083D1E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0043" y="3649200"/>
              <a:ext cx="220266" cy="20021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7" name="TextBox 100">
              <a:extLst>
                <a:ext uri="{FF2B5EF4-FFF2-40B4-BE49-F238E27FC236}">
                  <a16:creationId xmlns:a16="http://schemas.microsoft.com/office/drawing/2014/main" id="{FC5974ED-B537-5F40-8FAE-38F177C67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8516" y="3578212"/>
              <a:ext cx="298450" cy="338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B55FAFA-386D-5447-BC0E-EB7887B8FEFD}"/>
                </a:ext>
              </a:extLst>
            </p:cNvPr>
            <p:cNvCxnSpPr>
              <a:cxnSpLocks/>
            </p:cNvCxnSpPr>
            <p:nvPr/>
          </p:nvCxnSpPr>
          <p:spPr>
            <a:xfrm>
              <a:off x="7551281" y="3850455"/>
              <a:ext cx="0" cy="37906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BB26098-DF2F-704A-9CE3-477B4A4088E8}"/>
              </a:ext>
            </a:extLst>
          </p:cNvPr>
          <p:cNvGrpSpPr/>
          <p:nvPr/>
        </p:nvGrpSpPr>
        <p:grpSpPr>
          <a:xfrm>
            <a:off x="7966553" y="3920142"/>
            <a:ext cx="298450" cy="651303"/>
            <a:chOff x="7398516" y="3578212"/>
            <a:chExt cx="298450" cy="651303"/>
          </a:xfrm>
        </p:grpSpPr>
        <p:sp>
          <p:nvSpPr>
            <p:cNvPr id="143" name="Oval 99">
              <a:extLst>
                <a:ext uri="{FF2B5EF4-FFF2-40B4-BE49-F238E27FC236}">
                  <a16:creationId xmlns:a16="http://schemas.microsoft.com/office/drawing/2014/main" id="{1FE7763F-DEFC-0445-A67D-64E5AE180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0043" y="3649200"/>
              <a:ext cx="220266" cy="20021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4" name="TextBox 100">
              <a:extLst>
                <a:ext uri="{FF2B5EF4-FFF2-40B4-BE49-F238E27FC236}">
                  <a16:creationId xmlns:a16="http://schemas.microsoft.com/office/drawing/2014/main" id="{4A02E4C3-DE29-4645-A913-F3187EB58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8516" y="3578212"/>
              <a:ext cx="298450" cy="338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CB4D562C-391A-154A-B9C0-DCBC67DEF7B3}"/>
                </a:ext>
              </a:extLst>
            </p:cNvPr>
            <p:cNvCxnSpPr>
              <a:cxnSpLocks/>
            </p:cNvCxnSpPr>
            <p:nvPr/>
          </p:nvCxnSpPr>
          <p:spPr>
            <a:xfrm>
              <a:off x="7551281" y="3850455"/>
              <a:ext cx="0" cy="37906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04C0CEA-EE95-7C45-9F9E-3251EBAE6CAD}"/>
              </a:ext>
            </a:extLst>
          </p:cNvPr>
          <p:cNvGrpSpPr/>
          <p:nvPr/>
        </p:nvGrpSpPr>
        <p:grpSpPr>
          <a:xfrm>
            <a:off x="8574489" y="3916263"/>
            <a:ext cx="298450" cy="651303"/>
            <a:chOff x="7398516" y="3578212"/>
            <a:chExt cx="298450" cy="651303"/>
          </a:xfrm>
        </p:grpSpPr>
        <p:sp>
          <p:nvSpPr>
            <p:cNvPr id="147" name="Oval 99">
              <a:extLst>
                <a:ext uri="{FF2B5EF4-FFF2-40B4-BE49-F238E27FC236}">
                  <a16:creationId xmlns:a16="http://schemas.microsoft.com/office/drawing/2014/main" id="{AAFD89C4-864D-F34B-A82D-1BB285245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0043" y="3649200"/>
              <a:ext cx="220266" cy="20021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Box 100">
              <a:extLst>
                <a:ext uri="{FF2B5EF4-FFF2-40B4-BE49-F238E27FC236}">
                  <a16:creationId xmlns:a16="http://schemas.microsoft.com/office/drawing/2014/main" id="{131EAF45-AA88-C248-A0B3-290327B798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8516" y="3578212"/>
              <a:ext cx="298450" cy="338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B0FAAC14-1425-6443-B0A5-5CBC5E66DC31}"/>
                </a:ext>
              </a:extLst>
            </p:cNvPr>
            <p:cNvCxnSpPr>
              <a:cxnSpLocks/>
            </p:cNvCxnSpPr>
            <p:nvPr/>
          </p:nvCxnSpPr>
          <p:spPr>
            <a:xfrm>
              <a:off x="7551281" y="3850455"/>
              <a:ext cx="0" cy="37906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16912A4-6BD9-FB48-8EF7-0DB862FE810A}"/>
              </a:ext>
            </a:extLst>
          </p:cNvPr>
          <p:cNvGrpSpPr/>
          <p:nvPr/>
        </p:nvGrpSpPr>
        <p:grpSpPr>
          <a:xfrm>
            <a:off x="7829819" y="3644517"/>
            <a:ext cx="298450" cy="927483"/>
            <a:chOff x="6725889" y="3647842"/>
            <a:chExt cx="298450" cy="927483"/>
          </a:xfrm>
        </p:grpSpPr>
        <p:sp>
          <p:nvSpPr>
            <p:cNvPr id="153" name="Oval 89">
              <a:extLst>
                <a:ext uri="{FF2B5EF4-FFF2-40B4-BE49-F238E27FC236}">
                  <a16:creationId xmlns:a16="http://schemas.microsoft.com/office/drawing/2014/main" id="{DB6F42F1-F3D1-9241-AFE5-67FBD8ACE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9258" y="3722164"/>
              <a:ext cx="220266" cy="20023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00B05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4" name="TextBox 90">
              <a:extLst>
                <a:ext uri="{FF2B5EF4-FFF2-40B4-BE49-F238E27FC236}">
                  <a16:creationId xmlns:a16="http://schemas.microsoft.com/office/drawing/2014/main" id="{D3EE74DA-4F35-BD42-A402-E5709C9941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5889" y="3647842"/>
              <a:ext cx="298450" cy="3387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5ED8863-F045-6C4F-8410-611648593128}"/>
                </a:ext>
              </a:extLst>
            </p:cNvPr>
            <p:cNvCxnSpPr/>
            <p:nvPr/>
          </p:nvCxnSpPr>
          <p:spPr>
            <a:xfrm>
              <a:off x="6866312" y="3920282"/>
              <a:ext cx="0" cy="655043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9D42AA4F-FBF9-CC40-8705-7E68F9D30BB8}"/>
              </a:ext>
            </a:extLst>
          </p:cNvPr>
          <p:cNvGrpSpPr/>
          <p:nvPr/>
        </p:nvGrpSpPr>
        <p:grpSpPr>
          <a:xfrm>
            <a:off x="9807544" y="3925685"/>
            <a:ext cx="298450" cy="647977"/>
            <a:chOff x="7405166" y="3581538"/>
            <a:chExt cx="298450" cy="647977"/>
          </a:xfrm>
        </p:grpSpPr>
        <p:sp>
          <p:nvSpPr>
            <p:cNvPr id="277" name="Oval 99">
              <a:extLst>
                <a:ext uri="{FF2B5EF4-FFF2-40B4-BE49-F238E27FC236}">
                  <a16:creationId xmlns:a16="http://schemas.microsoft.com/office/drawing/2014/main" id="{ED4C12D3-CD45-C940-B0F8-78FF1990B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0043" y="3649200"/>
              <a:ext cx="220266" cy="20021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00B05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8" name="TextBox 100">
              <a:extLst>
                <a:ext uri="{FF2B5EF4-FFF2-40B4-BE49-F238E27FC236}">
                  <a16:creationId xmlns:a16="http://schemas.microsoft.com/office/drawing/2014/main" id="{E3B96439-708C-5041-BAA5-E79EF5FA9D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5166" y="3581538"/>
              <a:ext cx="298450" cy="338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5</a:t>
              </a:r>
            </a:p>
          </p:txBody>
        </p: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F92783F0-8C2B-C34F-B314-E5566258AF39}"/>
                </a:ext>
              </a:extLst>
            </p:cNvPr>
            <p:cNvCxnSpPr>
              <a:cxnSpLocks/>
            </p:cNvCxnSpPr>
            <p:nvPr/>
          </p:nvCxnSpPr>
          <p:spPr>
            <a:xfrm>
              <a:off x="7551281" y="3850455"/>
              <a:ext cx="0" cy="379060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183055A-5BE8-A942-8605-57EA41C15EAA}"/>
              </a:ext>
            </a:extLst>
          </p:cNvPr>
          <p:cNvGrpSpPr/>
          <p:nvPr/>
        </p:nvGrpSpPr>
        <p:grpSpPr>
          <a:xfrm>
            <a:off x="8029730" y="5366143"/>
            <a:ext cx="298450" cy="651728"/>
            <a:chOff x="7384663" y="5459245"/>
            <a:chExt cx="298450" cy="651728"/>
          </a:xfrm>
        </p:grpSpPr>
        <p:sp>
          <p:nvSpPr>
            <p:cNvPr id="281" name="Oval 99">
              <a:extLst>
                <a:ext uri="{FF2B5EF4-FFF2-40B4-BE49-F238E27FC236}">
                  <a16:creationId xmlns:a16="http://schemas.microsoft.com/office/drawing/2014/main" id="{9934B476-1895-D149-A552-448E1310E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6190" y="5843206"/>
              <a:ext cx="220266" cy="20021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TextBox 100">
              <a:extLst>
                <a:ext uri="{FF2B5EF4-FFF2-40B4-BE49-F238E27FC236}">
                  <a16:creationId xmlns:a16="http://schemas.microsoft.com/office/drawing/2014/main" id="{0B65A5ED-22FF-694D-A8CF-CD58B7906C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4663" y="5772218"/>
              <a:ext cx="298450" cy="338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880B4985-A2E7-9840-89DB-43CD1C32889B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28" y="5459245"/>
              <a:ext cx="0" cy="37906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08BFC867-D14D-3144-B81A-791B84130F74}"/>
              </a:ext>
            </a:extLst>
          </p:cNvPr>
          <p:cNvGrpSpPr/>
          <p:nvPr/>
        </p:nvGrpSpPr>
        <p:grpSpPr>
          <a:xfrm>
            <a:off x="8381636" y="5365589"/>
            <a:ext cx="298450" cy="651728"/>
            <a:chOff x="7391313" y="5459245"/>
            <a:chExt cx="298450" cy="651728"/>
          </a:xfrm>
        </p:grpSpPr>
        <p:sp>
          <p:nvSpPr>
            <p:cNvPr id="285" name="Oval 99">
              <a:extLst>
                <a:ext uri="{FF2B5EF4-FFF2-40B4-BE49-F238E27FC236}">
                  <a16:creationId xmlns:a16="http://schemas.microsoft.com/office/drawing/2014/main" id="{BCA5C7D8-492C-6D4C-A709-3454D0AAD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6190" y="5843206"/>
              <a:ext cx="220266" cy="20021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TextBox 100">
              <a:extLst>
                <a:ext uri="{FF2B5EF4-FFF2-40B4-BE49-F238E27FC236}">
                  <a16:creationId xmlns:a16="http://schemas.microsoft.com/office/drawing/2014/main" id="{56C67F63-AD2F-904B-A5F0-CB27613587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1313" y="5772218"/>
              <a:ext cx="298450" cy="338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287" name="Straight Arrow Connector 286">
              <a:extLst>
                <a:ext uri="{FF2B5EF4-FFF2-40B4-BE49-F238E27FC236}">
                  <a16:creationId xmlns:a16="http://schemas.microsoft.com/office/drawing/2014/main" id="{CED90D14-0E45-5341-B1F1-814D49A675B5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28" y="5459245"/>
              <a:ext cx="0" cy="37906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6AD51B82-2C86-C848-B33C-7B11C8FA3B57}"/>
              </a:ext>
            </a:extLst>
          </p:cNvPr>
          <p:cNvGrpSpPr/>
          <p:nvPr/>
        </p:nvGrpSpPr>
        <p:grpSpPr>
          <a:xfrm>
            <a:off x="8736867" y="5365034"/>
            <a:ext cx="298450" cy="651727"/>
            <a:chOff x="7391313" y="5459245"/>
            <a:chExt cx="298450" cy="651727"/>
          </a:xfrm>
        </p:grpSpPr>
        <p:sp>
          <p:nvSpPr>
            <p:cNvPr id="289" name="Oval 99">
              <a:extLst>
                <a:ext uri="{FF2B5EF4-FFF2-40B4-BE49-F238E27FC236}">
                  <a16:creationId xmlns:a16="http://schemas.microsoft.com/office/drawing/2014/main" id="{8B751EE7-2235-4048-BC78-0782B52B6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6190" y="5843206"/>
              <a:ext cx="220266" cy="20021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00B05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0" name="TextBox 100">
              <a:extLst>
                <a:ext uri="{FF2B5EF4-FFF2-40B4-BE49-F238E27FC236}">
                  <a16:creationId xmlns:a16="http://schemas.microsoft.com/office/drawing/2014/main" id="{B8507147-FC4D-1542-A3A7-90596BEFDB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1313" y="5772217"/>
              <a:ext cx="298450" cy="338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291" name="Straight Arrow Connector 290">
              <a:extLst>
                <a:ext uri="{FF2B5EF4-FFF2-40B4-BE49-F238E27FC236}">
                  <a16:creationId xmlns:a16="http://schemas.microsoft.com/office/drawing/2014/main" id="{F74942C4-4354-FE45-B718-B6E99CA1D39F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28" y="5459245"/>
              <a:ext cx="0" cy="379060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CED60DF8-B507-0E4E-8EFC-684EF5836E2E}"/>
              </a:ext>
            </a:extLst>
          </p:cNvPr>
          <p:cNvGrpSpPr/>
          <p:nvPr/>
        </p:nvGrpSpPr>
        <p:grpSpPr>
          <a:xfrm>
            <a:off x="9086001" y="5365035"/>
            <a:ext cx="298450" cy="651728"/>
            <a:chOff x="7391313" y="5459245"/>
            <a:chExt cx="298450" cy="651728"/>
          </a:xfrm>
        </p:grpSpPr>
        <p:sp>
          <p:nvSpPr>
            <p:cNvPr id="293" name="Oval 99">
              <a:extLst>
                <a:ext uri="{FF2B5EF4-FFF2-40B4-BE49-F238E27FC236}">
                  <a16:creationId xmlns:a16="http://schemas.microsoft.com/office/drawing/2014/main" id="{52D8440D-1B32-3B45-A2B4-B9EB99F22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6190" y="5843206"/>
              <a:ext cx="220266" cy="20021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TextBox 100">
              <a:extLst>
                <a:ext uri="{FF2B5EF4-FFF2-40B4-BE49-F238E27FC236}">
                  <a16:creationId xmlns:a16="http://schemas.microsoft.com/office/drawing/2014/main" id="{F6D396E6-A748-A548-A25E-DD22B2CA3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1313" y="5772218"/>
              <a:ext cx="298450" cy="338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295" name="Straight Arrow Connector 294">
              <a:extLst>
                <a:ext uri="{FF2B5EF4-FFF2-40B4-BE49-F238E27FC236}">
                  <a16:creationId xmlns:a16="http://schemas.microsoft.com/office/drawing/2014/main" id="{114BECB2-1F39-4842-A148-3F058B5E87B9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28" y="5459245"/>
              <a:ext cx="0" cy="37906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A49EEF46-5C0F-1641-93E3-C585EB817C3A}"/>
              </a:ext>
            </a:extLst>
          </p:cNvPr>
          <p:cNvGrpSpPr/>
          <p:nvPr/>
        </p:nvGrpSpPr>
        <p:grpSpPr>
          <a:xfrm>
            <a:off x="10159452" y="5361155"/>
            <a:ext cx="298450" cy="651727"/>
            <a:chOff x="7391313" y="5459245"/>
            <a:chExt cx="298450" cy="651727"/>
          </a:xfrm>
        </p:grpSpPr>
        <p:sp>
          <p:nvSpPr>
            <p:cNvPr id="297" name="Oval 99">
              <a:extLst>
                <a:ext uri="{FF2B5EF4-FFF2-40B4-BE49-F238E27FC236}">
                  <a16:creationId xmlns:a16="http://schemas.microsoft.com/office/drawing/2014/main" id="{3DCA5832-DE2D-764A-99B6-A02073476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6190" y="5843206"/>
              <a:ext cx="220266" cy="200218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00B05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TextBox 100">
              <a:extLst>
                <a:ext uri="{FF2B5EF4-FFF2-40B4-BE49-F238E27FC236}">
                  <a16:creationId xmlns:a16="http://schemas.microsoft.com/office/drawing/2014/main" id="{5B31099F-7256-BD4F-88BF-DDDC02915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1313" y="5772217"/>
              <a:ext cx="298450" cy="338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5</a:t>
              </a:r>
            </a:p>
          </p:txBody>
        </p:sp>
        <p:cxnSp>
          <p:nvCxnSpPr>
            <p:cNvPr id="299" name="Straight Arrow Connector 298">
              <a:extLst>
                <a:ext uri="{FF2B5EF4-FFF2-40B4-BE49-F238E27FC236}">
                  <a16:creationId xmlns:a16="http://schemas.microsoft.com/office/drawing/2014/main" id="{299E53A8-3472-E546-8464-2381D0D10BDC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28" y="5459245"/>
              <a:ext cx="0" cy="379060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80A5382-5047-6C5F-C149-321664023030}"/>
              </a:ext>
            </a:extLst>
          </p:cNvPr>
          <p:cNvSpPr txBox="1"/>
          <p:nvPr/>
        </p:nvSpPr>
        <p:spPr>
          <a:xfrm>
            <a:off x="8178955" y="139515"/>
            <a:ext cx="3631435" cy="132343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Instead of one queue for all packets going to the same output port, there are two queues, one for each priority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BE2C7A8-500D-09F6-369E-CE8BD10041CD}"/>
              </a:ext>
            </a:extLst>
          </p:cNvPr>
          <p:cNvSpPr/>
          <p:nvPr/>
        </p:nvSpPr>
        <p:spPr>
          <a:xfrm>
            <a:off x="9540240" y="1493520"/>
            <a:ext cx="503805" cy="487680"/>
          </a:xfrm>
          <a:custGeom>
            <a:avLst/>
            <a:gdLst>
              <a:gd name="connsiteX0" fmla="*/ 0 w 503805"/>
              <a:gd name="connsiteY0" fmla="*/ 487680 h 487680"/>
              <a:gd name="connsiteX1" fmla="*/ 137160 w 503805"/>
              <a:gd name="connsiteY1" fmla="*/ 457200 h 487680"/>
              <a:gd name="connsiteX2" fmla="*/ 182880 w 503805"/>
              <a:gd name="connsiteY2" fmla="*/ 411480 h 487680"/>
              <a:gd name="connsiteX3" fmla="*/ 243840 w 503805"/>
              <a:gd name="connsiteY3" fmla="*/ 381000 h 487680"/>
              <a:gd name="connsiteX4" fmla="*/ 426720 w 503805"/>
              <a:gd name="connsiteY4" fmla="*/ 182880 h 487680"/>
              <a:gd name="connsiteX5" fmla="*/ 472440 w 503805"/>
              <a:gd name="connsiteY5" fmla="*/ 137160 h 487680"/>
              <a:gd name="connsiteX6" fmla="*/ 487680 w 503805"/>
              <a:gd name="connsiteY6" fmla="*/ 76200 h 487680"/>
              <a:gd name="connsiteX7" fmla="*/ 502920 w 503805"/>
              <a:gd name="connsiteY7" fmla="*/ 30480 h 487680"/>
              <a:gd name="connsiteX8" fmla="*/ 502920 w 503805"/>
              <a:gd name="connsiteY8" fmla="*/ 0 h 48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805" h="487680">
                <a:moveTo>
                  <a:pt x="0" y="487680"/>
                </a:moveTo>
                <a:cubicBezTo>
                  <a:pt x="45720" y="477520"/>
                  <a:pt x="93927" y="475214"/>
                  <a:pt x="137160" y="457200"/>
                </a:cubicBezTo>
                <a:cubicBezTo>
                  <a:pt x="157055" y="448911"/>
                  <a:pt x="165342" y="424007"/>
                  <a:pt x="182880" y="411480"/>
                </a:cubicBezTo>
                <a:cubicBezTo>
                  <a:pt x="201367" y="398275"/>
                  <a:pt x="226387" y="395544"/>
                  <a:pt x="243840" y="381000"/>
                </a:cubicBezTo>
                <a:cubicBezTo>
                  <a:pt x="369970" y="275892"/>
                  <a:pt x="340491" y="281427"/>
                  <a:pt x="426720" y="182880"/>
                </a:cubicBezTo>
                <a:cubicBezTo>
                  <a:pt x="440912" y="166660"/>
                  <a:pt x="457200" y="152400"/>
                  <a:pt x="472440" y="137160"/>
                </a:cubicBezTo>
                <a:cubicBezTo>
                  <a:pt x="477520" y="116840"/>
                  <a:pt x="481926" y="96339"/>
                  <a:pt x="487680" y="76200"/>
                </a:cubicBezTo>
                <a:cubicBezTo>
                  <a:pt x="492093" y="60754"/>
                  <a:pt x="499770" y="46232"/>
                  <a:pt x="502920" y="30480"/>
                </a:cubicBezTo>
                <a:cubicBezTo>
                  <a:pt x="504913" y="20517"/>
                  <a:pt x="502920" y="10160"/>
                  <a:pt x="502920" y="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8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673C0F-EEA6-3549-BFCE-D83173D8E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890" y="1409359"/>
            <a:ext cx="5155396" cy="25132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Round Robin (RR) scheduling:</a:t>
            </a:r>
          </a:p>
          <a:p>
            <a:pPr marL="461963" indent="-223838"/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arriving traffic classified, queued by class</a:t>
            </a:r>
          </a:p>
          <a:p>
            <a:pPr marL="804863" lvl="1" indent="-223838"/>
            <a:r>
              <a:rPr lang="en-US" altLang="en-US" sz="28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any header fields can be used for classification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Packet scheduling: round robin</a:t>
            </a:r>
            <a:endParaRPr 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F8A8ADF-5F32-994F-BC3B-330DE15D2284}"/>
              </a:ext>
            </a:extLst>
          </p:cNvPr>
          <p:cNvCxnSpPr/>
          <p:nvPr/>
        </p:nvCxnSpPr>
        <p:spPr>
          <a:xfrm>
            <a:off x="10755082" y="4071258"/>
            <a:ext cx="457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Group 25">
            <a:extLst>
              <a:ext uri="{FF2B5EF4-FFF2-40B4-BE49-F238E27FC236}">
                <a16:creationId xmlns:a16="http://schemas.microsoft.com/office/drawing/2014/main" id="{5E20D4A5-ECB9-AC43-B9A4-23F1ACC6B544}"/>
              </a:ext>
            </a:extLst>
          </p:cNvPr>
          <p:cNvGrpSpPr>
            <a:grpSpLocks/>
          </p:cNvGrpSpPr>
          <p:nvPr/>
        </p:nvGrpSpPr>
        <p:grpSpPr bwMode="auto">
          <a:xfrm>
            <a:off x="7990116" y="2719344"/>
            <a:ext cx="1274199" cy="760001"/>
            <a:chOff x="1670312" y="2562997"/>
            <a:chExt cx="940317" cy="565219"/>
          </a:xfrm>
        </p:grpSpPr>
        <p:grpSp>
          <p:nvGrpSpPr>
            <p:cNvPr id="142" name="Group 28">
              <a:extLst>
                <a:ext uri="{FF2B5EF4-FFF2-40B4-BE49-F238E27FC236}">
                  <a16:creationId xmlns:a16="http://schemas.microsoft.com/office/drawing/2014/main" id="{0D74CDDD-C99A-B947-9EFD-CBD75E4B48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0312" y="2562997"/>
              <a:ext cx="929822" cy="565219"/>
              <a:chOff x="1670312" y="2562997"/>
              <a:chExt cx="929822" cy="565219"/>
            </a:xfrm>
          </p:grpSpPr>
          <p:sp>
            <p:nvSpPr>
              <p:cNvPr id="144" name="Rectangle 30">
                <a:extLst>
                  <a:ext uri="{FF2B5EF4-FFF2-40B4-BE49-F238E27FC236}">
                    <a16:creationId xmlns:a16="http://schemas.microsoft.com/office/drawing/2014/main" id="{5BA4441C-4DBA-5C43-9B95-11C0A5BE57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0312" y="2562997"/>
                <a:ext cx="929822" cy="56315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45" name="Straight Connector 31">
                <a:extLst>
                  <a:ext uri="{FF2B5EF4-FFF2-40B4-BE49-F238E27FC236}">
                    <a16:creationId xmlns:a16="http://schemas.microsoft.com/office/drawing/2014/main" id="{770065E7-2AFF-9749-B481-CA28AC0942E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786358" y="256753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6" name="Straight Connector 32">
                <a:extLst>
                  <a:ext uri="{FF2B5EF4-FFF2-40B4-BE49-F238E27FC236}">
                    <a16:creationId xmlns:a16="http://schemas.microsoft.com/office/drawing/2014/main" id="{539B04A0-6232-674F-9C18-A238D11AEBD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911544" y="2566974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7" name="Straight Connector 33">
                <a:extLst>
                  <a:ext uri="{FF2B5EF4-FFF2-40B4-BE49-F238E27FC236}">
                    <a16:creationId xmlns:a16="http://schemas.microsoft.com/office/drawing/2014/main" id="{5A314D63-4A94-934B-B80A-574E64C1FC9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27659" y="257032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8" name="Straight Connector 34">
                <a:extLst>
                  <a:ext uri="{FF2B5EF4-FFF2-40B4-BE49-F238E27FC236}">
                    <a16:creationId xmlns:a16="http://schemas.microsoft.com/office/drawing/2014/main" id="{BA121D63-FFE6-C04E-AA14-2DF4C20BE70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134843" y="2564600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9" name="Straight Connector 35">
                <a:extLst>
                  <a:ext uri="{FF2B5EF4-FFF2-40B4-BE49-F238E27FC236}">
                    <a16:creationId xmlns:a16="http://schemas.microsoft.com/office/drawing/2014/main" id="{EE858001-04E3-1143-818E-C81A03EFAB4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44397" y="256669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0" name="Straight Connector 36">
                <a:extLst>
                  <a:ext uri="{FF2B5EF4-FFF2-40B4-BE49-F238E27FC236}">
                    <a16:creationId xmlns:a16="http://schemas.microsoft.com/office/drawing/2014/main" id="{CBF470F2-7828-8D49-A5E2-E9BDE68C615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365675" y="2568786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1" name="Straight Connector 37">
                <a:extLst>
                  <a:ext uri="{FF2B5EF4-FFF2-40B4-BE49-F238E27FC236}">
                    <a16:creationId xmlns:a16="http://schemas.microsoft.com/office/drawing/2014/main" id="{E97A75DC-F010-2C45-B01F-70860A3F93D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483045" y="2566971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43" name="Rectangle 29">
              <a:extLst>
                <a:ext uri="{FF2B5EF4-FFF2-40B4-BE49-F238E27FC236}">
                  <a16:creationId xmlns:a16="http://schemas.microsoft.com/office/drawing/2014/main" id="{D724ED3A-7ACB-D44D-A470-0A8862BA1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862" y="2571262"/>
              <a:ext cx="693767" cy="552560"/>
            </a:xfrm>
            <a:prstGeom prst="rect">
              <a:avLst/>
            </a:prstGeom>
            <a:solidFill>
              <a:srgbClr val="FF0000">
                <a:alpha val="7097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25">
            <a:extLst>
              <a:ext uri="{FF2B5EF4-FFF2-40B4-BE49-F238E27FC236}">
                <a16:creationId xmlns:a16="http://schemas.microsoft.com/office/drawing/2014/main" id="{78CE8917-94A5-5F43-9B45-4CF75FDA73E0}"/>
              </a:ext>
            </a:extLst>
          </p:cNvPr>
          <p:cNvGrpSpPr>
            <a:grpSpLocks/>
          </p:cNvGrpSpPr>
          <p:nvPr/>
        </p:nvGrpSpPr>
        <p:grpSpPr bwMode="auto">
          <a:xfrm>
            <a:off x="8007879" y="3655287"/>
            <a:ext cx="1292387" cy="763274"/>
            <a:chOff x="1670312" y="2562997"/>
            <a:chExt cx="940318" cy="565219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60D8E17B-A552-3844-9E03-2A679FC537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0312" y="2562997"/>
              <a:ext cx="929822" cy="565219"/>
              <a:chOff x="1670312" y="2562997"/>
              <a:chExt cx="929822" cy="565219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FB35063A-E9F2-BC4C-A8E9-717E50FE25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0312" y="2562997"/>
                <a:ext cx="929822" cy="56315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9C02D04A-A9F5-2845-A7BE-433428BCC56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786358" y="256753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45BE41CA-E190-B348-8E48-9BC46D3CC8D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911544" y="2566974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B5D1529E-4924-C248-881D-B6922DDFDE7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27659" y="257032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11735752-9D7F-6347-A614-D2BFA810945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134843" y="2564600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868C59A4-7FD1-F149-8C50-5744DF74BB7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44397" y="256669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E8AFAF38-FB42-C546-9A05-3826F34FCB7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365675" y="2568786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31962054-FB67-854A-BED8-E660D3B2808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483045" y="2566971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67ACE1BC-0185-2240-B3FE-B81E228E6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418" y="2571262"/>
              <a:ext cx="375212" cy="552560"/>
            </a:xfrm>
            <a:prstGeom prst="rect">
              <a:avLst/>
            </a:prstGeom>
            <a:solidFill>
              <a:srgbClr val="00B050">
                <a:alpha val="7097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1" name="Group 25">
            <a:extLst>
              <a:ext uri="{FF2B5EF4-FFF2-40B4-BE49-F238E27FC236}">
                <a16:creationId xmlns:a16="http://schemas.microsoft.com/office/drawing/2014/main" id="{BA9911C7-BCF3-0441-8F93-9AAE670E0B0D}"/>
              </a:ext>
            </a:extLst>
          </p:cNvPr>
          <p:cNvGrpSpPr>
            <a:grpSpLocks/>
          </p:cNvGrpSpPr>
          <p:nvPr/>
        </p:nvGrpSpPr>
        <p:grpSpPr bwMode="auto">
          <a:xfrm>
            <a:off x="8004017" y="4563481"/>
            <a:ext cx="1292385" cy="721744"/>
            <a:chOff x="1670312" y="2562997"/>
            <a:chExt cx="940317" cy="565219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DFE00C82-D11B-C34C-BFC4-81E9F9A08B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0312" y="2562997"/>
              <a:ext cx="929822" cy="565219"/>
              <a:chOff x="1670312" y="2562997"/>
              <a:chExt cx="929822" cy="565219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8305CD10-A67D-8049-A130-7D6431365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0312" y="2562997"/>
                <a:ext cx="929822" cy="56315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DD9A96F1-A0D6-6E45-A572-3878A16D9DA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786358" y="256753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61F40E93-7522-5B49-9537-22A358F1F35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911544" y="2566974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2C3669C8-8DC6-1144-A3B6-94CC50CAC7C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27659" y="257032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038A7AFE-85D5-6843-A4D2-59A62B4BF66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134843" y="2564600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8532C686-FF5E-204A-B3B1-08302EDF90F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44397" y="2566693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F6C3091D-F490-CF4A-8604-13C657DC184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365675" y="2568786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D8A89B68-81DA-E544-8470-F55B36DAB5B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483045" y="2566971"/>
                <a:ext cx="4536" cy="5578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1D236F41-84E2-4F41-887A-68DC8EDF6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1937" y="2571262"/>
              <a:ext cx="478692" cy="552560"/>
            </a:xfrm>
            <a:prstGeom prst="rect">
              <a:avLst/>
            </a:prstGeom>
            <a:solidFill>
              <a:srgbClr val="3333CC">
                <a:alpha val="7097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6" name="Triangle 85">
            <a:extLst>
              <a:ext uri="{FF2B5EF4-FFF2-40B4-BE49-F238E27FC236}">
                <a16:creationId xmlns:a16="http://schemas.microsoft.com/office/drawing/2014/main" id="{4E037740-5ED0-EC4A-8F76-0BD68A8C710B}"/>
              </a:ext>
            </a:extLst>
          </p:cNvPr>
          <p:cNvSpPr/>
          <p:nvPr/>
        </p:nvSpPr>
        <p:spPr>
          <a:xfrm rot="5400000">
            <a:off x="6881445" y="3717354"/>
            <a:ext cx="811706" cy="665402"/>
          </a:xfrm>
          <a:prstGeom prst="triangle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27883BF-A6F9-DE47-88A6-F0CE4216E83C}"/>
              </a:ext>
            </a:extLst>
          </p:cNvPr>
          <p:cNvGrpSpPr/>
          <p:nvPr/>
        </p:nvGrpSpPr>
        <p:grpSpPr>
          <a:xfrm>
            <a:off x="6303665" y="3871966"/>
            <a:ext cx="567187" cy="339970"/>
            <a:chOff x="9460523" y="6049108"/>
            <a:chExt cx="567187" cy="339970"/>
          </a:xfrm>
        </p:grpSpPr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7F5C5A68-B743-7147-8BCF-20B7D5DC9051}"/>
                </a:ext>
              </a:extLst>
            </p:cNvPr>
            <p:cNvCxnSpPr/>
            <p:nvPr/>
          </p:nvCxnSpPr>
          <p:spPr>
            <a:xfrm>
              <a:off x="9460523" y="6049108"/>
              <a:ext cx="56270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449C0F1E-ECD0-B049-A9B5-7870538D7F31}"/>
                </a:ext>
              </a:extLst>
            </p:cNvPr>
            <p:cNvCxnSpPr/>
            <p:nvPr/>
          </p:nvCxnSpPr>
          <p:spPr>
            <a:xfrm>
              <a:off x="9461050" y="6219093"/>
              <a:ext cx="562708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2EBB538C-0DDB-B645-86CF-67A9457818FF}"/>
                </a:ext>
              </a:extLst>
            </p:cNvPr>
            <p:cNvCxnSpPr/>
            <p:nvPr/>
          </p:nvCxnSpPr>
          <p:spPr>
            <a:xfrm>
              <a:off x="9465002" y="6389078"/>
              <a:ext cx="562708" cy="0"/>
            </a:xfrm>
            <a:prstGeom prst="straightConnector1">
              <a:avLst/>
            </a:prstGeom>
            <a:ln w="38100">
              <a:solidFill>
                <a:srgbClr val="33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1D419CE-A5C0-0A4F-85AC-1DB03EB7F28B}"/>
              </a:ext>
            </a:extLst>
          </p:cNvPr>
          <p:cNvGrpSpPr/>
          <p:nvPr/>
        </p:nvGrpSpPr>
        <p:grpSpPr>
          <a:xfrm>
            <a:off x="11245773" y="3893738"/>
            <a:ext cx="567187" cy="339970"/>
            <a:chOff x="9460523" y="6049108"/>
            <a:chExt cx="567187" cy="339970"/>
          </a:xfrm>
        </p:grpSpPr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6DBF63E4-8431-0445-B7A7-EE6FEAE19E8F}"/>
                </a:ext>
              </a:extLst>
            </p:cNvPr>
            <p:cNvCxnSpPr/>
            <p:nvPr/>
          </p:nvCxnSpPr>
          <p:spPr>
            <a:xfrm>
              <a:off x="9460523" y="6049108"/>
              <a:ext cx="56270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6FBBA29F-E9D0-F84F-9C86-CDCFBB2CDE86}"/>
                </a:ext>
              </a:extLst>
            </p:cNvPr>
            <p:cNvCxnSpPr/>
            <p:nvPr/>
          </p:nvCxnSpPr>
          <p:spPr>
            <a:xfrm>
              <a:off x="9461050" y="6219093"/>
              <a:ext cx="562708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16EAB9FF-EEC9-3A43-9BE7-A4DD14A960C4}"/>
                </a:ext>
              </a:extLst>
            </p:cNvPr>
            <p:cNvCxnSpPr/>
            <p:nvPr/>
          </p:nvCxnSpPr>
          <p:spPr>
            <a:xfrm>
              <a:off x="9465002" y="6389078"/>
              <a:ext cx="562708" cy="0"/>
            </a:xfrm>
            <a:prstGeom prst="straightConnector1">
              <a:avLst/>
            </a:prstGeom>
            <a:ln w="38100">
              <a:solidFill>
                <a:srgbClr val="33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868140F4-AC30-184C-8CF8-A2D77B410547}"/>
              </a:ext>
            </a:extLst>
          </p:cNvPr>
          <p:cNvSpPr txBox="1"/>
          <p:nvPr/>
        </p:nvSpPr>
        <p:spPr>
          <a:xfrm>
            <a:off x="6576771" y="4550229"/>
            <a:ext cx="990656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classify 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arrivals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6F99A07-C727-1644-8341-3B3CB4A1A604}"/>
              </a:ext>
            </a:extLst>
          </p:cNvPr>
          <p:cNvSpPr txBox="1"/>
          <p:nvPr/>
        </p:nvSpPr>
        <p:spPr>
          <a:xfrm>
            <a:off x="10822549" y="4515922"/>
            <a:ext cx="1332224" cy="34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departures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EE5CF80-BE3B-024F-A459-6681CD2BCC15}"/>
              </a:ext>
            </a:extLst>
          </p:cNvPr>
          <p:cNvCxnSpPr>
            <a:cxnSpLocks/>
            <a:stCxn id="86" idx="0"/>
          </p:cNvCxnSpPr>
          <p:nvPr/>
        </p:nvCxnSpPr>
        <p:spPr>
          <a:xfrm flipV="1">
            <a:off x="7619999" y="3067495"/>
            <a:ext cx="682573" cy="9825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4F47B22-C2C5-2543-A814-67700D8EB0B0}"/>
              </a:ext>
            </a:extLst>
          </p:cNvPr>
          <p:cNvCxnSpPr>
            <a:cxnSpLocks/>
          </p:cNvCxnSpPr>
          <p:nvPr/>
        </p:nvCxnSpPr>
        <p:spPr>
          <a:xfrm>
            <a:off x="7635460" y="4051945"/>
            <a:ext cx="69657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E90B05F-D57F-984A-AAA3-8BB0F57C2104}"/>
              </a:ext>
            </a:extLst>
          </p:cNvPr>
          <p:cNvCxnSpPr>
            <a:cxnSpLocks/>
            <a:stCxn id="86" idx="0"/>
          </p:cNvCxnSpPr>
          <p:nvPr/>
        </p:nvCxnSpPr>
        <p:spPr>
          <a:xfrm>
            <a:off x="7619999" y="4050055"/>
            <a:ext cx="682055" cy="871416"/>
          </a:xfrm>
          <a:prstGeom prst="straightConnector1">
            <a:avLst/>
          </a:prstGeom>
          <a:ln w="38100">
            <a:solidFill>
              <a:srgbClr val="33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46D3EED-0FBB-8746-A909-7EFE21516D4A}"/>
              </a:ext>
            </a:extLst>
          </p:cNvPr>
          <p:cNvCxnSpPr>
            <a:stCxn id="144" idx="3"/>
            <a:endCxn id="110" idx="2"/>
          </p:cNvCxnSpPr>
          <p:nvPr/>
        </p:nvCxnSpPr>
        <p:spPr>
          <a:xfrm>
            <a:off x="9250091" y="3097958"/>
            <a:ext cx="664252" cy="9427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9F9A9FD-F1D6-674E-B6FE-3E4351E164C0}"/>
              </a:ext>
            </a:extLst>
          </p:cNvPr>
          <p:cNvCxnSpPr>
            <a:cxnSpLocks/>
            <a:stCxn id="124" idx="3"/>
            <a:endCxn id="110" idx="2"/>
          </p:cNvCxnSpPr>
          <p:nvPr/>
        </p:nvCxnSpPr>
        <p:spPr>
          <a:xfrm flipV="1">
            <a:off x="9281976" y="4040658"/>
            <a:ext cx="632367" cy="882379"/>
          </a:xfrm>
          <a:prstGeom prst="line">
            <a:avLst/>
          </a:prstGeom>
          <a:ln w="38100">
            <a:solidFill>
              <a:srgbClr val="33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ADB4CD1-2488-9641-991D-3E40210AD457}"/>
              </a:ext>
            </a:extLst>
          </p:cNvPr>
          <p:cNvCxnSpPr>
            <a:cxnSpLocks/>
            <a:stCxn id="133" idx="3"/>
            <a:endCxn id="110" idx="2"/>
          </p:cNvCxnSpPr>
          <p:nvPr/>
        </p:nvCxnSpPr>
        <p:spPr>
          <a:xfrm>
            <a:off x="9300262" y="4039538"/>
            <a:ext cx="614081" cy="112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59DA51A-4D35-0947-828C-22218BCFD148}"/>
              </a:ext>
            </a:extLst>
          </p:cNvPr>
          <p:cNvGrpSpPr/>
          <p:nvPr/>
        </p:nvGrpSpPr>
        <p:grpSpPr>
          <a:xfrm>
            <a:off x="9893789" y="3264767"/>
            <a:ext cx="1204177" cy="1212477"/>
            <a:chOff x="9806709" y="2785795"/>
            <a:chExt cx="1204177" cy="1212477"/>
          </a:xfrm>
        </p:grpSpPr>
        <p:sp>
          <p:nvSpPr>
            <p:cNvPr id="110" name="Oval 27">
              <a:extLst>
                <a:ext uri="{FF2B5EF4-FFF2-40B4-BE49-F238E27FC236}">
                  <a16:creationId xmlns:a16="http://schemas.microsoft.com/office/drawing/2014/main" id="{56D3FB05-A8AB-6A43-87B6-A07612965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7263" y="3125100"/>
              <a:ext cx="877582" cy="87317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AED34C3-2F6F-6D45-BF7B-1AEEA59367BF}"/>
                </a:ext>
              </a:extLst>
            </p:cNvPr>
            <p:cNvSpPr txBox="1"/>
            <p:nvPr/>
          </p:nvSpPr>
          <p:spPr>
            <a:xfrm>
              <a:off x="9806709" y="2785795"/>
              <a:ext cx="1204177" cy="34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scheduler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B065EADC-1407-C54D-91C4-CE8B573FBBFC}"/>
                </a:ext>
              </a:extLst>
            </p:cNvPr>
            <p:cNvSpPr txBox="1"/>
            <p:nvPr/>
          </p:nvSpPr>
          <p:spPr>
            <a:xfrm>
              <a:off x="10169912" y="3391108"/>
              <a:ext cx="184730" cy="395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8" name="Oval 97">
            <a:extLst>
              <a:ext uri="{FF2B5EF4-FFF2-40B4-BE49-F238E27FC236}">
                <a16:creationId xmlns:a16="http://schemas.microsoft.com/office/drawing/2014/main" id="{FD50F4AD-EA29-4F4D-9ADD-A68E02324387}"/>
              </a:ext>
            </a:extLst>
          </p:cNvPr>
          <p:cNvSpPr/>
          <p:nvPr/>
        </p:nvSpPr>
        <p:spPr>
          <a:xfrm>
            <a:off x="9470570" y="2939143"/>
            <a:ext cx="348343" cy="2177143"/>
          </a:xfrm>
          <a:prstGeom prst="ellipse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0B384F2-B516-C842-BE3D-56105ED3D4C1}"/>
              </a:ext>
            </a:extLst>
          </p:cNvPr>
          <p:cNvSpPr/>
          <p:nvPr/>
        </p:nvSpPr>
        <p:spPr>
          <a:xfrm>
            <a:off x="9716218" y="3095651"/>
            <a:ext cx="195532" cy="586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5A7A9D50-41BA-6A42-A6F6-8D80451A919B}"/>
              </a:ext>
            </a:extLst>
          </p:cNvPr>
          <p:cNvCxnSpPr/>
          <p:nvPr/>
        </p:nvCxnSpPr>
        <p:spPr>
          <a:xfrm flipV="1">
            <a:off x="9812751" y="3556958"/>
            <a:ext cx="0" cy="2612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Content Placeholder 1">
            <a:extLst>
              <a:ext uri="{FF2B5EF4-FFF2-40B4-BE49-F238E27FC236}">
                <a16:creationId xmlns:a16="http://schemas.microsoft.com/office/drawing/2014/main" id="{B3D9C97E-1CC4-BD42-93BB-5F54015681B1}"/>
              </a:ext>
            </a:extLst>
          </p:cNvPr>
          <p:cNvSpPr txBox="1">
            <a:spLocks/>
          </p:cNvSpPr>
          <p:nvPr/>
        </p:nvSpPr>
        <p:spPr>
          <a:xfrm>
            <a:off x="703011" y="3920647"/>
            <a:ext cx="5155396" cy="2347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963" marR="0" lvl="0" indent="-2238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scheduler cyclically, repeatedly  scans class queues, sending one complete packet from each class (if available) in turn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B2A9D21-891D-4E45-8834-0B60A5772340}"/>
              </a:ext>
            </a:extLst>
          </p:cNvPr>
          <p:cNvSpPr/>
          <p:nvPr/>
        </p:nvSpPr>
        <p:spPr>
          <a:xfrm>
            <a:off x="4419600" y="5203371"/>
            <a:ext cx="5203371" cy="762000"/>
          </a:xfrm>
          <a:custGeom>
            <a:avLst/>
            <a:gdLst>
              <a:gd name="connsiteX0" fmla="*/ 0 w 5203371"/>
              <a:gd name="connsiteY0" fmla="*/ 762000 h 762000"/>
              <a:gd name="connsiteX1" fmla="*/ 5203371 w 5203371"/>
              <a:gd name="connsiteY1" fmla="*/ 762000 h 762000"/>
              <a:gd name="connsiteX2" fmla="*/ 5203371 w 5203371"/>
              <a:gd name="connsiteY2" fmla="*/ 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03371" h="762000">
                <a:moveTo>
                  <a:pt x="0" y="762000"/>
                </a:moveTo>
                <a:lnTo>
                  <a:pt x="5203371" y="762000"/>
                </a:lnTo>
                <a:lnTo>
                  <a:pt x="5203371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53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152" grpId="0"/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673C0F-EEA6-3549-BFCE-D83173D8E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205" y="1692388"/>
            <a:ext cx="5557988" cy="11161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Weighted Fair Queuing (WFQ): </a:t>
            </a:r>
          </a:p>
          <a:p>
            <a:pPr marL="582613" indent="-284163"/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generalized Round Robin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Packet scheduling: weighted fair queueing</a:t>
            </a:r>
            <a:endParaRPr lang="en-US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B0FE50D-8E31-1046-A976-F61876A256D1}"/>
              </a:ext>
            </a:extLst>
          </p:cNvPr>
          <p:cNvCxnSpPr/>
          <p:nvPr/>
        </p:nvCxnSpPr>
        <p:spPr>
          <a:xfrm>
            <a:off x="10755082" y="4071258"/>
            <a:ext cx="457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B740B6F-8E87-144C-8CB1-A0CA5C93F619}"/>
              </a:ext>
            </a:extLst>
          </p:cNvPr>
          <p:cNvGrpSpPr/>
          <p:nvPr/>
        </p:nvGrpSpPr>
        <p:grpSpPr>
          <a:xfrm>
            <a:off x="7990116" y="2719344"/>
            <a:ext cx="1310150" cy="2565881"/>
            <a:chOff x="8117411" y="2240372"/>
            <a:chExt cx="1444110" cy="2565881"/>
          </a:xfrm>
        </p:grpSpPr>
        <p:grpSp>
          <p:nvGrpSpPr>
            <p:cNvPr id="8" name="Group 25">
              <a:extLst>
                <a:ext uri="{FF2B5EF4-FFF2-40B4-BE49-F238E27FC236}">
                  <a16:creationId xmlns:a16="http://schemas.microsoft.com/office/drawing/2014/main" id="{C563A50E-1C6D-6C46-8EE5-AAEAA0E778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17411" y="2240372"/>
              <a:ext cx="1404483" cy="760001"/>
              <a:chOff x="1670312" y="2562997"/>
              <a:chExt cx="940317" cy="565219"/>
            </a:xfrm>
          </p:grpSpPr>
          <p:grpSp>
            <p:nvGrpSpPr>
              <p:cNvPr id="18" name="Group 28">
                <a:extLst>
                  <a:ext uri="{FF2B5EF4-FFF2-40B4-BE49-F238E27FC236}">
                    <a16:creationId xmlns:a16="http://schemas.microsoft.com/office/drawing/2014/main" id="{3EFAE9E2-03FB-A240-82CC-3EEE93BB30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0312" y="2562997"/>
                <a:ext cx="929822" cy="565219"/>
                <a:chOff x="1670312" y="2562997"/>
                <a:chExt cx="929822" cy="565219"/>
              </a:xfrm>
            </p:grpSpPr>
            <p:sp>
              <p:nvSpPr>
                <p:cNvPr id="20" name="Rectangle 30">
                  <a:extLst>
                    <a:ext uri="{FF2B5EF4-FFF2-40B4-BE49-F238E27FC236}">
                      <a16:creationId xmlns:a16="http://schemas.microsoft.com/office/drawing/2014/main" id="{729FDF34-CD0B-9A4B-BFAA-A9A823BC31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0312" y="2562997"/>
                  <a:ext cx="929822" cy="56315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21" name="Straight Connector 31">
                  <a:extLst>
                    <a:ext uri="{FF2B5EF4-FFF2-40B4-BE49-F238E27FC236}">
                      <a16:creationId xmlns:a16="http://schemas.microsoft.com/office/drawing/2014/main" id="{5A69AE93-EED2-CB43-99E6-0FB1510E4FF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786358" y="2567533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2" name="Straight Connector 32">
                  <a:extLst>
                    <a:ext uri="{FF2B5EF4-FFF2-40B4-BE49-F238E27FC236}">
                      <a16:creationId xmlns:a16="http://schemas.microsoft.com/office/drawing/2014/main" id="{E8F030DC-8BE9-E84E-9DA0-9A9C35E4994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911544" y="2566974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3" name="Straight Connector 33">
                  <a:extLst>
                    <a:ext uri="{FF2B5EF4-FFF2-40B4-BE49-F238E27FC236}">
                      <a16:creationId xmlns:a16="http://schemas.microsoft.com/office/drawing/2014/main" id="{12488256-DFFD-964A-8401-C59AC44B0A8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027659" y="2570323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4" name="Straight Connector 34">
                  <a:extLst>
                    <a:ext uri="{FF2B5EF4-FFF2-40B4-BE49-F238E27FC236}">
                      <a16:creationId xmlns:a16="http://schemas.microsoft.com/office/drawing/2014/main" id="{38FDDBA3-4933-3A49-9208-C2E75B79F16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134843" y="2564600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5" name="Straight Connector 35">
                  <a:extLst>
                    <a:ext uri="{FF2B5EF4-FFF2-40B4-BE49-F238E27FC236}">
                      <a16:creationId xmlns:a16="http://schemas.microsoft.com/office/drawing/2014/main" id="{44515A57-BAE8-DB48-8D32-C3EF03B66C6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244397" y="2566693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6" name="Straight Connector 36">
                  <a:extLst>
                    <a:ext uri="{FF2B5EF4-FFF2-40B4-BE49-F238E27FC236}">
                      <a16:creationId xmlns:a16="http://schemas.microsoft.com/office/drawing/2014/main" id="{8FFF7C21-C795-5A4D-B498-3B99B69489B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365675" y="2568786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7" name="Straight Connector 37">
                  <a:extLst>
                    <a:ext uri="{FF2B5EF4-FFF2-40B4-BE49-F238E27FC236}">
                      <a16:creationId xmlns:a16="http://schemas.microsoft.com/office/drawing/2014/main" id="{E40618EE-68A5-6741-A873-86553161E15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483045" y="2566971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19" name="Rectangle 29">
                <a:extLst>
                  <a:ext uri="{FF2B5EF4-FFF2-40B4-BE49-F238E27FC236}">
                    <a16:creationId xmlns:a16="http://schemas.microsoft.com/office/drawing/2014/main" id="{E2F0270A-1C7D-5644-9107-040300A383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6862" y="2571262"/>
                <a:ext cx="693767" cy="552560"/>
              </a:xfrm>
              <a:prstGeom prst="rect">
                <a:avLst/>
              </a:prstGeom>
              <a:solidFill>
                <a:srgbClr val="FF0000">
                  <a:alpha val="70979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8" name="Group 25">
              <a:extLst>
                <a:ext uri="{FF2B5EF4-FFF2-40B4-BE49-F238E27FC236}">
                  <a16:creationId xmlns:a16="http://schemas.microsoft.com/office/drawing/2014/main" id="{687F59CE-C2B3-4D4C-92B7-16D87AB0CB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36990" y="3176315"/>
              <a:ext cx="1424531" cy="763274"/>
              <a:chOff x="1670312" y="2562997"/>
              <a:chExt cx="940318" cy="565219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4511BCEB-21AB-F44E-8C3E-BB178AAD23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0312" y="2562997"/>
                <a:ext cx="929822" cy="565219"/>
                <a:chOff x="1670312" y="2562997"/>
                <a:chExt cx="929822" cy="565219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41316E27-4220-C147-A89C-A1EFEA4D25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0312" y="2562997"/>
                  <a:ext cx="929822" cy="56315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4007048A-C5C2-274E-8391-F5F93C794AB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786358" y="2567533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A14A1AAA-244F-D447-A7D6-AB788B569D2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911544" y="2566974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3BE615AD-4D3F-A243-A27D-E11BE48B3C7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027659" y="2570323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B65BD03D-6966-654F-AF5A-697101715CA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134843" y="2564600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4E0B9ABB-D3D1-0F45-8C79-6A7CE1B5E88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244397" y="2566693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452BA752-990C-BC42-9F0D-203C5E9B0CD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365675" y="2568786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55257FC6-8323-894F-AF7A-00164E4D9C4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483045" y="2566971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9187906-D1D6-AB40-AB7B-419CC08B4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5418" y="2571262"/>
                <a:ext cx="375212" cy="552560"/>
              </a:xfrm>
              <a:prstGeom prst="rect">
                <a:avLst/>
              </a:prstGeom>
              <a:solidFill>
                <a:srgbClr val="00B050">
                  <a:alpha val="70979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9" name="Group 25">
              <a:extLst>
                <a:ext uri="{FF2B5EF4-FFF2-40B4-BE49-F238E27FC236}">
                  <a16:creationId xmlns:a16="http://schemas.microsoft.com/office/drawing/2014/main" id="{D3CE6A82-D9F9-2147-836F-3656A51786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32733" y="4084509"/>
              <a:ext cx="1424529" cy="721744"/>
              <a:chOff x="1670312" y="2562997"/>
              <a:chExt cx="940317" cy="565219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C9DDA272-8646-FB4A-8D17-F41DE93447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0312" y="2562997"/>
                <a:ext cx="929822" cy="565219"/>
                <a:chOff x="1670312" y="2562997"/>
                <a:chExt cx="929822" cy="565219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E500ED50-8E07-EF45-95BF-8BA56D4951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0312" y="2562997"/>
                  <a:ext cx="929822" cy="56315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557746F6-EA6C-F440-A50F-B4FA59791B8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786358" y="2567533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25B8365-E03D-CD48-B2E5-6A42B5C2787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911544" y="2566974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ECFFCF3E-1E82-3F4F-A167-B4CE60A1DA5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027659" y="2570323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3DF697C1-95A7-1A4B-A07B-D14518C0D99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134843" y="2564600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52CA0CD3-191F-C543-AB08-EAF089AFF1E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244397" y="2566693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25615FBF-D228-A641-A572-783B881303A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365675" y="2568786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265B8345-81ED-1D49-AFA2-D40974F2A55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483045" y="2566971"/>
                  <a:ext cx="4536" cy="55789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753EDA3-44F7-874C-982C-BAC289F49E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1937" y="2571262"/>
                <a:ext cx="478692" cy="552560"/>
              </a:xfrm>
              <a:prstGeom prst="rect">
                <a:avLst/>
              </a:prstGeom>
              <a:solidFill>
                <a:srgbClr val="3333CC">
                  <a:alpha val="70979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4" name="Triangle 3">
            <a:extLst>
              <a:ext uri="{FF2B5EF4-FFF2-40B4-BE49-F238E27FC236}">
                <a16:creationId xmlns:a16="http://schemas.microsoft.com/office/drawing/2014/main" id="{D2F64F54-E98D-564A-B7B6-7537CEECBAD3}"/>
              </a:ext>
            </a:extLst>
          </p:cNvPr>
          <p:cNvSpPr/>
          <p:nvPr/>
        </p:nvSpPr>
        <p:spPr>
          <a:xfrm rot="5400000">
            <a:off x="6881445" y="3717354"/>
            <a:ext cx="811706" cy="665402"/>
          </a:xfrm>
          <a:prstGeom prst="triangle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B2EF94C-9371-CF40-A3C6-1DC150AB047C}"/>
              </a:ext>
            </a:extLst>
          </p:cNvPr>
          <p:cNvGrpSpPr/>
          <p:nvPr/>
        </p:nvGrpSpPr>
        <p:grpSpPr>
          <a:xfrm>
            <a:off x="6303665" y="3871966"/>
            <a:ext cx="567187" cy="339970"/>
            <a:chOff x="9460523" y="6049108"/>
            <a:chExt cx="567187" cy="339970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378A68C-054A-004B-A791-4FA6E7C68048}"/>
                </a:ext>
              </a:extLst>
            </p:cNvPr>
            <p:cNvCxnSpPr/>
            <p:nvPr/>
          </p:nvCxnSpPr>
          <p:spPr>
            <a:xfrm>
              <a:off x="9460523" y="6049108"/>
              <a:ext cx="56270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6E384534-464D-4048-8464-55A4CE80FC99}"/>
                </a:ext>
              </a:extLst>
            </p:cNvPr>
            <p:cNvCxnSpPr/>
            <p:nvPr/>
          </p:nvCxnSpPr>
          <p:spPr>
            <a:xfrm>
              <a:off x="9461050" y="6219093"/>
              <a:ext cx="562708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3E453DA-B44B-0847-A077-A34D3F9DB27B}"/>
                </a:ext>
              </a:extLst>
            </p:cNvPr>
            <p:cNvCxnSpPr/>
            <p:nvPr/>
          </p:nvCxnSpPr>
          <p:spPr>
            <a:xfrm>
              <a:off x="9465002" y="6389078"/>
              <a:ext cx="562708" cy="0"/>
            </a:xfrm>
            <a:prstGeom prst="straightConnector1">
              <a:avLst/>
            </a:prstGeom>
            <a:ln w="38100">
              <a:solidFill>
                <a:srgbClr val="33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AE17F66-33B0-DE42-8C16-28DA20F17C00}"/>
              </a:ext>
            </a:extLst>
          </p:cNvPr>
          <p:cNvGrpSpPr/>
          <p:nvPr/>
        </p:nvGrpSpPr>
        <p:grpSpPr>
          <a:xfrm>
            <a:off x="11245773" y="3893738"/>
            <a:ext cx="567187" cy="339970"/>
            <a:chOff x="9460523" y="6049108"/>
            <a:chExt cx="567187" cy="339970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D334A6EB-2600-A040-860C-4B77BD4BE60F}"/>
                </a:ext>
              </a:extLst>
            </p:cNvPr>
            <p:cNvCxnSpPr/>
            <p:nvPr/>
          </p:nvCxnSpPr>
          <p:spPr>
            <a:xfrm>
              <a:off x="9460523" y="6049108"/>
              <a:ext cx="56270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79739B72-8B57-6443-B4A3-11719E38E71F}"/>
                </a:ext>
              </a:extLst>
            </p:cNvPr>
            <p:cNvCxnSpPr/>
            <p:nvPr/>
          </p:nvCxnSpPr>
          <p:spPr>
            <a:xfrm>
              <a:off x="9461050" y="6219093"/>
              <a:ext cx="562708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1CFDC38-10D3-794A-B193-C78C35E3275E}"/>
                </a:ext>
              </a:extLst>
            </p:cNvPr>
            <p:cNvCxnSpPr/>
            <p:nvPr/>
          </p:nvCxnSpPr>
          <p:spPr>
            <a:xfrm>
              <a:off x="9465002" y="6389078"/>
              <a:ext cx="562708" cy="0"/>
            </a:xfrm>
            <a:prstGeom prst="straightConnector1">
              <a:avLst/>
            </a:prstGeom>
            <a:ln w="38100">
              <a:solidFill>
                <a:srgbClr val="33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43CD1C2A-29E9-8C4A-96B1-43C6E287CB52}"/>
              </a:ext>
            </a:extLst>
          </p:cNvPr>
          <p:cNvSpPr txBox="1"/>
          <p:nvPr/>
        </p:nvSpPr>
        <p:spPr>
          <a:xfrm>
            <a:off x="6576771" y="4550229"/>
            <a:ext cx="990656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classify 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arrivals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3C39C7-20E4-6545-A964-9F1AAEB54307}"/>
              </a:ext>
            </a:extLst>
          </p:cNvPr>
          <p:cNvSpPr txBox="1"/>
          <p:nvPr/>
        </p:nvSpPr>
        <p:spPr>
          <a:xfrm>
            <a:off x="10609189" y="4515922"/>
            <a:ext cx="1332224" cy="34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departures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99E5456-380E-B44E-8FAB-E07E351298C3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7619999" y="3067495"/>
            <a:ext cx="682573" cy="9825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D62B4B7-D6F0-C44D-9E4B-DFC7B1CB233F}"/>
              </a:ext>
            </a:extLst>
          </p:cNvPr>
          <p:cNvCxnSpPr>
            <a:cxnSpLocks/>
          </p:cNvCxnSpPr>
          <p:nvPr/>
        </p:nvCxnSpPr>
        <p:spPr>
          <a:xfrm>
            <a:off x="7635460" y="4051945"/>
            <a:ext cx="69657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23F8B11-C46E-3445-9877-0041CA598D30}"/>
              </a:ext>
            </a:extLst>
          </p:cNvPr>
          <p:cNvCxnSpPr>
            <a:cxnSpLocks/>
            <a:stCxn id="4" idx="0"/>
          </p:cNvCxnSpPr>
          <p:nvPr/>
        </p:nvCxnSpPr>
        <p:spPr>
          <a:xfrm>
            <a:off x="7619999" y="4050055"/>
            <a:ext cx="682055" cy="871416"/>
          </a:xfrm>
          <a:prstGeom prst="straightConnector1">
            <a:avLst/>
          </a:prstGeom>
          <a:ln w="38100">
            <a:solidFill>
              <a:srgbClr val="33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65C47E3-EB80-954D-93A7-7C5F2522DEA3}"/>
              </a:ext>
            </a:extLst>
          </p:cNvPr>
          <p:cNvCxnSpPr>
            <a:stCxn id="20" idx="3"/>
            <a:endCxn id="9" idx="2"/>
          </p:cNvCxnSpPr>
          <p:nvPr/>
        </p:nvCxnSpPr>
        <p:spPr>
          <a:xfrm>
            <a:off x="9250091" y="3097958"/>
            <a:ext cx="664252" cy="9427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5789404-4743-3B47-8578-2600B3870B31}"/>
              </a:ext>
            </a:extLst>
          </p:cNvPr>
          <p:cNvCxnSpPr>
            <a:cxnSpLocks/>
            <a:stCxn id="42" idx="3"/>
            <a:endCxn id="9" idx="2"/>
          </p:cNvCxnSpPr>
          <p:nvPr/>
        </p:nvCxnSpPr>
        <p:spPr>
          <a:xfrm flipV="1">
            <a:off x="9281976" y="4040658"/>
            <a:ext cx="632367" cy="882379"/>
          </a:xfrm>
          <a:prstGeom prst="line">
            <a:avLst/>
          </a:prstGeom>
          <a:ln w="38100">
            <a:solidFill>
              <a:srgbClr val="33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56B0C30-BA4F-FC4B-A868-1FDA0C5704B8}"/>
              </a:ext>
            </a:extLst>
          </p:cNvPr>
          <p:cNvCxnSpPr>
            <a:cxnSpLocks/>
            <a:stCxn id="30" idx="3"/>
            <a:endCxn id="9" idx="2"/>
          </p:cNvCxnSpPr>
          <p:nvPr/>
        </p:nvCxnSpPr>
        <p:spPr>
          <a:xfrm>
            <a:off x="9300262" y="4039538"/>
            <a:ext cx="614081" cy="112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E711DAE-9BF3-F64E-BD2A-3B802A190313}"/>
              </a:ext>
            </a:extLst>
          </p:cNvPr>
          <p:cNvGrpSpPr/>
          <p:nvPr/>
        </p:nvGrpSpPr>
        <p:grpSpPr>
          <a:xfrm>
            <a:off x="9820319" y="3202969"/>
            <a:ext cx="1204177" cy="1274275"/>
            <a:chOff x="9733239" y="2723997"/>
            <a:chExt cx="1204177" cy="1274275"/>
          </a:xfrm>
        </p:grpSpPr>
        <p:sp>
          <p:nvSpPr>
            <p:cNvPr id="9" name="Oval 27">
              <a:extLst>
                <a:ext uri="{FF2B5EF4-FFF2-40B4-BE49-F238E27FC236}">
                  <a16:creationId xmlns:a16="http://schemas.microsoft.com/office/drawing/2014/main" id="{12FCD05E-75CC-E84C-8E19-60F0F56A5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7263" y="3125100"/>
              <a:ext cx="877582" cy="87317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5D6BC2C-F25A-5742-A26B-1B91EC2CF44E}"/>
                </a:ext>
              </a:extLst>
            </p:cNvPr>
            <p:cNvSpPr txBox="1"/>
            <p:nvPr/>
          </p:nvSpPr>
          <p:spPr>
            <a:xfrm>
              <a:off x="9733239" y="2723997"/>
              <a:ext cx="1204177" cy="34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dirty="0">
                  <a:solidFill>
                    <a:prstClr val="black"/>
                  </a:solidFill>
                  <a:latin typeface="Calibri" panose="020F0502020204030204"/>
                </a:rPr>
                <a:t>scheduler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6E26C25-36F0-9444-8196-216C440D56AB}"/>
                </a:ext>
              </a:extLst>
            </p:cNvPr>
            <p:cNvSpPr txBox="1"/>
            <p:nvPr/>
          </p:nvSpPr>
          <p:spPr>
            <a:xfrm>
              <a:off x="10169912" y="3391108"/>
              <a:ext cx="184730" cy="395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E6F4270-DB9C-694E-B407-3ED6A0A44949}"/>
              </a:ext>
            </a:extLst>
          </p:cNvPr>
          <p:cNvGrpSpPr/>
          <p:nvPr/>
        </p:nvGrpSpPr>
        <p:grpSpPr>
          <a:xfrm>
            <a:off x="8807568" y="2894368"/>
            <a:ext cx="1104182" cy="2221918"/>
            <a:chOff x="8807568" y="2894368"/>
            <a:chExt cx="1104182" cy="2221918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1450FA9F-A33F-1746-A4CB-9F4A2A6807F2}"/>
                </a:ext>
              </a:extLst>
            </p:cNvPr>
            <p:cNvGrpSpPr/>
            <p:nvPr/>
          </p:nvGrpSpPr>
          <p:grpSpPr>
            <a:xfrm>
              <a:off x="9470570" y="2939143"/>
              <a:ext cx="441180" cy="2177143"/>
              <a:chOff x="9470570" y="2939143"/>
              <a:chExt cx="441180" cy="2177143"/>
            </a:xfrm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6CD5B581-94AD-D44C-81AA-F1008E3D0722}"/>
                  </a:ext>
                </a:extLst>
              </p:cNvPr>
              <p:cNvSpPr/>
              <p:nvPr/>
            </p:nvSpPr>
            <p:spPr>
              <a:xfrm>
                <a:off x="9470570" y="2939143"/>
                <a:ext cx="348343" cy="2177143"/>
              </a:xfrm>
              <a:prstGeom prst="ellipse">
                <a:avLst/>
              </a:prstGeom>
              <a:noFill/>
              <a:ln w="412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F5454531-DC51-F34D-9961-98B389CAFDF8}"/>
                  </a:ext>
                </a:extLst>
              </p:cNvPr>
              <p:cNvSpPr/>
              <p:nvPr/>
            </p:nvSpPr>
            <p:spPr>
              <a:xfrm>
                <a:off x="9716218" y="3095651"/>
                <a:ext cx="195532" cy="5865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F9EBDD29-0A51-C946-829A-2EAF8CB429B6}"/>
                  </a:ext>
                </a:extLst>
              </p:cNvPr>
              <p:cNvCxnSpPr/>
              <p:nvPr/>
            </p:nvCxnSpPr>
            <p:spPr>
              <a:xfrm flipV="1">
                <a:off x="9808687" y="3573214"/>
                <a:ext cx="0" cy="26125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355C01D4-3E5F-234C-88C0-37B3216150B8}"/>
                </a:ext>
              </a:extLst>
            </p:cNvPr>
            <p:cNvGrpSpPr/>
            <p:nvPr/>
          </p:nvGrpSpPr>
          <p:grpSpPr>
            <a:xfrm>
              <a:off x="8807568" y="2894368"/>
              <a:ext cx="457076" cy="2191108"/>
              <a:chOff x="8807568" y="2894368"/>
              <a:chExt cx="457076" cy="2191108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848D66A5-F8A6-9445-8C81-EBA47B28FB27}"/>
                  </a:ext>
                </a:extLst>
              </p:cNvPr>
              <p:cNvGrpSpPr/>
              <p:nvPr/>
            </p:nvGrpSpPr>
            <p:grpSpPr>
              <a:xfrm>
                <a:off x="8807568" y="2894368"/>
                <a:ext cx="428322" cy="385312"/>
                <a:chOff x="10311441" y="2346385"/>
                <a:chExt cx="428322" cy="385312"/>
              </a:xfrm>
            </p:grpSpPr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97E65F5A-40B7-5944-9F81-860A11DB6E03}"/>
                    </a:ext>
                  </a:extLst>
                </p:cNvPr>
                <p:cNvSpPr/>
                <p:nvPr/>
              </p:nvSpPr>
              <p:spPr>
                <a:xfrm>
                  <a:off x="10349891" y="2392393"/>
                  <a:ext cx="329610" cy="3393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EE5CC73-7238-FC43-9639-9D66DFA0D9A1}"/>
                    </a:ext>
                  </a:extLst>
                </p:cNvPr>
                <p:cNvSpPr txBox="1"/>
                <p:nvPr/>
              </p:nvSpPr>
              <p:spPr>
                <a:xfrm>
                  <a:off x="10311441" y="2346385"/>
                  <a:ext cx="4283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w</a:t>
                  </a:r>
                  <a:r>
                    <a:rPr kumimoji="0" 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604C74BF-DFA9-F148-80FF-420AF6DA34DC}"/>
                  </a:ext>
                </a:extLst>
              </p:cNvPr>
              <p:cNvGrpSpPr/>
              <p:nvPr/>
            </p:nvGrpSpPr>
            <p:grpSpPr>
              <a:xfrm>
                <a:off x="8827696" y="3823145"/>
                <a:ext cx="428322" cy="385312"/>
                <a:chOff x="10311441" y="2346385"/>
                <a:chExt cx="428322" cy="385312"/>
              </a:xfrm>
            </p:grpSpPr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B8705F1B-C8D3-7D45-A303-F165B62DB89A}"/>
                    </a:ext>
                  </a:extLst>
                </p:cNvPr>
                <p:cNvSpPr/>
                <p:nvPr/>
              </p:nvSpPr>
              <p:spPr>
                <a:xfrm>
                  <a:off x="10349891" y="2392393"/>
                  <a:ext cx="329610" cy="3393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C5374B7-33B0-A048-98AF-C86CA0F5F068}"/>
                    </a:ext>
                  </a:extLst>
                </p:cNvPr>
                <p:cNvSpPr txBox="1"/>
                <p:nvPr/>
              </p:nvSpPr>
              <p:spPr>
                <a:xfrm>
                  <a:off x="10311441" y="2346385"/>
                  <a:ext cx="4283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w</a:t>
                  </a:r>
                  <a:r>
                    <a:rPr kumimoji="0" 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95EEF966-14C8-9A40-8EAF-9563A841C6FE}"/>
                  </a:ext>
                </a:extLst>
              </p:cNvPr>
              <p:cNvGrpSpPr/>
              <p:nvPr/>
            </p:nvGrpSpPr>
            <p:grpSpPr>
              <a:xfrm>
                <a:off x="8836322" y="4700164"/>
                <a:ext cx="428322" cy="385312"/>
                <a:chOff x="10311441" y="2346385"/>
                <a:chExt cx="428322" cy="385312"/>
              </a:xfrm>
            </p:grpSpPr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BF695079-CDFE-A84B-BA1A-3C7925027733}"/>
                    </a:ext>
                  </a:extLst>
                </p:cNvPr>
                <p:cNvSpPr/>
                <p:nvPr/>
              </p:nvSpPr>
              <p:spPr>
                <a:xfrm>
                  <a:off x="10349891" y="2392393"/>
                  <a:ext cx="329610" cy="3393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9F5602FC-DFAF-C840-963B-59C9854603DF}"/>
                    </a:ext>
                  </a:extLst>
                </p:cNvPr>
                <p:cNvSpPr txBox="1"/>
                <p:nvPr/>
              </p:nvSpPr>
              <p:spPr>
                <a:xfrm>
                  <a:off x="10311441" y="2346385"/>
                  <a:ext cx="4283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w</a:t>
                  </a:r>
                  <a:r>
                    <a:rPr kumimoji="0" 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C95B65A-59D7-7343-B738-24AF20F53109}"/>
              </a:ext>
            </a:extLst>
          </p:cNvPr>
          <p:cNvGrpSpPr/>
          <p:nvPr/>
        </p:nvGrpSpPr>
        <p:grpSpPr>
          <a:xfrm>
            <a:off x="2830287" y="4027715"/>
            <a:ext cx="853119" cy="1129061"/>
            <a:chOff x="6422573" y="5573486"/>
            <a:chExt cx="853119" cy="1129061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E3BBE42-4507-D249-BEAC-A304C25545D5}"/>
                </a:ext>
              </a:extLst>
            </p:cNvPr>
            <p:cNvSpPr txBox="1"/>
            <p:nvPr/>
          </p:nvSpPr>
          <p:spPr>
            <a:xfrm>
              <a:off x="6531429" y="5573486"/>
              <a:ext cx="54053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ＭＳ Ｐゴシック" panose="020B0600070205080204" pitchFamily="34" charset="-128"/>
                </a:rPr>
                <a:t>w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ＭＳ Ｐゴシック" panose="020B0600070205080204" pitchFamily="34" charset="-128"/>
                </a:rPr>
                <a:t>i</a:t>
              </a: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D22DEFF-5F27-0B42-9940-421941395069}"/>
                </a:ext>
              </a:extLst>
            </p:cNvPr>
            <p:cNvSpPr txBox="1"/>
            <p:nvPr/>
          </p:nvSpPr>
          <p:spPr>
            <a:xfrm>
              <a:off x="6422573" y="6117772"/>
              <a:ext cx="85311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ＭＳ Ｐゴシック" panose="020B0600070205080204" pitchFamily="34" charset="-128"/>
                </a:rPr>
                <a:t>S</a:t>
              </a:r>
              <a:r>
                <a:rPr kumimoji="0" lang="en-US" altLang="en-US" sz="24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ＭＳ Ｐゴシック" panose="020B0600070205080204" pitchFamily="34" charset="-128"/>
                </a:rPr>
                <a:t>j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ＭＳ Ｐゴシック" panose="020B0600070205080204" pitchFamily="34" charset="-128"/>
                </a:rPr>
                <a:t>w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ＭＳ Ｐゴシック" panose="020B0600070205080204" pitchFamily="34" charset="-128"/>
                </a:rPr>
                <a:t>j</a:t>
              </a: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B0E336A-F07A-914B-9314-422857CFD8B1}"/>
                </a:ext>
              </a:extLst>
            </p:cNvPr>
            <p:cNvCxnSpPr/>
            <p:nvPr/>
          </p:nvCxnSpPr>
          <p:spPr>
            <a:xfrm>
              <a:off x="6553200" y="6173453"/>
              <a:ext cx="478971" cy="0"/>
            </a:xfrm>
            <a:prstGeom prst="line">
              <a:avLst/>
            </a:prstGeom>
            <a:ln w="381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Content Placeholder 1">
            <a:extLst>
              <a:ext uri="{FF2B5EF4-FFF2-40B4-BE49-F238E27FC236}">
                <a16:creationId xmlns:a16="http://schemas.microsoft.com/office/drawing/2014/main" id="{6B4ED17A-B92C-3540-886C-3C8AF82A0E8B}"/>
              </a:ext>
            </a:extLst>
          </p:cNvPr>
          <p:cNvSpPr txBox="1">
            <a:spLocks/>
          </p:cNvSpPr>
          <p:nvPr/>
        </p:nvSpPr>
        <p:spPr>
          <a:xfrm>
            <a:off x="788204" y="5154045"/>
            <a:ext cx="5557988" cy="1050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2613" marR="0" lvl="0" indent="-2841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minimum bandwidth guarantee (per-traffic-class)</a:t>
            </a:r>
          </a:p>
        </p:txBody>
      </p:sp>
      <p:sp>
        <p:nvSpPr>
          <p:cNvPr id="111" name="Content Placeholder 1">
            <a:extLst>
              <a:ext uri="{FF2B5EF4-FFF2-40B4-BE49-F238E27FC236}">
                <a16:creationId xmlns:a16="http://schemas.microsoft.com/office/drawing/2014/main" id="{444A4D7B-9DCA-3943-91F5-F6811D0DAA99}"/>
              </a:ext>
            </a:extLst>
          </p:cNvPr>
          <p:cNvSpPr txBox="1">
            <a:spLocks/>
          </p:cNvSpPr>
          <p:nvPr/>
        </p:nvSpPr>
        <p:spPr>
          <a:xfrm>
            <a:off x="766433" y="2740308"/>
            <a:ext cx="5557988" cy="1420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2613" marR="0" lvl="0" indent="-2841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each class,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i,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has weight,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w</a:t>
            </a:r>
            <a:r>
              <a:rPr kumimoji="0" lang="en-US" altLang="en-US" sz="32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,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and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gets weighted amount of service in each cycle:</a:t>
            </a:r>
          </a:p>
        </p:txBody>
      </p:sp>
    </p:spTree>
    <p:extLst>
      <p:ext uri="{BB962C8B-B14F-4D97-AF65-F5344CB8AC3E}">
        <p14:creationId xmlns:p14="http://schemas.microsoft.com/office/powerpoint/2010/main" val="329868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  <p:bldP spid="1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18076</TotalTime>
  <Words>2370</Words>
  <Application>Microsoft Macintosh PowerPoint</Application>
  <PresentationFormat>Widescreen</PresentationFormat>
  <Paragraphs>634</Paragraphs>
  <Slides>45</Slides>
  <Notes>12</Notes>
  <HiddenSlides>15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ＭＳ Ｐゴシック</vt:lpstr>
      <vt:lpstr>Arial</vt:lpstr>
      <vt:lpstr>Calibri</vt:lpstr>
      <vt:lpstr>Calibri Light</vt:lpstr>
      <vt:lpstr>Comic Sans MS</vt:lpstr>
      <vt:lpstr>Symbol</vt:lpstr>
      <vt:lpstr>Tahoma</vt:lpstr>
      <vt:lpstr>Wingdings</vt:lpstr>
      <vt:lpstr>Office Theme</vt:lpstr>
      <vt:lpstr>CS 456/656 Computer Networks</vt:lpstr>
      <vt:lpstr>A note on the slides</vt:lpstr>
      <vt:lpstr>What we discussed before</vt:lpstr>
      <vt:lpstr>What we discussed before</vt:lpstr>
      <vt:lpstr>What we discussed before</vt:lpstr>
      <vt:lpstr>Router architecture and buffer management </vt:lpstr>
      <vt:lpstr>What is inside a router?</vt:lpstr>
      <vt:lpstr>Input port functions</vt:lpstr>
      <vt:lpstr>Switching fabrics</vt:lpstr>
      <vt:lpstr>Switching fabrics</vt:lpstr>
      <vt:lpstr>Switching fabrics</vt:lpstr>
      <vt:lpstr>Switching fabrics</vt:lpstr>
      <vt:lpstr>Switching fabrics</vt:lpstr>
      <vt:lpstr>Router architecture and buffer management </vt:lpstr>
      <vt:lpstr>Output queuing</vt:lpstr>
      <vt:lpstr>Router architecture and buffer management </vt:lpstr>
      <vt:lpstr>Input queuing </vt:lpstr>
      <vt:lpstr>Input queuing </vt:lpstr>
      <vt:lpstr>Input queuing </vt:lpstr>
      <vt:lpstr>Input queuing </vt:lpstr>
      <vt:lpstr>Input queuing </vt:lpstr>
      <vt:lpstr>Architecture trends</vt:lpstr>
      <vt:lpstr>Router architecture and buffer management </vt:lpstr>
      <vt:lpstr>Queue/Buffer management and scheduling</vt:lpstr>
      <vt:lpstr>How large should a buffer be?</vt:lpstr>
      <vt:lpstr>Queue management – Drop policy</vt:lpstr>
      <vt:lpstr>Queue management – Marking</vt:lpstr>
      <vt:lpstr>Packet scheduling</vt:lpstr>
      <vt:lpstr>Packet scheduling</vt:lpstr>
      <vt:lpstr>Additional Slides</vt:lpstr>
      <vt:lpstr>Output queuing</vt:lpstr>
      <vt:lpstr>Output queuing</vt:lpstr>
      <vt:lpstr>Input queuing </vt:lpstr>
      <vt:lpstr>Input queuing </vt:lpstr>
      <vt:lpstr>Input queuing </vt:lpstr>
      <vt:lpstr>Input queuing </vt:lpstr>
      <vt:lpstr>Input queuing </vt:lpstr>
      <vt:lpstr>Input queuing </vt:lpstr>
      <vt:lpstr>Head of line blocking</vt:lpstr>
      <vt:lpstr>Virtual output queuing</vt:lpstr>
      <vt:lpstr>Virtual output queuing</vt:lpstr>
      <vt:lpstr>Virtual output queuing</vt:lpstr>
      <vt:lpstr>Packet scheduling: priority</vt:lpstr>
      <vt:lpstr>Packet scheduling: round robin</vt:lpstr>
      <vt:lpstr>Packet scheduling: weighted fair queueing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Mina Tahmasbi Arashloo</cp:lastModifiedBy>
  <cp:revision>539</cp:revision>
  <dcterms:created xsi:type="dcterms:W3CDTF">2020-01-18T07:24:59Z</dcterms:created>
  <dcterms:modified xsi:type="dcterms:W3CDTF">2025-12-01T12:33:26Z</dcterms:modified>
</cp:coreProperties>
</file>